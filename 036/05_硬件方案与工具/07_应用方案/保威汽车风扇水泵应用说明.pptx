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dp" ContentType="image/vnd.ms-photo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79" r:id="rId5"/>
    <p:sldId id="297" r:id="rId6"/>
    <p:sldId id="330" r:id="rId7"/>
    <p:sldId id="331" r:id="rId8"/>
    <p:sldId id="296" r:id="rId9"/>
    <p:sldId id="298" r:id="rId10"/>
    <p:sldId id="334" r:id="rId11"/>
    <p:sldId id="287" r:id="rId12"/>
    <p:sldId id="299" r:id="rId13"/>
    <p:sldId id="291" r:id="rId14"/>
    <p:sldId id="300" r:id="rId15"/>
    <p:sldId id="301" r:id="rId16"/>
    <p:sldId id="292" r:id="rId17"/>
    <p:sldId id="295" r:id="rId18"/>
    <p:sldId id="302" r:id="rId19"/>
    <p:sldId id="319" r:id="rId20"/>
    <p:sldId id="288" r:id="rId21"/>
    <p:sldId id="332" r:id="rId22"/>
    <p:sldId id="294" r:id="rId23"/>
    <p:sldId id="314" r:id="rId24"/>
    <p:sldId id="303" r:id="rId25"/>
    <p:sldId id="317" r:id="rId26"/>
    <p:sldId id="318" r:id="rId27"/>
    <p:sldId id="315" r:id="rId28"/>
    <p:sldId id="316" r:id="rId29"/>
    <p:sldId id="333" r:id="rId30"/>
    <p:sldId id="271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8" userDrawn="1">
          <p15:clr>
            <a:srgbClr val="A4A3A4"/>
          </p15:clr>
        </p15:guide>
        <p15:guide id="2" pos="3827" userDrawn="1">
          <p15:clr>
            <a:srgbClr val="A4A3A4"/>
          </p15:clr>
        </p15:guide>
        <p15:guide id="3" orient="horz" pos="3862" userDrawn="1">
          <p15:clr>
            <a:srgbClr val="A4A3A4"/>
          </p15:clr>
        </p15:guide>
        <p15:guide id="4" orient="horz" pos="393" userDrawn="1">
          <p15:clr>
            <a:srgbClr val="A4A3A4"/>
          </p15:clr>
        </p15:guide>
        <p15:guide id="5" orient="horz" pos="803" userDrawn="1">
          <p15:clr>
            <a:srgbClr val="A4A3A4"/>
          </p15:clr>
        </p15:guide>
        <p15:guide id="6" pos="7466" userDrawn="1">
          <p15:clr>
            <a:srgbClr val="A4A3A4"/>
          </p15:clr>
        </p15:guide>
        <p15:guide id="7" pos="2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6A6"/>
    <a:srgbClr val="FBD37B"/>
    <a:srgbClr val="CC9643"/>
    <a:srgbClr val="809DAC"/>
    <a:srgbClr val="E3B2B8"/>
    <a:srgbClr val="535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906" y="1146"/>
      </p:cViewPr>
      <p:guideLst>
        <p:guide orient="horz" pos="2028"/>
        <p:guide pos="3827"/>
        <p:guide orient="horz" pos="3862"/>
        <p:guide orient="horz" pos="393"/>
        <p:guide orient="horz" pos="803"/>
        <p:guide pos="7466"/>
        <p:guide pos="2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123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/>
          <a:stretch>
            <a:fillRect/>
          </a:stretch>
        </p:blipFill>
        <p:spPr>
          <a:xfrm>
            <a:off x="0" y="3486785"/>
            <a:ext cx="12192635" cy="33712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 r="62901"/>
          <a:stretch>
            <a:fillRect/>
          </a:stretch>
        </p:blipFill>
        <p:spPr>
          <a:xfrm rot="16200000" flipH="1">
            <a:off x="6211570" y="877570"/>
            <a:ext cx="6853555" cy="5107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 r="62901" b="16599"/>
          <a:stretch>
            <a:fillRect/>
          </a:stretch>
        </p:blipFill>
        <p:spPr>
          <a:xfrm rot="10800000" flipH="1">
            <a:off x="0" y="0"/>
            <a:ext cx="3642995" cy="2302510"/>
          </a:xfrm>
          <a:prstGeom prst="rect">
            <a:avLst/>
          </a:prstGeom>
        </p:spPr>
      </p:pic>
      <p:pic>
        <p:nvPicPr>
          <p:cNvPr id="2" name="图片 1" descr="图层 1"/>
          <p:cNvPicPr>
            <a:picLocks noChangeAspect="1"/>
          </p:cNvPicPr>
          <p:nvPr userDrawn="1"/>
        </p:nvPicPr>
        <p:blipFill>
          <a:blip r:embed="rId2"/>
          <a:srcRect t="22631" r="62901" b="16599"/>
          <a:stretch>
            <a:fillRect/>
          </a:stretch>
        </p:blipFill>
        <p:spPr>
          <a:xfrm flipH="1">
            <a:off x="9766935" y="5325110"/>
            <a:ext cx="2425065" cy="1532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2.png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1.xml"/><Relationship Id="rId3" Type="http://schemas.openxmlformats.org/officeDocument/2006/relationships/image" Target="../media/image3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7.png"/><Relationship Id="rId6" Type="http://schemas.openxmlformats.org/officeDocument/2006/relationships/tags" Target="../tags/tag24.xml"/><Relationship Id="rId5" Type="http://schemas.openxmlformats.org/officeDocument/2006/relationships/image" Target="../media/image6.png"/><Relationship Id="rId45" Type="http://schemas.openxmlformats.org/officeDocument/2006/relationships/slideLayout" Target="../slideLayouts/slideLayout3.xml"/><Relationship Id="rId44" Type="http://schemas.openxmlformats.org/officeDocument/2006/relationships/image" Target="../media/image20.jpeg"/><Relationship Id="rId43" Type="http://schemas.openxmlformats.org/officeDocument/2006/relationships/tags" Target="../tags/tag48.xml"/><Relationship Id="rId42" Type="http://schemas.openxmlformats.org/officeDocument/2006/relationships/image" Target="../media/image19.png"/><Relationship Id="rId41" Type="http://schemas.openxmlformats.org/officeDocument/2006/relationships/tags" Target="../tags/tag47.xml"/><Relationship Id="rId40" Type="http://schemas.openxmlformats.org/officeDocument/2006/relationships/tags" Target="../tags/tag46.xml"/><Relationship Id="rId4" Type="http://schemas.openxmlformats.org/officeDocument/2006/relationships/tags" Target="../tags/tag23.xml"/><Relationship Id="rId39" Type="http://schemas.openxmlformats.org/officeDocument/2006/relationships/image" Target="../media/image18.png"/><Relationship Id="rId38" Type="http://schemas.openxmlformats.org/officeDocument/2006/relationships/image" Target="../media/image17.png"/><Relationship Id="rId37" Type="http://schemas.openxmlformats.org/officeDocument/2006/relationships/tags" Target="../tags/tag45.xml"/><Relationship Id="rId36" Type="http://schemas.openxmlformats.org/officeDocument/2006/relationships/tags" Target="../tags/tag44.xml"/><Relationship Id="rId35" Type="http://schemas.openxmlformats.org/officeDocument/2006/relationships/tags" Target="../tags/tag43.xml"/><Relationship Id="rId34" Type="http://schemas.openxmlformats.org/officeDocument/2006/relationships/tags" Target="../tags/tag42.xml"/><Relationship Id="rId33" Type="http://schemas.openxmlformats.org/officeDocument/2006/relationships/tags" Target="../tags/tag41.xml"/><Relationship Id="rId32" Type="http://schemas.openxmlformats.org/officeDocument/2006/relationships/tags" Target="../tags/tag40.xml"/><Relationship Id="rId31" Type="http://schemas.openxmlformats.org/officeDocument/2006/relationships/tags" Target="../tags/tag39.xml"/><Relationship Id="rId30" Type="http://schemas.openxmlformats.org/officeDocument/2006/relationships/tags" Target="../tags/tag38.xml"/><Relationship Id="rId3" Type="http://schemas.openxmlformats.org/officeDocument/2006/relationships/image" Target="../media/image5.jpeg"/><Relationship Id="rId29" Type="http://schemas.openxmlformats.org/officeDocument/2006/relationships/tags" Target="../tags/tag37.xml"/><Relationship Id="rId28" Type="http://schemas.openxmlformats.org/officeDocument/2006/relationships/tags" Target="../tags/tag36.xml"/><Relationship Id="rId27" Type="http://schemas.openxmlformats.org/officeDocument/2006/relationships/tags" Target="../tags/tag35.xml"/><Relationship Id="rId26" Type="http://schemas.openxmlformats.org/officeDocument/2006/relationships/image" Target="../media/image16.png"/><Relationship Id="rId25" Type="http://schemas.openxmlformats.org/officeDocument/2006/relationships/tags" Target="../tags/tag34.xml"/><Relationship Id="rId24" Type="http://schemas.openxmlformats.org/officeDocument/2006/relationships/image" Target="../media/image15.png"/><Relationship Id="rId23" Type="http://schemas.openxmlformats.org/officeDocument/2006/relationships/tags" Target="../tags/tag33.xml"/><Relationship Id="rId22" Type="http://schemas.openxmlformats.org/officeDocument/2006/relationships/image" Target="../media/image14.png"/><Relationship Id="rId21" Type="http://schemas.openxmlformats.org/officeDocument/2006/relationships/tags" Target="../tags/tag32.xml"/><Relationship Id="rId20" Type="http://schemas.openxmlformats.org/officeDocument/2006/relationships/image" Target="../media/image13.png"/><Relationship Id="rId2" Type="http://schemas.openxmlformats.org/officeDocument/2006/relationships/tags" Target="../tags/tag22.xml"/><Relationship Id="rId19" Type="http://schemas.openxmlformats.org/officeDocument/2006/relationships/tags" Target="../tags/tag31.xml"/><Relationship Id="rId18" Type="http://schemas.openxmlformats.org/officeDocument/2006/relationships/image" Target="../media/image12.png"/><Relationship Id="rId17" Type="http://schemas.openxmlformats.org/officeDocument/2006/relationships/tags" Target="../tags/tag30.xml"/><Relationship Id="rId16" Type="http://schemas.openxmlformats.org/officeDocument/2006/relationships/image" Target="../media/image11.png"/><Relationship Id="rId15" Type="http://schemas.openxmlformats.org/officeDocument/2006/relationships/tags" Target="../tags/tag29.xml"/><Relationship Id="rId14" Type="http://schemas.openxmlformats.org/officeDocument/2006/relationships/image" Target="../media/image10.png"/><Relationship Id="rId13" Type="http://schemas.openxmlformats.org/officeDocument/2006/relationships/tags" Target="../tags/tag28.xml"/><Relationship Id="rId12" Type="http://schemas.openxmlformats.org/officeDocument/2006/relationships/image" Target="../media/image9.png"/><Relationship Id="rId11" Type="http://schemas.openxmlformats.org/officeDocument/2006/relationships/tags" Target="../tags/tag27.xml"/><Relationship Id="rId10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image" Target="../media/image23.png"/><Relationship Id="rId5" Type="http://schemas.openxmlformats.org/officeDocument/2006/relationships/tags" Target="../tags/tag51.xml"/><Relationship Id="rId4" Type="http://schemas.microsoft.com/office/2007/relationships/hdphoto" Target="../media/image22.wdp"/><Relationship Id="rId3" Type="http://schemas.openxmlformats.org/officeDocument/2006/relationships/image" Target="../media/image21.png"/><Relationship Id="rId2" Type="http://schemas.openxmlformats.org/officeDocument/2006/relationships/tags" Target="../tags/tag50.xml"/><Relationship Id="rId14" Type="http://schemas.openxmlformats.org/officeDocument/2006/relationships/slideLayout" Target="../slideLayouts/slideLayout3.xml"/><Relationship Id="rId13" Type="http://schemas.openxmlformats.org/officeDocument/2006/relationships/image" Target="../media/image24.jpeg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9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tags" Target="../tags/tag60.xml"/><Relationship Id="rId3" Type="http://schemas.openxmlformats.org/officeDocument/2006/relationships/image" Target="../media/image25.png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62.xml"/><Relationship Id="rId2" Type="http://schemas.openxmlformats.org/officeDocument/2006/relationships/image" Target="../media/image27.png"/><Relationship Id="rId1" Type="http://schemas.openxmlformats.org/officeDocument/2006/relationships/tags" Target="../tags/tag6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image" Target="../media/image29.png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image" Target="../media/image28.png"/><Relationship Id="rId18" Type="http://schemas.openxmlformats.org/officeDocument/2006/relationships/slideLayout" Target="../slideLayouts/slideLayout3.xml"/><Relationship Id="rId17" Type="http://schemas.openxmlformats.org/officeDocument/2006/relationships/image" Target="../media/image33.png"/><Relationship Id="rId16" Type="http://schemas.openxmlformats.org/officeDocument/2006/relationships/image" Target="../media/image32.png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image" Target="../media/image31.png"/><Relationship Id="rId11" Type="http://schemas.openxmlformats.org/officeDocument/2006/relationships/tags" Target="../tags/tag70.xml"/><Relationship Id="rId10" Type="http://schemas.openxmlformats.org/officeDocument/2006/relationships/image" Target="../media/image30.png"/><Relationship Id="rId1" Type="http://schemas.openxmlformats.org/officeDocument/2006/relationships/tags" Target="../tags/tag6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tags" Target="../tags/tag78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tags" Target="../tags/tag8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89.xml"/><Relationship Id="rId7" Type="http://schemas.openxmlformats.org/officeDocument/2006/relationships/image" Target="../media/image9.png"/><Relationship Id="rId6" Type="http://schemas.openxmlformats.org/officeDocument/2006/relationships/tags" Target="../tags/tag88.xml"/><Relationship Id="rId5" Type="http://schemas.openxmlformats.org/officeDocument/2006/relationships/image" Target="../media/image7.png"/><Relationship Id="rId4" Type="http://schemas.openxmlformats.org/officeDocument/2006/relationships/image" Target="../media/image5.jpeg"/><Relationship Id="rId3" Type="http://schemas.openxmlformats.org/officeDocument/2006/relationships/tags" Target="../tags/tag87.xml"/><Relationship Id="rId2" Type="http://schemas.openxmlformats.org/officeDocument/2006/relationships/image" Target="../media/image4.png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92.xml"/><Relationship Id="rId14" Type="http://schemas.openxmlformats.org/officeDocument/2006/relationships/image" Target="../media/image41.png"/><Relationship Id="rId13" Type="http://schemas.openxmlformats.org/officeDocument/2006/relationships/image" Target="../media/image17.png"/><Relationship Id="rId12" Type="http://schemas.openxmlformats.org/officeDocument/2006/relationships/tags" Target="../tags/tag91.xml"/><Relationship Id="rId11" Type="http://schemas.openxmlformats.org/officeDocument/2006/relationships/image" Target="../media/image10.png"/><Relationship Id="rId10" Type="http://schemas.openxmlformats.org/officeDocument/2006/relationships/tags" Target="../tags/tag90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4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image" Target="../media/image48.png"/><Relationship Id="rId7" Type="http://schemas.openxmlformats.org/officeDocument/2006/relationships/tags" Target="../tags/tag96.xml"/><Relationship Id="rId6" Type="http://schemas.openxmlformats.org/officeDocument/2006/relationships/image" Target="../media/image47.png"/><Relationship Id="rId5" Type="http://schemas.openxmlformats.org/officeDocument/2006/relationships/tags" Target="../tags/tag95.xml"/><Relationship Id="rId4" Type="http://schemas.openxmlformats.org/officeDocument/2006/relationships/image" Target="../media/image46.png"/><Relationship Id="rId3" Type="http://schemas.openxmlformats.org/officeDocument/2006/relationships/tags" Target="../tags/tag94.xml"/><Relationship Id="rId2" Type="http://schemas.openxmlformats.org/officeDocument/2006/relationships/image" Target="../media/image45.png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93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51.png"/><Relationship Id="rId7" Type="http://schemas.openxmlformats.org/officeDocument/2006/relationships/tags" Target="../tags/tag105.xml"/><Relationship Id="rId6" Type="http://schemas.openxmlformats.org/officeDocument/2006/relationships/image" Target="../media/image50.png"/><Relationship Id="rId5" Type="http://schemas.openxmlformats.org/officeDocument/2006/relationships/tags" Target="../tags/tag104.xml"/><Relationship Id="rId4" Type="http://schemas.openxmlformats.org/officeDocument/2006/relationships/image" Target="../media/image49.jpeg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image" Target="../media/image62.jpeg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6" Type="http://schemas.openxmlformats.org/officeDocument/2006/relationships/slideLayout" Target="../slideLayouts/slideLayout3.xml"/><Relationship Id="rId25" Type="http://schemas.openxmlformats.org/officeDocument/2006/relationships/tags" Target="../tags/tag122.xml"/><Relationship Id="rId24" Type="http://schemas.openxmlformats.org/officeDocument/2006/relationships/image" Target="../media/image68.png"/><Relationship Id="rId23" Type="http://schemas.openxmlformats.org/officeDocument/2006/relationships/image" Target="../media/image67.png"/><Relationship Id="rId22" Type="http://schemas.openxmlformats.org/officeDocument/2006/relationships/image" Target="../media/image66.svg"/><Relationship Id="rId21" Type="http://schemas.openxmlformats.org/officeDocument/2006/relationships/image" Target="../media/image65.png"/><Relationship Id="rId20" Type="http://schemas.openxmlformats.org/officeDocument/2006/relationships/tags" Target="../tags/tag121.xml"/><Relationship Id="rId2" Type="http://schemas.openxmlformats.org/officeDocument/2006/relationships/image" Target="../media/image61.jpeg"/><Relationship Id="rId19" Type="http://schemas.openxmlformats.org/officeDocument/2006/relationships/tags" Target="../tags/tag120.xml"/><Relationship Id="rId18" Type="http://schemas.openxmlformats.org/officeDocument/2006/relationships/tags" Target="../tags/tag119.xml"/><Relationship Id="rId17" Type="http://schemas.openxmlformats.org/officeDocument/2006/relationships/image" Target="../media/image64.png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image" Target="../media/image63.png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tags" Target="../tags/tag10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21224" y="4511192"/>
            <a:ext cx="2730500" cy="457200"/>
            <a:chOff x="5016500" y="4318000"/>
            <a:chExt cx="2730500" cy="457200"/>
          </a:xfrm>
          <a:solidFill>
            <a:srgbClr val="1C56A6"/>
          </a:solidFill>
        </p:grpSpPr>
        <p:sp>
          <p:nvSpPr>
            <p:cNvPr id="3" name="矩形: 圆角 2"/>
            <p:cNvSpPr/>
            <p:nvPr/>
          </p:nvSpPr>
          <p:spPr>
            <a:xfrm>
              <a:off x="5016500" y="4318000"/>
              <a:ext cx="2730500" cy="457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C56A6"/>
              </a:solidFill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709286" y="4377323"/>
              <a:ext cx="1344930" cy="3371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spc="200" dirty="0">
                  <a:solidFill>
                    <a:srgbClr val="1C56A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2025.2.24</a:t>
              </a:r>
              <a:endParaRPr lang="en-US" altLang="zh-CN" sz="1600" spc="200" dirty="0">
                <a:solidFill>
                  <a:srgbClr val="1C5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75945" y="2259965"/>
            <a:ext cx="11527790" cy="10147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75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dist"/>
            <a:r>
              <a:rPr lang="zh-CN" altLang="en-US" sz="6000" b="1">
                <a:sym typeface="+mn-ea"/>
              </a:rPr>
              <a:t>汽车电子风扇水泵方案应用说明</a:t>
            </a:r>
            <a:endParaRPr lang="zh-CN" altLang="en-US" sz="6000" dirty="0">
              <a:solidFill>
                <a:srgbClr val="1C56A6"/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8" name="图片 17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8897620" y="140335"/>
            <a:ext cx="3294380" cy="133286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2412068" y="3736494"/>
            <a:ext cx="7367865" cy="3219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</a:pPr>
            <a:endParaRPr lang="zh-CN" altLang="en-US" sz="1000" dirty="0">
              <a:solidFill>
                <a:srgbClr val="535B6C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>
            <p:custDataLst>
              <p:tags r:id="rId2"/>
            </p:custDataLst>
          </p:nvPr>
        </p:nvSpPr>
        <p:spPr>
          <a:xfrm>
            <a:off x="3517265" y="3423285"/>
            <a:ext cx="5546725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杭州保威智能科技有限公司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en-US" altLang="zh-CN" sz="1600" dirty="0">
                <a:solidFill>
                  <a:srgbClr val="A09FAD"/>
                </a:solidFill>
                <a:cs typeface="+mn-ea"/>
                <a:sym typeface="+mn-lt"/>
              </a:rPr>
              <a:t>HangZhou Bonway Intelligent Technology Co., Ltd</a:t>
            </a:r>
            <a:endParaRPr lang="en-US" altLang="zh-CN" sz="1600" dirty="0">
              <a:solidFill>
                <a:srgbClr val="A09FAD"/>
              </a:solidFill>
              <a:cs typeface="+mn-ea"/>
              <a:sym typeface="+mn-lt"/>
            </a:endParaRPr>
          </a:p>
          <a:p>
            <a:pPr algn="l"/>
            <a:endParaRPr lang="en-US" altLang="zh-CN" sz="1600" dirty="0">
              <a:solidFill>
                <a:srgbClr val="A09FAD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3096895" y="1426612"/>
            <a:ext cx="4015975" cy="4253074"/>
            <a:chOff x="10211" y="1550"/>
            <a:chExt cx="7072" cy="7489"/>
          </a:xfrm>
        </p:grpSpPr>
        <p:grpSp>
          <p:nvGrpSpPr>
            <p:cNvPr id="4" name="组合 3"/>
            <p:cNvGrpSpPr/>
            <p:nvPr/>
          </p:nvGrpSpPr>
          <p:grpSpPr>
            <a:xfrm rot="0">
              <a:off x="10211" y="1550"/>
              <a:ext cx="6269" cy="1364"/>
              <a:chOff x="3351" y="3543"/>
              <a:chExt cx="6269" cy="1364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3351" y="3543"/>
                <a:ext cx="1023" cy="1023"/>
                <a:chOff x="910275" y="2123864"/>
                <a:chExt cx="792088" cy="792088"/>
              </a:xfrm>
            </p:grpSpPr>
            <p:sp>
              <p:nvSpPr>
                <p:cNvPr id="11" name="椭圆 10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910275" y="2123864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00" name="文本框 9"/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1001314" y="2310639"/>
                  <a:ext cx="610011" cy="4190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01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 rot="0">
                <a:off x="4899" y="3543"/>
                <a:ext cx="4721" cy="1364"/>
                <a:chOff x="3315584" y="3255666"/>
                <a:chExt cx="2997972" cy="866289"/>
              </a:xfrm>
            </p:grpSpPr>
            <p:sp>
              <p:nvSpPr>
                <p:cNvPr id="14" name="矩形 13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15584" y="3255666"/>
                  <a:ext cx="2997908" cy="5837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汽车应用</a:t>
                  </a:r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概况</a:t>
                  </a:r>
                  <a:endParaRPr lang="zh-CN" altLang="en-US" sz="2800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矩形 1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3315584" y="3744833"/>
                  <a:ext cx="2997972" cy="37712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endParaRPr lang="zh-CN" altLang="en-US" sz="1600" dirty="0">
                    <a:solidFill>
                      <a:srgbClr val="A09FAD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 rot="0">
              <a:off x="10211" y="3626"/>
              <a:ext cx="6957" cy="1227"/>
              <a:chOff x="3351" y="3598"/>
              <a:chExt cx="6957" cy="1228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3351" y="3603"/>
                <a:ext cx="1023" cy="1023"/>
                <a:chOff x="910275" y="2170651"/>
                <a:chExt cx="792088" cy="792088"/>
              </a:xfrm>
            </p:grpSpPr>
            <p:sp>
              <p:nvSpPr>
                <p:cNvPr id="7" name="椭圆 6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910275" y="2170651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文本框 9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1001314" y="2356520"/>
                  <a:ext cx="610011" cy="4193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02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 rot="0">
                <a:off x="4899" y="3598"/>
                <a:ext cx="5409" cy="1228"/>
                <a:chOff x="3315584" y="3290499"/>
                <a:chExt cx="3434599" cy="779423"/>
              </a:xfrm>
            </p:grpSpPr>
            <p:sp>
              <p:nvSpPr>
                <p:cNvPr id="10" name="矩形 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3315584" y="3290499"/>
                  <a:ext cx="2916250" cy="58395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主推芯片</a:t>
                  </a:r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介绍</a:t>
                  </a:r>
                  <a:endParaRPr lang="zh-CN" altLang="en-US" sz="2800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矩形 1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315584" y="3692698"/>
                  <a:ext cx="3434599" cy="37722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endParaRPr lang="zh-CN" altLang="en-US" sz="1600" dirty="0">
                    <a:solidFill>
                      <a:srgbClr val="A09FAD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 rot="0">
              <a:off x="10211" y="5580"/>
              <a:ext cx="7072" cy="1212"/>
              <a:chOff x="3351" y="3532"/>
              <a:chExt cx="7072" cy="1212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3351" y="3543"/>
                <a:ext cx="1023" cy="1023"/>
                <a:chOff x="910275" y="2123864"/>
                <a:chExt cx="792088" cy="792088"/>
              </a:xfrm>
            </p:grpSpPr>
            <p:sp>
              <p:nvSpPr>
                <p:cNvPr id="19" name="椭圆 18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910275" y="2123864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文本框 9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1001314" y="2309773"/>
                  <a:ext cx="610011" cy="4190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03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 rot="0">
                <a:off x="4899" y="3532"/>
                <a:ext cx="5524" cy="1212"/>
                <a:chOff x="3315584" y="3248588"/>
                <a:chExt cx="3507737" cy="769877"/>
              </a:xfrm>
            </p:grpSpPr>
            <p:sp>
              <p:nvSpPr>
                <p:cNvPr id="22" name="矩形 21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3315584" y="3248588"/>
                  <a:ext cx="3114731" cy="58397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电子风扇</a:t>
                  </a:r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应用</a:t>
                  </a:r>
                  <a:endParaRPr lang="zh-CN" altLang="en-US" sz="2800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矩形 22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3315584" y="3641227"/>
                  <a:ext cx="3507737" cy="3772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endParaRPr lang="zh-CN" altLang="en-US" sz="1600" dirty="0">
                    <a:solidFill>
                      <a:srgbClr val="A09FAD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24" name="组合 23"/>
            <p:cNvGrpSpPr/>
            <p:nvPr/>
          </p:nvGrpSpPr>
          <p:grpSpPr>
            <a:xfrm rot="0">
              <a:off x="10211" y="7758"/>
              <a:ext cx="6958" cy="1281"/>
              <a:chOff x="3351" y="3543"/>
              <a:chExt cx="6958" cy="1283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3351" y="3543"/>
                <a:ext cx="1023" cy="1023"/>
                <a:chOff x="910275" y="2123864"/>
                <a:chExt cx="792088" cy="792088"/>
              </a:xfrm>
            </p:grpSpPr>
            <p:sp>
              <p:nvSpPr>
                <p:cNvPr id="26" name="椭圆 25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910275" y="2123864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文本框 9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1001314" y="2310582"/>
                  <a:ext cx="610011" cy="4193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04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 rot="0">
                <a:off x="4899" y="3544"/>
                <a:ext cx="5410" cy="1282"/>
                <a:chOff x="3315584" y="3255721"/>
                <a:chExt cx="3435323" cy="813841"/>
              </a:xfrm>
            </p:grpSpPr>
            <p:sp>
              <p:nvSpPr>
                <p:cNvPr id="29" name="矩形 28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3315584" y="3255721"/>
                  <a:ext cx="3267733" cy="58416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电子水泵</a:t>
                  </a:r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应用</a:t>
                  </a:r>
                  <a:endParaRPr lang="zh-CN" altLang="en-US" sz="2800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矩形 2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3315584" y="3692199"/>
                  <a:ext cx="3435323" cy="37736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endParaRPr lang="zh-CN" altLang="en-US" sz="1600" dirty="0">
                    <a:solidFill>
                      <a:srgbClr val="A09FAD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3" name="文本框 2"/>
          <p:cNvSpPr txBox="1"/>
          <p:nvPr userDrawn="1"/>
        </p:nvSpPr>
        <p:spPr>
          <a:xfrm>
            <a:off x="191770" y="2008505"/>
            <a:ext cx="1290320" cy="26092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dist"/>
            <a:r>
              <a:rPr lang="zh-CN" altLang="en-US" sz="720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720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535430" y="2919730"/>
            <a:ext cx="551815" cy="1383030"/>
          </a:xfrm>
          <a:prstGeom prst="rect">
            <a:avLst/>
          </a:prstGeom>
        </p:spPr>
        <p:txBody>
          <a:bodyPr vert="eaVert" wrap="square">
            <a:spAutoFit/>
          </a:bodyPr>
          <a:p>
            <a:pPr algn="dist"/>
            <a:r>
              <a:rPr lang="en-US" altLang="zh-CN" sz="2400" dirty="0">
                <a:solidFill>
                  <a:schemeClr val="tx1"/>
                </a:solidFill>
                <a:latin typeface="汉仪中宋S" panose="00020600040101010101" charset="-122"/>
                <a:ea typeface="汉仪中宋S" panose="00020600040101010101" charset="-122"/>
                <a:cs typeface="+mn-ea"/>
                <a:sym typeface="+mn-lt"/>
              </a:rPr>
              <a:t>contents</a:t>
            </a:r>
            <a:endParaRPr lang="en-US" altLang="zh-CN" sz="2400" dirty="0">
              <a:solidFill>
                <a:schemeClr val="tx1"/>
              </a:solidFill>
              <a:latin typeface="汉仪中宋S" panose="00020600040101010101" charset="-122"/>
              <a:ea typeface="汉仪中宋S" panose="00020600040101010101" charset="-122"/>
              <a:cs typeface="+mn-ea"/>
              <a:sym typeface="+mn-lt"/>
            </a:endParaRPr>
          </a:p>
        </p:txBody>
      </p:sp>
      <p:pic>
        <p:nvPicPr>
          <p:cNvPr id="32" name="图片 31" descr="65f91e9ede8511ff8378a49e0fde4cc"/>
          <p:cNvPicPr>
            <a:picLocks noChangeAspect="1"/>
          </p:cNvPicPr>
          <p:nvPr/>
        </p:nvPicPr>
        <p:blipFill>
          <a:blip r:embed="rId18"/>
          <a:srcRect t="23916" b="22003"/>
          <a:stretch>
            <a:fillRect/>
          </a:stretch>
        </p:blipFill>
        <p:spPr>
          <a:xfrm>
            <a:off x="0" y="16510"/>
            <a:ext cx="2607310" cy="10547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5412740" y="1532255"/>
            <a:ext cx="1365885" cy="785495"/>
            <a:chOff x="7747" y="2996"/>
            <a:chExt cx="2151" cy="1237"/>
          </a:xfrm>
          <a:solidFill>
            <a:srgbClr val="FACB85"/>
          </a:solidFill>
        </p:grpSpPr>
        <p:sp>
          <p:nvSpPr>
            <p:cNvPr id="7" name="椭圆 6"/>
            <p:cNvSpPr/>
            <p:nvPr/>
          </p:nvSpPr>
          <p:spPr>
            <a:xfrm>
              <a:off x="8204" y="2996"/>
              <a:ext cx="1237" cy="1237"/>
            </a:xfrm>
            <a:prstGeom prst="ellipse">
              <a:avLst/>
            </a:prstGeom>
            <a:solidFill>
              <a:srgbClr val="1C56A6"/>
            </a:solidFill>
            <a:ln w="9525"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8" name="文本框 9"/>
            <p:cNvSpPr txBox="1"/>
            <p:nvPr/>
          </p:nvSpPr>
          <p:spPr>
            <a:xfrm>
              <a:off x="7747" y="3178"/>
              <a:ext cx="2151" cy="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0" tIns="0" rIns="0" bIns="0" rtlCol="0">
              <a:spAutoFit/>
            </a:bodyPr>
            <a:p>
              <a:pPr marL="0" lvl="1" algn="ctr"/>
              <a:r>
                <a:rPr lang="en-US" altLang="zh-CN" sz="3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lang="en-US" altLang="zh-CN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rot="0">
            <a:off x="4791074" y="2543810"/>
            <a:ext cx="2609215" cy="859155"/>
            <a:chOff x="3136510" y="3169020"/>
            <a:chExt cx="2609262" cy="859234"/>
          </a:xfrm>
        </p:grpSpPr>
        <p:sp>
          <p:nvSpPr>
            <p:cNvPr id="10" name="矩形 9"/>
            <p:cNvSpPr/>
            <p:nvPr/>
          </p:nvSpPr>
          <p:spPr>
            <a:xfrm>
              <a:off x="3315584" y="3169020"/>
              <a:ext cx="2411773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汽车应用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概况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5806440" y="3234055"/>
            <a:ext cx="739140" cy="0"/>
          </a:xfrm>
          <a:prstGeom prst="line">
            <a:avLst/>
          </a:prstGeom>
          <a:ln w="19050">
            <a:solidFill>
              <a:srgbClr val="1C5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66850" y="701675"/>
            <a:ext cx="31115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00000"/>
              </a:lnSpc>
            </a:pPr>
            <a:r>
              <a:rPr lang="zh-CN" altLang="en-US" sz="2400" b="1" kern="1600" spc="100" dirty="0" smtClean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新能源汽车电子水泵</a:t>
            </a:r>
            <a:endParaRPr lang="zh-CN" altLang="en-US" sz="2400" b="1" kern="1600" spc="100" dirty="0" smtClean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99490" y="1561465"/>
            <a:ext cx="97040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349250"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Calibri" panose="020F0502020204030204" charset="0"/>
              </a:rPr>
              <a:t>汽车冷却系统的关键部件，通常为12v或24v电动冷却液泵，如TOPSFLO TA50和TA60汽车循环直流泵系列。汽车电子水泵的主要运行原理是：由无刷电机带动叶轮旋转，使液体压力升高，带动水、冷却液等液体进行循环，从而实现冷却液散热。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  <a:cs typeface="Calibri" panose="020F050202020403020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42"/>
          <a:stretch>
            <a:fillRect/>
          </a:stretch>
        </p:blipFill>
        <p:spPr bwMode="auto">
          <a:xfrm>
            <a:off x="1425575" y="2480310"/>
            <a:ext cx="4707890" cy="3475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6348095" y="3589020"/>
            <a:ext cx="355092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349250" algn="just"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Calibri" panose="020F0502020204030204" charset="0"/>
              </a:rPr>
              <a:t>主要用于车辆预热系统、汽车发动机冷却循环、氢燃料电池热管理系统、新能源汽车驱动系统、电动汽车电池冷却系统，以及汽车、摩托车、新能源汽车、混合动力客车、房车、赛车、街车等的冷却系统。</a:t>
            </a:r>
            <a:endParaRPr lang="zh-CN" altLang="en-US" sz="120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/>
        </p:nvSpPr>
        <p:spPr>
          <a:xfrm>
            <a:off x="972820" y="603250"/>
            <a:ext cx="28384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C000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汽车市场领域布局</a:t>
            </a:r>
            <a:endParaRPr lang="zh-CN" altLang="en-US" sz="2400" b="1">
              <a:solidFill>
                <a:srgbClr val="FFC000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72820" y="1102995"/>
            <a:ext cx="29870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国产</a:t>
            </a:r>
            <a:r>
              <a:rPr lang="zh-CN" altLang="en-US" sz="12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唯一</a:t>
            </a: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家在主驱电机量产</a:t>
            </a: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的企业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00" y="1858010"/>
            <a:ext cx="1416050" cy="9150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68300" y="2844165"/>
            <a:ext cx="1478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整车控制器</a:t>
            </a:r>
            <a:endParaRPr lang="zh-CN" alt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AVP32F335QP176Q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8660" y="2009775"/>
            <a:ext cx="1459865" cy="7632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956435" y="2844165"/>
            <a:ext cx="15659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电机控制器</a:t>
            </a:r>
            <a:endParaRPr lang="zh-CN" alt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AVP32F335QP176Q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AVP32F0049QP100Q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ADM32F735E/DQ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55" y="3801110"/>
            <a:ext cx="1311910" cy="90424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502285" y="4852670"/>
            <a:ext cx="15030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车载充电机</a:t>
            </a:r>
            <a:endParaRPr lang="zh-CN" alt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AVP32F335QP176Q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AVP32F08QP100Q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AVP32F0049QP100Q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0245" y="3733165"/>
            <a:ext cx="1459865" cy="81915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2106930" y="4852670"/>
            <a:ext cx="15252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DC/DC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变换器</a:t>
            </a:r>
            <a:endParaRPr lang="zh-CN" alt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endParaRPr lang="zh-CN" alt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ADP32F035QP64Q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ADP32F036QP48Q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588815" y="1822868"/>
            <a:ext cx="4594670" cy="3742977"/>
            <a:chOff x="4468829" y="1243496"/>
            <a:chExt cx="5454307" cy="4720715"/>
          </a:xfrm>
        </p:grpSpPr>
        <p:pic>
          <p:nvPicPr>
            <p:cNvPr id="16" name="图片 15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7289349" y="1402279"/>
              <a:ext cx="1044289" cy="771866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542811" y="1243496"/>
              <a:ext cx="868680" cy="944880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 rotWithShape="1">
            <a:blip r:embed="rId14"/>
            <a:srcRect l="5652" r="12618" b="-1945"/>
            <a:stretch>
              <a:fillRect/>
            </a:stretch>
          </p:blipFill>
          <p:spPr>
            <a:xfrm>
              <a:off x="5875239" y="1342851"/>
              <a:ext cx="976745" cy="879451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 rotWithShape="1">
            <a:blip r:embed="rId16"/>
            <a:srcRect l="583" t="3810" r="8747" b="1"/>
            <a:stretch>
              <a:fillRect/>
            </a:stretch>
          </p:blipFill>
          <p:spPr>
            <a:xfrm>
              <a:off x="4475011" y="3038699"/>
              <a:ext cx="1243625" cy="769620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 rotWithShape="1">
            <a:blip r:embed="rId18"/>
            <a:srcRect l="11064" t="3153" r="14865" b="3439"/>
            <a:stretch>
              <a:fillRect/>
            </a:stretch>
          </p:blipFill>
          <p:spPr>
            <a:xfrm>
              <a:off x="8924780" y="2989078"/>
              <a:ext cx="723484" cy="848215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7125030" y="3134173"/>
              <a:ext cx="1453004" cy="518930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6002503" y="4572699"/>
              <a:ext cx="769619" cy="1036320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 rotWithShape="1">
            <a:blip r:embed="rId24"/>
            <a:srcRect l="1" t="4526" r="-6423"/>
            <a:stretch>
              <a:fillRect/>
            </a:stretch>
          </p:blipFill>
          <p:spPr>
            <a:xfrm>
              <a:off x="5967170" y="2957903"/>
              <a:ext cx="810941" cy="931215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8770695" y="1418669"/>
              <a:ext cx="1013459" cy="769620"/>
            </a:xfrm>
            <a:prstGeom prst="rect">
              <a:avLst/>
            </a:prstGeom>
          </p:spPr>
        </p:pic>
        <p:sp>
          <p:nvSpPr>
            <p:cNvPr id="25" name="文本框 24"/>
            <p:cNvSpPr txBox="1"/>
            <p:nvPr>
              <p:custDataLst>
                <p:tags r:id="rId27"/>
              </p:custDataLst>
            </p:nvPr>
          </p:nvSpPr>
          <p:spPr>
            <a:xfrm>
              <a:off x="4468829" y="2243562"/>
              <a:ext cx="973199" cy="359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华文楷体" panose="02010600040101010101" pitchFamily="2" charset="-122"/>
                </a:rPr>
                <a:t>电子风扇</a:t>
              </a:r>
              <a:endParaRPr lang="zh-CN" altLang="en-US" sz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pitchFamily="2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28"/>
              </p:custDataLst>
            </p:nvPr>
          </p:nvSpPr>
          <p:spPr>
            <a:xfrm>
              <a:off x="5967194" y="2231428"/>
              <a:ext cx="1135840" cy="349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华文楷体" panose="02010600040101010101" pitchFamily="2" charset="-122"/>
                </a:rPr>
                <a:t>空调鼓风机</a:t>
              </a:r>
              <a:endParaRPr lang="zh-CN" altLang="en-US" sz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pitchFamily="2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29"/>
              </p:custDataLst>
            </p:nvPr>
          </p:nvSpPr>
          <p:spPr>
            <a:xfrm>
              <a:off x="7289349" y="2229026"/>
              <a:ext cx="1013459" cy="349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华文楷体" panose="02010600040101010101" pitchFamily="2" charset="-122"/>
                </a:rPr>
                <a:t>进气格栅</a:t>
              </a:r>
              <a:endParaRPr lang="zh-CN" altLang="en-US" sz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pitchFamily="2" charset="-122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30"/>
              </p:custDataLst>
            </p:nvPr>
          </p:nvSpPr>
          <p:spPr>
            <a:xfrm>
              <a:off x="4621065" y="3897549"/>
              <a:ext cx="664384" cy="356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华文楷体" panose="02010600040101010101" pitchFamily="2" charset="-122"/>
                </a:rPr>
                <a:t>天窗</a:t>
              </a:r>
              <a:endParaRPr lang="zh-CN" altLang="en-US" sz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pitchFamily="2" charset="-122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31"/>
              </p:custDataLst>
            </p:nvPr>
          </p:nvSpPr>
          <p:spPr>
            <a:xfrm>
              <a:off x="8671515" y="2243072"/>
              <a:ext cx="1251621" cy="3493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华文楷体" panose="02010600040101010101" pitchFamily="2" charset="-122"/>
                </a:rPr>
                <a:t>空调压缩机</a:t>
              </a:r>
              <a:endParaRPr lang="zh-CN" altLang="en-US" sz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pitchFamily="2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32"/>
              </p:custDataLst>
            </p:nvPr>
          </p:nvSpPr>
          <p:spPr>
            <a:xfrm>
              <a:off x="4482233" y="5581852"/>
              <a:ext cx="983292" cy="36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华文楷体" panose="02010600040101010101" pitchFamily="2" charset="-122"/>
                </a:rPr>
                <a:t>电子</a:t>
              </a:r>
              <a:r>
                <a:rPr lang="zh-CN" altLang="en-US" sz="1200" dirty="0">
                  <a:latin typeface="黑体" panose="02010609060101010101" charset="-122"/>
                  <a:ea typeface="黑体" panose="02010609060101010101" charset="-122"/>
                  <a:cs typeface="华文楷体" panose="02010600040101010101" pitchFamily="2" charset="-122"/>
                </a:rPr>
                <a:t>泵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pitchFamily="2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33"/>
              </p:custDataLst>
            </p:nvPr>
          </p:nvSpPr>
          <p:spPr>
            <a:xfrm>
              <a:off x="8798087" y="3905256"/>
              <a:ext cx="986636" cy="349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华文楷体" panose="02010600040101010101" pitchFamily="2" charset="-122"/>
                </a:rPr>
                <a:t>座椅风扇</a:t>
              </a:r>
              <a:endParaRPr lang="zh-CN" altLang="en-US" sz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pitchFamily="2" charset="-122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34"/>
              </p:custDataLst>
            </p:nvPr>
          </p:nvSpPr>
          <p:spPr>
            <a:xfrm>
              <a:off x="5834300" y="5609019"/>
              <a:ext cx="1013459" cy="35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华文楷体" panose="02010600040101010101" pitchFamily="2" charset="-122"/>
                </a:rPr>
                <a:t>汽车油泵</a:t>
              </a:r>
              <a:endParaRPr lang="zh-CN" altLang="en-US" sz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pitchFamily="2" charset="-122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35"/>
              </p:custDataLst>
            </p:nvPr>
          </p:nvSpPr>
          <p:spPr>
            <a:xfrm>
              <a:off x="5856137" y="3889118"/>
              <a:ext cx="983292" cy="36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华文楷体" panose="02010600040101010101" pitchFamily="2" charset="-122"/>
                </a:rPr>
                <a:t>玻璃升降</a:t>
              </a:r>
              <a:endParaRPr lang="zh-CN" altLang="en-US" sz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pitchFamily="2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36"/>
              </p:custDataLst>
            </p:nvPr>
          </p:nvSpPr>
          <p:spPr>
            <a:xfrm>
              <a:off x="7253167" y="3880455"/>
              <a:ext cx="1162055" cy="359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华文楷体" panose="02010600040101010101" pitchFamily="2" charset="-122"/>
                </a:rPr>
                <a:t>充电口翻盖</a:t>
              </a:r>
              <a:endParaRPr lang="zh-CN" altLang="en-US" sz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pitchFamily="2" charset="-122"/>
              </a:endParaRPr>
            </a:p>
          </p:txBody>
        </p:sp>
      </p:grpSp>
      <p:pic>
        <p:nvPicPr>
          <p:cNvPr id="35" name="图片 34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6650990" y="4486910"/>
            <a:ext cx="833755" cy="71374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006840" y="4421505"/>
            <a:ext cx="1015365" cy="779145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40"/>
            </p:custDataLst>
          </p:nvPr>
        </p:nvSpPr>
        <p:spPr>
          <a:xfrm>
            <a:off x="9007475" y="5275580"/>
            <a:ext cx="10458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pitchFamily="2" charset="-122"/>
              </a:rPr>
              <a:t>电子膨胀阀</a:t>
            </a:r>
            <a:endParaRPr lang="zh-CN" altLang="en-US" sz="12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华文楷体" panose="020106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739890" y="5722620"/>
            <a:ext cx="4145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</a:rPr>
              <a:t>ADM32F036A2QN56Q</a:t>
            </a:r>
            <a:endParaRPr lang="en-US" altLang="zh-CN" sz="12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</a:rPr>
              <a:t>ADM16F03A2QN56Q</a:t>
            </a:r>
            <a:endParaRPr lang="en-US" altLang="zh-CN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41"/>
            </p:custDataLst>
          </p:nvPr>
        </p:nvSpPr>
        <p:spPr>
          <a:xfrm>
            <a:off x="10342432" y="5250959"/>
            <a:ext cx="8311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pitchFamily="2" charset="-122"/>
              </a:rPr>
              <a:t>座椅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pitchFamily="2" charset="-122"/>
              </a:rPr>
              <a:t>控制</a:t>
            </a:r>
            <a:endParaRPr lang="zh-CN" altLang="en-US" sz="12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华文楷体" panose="02010600040101010101" pitchFamily="2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212705" y="4434840"/>
            <a:ext cx="1235710" cy="732790"/>
          </a:xfrm>
          <a:prstGeom prst="rect">
            <a:avLst/>
          </a:prstGeom>
        </p:spPr>
      </p:pic>
      <p:pic>
        <p:nvPicPr>
          <p:cNvPr id="2" name="图片 1"/>
          <p:cNvPicPr/>
          <p:nvPr>
            <p:custDataLst>
              <p:tags r:id="rId43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3632200" y="2733675"/>
            <a:ext cx="2806700" cy="18554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 rot="0">
            <a:off x="523966" y="2061210"/>
            <a:ext cx="3412129" cy="4001294"/>
            <a:chOff x="2246" y="3286"/>
            <a:chExt cx="4701" cy="5513"/>
          </a:xfrm>
        </p:grpSpPr>
        <p:pic>
          <p:nvPicPr>
            <p:cNvPr id="17" name="图片 1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42"/>
            <a:stretch>
              <a:fillRect/>
            </a:stretch>
          </p:blipFill>
          <p:spPr>
            <a:xfrm>
              <a:off x="2275" y="3286"/>
              <a:ext cx="2070" cy="161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008"/>
            <a:stretch>
              <a:fillRect/>
            </a:stretch>
          </p:blipFill>
          <p:spPr>
            <a:xfrm>
              <a:off x="2246" y="5171"/>
              <a:ext cx="2234" cy="1745"/>
            </a:xfrm>
            <a:prstGeom prst="rect">
              <a:avLst/>
            </a:prstGeom>
          </p:spPr>
        </p:pic>
        <p:grpSp>
          <p:nvGrpSpPr>
            <p:cNvPr id="27" name="组合 26"/>
            <p:cNvGrpSpPr/>
            <p:nvPr/>
          </p:nvGrpSpPr>
          <p:grpSpPr>
            <a:xfrm>
              <a:off x="4746" y="3394"/>
              <a:ext cx="2201" cy="3234"/>
              <a:chOff x="4746" y="3362"/>
              <a:chExt cx="2201" cy="3234"/>
            </a:xfrm>
          </p:grpSpPr>
          <p:sp>
            <p:nvSpPr>
              <p:cNvPr id="34" name="文本框 33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746" y="5962"/>
                <a:ext cx="2201" cy="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C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2300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万颗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+</a:t>
                </a:r>
                <a:endParaRPr lang="en-US" altLang="zh-CN" sz="2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35" name="文本框 3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746" y="3362"/>
                <a:ext cx="1556" cy="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电动汽车</a:t>
                </a:r>
                <a:endPara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4746" y="4053"/>
              <a:ext cx="1952" cy="3809"/>
              <a:chOff x="4746" y="4053"/>
              <a:chExt cx="1952" cy="3809"/>
            </a:xfrm>
          </p:grpSpPr>
          <p:sp>
            <p:nvSpPr>
              <p:cNvPr id="32" name="文本框 31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746" y="4053"/>
                <a:ext cx="1952" cy="1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sz="2400" b="1" dirty="0">
                    <a:solidFill>
                      <a:srgbClr val="C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500万</a:t>
                </a:r>
                <a:r>
                  <a:rPr lang="zh-CN" sz="2400" b="1" dirty="0">
                    <a:solidFill>
                      <a:srgbClr val="C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颗</a:t>
                </a:r>
                <a:r>
                  <a:rPr sz="2400" b="1" dirty="0">
                    <a:solidFill>
                      <a:srgbClr val="C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+</a:t>
                </a:r>
                <a:endParaRPr lang="zh-CN" sz="2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33" name="文本框 32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894" y="7397"/>
                <a:ext cx="1568" cy="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家电市场</a:t>
                </a:r>
                <a:endPara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4746" y="5182"/>
              <a:ext cx="2183" cy="3617"/>
              <a:chOff x="4746" y="5056"/>
              <a:chExt cx="2183" cy="3617"/>
            </a:xfrm>
          </p:grpSpPr>
          <p:sp>
            <p:nvSpPr>
              <p:cNvPr id="30" name="文本框 2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746" y="8039"/>
                <a:ext cx="2183" cy="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C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10</a:t>
                </a:r>
                <a:r>
                  <a:rPr sz="2400" b="1" dirty="0">
                    <a:solidFill>
                      <a:srgbClr val="C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00万</a:t>
                </a:r>
                <a:r>
                  <a:rPr lang="zh-CN" sz="2400" b="1" dirty="0">
                    <a:solidFill>
                      <a:srgbClr val="C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颗</a:t>
                </a:r>
                <a:r>
                  <a:rPr sz="2400" b="1" dirty="0">
                    <a:solidFill>
                      <a:srgbClr val="C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+</a:t>
                </a:r>
                <a:endParaRPr sz="2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804" y="5056"/>
                <a:ext cx="1888" cy="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工业自动化</a:t>
                </a:r>
                <a:endPara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3935095" y="2172335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比亚迪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06010" y="2172335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吉利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92775" y="2172335"/>
            <a:ext cx="1680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上汽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五菱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31050" y="2172335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奇瑞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60840" y="2172335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欣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锐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43875" y="2172335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英博尔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35095" y="2618105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银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轮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06010" y="2618105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飞龙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767705" y="2618105"/>
            <a:ext cx="1188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三花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集团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131050" y="2618105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广汽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143875" y="2618105"/>
            <a:ext cx="1116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富临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精工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985260" y="3608070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汇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川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906010" y="3608070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英威腾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4" r="8907" b="5118"/>
          <a:stretch>
            <a:fillRect/>
          </a:stretch>
        </p:blipFill>
        <p:spPr>
          <a:xfrm>
            <a:off x="629285" y="4906010"/>
            <a:ext cx="1417955" cy="107124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035040" y="3608070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德业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50405" y="3608070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维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143875" y="3608070"/>
            <a:ext cx="1136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中兴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通讯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452610" y="3608070"/>
            <a:ext cx="1136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英飞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源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960495" y="4118610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杰美康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906010" y="4118610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特来电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953760" y="4118610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永联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052310" y="4118610"/>
            <a:ext cx="92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雷赛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150860" y="4118610"/>
            <a:ext cx="1146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长城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集团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442450" y="4118610"/>
            <a:ext cx="1146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广州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数控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116705" y="5234305"/>
            <a:ext cx="937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格力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003165" y="5234305"/>
            <a:ext cx="1154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拓邦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976620" y="5234305"/>
            <a:ext cx="1154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美的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97670" y="2618105"/>
            <a:ext cx="1116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北汽福田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23076" y="1112025"/>
            <a:ext cx="23253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思源黑体" panose="020B0500000000000000" charset="-122"/>
              </a:rPr>
              <a:t>市场出货与</a:t>
            </a:r>
            <a:r>
              <a:rPr lang="zh-CN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思源黑体" panose="020B0500000000000000" charset="-122"/>
              </a:rPr>
              <a:t>客户</a:t>
            </a:r>
            <a:endParaRPr lang="zh-CN" sz="2400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2285365" y="1746885"/>
            <a:ext cx="248031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cs typeface="宋体" panose="02010600030101010101" pitchFamily="2" charset="-122"/>
              </a:rPr>
              <a:t>某车企电子</a:t>
            </a:r>
            <a:endParaRPr lang="zh-CN" altLang="en-US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cs typeface="宋体" panose="02010600030101010101" pitchFamily="2" charset="-122"/>
              </a:rPr>
              <a:t>膨胀阀控制</a:t>
            </a:r>
            <a:endParaRPr lang="zh-CN" altLang="en-US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sym typeface="+mn-ea"/>
              </a:rPr>
              <a:t>ADM16F03A1/A2</a:t>
            </a:r>
            <a:endParaRPr lang="en-US" altLang="zh-CN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068570" y="1480185"/>
            <a:ext cx="2152015" cy="187071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60495" y="4029710"/>
            <a:ext cx="5586095" cy="18840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TextBox 38"/>
          <p:cNvSpPr txBox="1"/>
          <p:nvPr>
            <p:custDataLst>
              <p:tags r:id="rId1"/>
            </p:custDataLst>
          </p:nvPr>
        </p:nvSpPr>
        <p:spPr>
          <a:xfrm>
            <a:off x="2658110" y="2183765"/>
            <a:ext cx="2418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00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某车企电子</a:t>
            </a:r>
            <a:endParaRPr lang="zh-CN" altLang="en-US" b="1" kern="1600" spc="100" dirty="0" smtClean="0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en-US" kern="1600" spc="10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</a:rPr>
              <a:t>汽车空调压缩机</a:t>
            </a:r>
            <a:r>
              <a:rPr lang="zh-CN" altLang="en-US" kern="1600" spc="10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</a:rPr>
              <a:t>控制</a:t>
            </a:r>
            <a:endParaRPr lang="zh-CN" altLang="en-US" kern="1600" spc="100" dirty="0" smtClean="0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45945"/>
            <a:ext cx="3240405" cy="404876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658110" y="2955925"/>
            <a:ext cx="2030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ADP32F034QP48S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4841875" y="3248660"/>
            <a:ext cx="2002790" cy="953770"/>
          </a:xfrm>
          <a:prstGeom prst="straightConnector1">
            <a:avLst/>
          </a:prstGeom>
          <a:ln w="31750" cap="rnd">
            <a:solidFill>
              <a:srgbClr val="FF0000"/>
            </a:solidFill>
            <a:prstDash val="sys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436110" y="3978910"/>
            <a:ext cx="2413000" cy="165290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572000" y="3333750"/>
            <a:ext cx="2389505" cy="47180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ADP16F03/ADM16F03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电子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风扇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4975860" y="767715"/>
            <a:ext cx="1398905" cy="47180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ADM16F03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水泵项目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1665605" y="789305"/>
            <a:ext cx="2544445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压缩机控制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ADP32F034/AVP32F08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477760" y="1488440"/>
            <a:ext cx="2279650" cy="162306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7838440" y="767080"/>
            <a:ext cx="1557655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ADP32F035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PTC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加热控制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056130" y="1434465"/>
            <a:ext cx="1669415" cy="1732280"/>
          </a:xfrm>
          <a:prstGeom prst="rect">
            <a:avLst/>
          </a:prstGeom>
        </p:spPr>
      </p:pic>
      <p:pic>
        <p:nvPicPr>
          <p:cNvPr id="100" name="图片 99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336790" y="4053840"/>
            <a:ext cx="2562225" cy="1562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>
            <p:custDataLst>
              <p:tags r:id="rId13"/>
            </p:custDataLst>
          </p:nvPr>
        </p:nvSpPr>
        <p:spPr>
          <a:xfrm>
            <a:off x="7336790" y="3332480"/>
            <a:ext cx="2310765" cy="47180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无人物流车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ADP32F035 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文本框 8"/>
          <p:cNvSpPr txBox="1"/>
          <p:nvPr>
            <p:custDataLst>
              <p:tags r:id="rId14"/>
            </p:custDataLst>
          </p:nvPr>
        </p:nvSpPr>
        <p:spPr>
          <a:xfrm>
            <a:off x="2056130" y="3333750"/>
            <a:ext cx="18268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ADM16F03</a:t>
            </a:r>
            <a:endParaRPr lang="en-US" altLang="zh-CN"/>
          </a:p>
          <a:p>
            <a:r>
              <a:rPr lang="zh-CN" altLang="en-US"/>
              <a:t>格栅控制</a:t>
            </a:r>
            <a:r>
              <a:rPr lang="zh-CN" altLang="en-US"/>
              <a:t>器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122170" y="3977640"/>
            <a:ext cx="1477645" cy="16383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10050" y="1579245"/>
            <a:ext cx="2638425" cy="1711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5412740" y="1532255"/>
            <a:ext cx="1365885" cy="785495"/>
            <a:chOff x="7747" y="2996"/>
            <a:chExt cx="2151" cy="1237"/>
          </a:xfrm>
          <a:solidFill>
            <a:srgbClr val="FACB85"/>
          </a:solidFill>
        </p:grpSpPr>
        <p:sp>
          <p:nvSpPr>
            <p:cNvPr id="7" name="椭圆 6"/>
            <p:cNvSpPr/>
            <p:nvPr/>
          </p:nvSpPr>
          <p:spPr>
            <a:xfrm>
              <a:off x="8204" y="2996"/>
              <a:ext cx="1237" cy="1237"/>
            </a:xfrm>
            <a:prstGeom prst="ellipse">
              <a:avLst/>
            </a:prstGeom>
            <a:solidFill>
              <a:srgbClr val="1C56A6"/>
            </a:solidFill>
            <a:ln w="9525"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8" name="文本框 9"/>
            <p:cNvSpPr txBox="1"/>
            <p:nvPr/>
          </p:nvSpPr>
          <p:spPr>
            <a:xfrm>
              <a:off x="7747" y="3178"/>
              <a:ext cx="2151" cy="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0" tIns="0" rIns="0" bIns="0" rtlCol="0">
              <a:spAutoFit/>
            </a:bodyPr>
            <a:p>
              <a:pPr marL="0" lvl="1" algn="ctr"/>
              <a:r>
                <a:rPr lang="en-US" altLang="zh-CN" sz="3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lang="en-US" altLang="zh-CN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rot="0">
            <a:off x="4791074" y="2543810"/>
            <a:ext cx="2609215" cy="859155"/>
            <a:chOff x="3136510" y="3169020"/>
            <a:chExt cx="2609262" cy="859234"/>
          </a:xfrm>
        </p:grpSpPr>
        <p:sp>
          <p:nvSpPr>
            <p:cNvPr id="10" name="矩形 9"/>
            <p:cNvSpPr/>
            <p:nvPr/>
          </p:nvSpPr>
          <p:spPr>
            <a:xfrm>
              <a:off x="3315584" y="3169020"/>
              <a:ext cx="2411773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主推芯片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介绍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5806440" y="3234055"/>
            <a:ext cx="739140" cy="0"/>
          </a:xfrm>
          <a:prstGeom prst="line">
            <a:avLst/>
          </a:prstGeom>
          <a:ln w="19050">
            <a:solidFill>
              <a:srgbClr val="1C5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9584690" y="222250"/>
            <a:ext cx="2357120" cy="9537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619885" y="1120140"/>
          <a:ext cx="8951595" cy="3089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730"/>
                <a:gridCol w="1375410"/>
                <a:gridCol w="1435735"/>
                <a:gridCol w="3982720"/>
              </a:tblGrid>
              <a:tr h="6223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型号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封装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内核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集成度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chemeClr val="bg1"/>
                    </a:solidFill>
                  </a:tcPr>
                </a:tc>
              </a:tr>
              <a:tr h="5467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ADM16F03A1QP(N)48Q</a:t>
                      </a:r>
                      <a:endParaRPr lang="en-US" altLang="zh-CN" sz="14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QFN48/QFP48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ADP16F03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预驱、双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LDO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12V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）运放、比较器</a:t>
                      </a:r>
                      <a:endParaRPr lang="zh-CN" altLang="en-US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6026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ADM16F03A2QP56Q</a:t>
                      </a:r>
                      <a:endParaRPr lang="en-US" altLang="zh-CN" sz="14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QFN56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ADP16F03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预驱、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LDO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12V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）运放、比较器、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LIN-PHY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收发器</a:t>
                      </a:r>
                      <a:endParaRPr lang="zh-CN" altLang="en-US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6026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、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ADM32F036AQN56(48)Q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QFN56/QFN48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ADP32F036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预驱、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LDO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12V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）运放、比较器</a:t>
                      </a:r>
                      <a:endParaRPr lang="zh-CN" altLang="en-US" sz="1400"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CAN/LIN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7150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4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、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ADM32F036BQP56(48)Q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QFN48/QFP56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ADP32F036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预驱、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LDO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12V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）、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CAN/LIN</a:t>
                      </a:r>
                      <a:endParaRPr lang="zh-CN" altLang="en-US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LIN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（硬核）电荷泵、运放、比较器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998595" y="391160"/>
            <a:ext cx="3048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集成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BLDC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芯片目录</a:t>
            </a:r>
            <a:endParaRPr lang="zh-CN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062480" y="173990"/>
            <a:ext cx="979043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  <a:sym typeface="+mn-ea"/>
              </a:rPr>
              <a:t>ADM</a:t>
            </a:r>
            <a:r>
              <a:rPr 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  <a:sym typeface="+mn-ea"/>
              </a:rPr>
              <a:t>16</a:t>
            </a:r>
            <a:r>
              <a:rPr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  <a:sym typeface="+mn-ea"/>
              </a:rPr>
              <a:t>F03</a:t>
            </a:r>
            <a:r>
              <a:rPr 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  <a:sym typeface="+mn-ea"/>
              </a:rPr>
              <a:t>A1</a:t>
            </a:r>
            <a:r>
              <a:rPr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  <a:sym typeface="+mn-ea"/>
              </a:rPr>
              <a:t>QP</a:t>
            </a:r>
            <a:r>
              <a:rPr 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  <a:sym typeface="+mn-ea"/>
              </a:rPr>
              <a:t>(N)</a:t>
            </a:r>
            <a:r>
              <a:rPr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  <a:sym typeface="+mn-ea"/>
              </a:rPr>
              <a:t>48</a:t>
            </a:r>
            <a:r>
              <a:rPr 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  <a:sym typeface="+mn-ea"/>
              </a:rPr>
              <a:t>Q</a:t>
            </a:r>
            <a:r>
              <a:rPr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  <a:sym typeface="+mn-ea"/>
              </a:rPr>
              <a:t>芯片技术特性</a:t>
            </a:r>
            <a:endParaRPr lang="zh-CN" altLang="en-US" sz="4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Regular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47090" y="1607185"/>
            <a:ext cx="339725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最高 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0MHz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主频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集成内部OSC电路、单源供电–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4.5~40V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;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集成LDO（内核1.2V，数字IO口5V、模拟3V）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集成6NMOSPre-Driver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FLASH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32K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*16位  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SARAM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4K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*16位 (256+256+32) x 16位DARAM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SCI支持 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1个事件管理器（EM1）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PWM</a:t>
            </a:r>
            <a:r>
              <a:rPr lang="en-US"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（PWM1~6构成3组互补，PWM7/8独立）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29个由PIE设置的外设中断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个GPIO通用I/O引脚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集成三相高、低侧半桥驱动电路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六路NMOSPre-Driver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栅极驱动电路高侧最高浮动绝对电压达到45V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4424680" y="1478280"/>
            <a:ext cx="3811905" cy="5078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驱动能力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O+/IO-:+1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,5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A/-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1.8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 at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VCC=15V,VBS=15V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12位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，转换速率1MSPS 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16通道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，A3带温度传感器通道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1个OP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，可用于母线电流检测放大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3个PGA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，可用于相电流检测放大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3个电压比较器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，参考端共用，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可用于BEMF比较检测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2个电压比较器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，带参考电压（DAC产生），可用于保护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– 带高压 LDO5V 稳压源输出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– 内置过温保护功能（热关断）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内置显性超时功能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总线限流保护功能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– 5V 稳压限流保护功能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稳压源输出欠压检测功能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极低功耗的休眠模式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支持总线远程唤醒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8844280" y="1550035"/>
            <a:ext cx="2275840" cy="33407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运算加速单元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除法、开方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反正切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帕克变换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32位乘法及移位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支持WDT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支持4线制快速程序烧录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支持JTAG 在线仿真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车规：AEC-Q100认证中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封装类型：QFP48/QFN48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工作温度范围：-40-125°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44280" y="4705350"/>
            <a:ext cx="25342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应用领域：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散热水泵、电子水泵、风机、电子风扇3、车窗及雨刮、尾门控制、工具类产品、门控及后视镜控制、电子阀、步进电机、座椅控制、油泵、锁止电机、格栅控制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" name="Title 20"/>
          <p:cNvSpPr txBox="1"/>
          <p:nvPr>
            <p:custDataLst>
              <p:tags r:id="rId1"/>
            </p:custDataLst>
          </p:nvPr>
        </p:nvSpPr>
        <p:spPr>
          <a:xfrm>
            <a:off x="2480310" y="293688"/>
            <a:ext cx="6073775" cy="430530"/>
          </a:xfrm>
          <a:prstGeom prst="rect">
            <a:avLst/>
          </a:prstGeom>
        </p:spPr>
        <p:txBody>
          <a:bodyPr vert="horz" wrap="square" lIns="121829" tIns="0" rIns="121829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algn="l"/>
            <a:r>
              <a:rPr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ADM16F03A1QP</a:t>
            </a:r>
            <a:r>
              <a:rPr 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(N)</a:t>
            </a:r>
            <a:r>
              <a:rPr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48</a:t>
            </a:r>
            <a:r>
              <a:rPr 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Q</a:t>
            </a:r>
            <a:r>
              <a:rPr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系统框图</a:t>
            </a:r>
            <a:endParaRPr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Regular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9049"/>
          <a:stretch>
            <a:fillRect/>
          </a:stretch>
        </p:blipFill>
        <p:spPr>
          <a:xfrm>
            <a:off x="784860" y="1483360"/>
            <a:ext cx="5110480" cy="488315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104890" y="1372870"/>
            <a:ext cx="4476115" cy="4994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31890" y="1499870"/>
            <a:ext cx="4476115" cy="4994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2" name="图片 252" descr="图示&#10;&#10;描述已自动生成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63995" y="1723390"/>
            <a:ext cx="3558540" cy="4403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" name="Title 20"/>
          <p:cNvSpPr txBox="1"/>
          <p:nvPr>
            <p:custDataLst>
              <p:tags r:id="rId1"/>
            </p:custDataLst>
          </p:nvPr>
        </p:nvSpPr>
        <p:spPr>
          <a:xfrm>
            <a:off x="2968625" y="409258"/>
            <a:ext cx="5507990" cy="430530"/>
          </a:xfrm>
          <a:prstGeom prst="rect">
            <a:avLst/>
          </a:prstGeom>
        </p:spPr>
        <p:txBody>
          <a:bodyPr vert="horz" wrap="square" lIns="121829" tIns="0" rIns="121829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algn="l"/>
            <a:r>
              <a:rPr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ADM16F03A</a:t>
            </a:r>
            <a:r>
              <a:rPr 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2</a:t>
            </a:r>
            <a:r>
              <a:rPr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Q</a:t>
            </a:r>
            <a:r>
              <a:rPr 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N56Q</a:t>
            </a:r>
            <a:r>
              <a:rPr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技术特性</a:t>
            </a:r>
            <a:endParaRPr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Regular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47090" y="1607185"/>
            <a:ext cx="339725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最高 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100MHz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主频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集成内部OSC电路、单源供电–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4.5~40V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;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集成LDO（内核1.2V，数字IO口5V、模拟3V）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集成6NMOSPre-Driver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FLASH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32K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*16位  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SARAM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4K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*16位 (256+256+32) x 16位DARAM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1个4线同步通讯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SPI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1个2线异步通讯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SCI支持 SCI(配置LIN接口)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1个事件管理器（EM1）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PWM</a:t>
            </a:r>
            <a:r>
              <a:rPr lang="en-US"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（PWM1~6构成3组互补，PWM7/8独立）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29个由PIE设置的外设中断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个GPIO通用I/O引脚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集成三相高、低侧半桥驱动电路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六路NMOSPre-Driver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栅极驱动电路高侧最高浮动绝对电压达到45V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4424680" y="1478280"/>
            <a:ext cx="3811905" cy="5078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驱动能力IO+/IO-:+1.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A/-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1.8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 at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VCC=15V,VBS=15V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12位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，转换速率1MSPS 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16通道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，A3带温度传感器通道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1个OP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，可用于母线电流检测放大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3个PGA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，可用于相电流检测放大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3个电压比较器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，参考端共用，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可用于BEMF比较检测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2个电压比较器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，带参考电压（DAC产生），可用于保护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• 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LIN 收发器兼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容“LIN2.x/ISO 17987- 4:2016(12V)/SAE J2602”标准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– 带高压 LDO5V 稳压源输出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– 内置过温保护功能（热关断）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内置显性超时功能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总线限流保护功能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– 5V 稳压限流保护功能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稳压源输出欠压检测功能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极低功耗的休眠模式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支持总线远程唤醒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– LIN 数据传输速率可达 20kb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8844280" y="1550035"/>
            <a:ext cx="2275840" cy="33407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运算加速单元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除法、开方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反正切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帕克变换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32位乘法及移位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支持WDT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支持4线制快速程序烧录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支持JTAG 在线仿真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车规：AEC-Q100认证中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封装类型：QFP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56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/QFN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56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工作温度范围：-40-125°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4280" y="4705350"/>
            <a:ext cx="25342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应用领域：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散热水泵、电子水泵、风机、电子风扇3、车窗及雨刮、尾门控制、工具类产品、门控及后视镜控制、电子阀、步进电机、座椅控制、油泵、锁止电机、格栅控制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630805" y="274320"/>
            <a:ext cx="6459220" cy="700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  <a:sym typeface="+mn-ea"/>
              </a:rPr>
              <a:t>AD</a:t>
            </a:r>
            <a:r>
              <a:rPr 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  <a:sym typeface="+mn-ea"/>
              </a:rPr>
              <a:t>P</a:t>
            </a:r>
            <a:r>
              <a:rPr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  <a:sym typeface="+mn-ea"/>
              </a:rPr>
              <a:t>32F036芯片技术特性</a:t>
            </a:r>
            <a:endParaRPr sz="4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Regular"/>
            </a:endParaRPr>
          </a:p>
          <a:p>
            <a:endParaRPr lang="zh-CN" altLang="en-US" sz="4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0775" y="1313180"/>
            <a:ext cx="2853690" cy="52025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单源供电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4.5~40V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集成 LDO（内核 1.2V，IO3.3V ，模拟 3.0V）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高性能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32 位定点 DSP 内核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主频最高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100MHz 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–16×16、32×32 MAC 操作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快速中断响应和处理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可编程控制律加速单元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(CLA)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–32 位浮点加速运算器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18K 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 16 位 SARAM</a:t>
            </a:r>
            <a:r>
              <a:rPr lang="zh-CN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64K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x 16 位 Flash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8K x 16 位 BootROM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128 位安全密钥 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12 位ADC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，转换速率 4MSPS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15 通道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，带温度传感器通道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集成三相高、低侧半桥驱动电路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六路 NMOSPre-Driver –栅极驱动电路高侧最高浮动绝对电压达到 45V</a:t>
            </a:r>
            <a:endParaRPr lang="zh-CN" altLang="en-US"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14165" y="1313180"/>
            <a:ext cx="3822700" cy="4918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 个增益可编程运算放大器 PGA</a:t>
            </a:r>
            <a:endParaRPr sz="1200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 个电压比较器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，外部或内置 10bitDAC 电压参考，输出关联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12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TZ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支持逐周期封波保护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 个 32 位定时/计数器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 个 16 位定时/计数器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路 PWM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（6 路由预驱输出，高边支持 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HRPWM，1 路由 IO 输出）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高精度捕获单元</a:t>
            </a: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(HRCAP1)</a:t>
            </a:r>
            <a:endParaRPr sz="1200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PIE 设置的中断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CAN、SCI、IIC</a:t>
            </a:r>
            <a:r>
              <a:rPr lang="zh-CN"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LIN</a:t>
            </a:r>
            <a:endParaRPr sz="1200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27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个通用 IO</a:t>
            </a:r>
            <a:r>
              <a:rPr lang="zh-CN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10M 片内振荡器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石英晶体振荡器/外部输入模式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PLL 倍频系数 1x~12x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 WDT</a:t>
            </a:r>
            <a:r>
              <a:rPr lang="zh-CN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 JTAG 在线仿真</a:t>
            </a:r>
            <a:endParaRPr lang="zh-CN" altLang="en-US"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15960" y="1313180"/>
            <a:ext cx="328485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分析和断点功能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基于硬件的实时调试</a:t>
            </a:r>
            <a:endParaRPr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marR="0" lvl="0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TSSOP20/QFN28/QFP32/QFP48/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QFN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48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/QFN56</a:t>
            </a: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封装</a:t>
            </a:r>
            <a:endParaRPr lang="zh-CN" altLang="en-US" sz="12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91550" y="2573655"/>
            <a:ext cx="2534285" cy="3147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应用领域：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1、散热水泵、电子水泵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2、风机、电子风扇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3、车窗及雨刮、尾门控制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4、工具类产品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6、门控及后视镜控制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7、电子阀、步进电机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8、座椅控制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9、油泵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10、锁止电机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11、格栅控制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2140585" y="6231890"/>
            <a:ext cx="6290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特点：</a:t>
            </a:r>
            <a:r>
              <a:rPr lang="en-US" altLang="zh-CN" b="1">
                <a:solidFill>
                  <a:srgbClr val="FF0000"/>
                </a:solidFill>
              </a:rPr>
              <a:t>CAN/LIN</a:t>
            </a:r>
            <a:r>
              <a:rPr lang="zh-CN" altLang="en-US" b="1">
                <a:solidFill>
                  <a:srgbClr val="FF0000"/>
                </a:solidFill>
              </a:rPr>
              <a:t>通讯、集成</a:t>
            </a:r>
            <a:r>
              <a:rPr lang="en-US" altLang="zh-CN" b="1">
                <a:solidFill>
                  <a:srgbClr val="FF0000"/>
                </a:solidFill>
              </a:rPr>
              <a:t>LDO </a:t>
            </a:r>
            <a:r>
              <a:rPr lang="zh-CN" altLang="en-US" b="1">
                <a:solidFill>
                  <a:srgbClr val="FF0000"/>
                </a:solidFill>
              </a:rPr>
              <a:t>、预驱、比较器、</a:t>
            </a:r>
            <a:r>
              <a:rPr lang="zh-CN" altLang="en-US" b="1">
                <a:solidFill>
                  <a:srgbClr val="FF0000"/>
                </a:solidFill>
              </a:rPr>
              <a:t>运放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71" y="1450384"/>
            <a:ext cx="4609041" cy="444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2914650" y="4832350"/>
            <a:ext cx="3413760" cy="1706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</a:pPr>
            <a:r>
              <a:rPr lang="en-US" altLang="zh-CN" sz="1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ADP32F036</a:t>
            </a:r>
            <a:r>
              <a:rPr lang="zh-CN" altLang="en-US" sz="1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主芯</a:t>
            </a:r>
            <a:endParaRPr lang="en-US" altLang="zh-CN" sz="1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buSzPct val="60000"/>
            </a:pPr>
            <a:r>
              <a:rPr lang="zh-CN" altLang="en-US" sz="1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IO5V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、运放、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CANFD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、自检）</a:t>
            </a:r>
            <a:endParaRPr lang="en-US" altLang="zh-CN" sz="12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内置两级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LDO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60&gt;&gt;12,12&gt;&gt;5)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低功耗休眠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</a:pP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QFN48  5×5 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74237" y="1680588"/>
            <a:ext cx="1520419" cy="41774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SzPct val="60000"/>
            </a:pPr>
            <a:r>
              <a:rPr lang="en-US" altLang="zh-CN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24V-CAN</a:t>
            </a:r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</a:t>
            </a:r>
            <a:endParaRPr lang="en-US" altLang="zh-CN" sz="1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37920" y="991235"/>
            <a:ext cx="983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ADP32F036AQ                                                       ADM32F036A2Q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020" y="1513205"/>
            <a:ext cx="4189730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8155577" y="4186079"/>
            <a:ext cx="3049539" cy="2353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</a:pPr>
            <a:r>
              <a:rPr lang="en-US" altLang="zh-CN" sz="1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ADP32F036</a:t>
            </a:r>
            <a:r>
              <a:rPr lang="zh-CN" altLang="en-US" sz="1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主芯</a:t>
            </a:r>
            <a:endParaRPr lang="en-US" altLang="zh-CN" sz="1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buSzPct val="60000"/>
            </a:pPr>
            <a:r>
              <a:rPr lang="zh-CN" altLang="en-US" sz="1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IO5V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、运放、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CANFD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、自检）</a:t>
            </a:r>
            <a:endParaRPr lang="en-US" altLang="zh-CN" sz="12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内置两级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LDO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40&gt;&gt;12,12&gt;&gt;5)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内置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6N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预驱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</a:pP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LIN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收发器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低功耗休眠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远程唤醒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</a:pP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QFN56 7×7 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" name="Title 20"/>
          <p:cNvSpPr txBox="1"/>
          <p:nvPr>
            <p:custDataLst>
              <p:tags r:id="rId1"/>
            </p:custDataLst>
          </p:nvPr>
        </p:nvSpPr>
        <p:spPr>
          <a:xfrm>
            <a:off x="3004820" y="307023"/>
            <a:ext cx="5507990" cy="430530"/>
          </a:xfrm>
          <a:prstGeom prst="rect">
            <a:avLst/>
          </a:prstGeom>
        </p:spPr>
        <p:txBody>
          <a:bodyPr vert="horz" wrap="square" lIns="121829" tIns="0" rIns="121829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algn="l"/>
            <a:r>
              <a:rPr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ADM16F03A</a:t>
            </a:r>
            <a:r>
              <a:rPr 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2</a:t>
            </a:r>
            <a:r>
              <a:rPr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Q</a:t>
            </a:r>
            <a:r>
              <a:rPr 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N56Q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封装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定义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Regular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90" y="1258570"/>
            <a:ext cx="4532630" cy="53536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885" y="1100455"/>
            <a:ext cx="3300095" cy="2667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885" y="3662045"/>
            <a:ext cx="3300095" cy="2865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047697" y="995643"/>
            <a:ext cx="6018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车规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与竞品特性对比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623570" y="1802765"/>
          <a:ext cx="10712450" cy="4382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350"/>
                <a:gridCol w="1530350"/>
                <a:gridCol w="1530350"/>
                <a:gridCol w="1530350"/>
                <a:gridCol w="1530350"/>
                <a:gridCol w="1530350"/>
                <a:gridCol w="1530350"/>
              </a:tblGrid>
              <a:tr h="37973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400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1" dirty="0" err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Advchip</a:t>
                      </a:r>
                      <a:endParaRPr lang="en-US" altLang="en-US" sz="1400" b="1" dirty="0" err="1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dirty="0" err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Advchip</a:t>
                      </a:r>
                      <a:endParaRPr lang="en-US" altLang="zh-CN" sz="1400" b="1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英飞凌</a:t>
                      </a:r>
                      <a:endParaRPr lang="zh-CN" altLang="en-US" sz="1400" b="1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迈来</a:t>
                      </a:r>
                      <a:r>
                        <a:rPr lang="zh-CN" altLang="en-US" sz="1400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芯</a:t>
                      </a:r>
                      <a:endParaRPr lang="zh-CN" altLang="en-US" sz="1400" b="1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dirty="0" err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Advchip</a:t>
                      </a:r>
                      <a:endParaRPr lang="en-US" altLang="zh-CN" sz="1400" b="1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迈来</a:t>
                      </a:r>
                      <a:r>
                        <a:rPr lang="zh-CN" altLang="en-US" sz="1400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芯</a:t>
                      </a:r>
                      <a:endParaRPr lang="zh-CN" altLang="en-US" sz="1400" b="1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accent4"/>
                    </a:solidFill>
                  </a:tcPr>
                </a:tc>
              </a:tr>
              <a:tr h="4972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art Number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ADM16F03A2QN56Q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ADM32F036A2QN56Q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TLE9877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MLX81206/7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ADM16F03A4QN56Q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MLX81332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Frequency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150MHZ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100MHZ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40MHz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40MHZ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150MHZ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32MHz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</a:tr>
              <a:tr h="421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Flash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64KB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128KB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64KB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64KB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64KB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32KB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</a:tr>
              <a:tr h="318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RAM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8KB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36KB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6KB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4KB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8KB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2KB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</a:tr>
              <a:tr h="3797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LIN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SPI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</a:tr>
              <a:tr h="3803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ADC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12bit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10bi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10bit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12bit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10bit(6us)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内置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LDO/</a:t>
                      </a:r>
                      <a:r>
                        <a:rPr lang="zh-CN" altLang="en-US" sz="14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预驱</a:t>
                      </a:r>
                      <a:r>
                        <a:rPr lang="en-US" altLang="zh-CN" sz="14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/LIN-PHY</a:t>
                      </a:r>
                      <a:endParaRPr lang="en-US" altLang="zh-CN" sz="1400" b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 hMerge="1"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4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内置</a:t>
                      </a:r>
                      <a:r>
                        <a:rPr lang="en-US" altLang="zh-CN" sz="14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MOS</a:t>
                      </a:r>
                      <a:endParaRPr lang="en-US" altLang="zh-CN" sz="1400" b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</a:tr>
              <a:tr h="3797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Tj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℃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150℃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150℃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℃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175℃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b">
                    <a:solidFill>
                      <a:schemeClr val="bg1"/>
                    </a:solidFill>
                  </a:tcPr>
                </a:tc>
              </a:tr>
              <a:tr h="4965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Package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QFN56(7*7)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QFN56(7*7)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QFN56(5*5)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QFN48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QFN48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QFN56(7*7)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QFN24(4*4)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圆角矩形 3"/>
          <p:cNvSpPr/>
          <p:nvPr/>
        </p:nvSpPr>
        <p:spPr>
          <a:xfrm>
            <a:off x="2125980" y="1728470"/>
            <a:ext cx="6029960" cy="4629785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8270240" y="1728470"/>
            <a:ext cx="2981960" cy="462978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5412740" y="1532255"/>
            <a:ext cx="1365885" cy="785495"/>
            <a:chOff x="7747" y="2996"/>
            <a:chExt cx="2151" cy="1237"/>
          </a:xfrm>
          <a:solidFill>
            <a:srgbClr val="FACB85"/>
          </a:solidFill>
        </p:grpSpPr>
        <p:sp>
          <p:nvSpPr>
            <p:cNvPr id="7" name="椭圆 6"/>
            <p:cNvSpPr/>
            <p:nvPr/>
          </p:nvSpPr>
          <p:spPr>
            <a:xfrm>
              <a:off x="8204" y="2996"/>
              <a:ext cx="1237" cy="1237"/>
            </a:xfrm>
            <a:prstGeom prst="ellipse">
              <a:avLst/>
            </a:prstGeom>
            <a:solidFill>
              <a:srgbClr val="1C56A6"/>
            </a:solidFill>
            <a:ln w="9525"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8" name="文本框 9"/>
            <p:cNvSpPr txBox="1"/>
            <p:nvPr/>
          </p:nvSpPr>
          <p:spPr>
            <a:xfrm>
              <a:off x="7747" y="3178"/>
              <a:ext cx="2151" cy="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0" tIns="0" rIns="0" bIns="0" rtlCol="0">
              <a:spAutoFit/>
            </a:bodyPr>
            <a:p>
              <a:pPr marL="0" lvl="1" algn="ctr"/>
              <a:r>
                <a:rPr lang="en-US" altLang="zh-CN" sz="3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lang="en-US" altLang="zh-CN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rot="0">
            <a:off x="4791074" y="2543810"/>
            <a:ext cx="2609215" cy="859155"/>
            <a:chOff x="3136510" y="3169020"/>
            <a:chExt cx="2609262" cy="859234"/>
          </a:xfrm>
        </p:grpSpPr>
        <p:sp>
          <p:nvSpPr>
            <p:cNvPr id="10" name="矩形 9"/>
            <p:cNvSpPr/>
            <p:nvPr/>
          </p:nvSpPr>
          <p:spPr>
            <a:xfrm>
              <a:off x="3315584" y="3169020"/>
              <a:ext cx="2411773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汽车应用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方案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5806440" y="3234055"/>
            <a:ext cx="739140" cy="0"/>
          </a:xfrm>
          <a:prstGeom prst="line">
            <a:avLst/>
          </a:prstGeom>
          <a:ln w="19050">
            <a:solidFill>
              <a:srgbClr val="1C5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9584690" y="222250"/>
            <a:ext cx="2357120" cy="9537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07581" y="1112660"/>
            <a:ext cx="4150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车规级芯片</a:t>
            </a:r>
            <a:r>
              <a:rPr lang="en-US" altLang="zh-CN" sz="2400" b="1" dirty="0">
                <a:solidFill>
                  <a:srgbClr val="FF000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+</a:t>
            </a:r>
            <a:r>
              <a:rPr lang="zh-CN" altLang="en-US" sz="2400" b="1" dirty="0">
                <a:solidFill>
                  <a:srgbClr val="FF000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应用方案</a:t>
            </a:r>
            <a:r>
              <a:rPr lang="en-US" altLang="zh-CN" sz="2400" b="1" dirty="0">
                <a:solidFill>
                  <a:srgbClr val="FF000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demo</a:t>
            </a:r>
            <a:endParaRPr lang="en-US" altLang="zh-CN" sz="2400" b="1" dirty="0">
              <a:solidFill>
                <a:srgbClr val="FF000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8339" y="5669645"/>
            <a:ext cx="1008480" cy="6950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55" y="5669645"/>
            <a:ext cx="1075691" cy="695099"/>
          </a:xfrm>
          <a:prstGeom prst="rect">
            <a:avLst/>
          </a:prstGeom>
        </p:spPr>
      </p:pic>
      <p:pic>
        <p:nvPicPr>
          <p:cNvPr id="4" name="图片 3"/>
          <p:cNvPicPr/>
          <p:nvPr>
            <p:custDataLst>
              <p:tags r:id="rId3"/>
            </p:custDataLst>
          </p:nvPr>
        </p:nvPicPr>
        <p:blipFill rotWithShape="1">
          <a:blip r:embed="rId4"/>
          <a:srcRect l="6527" r="5758"/>
          <a:stretch>
            <a:fillRect/>
          </a:stretch>
        </p:blipFill>
        <p:spPr>
          <a:xfrm>
            <a:off x="2063111" y="5684251"/>
            <a:ext cx="1075692" cy="69509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339" y="5684706"/>
            <a:ext cx="1014551" cy="569278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 t="4290"/>
          <a:stretch>
            <a:fillRect/>
          </a:stretch>
        </p:blipFill>
        <p:spPr>
          <a:xfrm>
            <a:off x="4446355" y="5666315"/>
            <a:ext cx="711750" cy="69748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665512" y="5646582"/>
            <a:ext cx="996714" cy="712472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 l="7752" r="11921"/>
          <a:stretch>
            <a:fillRect/>
          </a:stretch>
        </p:blipFill>
        <p:spPr>
          <a:xfrm>
            <a:off x="7029931" y="5590149"/>
            <a:ext cx="908989" cy="7689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240395" y="5610225"/>
            <a:ext cx="899160" cy="76898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99930" y="5610225"/>
            <a:ext cx="834390" cy="768985"/>
          </a:xfrm>
          <a:prstGeom prst="rect">
            <a:avLst/>
          </a:prstGeom>
        </p:spPr>
      </p:pic>
      <p:graphicFrame>
        <p:nvGraphicFramePr>
          <p:cNvPr id="18" name="表格 17"/>
          <p:cNvGraphicFramePr>
            <a:graphicFrameLocks noGrp="1"/>
          </p:cNvGraphicFramePr>
          <p:nvPr>
            <p:custDataLst>
              <p:tags r:id="rId15"/>
            </p:custDataLst>
          </p:nvPr>
        </p:nvGraphicFramePr>
        <p:xfrm>
          <a:off x="843280" y="2428875"/>
          <a:ext cx="9865995" cy="3088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550"/>
                <a:gridCol w="1234440"/>
                <a:gridCol w="1234440"/>
                <a:gridCol w="1234440"/>
                <a:gridCol w="1233805"/>
                <a:gridCol w="1234440"/>
                <a:gridCol w="1234440"/>
                <a:gridCol w="1234440"/>
              </a:tblGrid>
              <a:tr h="509270">
                <a:tc>
                  <a:txBody>
                    <a:bodyPr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整车控制器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电机驱动器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OBC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DC/DC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电子风扇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空调压缩机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空调鼓风机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电子水泵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电子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膨胀阀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r>
                        <a:rPr lang="en-US" altLang="zh-CN" sz="1400" dirty="0"/>
                        <a:t>AVP32F335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/>
                        <a:t>AVP32F335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/>
                        <a:t>AVP32F335</a:t>
                      </a:r>
                      <a:endParaRPr lang="en-US" altLang="zh-CN" sz="1400" dirty="0"/>
                    </a:p>
                    <a:p>
                      <a:r>
                        <a:rPr lang="en-US" altLang="zh-CN" sz="1400" dirty="0"/>
                        <a:t>AVP32F08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/>
                        <a:t>ADM16F03A2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/>
                        <a:t>ADP32F035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/>
                        <a:t>ADM16F03A2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/>
                        <a:t>ADM16F03A2</a:t>
                      </a:r>
                      <a:endParaRPr lang="zh-CN" alt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 dirty="0"/>
                        <a:t>ADM16F03A2</a:t>
                      </a:r>
                      <a:endParaRPr lang="en-US" altLang="zh-CN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AVP32F069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ADP32F035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ADM32F036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AVP32F08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ADM32F036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ADM32F035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ADM32F036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ADM16F03A4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AVP32F0049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AVP32F0039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AVP32F0049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AVP32F0039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endParaRPr lang="zh-CN" altLang="en-US" sz="1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solidFill>
                            <a:srgbClr val="00B0F0"/>
                          </a:solidFill>
                        </a:rPr>
                        <a:t>AVP32F379</a:t>
                      </a:r>
                      <a:endParaRPr lang="zh-CN" altLang="en-US" sz="1400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0360"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/>
                        <a:t>ADM32F735</a:t>
                      </a:r>
                      <a:endParaRPr lang="en-US" altLang="zh-CN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205"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98525" y="1844040"/>
            <a:ext cx="4594860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  <a:sym typeface="+mn-ea"/>
              </a:rPr>
              <a:t>汽车电子风扇应用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  <a:sym typeface="+mn-ea"/>
              </a:rPr>
              <a:t>单电阻 </a:t>
            </a:r>
            <a:r>
              <a:rPr lang="en-US" altLang="zh-CN" sz="2000" dirty="0">
                <a:solidFill>
                  <a:schemeClr val="accent1"/>
                </a:solidFill>
                <a:latin typeface="Calibri" panose="020F0502020204030204" charset="0"/>
                <a:sym typeface="+mn-ea"/>
              </a:rPr>
              <a:t>BLDC/PMSM</a:t>
            </a: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  <a:sym typeface="+mn-ea"/>
              </a:rPr>
              <a:t>无感</a:t>
            </a:r>
            <a:r>
              <a:rPr lang="en-US" altLang="zh-CN" sz="2000" dirty="0">
                <a:solidFill>
                  <a:schemeClr val="accent1"/>
                </a:solidFill>
                <a:latin typeface="Calibri" panose="020F0502020204030204" charset="0"/>
                <a:sym typeface="+mn-ea"/>
              </a:rPr>
              <a:t>FOC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accent1"/>
                </a:solidFill>
                <a:latin typeface="Calibri" panose="020F0502020204030204" charset="0"/>
                <a:sym typeface="+mn-ea"/>
              </a:rPr>
              <a:t>ADM16F03A1/A2 </a:t>
            </a: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  <a:sym typeface="+mn-ea"/>
              </a:rPr>
              <a:t>高可靠性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accent1"/>
                </a:solidFill>
                <a:latin typeface="Calibri" panose="020F0502020204030204" charset="0"/>
                <a:sym typeface="+mn-ea"/>
              </a:rPr>
              <a:t>LIN-PWM</a:t>
            </a: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  <a:sym typeface="+mn-ea"/>
              </a:rPr>
              <a:t>控制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  <a:sym typeface="+mn-ea"/>
              </a:rPr>
              <a:t>顺</a:t>
            </a:r>
            <a:r>
              <a:rPr lang="en-US" altLang="zh-CN" sz="2000" dirty="0">
                <a:solidFill>
                  <a:schemeClr val="accent1"/>
                </a:solidFill>
                <a:latin typeface="Calibri" panose="020F0502020204030204" charset="0"/>
                <a:sym typeface="+mn-ea"/>
              </a:rPr>
              <a:t>/</a:t>
            </a: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  <a:sym typeface="+mn-ea"/>
              </a:rPr>
              <a:t>逆风启动控制启动可靠平稳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  <a:sym typeface="+mn-ea"/>
              </a:rPr>
              <a:t>完善保护策略</a:t>
            </a:r>
            <a:endParaRPr lang="zh-CN" altLang="en-US" sz="2000" dirty="0">
              <a:solidFill>
                <a:schemeClr val="accent1"/>
              </a:solidFill>
              <a:latin typeface="Calibri" panose="020F05020202040302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3385" y="1844040"/>
            <a:ext cx="2798445" cy="29298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580" y="1844040"/>
            <a:ext cx="2749550" cy="2929890"/>
          </a:xfrm>
          <a:prstGeom prst="rect">
            <a:avLst/>
          </a:prstGeom>
        </p:spPr>
      </p:pic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21835" y="66103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3" imgW="971550" imgH="800100" progId="Package">
                  <p:embed/>
                </p:oleObj>
              </mc:Choice>
              <mc:Fallback>
                <p:oleObj name="" showAsIcon="1" r:id="rId3" imgW="971550" imgH="80010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21835" y="66103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4271" y="996433"/>
            <a:ext cx="6096000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电子风扇控制方案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19242" y="1639245"/>
            <a:ext cx="2834640" cy="17569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05323" y="1627508"/>
            <a:ext cx="2834640" cy="17687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919242" y="3972449"/>
            <a:ext cx="2834640" cy="17799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329453" y="3972449"/>
            <a:ext cx="2885304" cy="1801977"/>
          </a:xfrm>
          <a:prstGeom prst="rect">
            <a:avLst/>
          </a:prstGeom>
        </p:spPr>
      </p:pic>
      <p:sp>
        <p:nvSpPr>
          <p:cNvPr id="2" name="Rectangle 3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496185" y="3343533"/>
            <a:ext cx="1917972" cy="6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静止启动波形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818859" y="3343533"/>
            <a:ext cx="1917972" cy="6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平稳运行波形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417173" y="5726892"/>
            <a:ext cx="1917972" cy="6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顺风启动波形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</p:txBody>
      </p:sp>
      <p:sp>
        <p:nvSpPr>
          <p:cNvPr id="13" name="Rectangle 3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818859" y="5792206"/>
            <a:ext cx="1862770" cy="6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逆风启动波形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1109345" y="1230630"/>
            <a:ext cx="3067050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循环水泵规格分为：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DM主控与电机散热400W、200W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电池散热：20W 、40W、50W、80W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109345" y="2431415"/>
            <a:ext cx="361569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目前需求：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1、主频60MHZ   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1、方波和旋波都可行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2、内置LIN 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LDO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预驱动芯片（电压1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V）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3、温度范围结温-40-150°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工作温度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-40-125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°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4、后续需求车规级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5、电机参数：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2对级、4000-6000转无感弦波/载波频率15K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驱动方式：PWM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27295" y="1332230"/>
            <a:ext cx="3219450" cy="44577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865" y="1332230"/>
            <a:ext cx="1642745" cy="2191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317865" y="3636010"/>
            <a:ext cx="1615440" cy="2153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" y="979170"/>
            <a:ext cx="7818120" cy="56311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906510" y="4074160"/>
            <a:ext cx="3122930" cy="2425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启动优势：</a:t>
            </a:r>
            <a:endParaRPr lang="zh-CN" altLang="en-US" sz="1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通过对比启动电流波形， 推测英飞凌方案采用的开环启动切闭环，我司方案采用</a:t>
            </a:r>
            <a:r>
              <a:rPr lang="zh-CN" altLang="en-US" sz="1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0速闭环启动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，从启动波形可以看出，0速闭环从低速到高速加速过程中不存在算法切换，电机启动时更平稳，电流更小，可以有效避免失步现象发生。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" y="1095375"/>
            <a:ext cx="8060055" cy="42735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890" y="1501775"/>
            <a:ext cx="1873250" cy="17513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255" y="3319780"/>
            <a:ext cx="1873885" cy="21977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4271" y="996433"/>
            <a:ext cx="6096000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汽车水泵控制方案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546" y="1665516"/>
            <a:ext cx="4493895" cy="286838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745" y="1665516"/>
            <a:ext cx="4569109" cy="28859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4271" y="996433"/>
            <a:ext cx="6096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空调压缩机控制方案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340" y="1479497"/>
            <a:ext cx="5280398" cy="42614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271" y="1480475"/>
            <a:ext cx="3565072" cy="203507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272" y="3718180"/>
            <a:ext cx="3565072" cy="2018478"/>
          </a:xfrm>
          <a:prstGeom prst="rect">
            <a:avLst/>
          </a:prstGeom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689010" y="5861567"/>
            <a:ext cx="4716008" cy="6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空调压缩机调试系统和测试波形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" name="组合 12"/>
          <p:cNvGrpSpPr/>
          <p:nvPr/>
        </p:nvGrpSpPr>
        <p:grpSpPr>
          <a:xfrm>
            <a:off x="1308735" y="2052320"/>
            <a:ext cx="1385570" cy="1720850"/>
            <a:chOff x="11734" y="2798"/>
            <a:chExt cx="2238" cy="2778"/>
          </a:xfrm>
        </p:grpSpPr>
        <p:pic>
          <p:nvPicPr>
            <p:cNvPr id="5" name="图片 10" descr="图片 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11734" y="3318"/>
              <a:ext cx="2239" cy="2221"/>
            </a:xfrm>
            <a:prstGeom prst="rect">
              <a:avLst/>
            </a:prstGeom>
            <a:noFill/>
            <a:ln w="12700">
              <a:noFill/>
            </a:ln>
          </p:spPr>
        </p:pic>
        <p:grpSp>
          <p:nvGrpSpPr>
            <p:cNvPr id="9" name="组合 8"/>
            <p:cNvGrpSpPr/>
            <p:nvPr/>
          </p:nvGrpSpPr>
          <p:grpSpPr>
            <a:xfrm>
              <a:off x="11734" y="2798"/>
              <a:ext cx="2226" cy="2779"/>
              <a:chOff x="11734" y="2798"/>
              <a:chExt cx="2226" cy="2779"/>
            </a:xfrm>
          </p:grpSpPr>
          <p:sp>
            <p:nvSpPr>
              <p:cNvPr id="8" name="矩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11734" y="3281"/>
                <a:ext cx="2226" cy="2296"/>
              </a:xfrm>
              <a:prstGeom prst="rect">
                <a:avLst/>
              </a:prstGeom>
              <a:solidFill>
                <a:srgbClr val="3B485A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1734" y="2798"/>
                <a:ext cx="2108" cy="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180nm平台</a:t>
                </a:r>
                <a:endPara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25" name="文本框 2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1841" y="4021"/>
                <a:ext cx="2026" cy="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000" b="1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ADP32F10/12</a:t>
                </a:r>
                <a:endParaRPr lang="en-US" altLang="zh-CN" sz="10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000" b="1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ADP16F01</a:t>
                </a:r>
                <a:endParaRPr lang="en-US" altLang="zh-CN" sz="10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000" b="1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ADP16F02</a:t>
                </a:r>
                <a:endParaRPr lang="en-US" altLang="zh-CN" sz="10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3816985" y="2045335"/>
            <a:ext cx="1379220" cy="1724660"/>
            <a:chOff x="14770" y="2763"/>
            <a:chExt cx="2227" cy="2784"/>
          </a:xfrm>
        </p:grpSpPr>
        <p:pic>
          <p:nvPicPr>
            <p:cNvPr id="10" name="图片 11" descr="图片 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4770" y="3281"/>
              <a:ext cx="2222" cy="2258"/>
            </a:xfrm>
            <a:prstGeom prst="rect">
              <a:avLst/>
            </a:prstGeom>
            <a:noFill/>
            <a:ln w="12700">
              <a:noFill/>
            </a:ln>
          </p:spPr>
        </p:pic>
        <p:grpSp>
          <p:nvGrpSpPr>
            <p:cNvPr id="7" name="组合 6"/>
            <p:cNvGrpSpPr/>
            <p:nvPr/>
          </p:nvGrpSpPr>
          <p:grpSpPr>
            <a:xfrm>
              <a:off x="14771" y="2763"/>
              <a:ext cx="2226" cy="2785"/>
              <a:chOff x="14771" y="2763"/>
              <a:chExt cx="2226" cy="2785"/>
            </a:xfrm>
          </p:grpSpPr>
          <p:sp>
            <p:nvSpPr>
              <p:cNvPr id="26" name="文本框 25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4865" y="2763"/>
                <a:ext cx="2108" cy="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130nm平台</a:t>
                </a:r>
                <a:endParaRPr lang="en-US" altLang="zh-CN" sz="12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27" name="矩形 26"/>
              <p:cNvSpPr/>
              <p:nvPr>
                <p:custDataLst>
                  <p:tags r:id="rId9"/>
                </p:custDataLst>
              </p:nvPr>
            </p:nvSpPr>
            <p:spPr>
              <a:xfrm>
                <a:off x="14771" y="3252"/>
                <a:ext cx="2226" cy="2296"/>
              </a:xfrm>
              <a:prstGeom prst="rect">
                <a:avLst/>
              </a:prstGeom>
              <a:solidFill>
                <a:srgbClr val="3B485A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文本框 2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4874" y="3834"/>
                <a:ext cx="2026" cy="1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000" b="1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ADP32F034/5</a:t>
                </a:r>
                <a:endParaRPr lang="en-US" altLang="zh-CN" sz="10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000" b="1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ADP32F08</a:t>
                </a:r>
                <a:endParaRPr lang="en-US" altLang="zh-CN" sz="10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000" b="1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AVP32F335</a:t>
                </a:r>
                <a:endParaRPr lang="en-US" altLang="zh-CN" sz="10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000" b="1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AVP32F08</a:t>
                </a:r>
                <a:endParaRPr lang="en-US" altLang="zh-CN" sz="10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6318885" y="2034540"/>
            <a:ext cx="1404620" cy="1722755"/>
            <a:chOff x="11705" y="5841"/>
            <a:chExt cx="2268" cy="2780"/>
          </a:xfrm>
        </p:grpSpPr>
        <p:pic>
          <p:nvPicPr>
            <p:cNvPr id="23" name="图片 2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721" y="6357"/>
              <a:ext cx="2252" cy="2264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11705" y="5841"/>
              <a:ext cx="2255" cy="2747"/>
              <a:chOff x="11705" y="5841"/>
              <a:chExt cx="2255" cy="2747"/>
            </a:xfrm>
          </p:grpSpPr>
          <p:sp>
            <p:nvSpPr>
              <p:cNvPr id="21" name="文本框 2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1793" y="5841"/>
                <a:ext cx="2108" cy="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55nm平台</a:t>
                </a:r>
                <a:endPara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29" name="矩形 28"/>
              <p:cNvSpPr/>
              <p:nvPr>
                <p:custDataLst>
                  <p:tags r:id="rId14"/>
                </p:custDataLst>
              </p:nvPr>
            </p:nvSpPr>
            <p:spPr>
              <a:xfrm>
                <a:off x="11734" y="6292"/>
                <a:ext cx="2226" cy="2296"/>
              </a:xfrm>
              <a:prstGeom prst="rect">
                <a:avLst/>
              </a:prstGeom>
              <a:solidFill>
                <a:srgbClr val="3B485A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文本框 29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1705" y="7004"/>
                <a:ext cx="2227" cy="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000" b="1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ADP16F03</a:t>
                </a:r>
                <a:endParaRPr lang="en-US" altLang="zh-CN" sz="10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000" b="1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ADP32F035B</a:t>
                </a:r>
                <a:endParaRPr lang="en-US" altLang="zh-CN" sz="10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000" b="1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ADP32F036</a:t>
                </a:r>
                <a:endParaRPr lang="en-US" altLang="zh-CN" sz="10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000" b="1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ADM32F036</a:t>
                </a:r>
                <a:endParaRPr lang="en-US" altLang="zh-CN" sz="10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8846185" y="2028825"/>
            <a:ext cx="1641475" cy="1722120"/>
            <a:chOff x="14593" y="5871"/>
            <a:chExt cx="2651" cy="2780"/>
          </a:xfrm>
        </p:grpSpPr>
        <p:pic>
          <p:nvPicPr>
            <p:cNvPr id="24" name="图片 23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14761" y="6321"/>
              <a:ext cx="2381" cy="2330"/>
            </a:xfrm>
            <a:prstGeom prst="rect">
              <a:avLst/>
            </a:prstGeom>
          </p:spPr>
        </p:pic>
        <p:grpSp>
          <p:nvGrpSpPr>
            <p:cNvPr id="12" name="组合 11"/>
            <p:cNvGrpSpPr/>
            <p:nvPr/>
          </p:nvGrpSpPr>
          <p:grpSpPr>
            <a:xfrm>
              <a:off x="14593" y="5871"/>
              <a:ext cx="2651" cy="2748"/>
              <a:chOff x="14593" y="5871"/>
              <a:chExt cx="2651" cy="2748"/>
            </a:xfrm>
          </p:grpSpPr>
          <p:sp>
            <p:nvSpPr>
              <p:cNvPr id="22" name="文本框 21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4593" y="5871"/>
                <a:ext cx="2651" cy="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40nm平台</a:t>
                </a:r>
                <a:endPara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31" name="矩形 30"/>
              <p:cNvSpPr/>
              <p:nvPr>
                <p:custDataLst>
                  <p:tags r:id="rId19"/>
                </p:custDataLst>
              </p:nvPr>
            </p:nvSpPr>
            <p:spPr>
              <a:xfrm>
                <a:off x="14806" y="6325"/>
                <a:ext cx="2335" cy="2294"/>
              </a:xfrm>
              <a:prstGeom prst="rect">
                <a:avLst/>
              </a:prstGeom>
              <a:solidFill>
                <a:srgbClr val="3B485A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文本框 6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4787" y="6762"/>
                <a:ext cx="2223" cy="1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AVP32F069</a:t>
                </a:r>
                <a:endParaRPr lang="en-US" altLang="zh-CN" sz="1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AVP32F0049</a:t>
                </a:r>
                <a:endParaRPr lang="en-US" altLang="zh-CN" sz="1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AVP32F0039</a:t>
                </a:r>
                <a:endParaRPr lang="en-US" altLang="zh-CN" sz="1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AVP32F0025</a:t>
                </a:r>
                <a:endParaRPr lang="en-US" altLang="zh-CN" sz="1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 CN Bold" panose="020B0800000000000000" charset="-122"/>
                    <a:sym typeface="+mn-ea"/>
                  </a:rPr>
                  <a:t>AVP32F379D</a:t>
                </a:r>
                <a:endParaRPr lang="en-US" altLang="zh-CN" sz="1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 CN Bold" panose="020B0800000000000000" charset="-122"/>
                  <a:sym typeface="+mn-ea"/>
                </a:endParaRPr>
              </a:p>
            </p:txBody>
          </p:sp>
        </p:grpSp>
      </p:grpSp>
      <p:sp>
        <p:nvSpPr>
          <p:cNvPr id="19" name="文本框 18"/>
          <p:cNvSpPr txBox="1"/>
          <p:nvPr/>
        </p:nvSpPr>
        <p:spPr>
          <a:xfrm>
            <a:off x="1238885" y="1374775"/>
            <a:ext cx="455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4种制程工艺平台</a:t>
            </a:r>
            <a:r>
              <a:rPr lang="zh-CN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10+量产系列</a:t>
            </a:r>
            <a:endParaRPr sz="24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267460" y="4194810"/>
            <a:ext cx="7984490" cy="1906905"/>
            <a:chOff x="2045" y="6634"/>
            <a:chExt cx="12574" cy="3003"/>
          </a:xfrm>
        </p:grpSpPr>
        <p:grpSp>
          <p:nvGrpSpPr>
            <p:cNvPr id="18" name="组合 17"/>
            <p:cNvGrpSpPr/>
            <p:nvPr/>
          </p:nvGrpSpPr>
          <p:grpSpPr>
            <a:xfrm>
              <a:off x="10074" y="6634"/>
              <a:ext cx="3169" cy="1149"/>
              <a:chOff x="10074" y="6709"/>
              <a:chExt cx="3169" cy="1149"/>
            </a:xfrm>
          </p:grpSpPr>
          <p:pic>
            <p:nvPicPr>
              <p:cNvPr id="32" name="图片 31" descr="货物"/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10074" y="6709"/>
                <a:ext cx="1138" cy="1149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F7F8F9">
                    <a:alpha val="100000"/>
                  </a:srgbClr>
                </a:outerShdw>
              </a:effectLst>
            </p:spPr>
          </p:pic>
          <p:sp>
            <p:nvSpPr>
              <p:cNvPr id="33" name="文本框 32"/>
              <p:cNvSpPr txBox="1"/>
              <p:nvPr/>
            </p:nvSpPr>
            <p:spPr>
              <a:xfrm>
                <a:off x="11282" y="6827"/>
                <a:ext cx="1961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b="1" dirty="0">
                    <a:solidFill>
                      <a:srgbClr val="0070C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3000</a:t>
                </a:r>
                <a:r>
                  <a:rPr lang="zh-CN" altLang="en-US" b="1" dirty="0">
                    <a:solidFill>
                      <a:srgbClr val="0070C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万</a:t>
                </a:r>
                <a:r>
                  <a:rPr lang="en-US" altLang="zh-CN" b="1" dirty="0">
                    <a:solidFill>
                      <a:srgbClr val="0070C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+</a:t>
                </a:r>
                <a:endParaRPr lang="en-US" altLang="zh-CN" b="1" dirty="0">
                  <a:solidFill>
                    <a:srgbClr val="0070C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11282" y="7317"/>
                <a:ext cx="1585" cy="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" panose="020B0500000000000000" charset="-122"/>
                  </a:rPr>
                  <a:t>累计应用</a:t>
                </a:r>
                <a:endPara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" panose="020B0500000000000000" charset="-122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11331" y="8511"/>
              <a:ext cx="3288" cy="1084"/>
              <a:chOff x="11331" y="8586"/>
              <a:chExt cx="3288" cy="1084"/>
            </a:xfrm>
          </p:grpSpPr>
          <p:sp>
            <p:nvSpPr>
              <p:cNvPr id="42" name="文本框 41"/>
              <p:cNvSpPr txBox="1"/>
              <p:nvPr/>
            </p:nvSpPr>
            <p:spPr>
              <a:xfrm>
                <a:off x="11354" y="8586"/>
                <a:ext cx="108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en-US" altLang="zh-CN" b="1" dirty="0">
                  <a:solidFill>
                    <a:srgbClr val="0070C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" panose="020B0500000000000000" charset="-122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331" y="9139"/>
                <a:ext cx="3288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" panose="020B0500000000000000" charset="-122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2045" y="8279"/>
              <a:ext cx="3877" cy="1358"/>
              <a:chOff x="2045" y="8354"/>
              <a:chExt cx="3877" cy="1358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3321" y="8639"/>
                <a:ext cx="2172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b="1" dirty="0">
                    <a:solidFill>
                      <a:srgbClr val="0070C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5000</a:t>
                </a:r>
                <a:r>
                  <a:rPr lang="zh-CN" altLang="en-US" b="1" dirty="0">
                    <a:solidFill>
                      <a:srgbClr val="0070C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万</a:t>
                </a:r>
                <a:r>
                  <a:rPr lang="en-US" altLang="zh-CN" b="1" dirty="0">
                    <a:solidFill>
                      <a:srgbClr val="0070C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+</a:t>
                </a:r>
                <a:endParaRPr lang="en-US" altLang="zh-CN" b="1" dirty="0">
                  <a:solidFill>
                    <a:srgbClr val="0070C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3315" y="9168"/>
                <a:ext cx="2607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" panose="020B0500000000000000" charset="-122"/>
                  </a:rPr>
                  <a:t>年供应能力规划</a:t>
                </a:r>
                <a:endPara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" panose="020B0500000000000000" charset="-122"/>
                </a:endParaRPr>
              </a:p>
            </p:txBody>
          </p:sp>
          <p:pic>
            <p:nvPicPr>
              <p:cNvPr id="63" name="图片 62" descr="供应链服务(1)"/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45" y="8354"/>
                <a:ext cx="1372" cy="1358"/>
              </a:xfrm>
              <a:prstGeom prst="rect">
                <a:avLst/>
              </a:prstGeom>
            </p:spPr>
          </p:pic>
        </p:grpSp>
        <p:grpSp>
          <p:nvGrpSpPr>
            <p:cNvPr id="41" name="组合 40"/>
            <p:cNvGrpSpPr/>
            <p:nvPr/>
          </p:nvGrpSpPr>
          <p:grpSpPr>
            <a:xfrm>
              <a:off x="2135" y="6755"/>
              <a:ext cx="5808" cy="1512"/>
              <a:chOff x="2135" y="6830"/>
              <a:chExt cx="5808" cy="1512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3253" y="6839"/>
                <a:ext cx="46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b="1" dirty="0">
                    <a:solidFill>
                      <a:srgbClr val="0070C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思源黑体" panose="020B0500000000000000" charset="-122"/>
                  </a:rPr>
                  <a:t>首个批量应用到主驱</a:t>
                </a:r>
                <a:endParaRPr lang="zh-CN" altLang="en-US" b="1" dirty="0">
                  <a:solidFill>
                    <a:srgbClr val="0070C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思源黑体" panose="020B0500000000000000" charset="-122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3274" y="7423"/>
                <a:ext cx="4405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广汽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/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上汽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/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比亚迪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/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华宏宏力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/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中芯国际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/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长电等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投资入股</a:t>
                </a:r>
                <a:endParaRPr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pic>
            <p:nvPicPr>
              <p:cNvPr id="67" name="图片 66" descr="cpu,处理器,中央处理器,芯片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135" y="6830"/>
                <a:ext cx="1118" cy="1167"/>
              </a:xfrm>
              <a:prstGeom prst="rect">
                <a:avLst/>
              </a:prstGeom>
            </p:spPr>
          </p:pic>
        </p:grpSp>
      </p:grpSp>
      <p:sp>
        <p:nvSpPr>
          <p:cNvPr id="2" name="文本框 1"/>
          <p:cNvSpPr txBox="1"/>
          <p:nvPr>
            <p:custDataLst>
              <p:tags r:id="rId25"/>
            </p:custDataLst>
          </p:nvPr>
        </p:nvSpPr>
        <p:spPr>
          <a:xfrm>
            <a:off x="1308735" y="245110"/>
            <a:ext cx="1749425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合作展望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30749" y="4496587"/>
            <a:ext cx="2730500" cy="457200"/>
            <a:chOff x="5016500" y="4318000"/>
            <a:chExt cx="2730500" cy="457200"/>
          </a:xfrm>
        </p:grpSpPr>
        <p:sp>
          <p:nvSpPr>
            <p:cNvPr id="3" name="矩形: 圆角 2"/>
            <p:cNvSpPr/>
            <p:nvPr/>
          </p:nvSpPr>
          <p:spPr>
            <a:xfrm>
              <a:off x="5016500" y="4318000"/>
              <a:ext cx="2730500" cy="457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C56A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C56A6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666424" y="4377323"/>
              <a:ext cx="1430655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spc="200" dirty="0">
                  <a:solidFill>
                    <a:srgbClr val="1C56A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 2025.2.24</a:t>
              </a:r>
              <a:endParaRPr lang="en-US" altLang="zh-CN" sz="1600" spc="200" dirty="0">
                <a:solidFill>
                  <a:srgbClr val="1C5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175794" y="2321108"/>
            <a:ext cx="5841682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75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dist"/>
            <a:r>
              <a:rPr lang="zh-CN" altLang="en-US" sz="6000" dirty="0">
                <a:solidFill>
                  <a:srgbClr val="1C56A6"/>
                </a:solidFill>
                <a:effectLst/>
                <a:latin typeface="+mn-lt"/>
                <a:ea typeface="+mn-ea"/>
                <a:cs typeface="+mn-ea"/>
                <a:sym typeface="+mn-lt"/>
              </a:rPr>
              <a:t>谢谢您的观看</a:t>
            </a:r>
            <a:endParaRPr lang="zh-CN" altLang="en-US" sz="6000" dirty="0">
              <a:solidFill>
                <a:srgbClr val="1C56A6"/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12068" y="3736494"/>
            <a:ext cx="7367865" cy="526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srgbClr val="535B6C"/>
                </a:solidFill>
                <a:cs typeface="+mn-ea"/>
                <a:sym typeface="+mn-lt"/>
              </a:rPr>
              <a:t>Dream what you want to dream; go where you want to go; be what you want to be, because you have only one life and one chance to do all the things you want to do.</a:t>
            </a:r>
            <a:endParaRPr lang="zh-CN" altLang="en-US" sz="1000" dirty="0">
              <a:solidFill>
                <a:srgbClr val="535B6C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2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3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4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5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6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7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8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9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0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1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2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3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4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5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6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7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8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DIAGRAM_VIRTUALLY_FRAME" val="{&quot;height&quot;:331.75,&quot;left&quot;:41.2,&quot;top&quot;:162.3,&quot;width&quot;:267.7}"/>
</p:tagLst>
</file>

<file path=ppt/tags/tag50.xml><?xml version="1.0" encoding="utf-8"?>
<p:tagLst xmlns:p="http://schemas.openxmlformats.org/presentationml/2006/main">
  <p:tag name="KSO_WM_DIAGRAM_VIRTUALLY_FRAME" val="{&quot;height&quot;:331.75,&quot;left&quot;:41.2,&quot;top&quot;:162.3,&quot;width&quot;:267.7}"/>
</p:tagLst>
</file>

<file path=ppt/tags/tag51.xml><?xml version="1.0" encoding="utf-8"?>
<p:tagLst xmlns:p="http://schemas.openxmlformats.org/presentationml/2006/main">
  <p:tag name="KSO_WM_DIAGRAM_VIRTUALLY_FRAME" val="{&quot;height&quot;:331.75,&quot;left&quot;:41.2,&quot;top&quot;:162.3,&quot;width&quot;:267.7}"/>
</p:tagLst>
</file>

<file path=ppt/tags/tag52.xml><?xml version="1.0" encoding="utf-8"?>
<p:tagLst xmlns:p="http://schemas.openxmlformats.org/presentationml/2006/main">
  <p:tag name="KSO_WM_DIAGRAM_VIRTUALLY_FRAME" val="{&quot;height&quot;:331.75,&quot;left&quot;:41.2,&quot;top&quot;:162.3,&quot;width&quot;:267.7}"/>
</p:tagLst>
</file>

<file path=ppt/tags/tag53.xml><?xml version="1.0" encoding="utf-8"?>
<p:tagLst xmlns:p="http://schemas.openxmlformats.org/presentationml/2006/main">
  <p:tag name="KSO_WM_DIAGRAM_VIRTUALLY_FRAME" val="{&quot;height&quot;:331.75,&quot;left&quot;:41.2,&quot;top&quot;:162.3,&quot;width&quot;:267.7}"/>
</p:tagLst>
</file>

<file path=ppt/tags/tag54.xml><?xml version="1.0" encoding="utf-8"?>
<p:tagLst xmlns:p="http://schemas.openxmlformats.org/presentationml/2006/main">
  <p:tag name="KSO_WM_DIAGRAM_VIRTUALLY_FRAME" val="{&quot;height&quot;:331.75,&quot;left&quot;:41.2,&quot;top&quot;:162.3,&quot;width&quot;:267.7}"/>
</p:tagLst>
</file>

<file path=ppt/tags/tag55.xml><?xml version="1.0" encoding="utf-8"?>
<p:tagLst xmlns:p="http://schemas.openxmlformats.org/presentationml/2006/main">
  <p:tag name="KSO_WM_DIAGRAM_VIRTUALLY_FRAME" val="{&quot;height&quot;:331.75,&quot;left&quot;:41.2,&quot;top&quot;:162.3,&quot;width&quot;:267.7}"/>
</p:tagLst>
</file>

<file path=ppt/tags/tag56.xml><?xml version="1.0" encoding="utf-8"?>
<p:tagLst xmlns:p="http://schemas.openxmlformats.org/presentationml/2006/main">
  <p:tag name="KSO_WM_DIAGRAM_VIRTUALLY_FRAME" val="{&quot;height&quot;:331.75,&quot;left&quot;:41.2,&quot;top&quot;:162.3,&quot;width&quot;:267.7}"/>
</p:tagLst>
</file>

<file path=ppt/tags/tag57.xml><?xml version="1.0" encoding="utf-8"?>
<p:tagLst xmlns:p="http://schemas.openxmlformats.org/presentationml/2006/main">
  <p:tag name="KSO_WM_DIAGRAM_VIRTUALLY_FRAME" val="{&quot;height&quot;:331.75,&quot;left&quot;:41.2,&quot;top&quot;:162.3,&quot;width&quot;:267.7}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  <p:tag name="KSO_WM_UNIT_PLACING_PICTURE_USER_VIEWPORT" val="{&quot;height&quot;:4501,&quot;width&quot;:5177}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  <p:tag name="KSO_WM_UNIT_PLACING_PICTURE_USER_VIEWPORT" val="{&quot;height&quot;:2955,&quot;width&quot;:4315}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UNIT_TABLE_BEAUTIFY" val="smartTable{07857ba5-d72f-49f0-a7f3-adde3438c138}"/>
  <p:tag name="TABLE_ENDDRAG_ORIGIN_RECT" val="704*343"/>
  <p:tag name="TABLE_ENDDRAG_RECT" val="85*77*704*343"/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TABLE_ENDDRAG_ORIGIN_RECT" val="843*345"/>
  <p:tag name="TABLE_ENDDRAG_RECT" val="49*141*843*345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TABLE_ENDDRAG_ORIGIN_RECT" val="776*210"/>
  <p:tag name="TABLE_ENDDRAG_RECT" val="66*68*776*210"/>
</p:tagLst>
</file>

<file path=ppt/tags/tag93.xml><?xml version="1.0" encoding="utf-8"?>
<p:tagLst xmlns:p="http://schemas.openxmlformats.org/presentationml/2006/main">
  <p:tag name="KSO_WM_DIAGRAM_VIRTUALLY_FRAME" val="{&quot;height&quot;:381.6003149606298,&quot;left&quot;:151.12141732283465,&quot;top&quot;:128.15023622047244,&quot;width&quot;:574.45}"/>
</p:tagLst>
</file>

<file path=ppt/tags/tag94.xml><?xml version="1.0" encoding="utf-8"?>
<p:tagLst xmlns:p="http://schemas.openxmlformats.org/presentationml/2006/main">
  <p:tag name="KSO_WM_DIAGRAM_VIRTUALLY_FRAME" val="{&quot;height&quot;:381.6003149606299,&quot;left&quot;:151.12141732283465,&quot;top&quot;:128.15023622047244,&quot;width&quot;:574.45}"/>
</p:tagLst>
</file>

<file path=ppt/tags/tag95.xml><?xml version="1.0" encoding="utf-8"?>
<p:tagLst xmlns:p="http://schemas.openxmlformats.org/presentationml/2006/main">
  <p:tag name="KSO_WM_DIAGRAM_VIRTUALLY_FRAME" val="{&quot;height&quot;:381.6003149606299,&quot;left&quot;:151.12141732283465,&quot;top&quot;:128.15023622047244,&quot;width&quot;:574.45}"/>
</p:tagLst>
</file>

<file path=ppt/tags/tag96.xml><?xml version="1.0" encoding="utf-8"?>
<p:tagLst xmlns:p="http://schemas.openxmlformats.org/presentationml/2006/main">
  <p:tag name="KSO_WM_DIAGRAM_VIRTUALLY_FRAME" val="{&quot;height&quot;:381.6003149606299,&quot;left&quot;:151.12141732283465,&quot;top&quot;:128.15023622047244,&quot;width&quot;:574.45}"/>
</p:tagLst>
</file>

<file path=ppt/tags/tag97.xml><?xml version="1.0" encoding="utf-8"?>
<p:tagLst xmlns:p="http://schemas.openxmlformats.org/presentationml/2006/main">
  <p:tag name="KSO_WM_DIAGRAM_VIRTUALLY_FRAME" val="{&quot;height&quot;:381.6003149606299,&quot;left&quot;:151.12141732283465,&quot;top&quot;:128.15023622047244,&quot;width&quot;:574.45}"/>
</p:tagLst>
</file>

<file path=ppt/tags/tag98.xml><?xml version="1.0" encoding="utf-8"?>
<p:tagLst xmlns:p="http://schemas.openxmlformats.org/presentationml/2006/main">
  <p:tag name="KSO_WM_DIAGRAM_VIRTUALLY_FRAME" val="{&quot;height&quot;:381.6003149606299,&quot;left&quot;:151.12141732283465,&quot;top&quot;:128.15023622047244,&quot;width&quot;:574.45}"/>
</p:tagLst>
</file>

<file path=ppt/tags/tag99.xml><?xml version="1.0" encoding="utf-8"?>
<p:tagLst xmlns:p="http://schemas.openxmlformats.org/presentationml/2006/main">
  <p:tag name="KSO_WM_DIAGRAM_VIRTUALLY_FRAME" val="{&quot;height&quot;:381.6003149606299,&quot;left&quot;:151.12141732283465,&quot;top&quot;:128.15023622047244,&quot;width&quot;:574.45}"/>
</p:tagLst>
</file>

<file path=ppt/tags/tag100.xml><?xml version="1.0" encoding="utf-8"?>
<p:tagLst xmlns:p="http://schemas.openxmlformats.org/presentationml/2006/main">
  <p:tag name="KSO_WM_DIAGRAM_VIRTUALLY_FRAME" val="{&quot;height&quot;:381.6003149606299,&quot;left&quot;:151.12141732283465,&quot;top&quot;:128.15023622047244,&quot;width&quot;:574.45}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UNIT_PLACING_PICTURE_USER_VIEWPORT" val="{&quot;height&quot;:20472,&quot;width&quot;:15360}"/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resource_record_key" val="{&quot;13&quot;:[4364974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1eyvzsk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5186</Words>
  <Application>WPS 演示</Application>
  <PresentationFormat>宽屏</PresentationFormat>
  <Paragraphs>701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DIN-BlackItalic</vt:lpstr>
      <vt:lpstr>Segoe Print</vt:lpstr>
      <vt:lpstr>汉仪中宋S</vt:lpstr>
      <vt:lpstr>Calibri</vt:lpstr>
      <vt:lpstr>黑体</vt:lpstr>
      <vt:lpstr>华文楷体</vt:lpstr>
      <vt:lpstr>思源黑体</vt:lpstr>
      <vt:lpstr>Segoe UI</vt:lpstr>
      <vt:lpstr>Arial Unicode MS</vt:lpstr>
      <vt:lpstr>Lato Regular</vt:lpstr>
      <vt:lpstr>Source Sans Pro ExtraLight</vt:lpstr>
      <vt:lpstr>思源黑体 CN Bold</vt:lpstr>
      <vt:lpstr>Office 主题​​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Sheng xia</dc:creator>
  <cp:lastModifiedBy>权</cp:lastModifiedBy>
  <cp:revision>96</cp:revision>
  <dcterms:created xsi:type="dcterms:W3CDTF">2020-11-18T12:01:00Z</dcterms:created>
  <dcterms:modified xsi:type="dcterms:W3CDTF">2025-06-26T06:21:51Z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KSOTemplateUUID">
    <vt:lpwstr>v1.0_mb_nExWx4yflLJo75D2YYg1Fg==</vt:lpwstr>
  </property>
  <property fmtid="{D5CDD505-2E9C-101B-9397-08002B2CF9AE}" pid="4" name="ICV">
    <vt:lpwstr>031855C7BCB744048F47594244C7D1B8_11</vt:lpwstr>
  </property>
</Properties>
</file>