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9" r:id="rId5"/>
    <p:sldId id="270" r:id="rId6"/>
    <p:sldId id="271" r:id="rId8"/>
    <p:sldId id="272" r:id="rId9"/>
    <p:sldId id="260" r:id="rId10"/>
    <p:sldId id="261" r:id="rId11"/>
    <p:sldId id="262" r:id="rId12"/>
    <p:sldId id="263" r:id="rId13"/>
    <p:sldId id="264" r:id="rId14"/>
    <p:sldId id="268" r:id="rId15"/>
    <p:sldId id="265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90.xml"/><Relationship Id="rId3" Type="http://schemas.openxmlformats.org/officeDocument/2006/relationships/image" Target="../media/image5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image" Target="../media/image8.png"/><Relationship Id="rId5" Type="http://schemas.openxmlformats.org/officeDocument/2006/relationships/tags" Target="../tags/tag93.xml"/><Relationship Id="rId4" Type="http://schemas.openxmlformats.org/officeDocument/2006/relationships/image" Target="../media/image7.png"/><Relationship Id="rId3" Type="http://schemas.openxmlformats.org/officeDocument/2006/relationships/tags" Target="../tags/tag92.xml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6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8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0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1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904875" y="3515995"/>
            <a:ext cx="2019300" cy="483870"/>
          </a:xfrm>
        </p:spPr>
        <p:txBody>
          <a:bodyPr/>
          <a:p>
            <a:r>
              <a:rPr lang="zh-CN" altLang="en-US"/>
              <a:t>作者：许子</a:t>
            </a:r>
            <a:r>
              <a:rPr lang="zh-CN" altLang="en-US"/>
              <a:t>洋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ADP32F036</a:t>
            </a:r>
            <a:r>
              <a:t>开发</a:t>
            </a:r>
            <a:r>
              <a:t>指南</a:t>
            </a:r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accent1"/>
                </a:solidFill>
              </a:rPr>
              <a:t>技术文档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245235"/>
            <a:ext cx="2961640" cy="500824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 sz="1335"/>
              <a:t>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高性能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32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位定点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DSP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内核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</a:t>
            </a:r>
            <a:r>
              <a:rPr lang="en-US" altLang="zh-CN" sz="1335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- </a:t>
            </a:r>
            <a:r>
              <a:rPr lang="zh-CN" altLang="en-US" sz="1335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主频最高</a:t>
            </a:r>
            <a:r>
              <a:rPr lang="en-US" altLang="zh-CN" sz="1335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100MHz</a:t>
            </a:r>
            <a:endParaRPr lang="en-US" altLang="zh-CN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- 16 x 16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32 x 32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乘累加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操作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- 16 x 16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双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操作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哈佛（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Harvard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）总线架构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可编程控制律加速单元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(CLA)</a:t>
            </a:r>
            <a:endParaRPr lang="en-US" altLang="zh-CN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- 32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位浮点算术加速器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加速代码与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CPU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代码并行执行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单电源供电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IO 3.3~5V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，内核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1.2V</a:t>
            </a:r>
            <a:endParaRPr lang="en-US" altLang="zh-CN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集成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POR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BOR</a:t>
            </a:r>
            <a:r>
              <a:rPr lang="zh-CN" altLang="en-US" sz="1335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电路</a:t>
            </a:r>
            <a:endParaRPr lang="zh-CN" altLang="en-US" sz="1335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/>
              <a:t>ADP32F036</a:t>
            </a:r>
            <a:r>
              <a:t>资源总览</a:t>
            </a:r>
            <a:r>
              <a:rPr sz="1800"/>
              <a:t>（红字为特别</a:t>
            </a:r>
            <a:r>
              <a:rPr sz="1800"/>
              <a:t>外设）</a:t>
            </a:r>
            <a:endParaRPr sz="1800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3752215" y="1245235"/>
            <a:ext cx="4224655" cy="534225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 fontScale="8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片内存储器资源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- 18K</a:t>
            </a:r>
            <a:r>
              <a:rPr lang="en-US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×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16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SARAM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ECC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或奇偶校验保护）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- 64K x 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Flash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- 8K x 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BootROM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- 1K x 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OTP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ADC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- 12bit SAR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，转换速率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4MSPS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- 15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通道，含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个温度传感器通道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输入范围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0~3V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，内部基准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运算放大器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- 1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，可用于母线电流检测放大</a:t>
            </a:r>
            <a:endParaRPr lang="zh-CN" altLang="en-US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- 3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，可用于相电流检测放大</a:t>
            </a:r>
            <a:endParaRPr lang="zh-CN" altLang="en-US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7689215" y="1245235"/>
            <a:ext cx="450278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 fontScale="7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电压比较器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- 3个电压比较器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外部或内置8bit DAC电压参考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输出关联TZ，支持逐周期封波保护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增强型控制外设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- 3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32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位定时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计数器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- 5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位定时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计数器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10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PWM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输出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5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路支持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HRPWM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- 2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个捕获单元（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CAP1/HRCAP1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●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串行通讯外设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- CAN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SPI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SCI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LIN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IIC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- 1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通道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</a:t>
            </a:r>
            <a:endParaRPr lang="en-US" altLang="zh-CN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56210"/>
            <a:ext cx="4419600" cy="1019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488950" y="281305"/>
            <a:ext cx="1866265" cy="342900"/>
          </a:xfrm>
        </p:spPr>
        <p:txBody>
          <a:bodyPr/>
          <a:lstStyle/>
          <a:p>
            <a:r>
              <a:t>ADP32F036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488950" y="624205"/>
            <a:ext cx="4578350" cy="711200"/>
          </a:xfrm>
        </p:spPr>
        <p:txBody>
          <a:bodyPr>
            <a:noAutofit/>
          </a:bodyPr>
          <a:lstStyle/>
          <a:p>
            <a:r>
              <a:rPr sz="4000"/>
              <a:t>封装资源</a:t>
            </a:r>
            <a:r>
              <a:rPr sz="4000"/>
              <a:t>差异</a:t>
            </a:r>
            <a:endParaRPr sz="4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80" y="1335405"/>
            <a:ext cx="9314815" cy="51606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/>
              <a:t>ADP32F036</a:t>
            </a:r>
            <a:r>
              <a:t>与</a:t>
            </a:r>
            <a:r>
              <a:rPr lang="en-US" altLang="zh-CN"/>
              <a:t>ADM32F036</a:t>
            </a:r>
            <a:r>
              <a:t>差异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4850" y="1423035"/>
            <a:ext cx="1885950" cy="1743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42535" y="1337310"/>
            <a:ext cx="1971675" cy="1790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65945" y="1375410"/>
            <a:ext cx="1771650" cy="17526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13080" y="3719830"/>
            <a:ext cx="28975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主频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100MHz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18K</a:t>
            </a:r>
            <a:r>
              <a:rPr lang="en-US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×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SARAM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64K x 16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Flash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IO 3.3~5V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，内核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1.2V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OPA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10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PWM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5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HRPWM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15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4573905" y="3787775"/>
            <a:ext cx="28975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4.5~60V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集成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LDO</a:t>
            </a: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OPA</a:t>
            </a: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路集成三相高、低侧半桥驱动电路</a:t>
            </a:r>
            <a:endParaRPr lang="zh-CN" altLang="en-US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PWM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输出（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路支持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HRPWM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13</a:t>
            </a:r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634730" y="3788410"/>
            <a:ext cx="289750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4.5~40V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集成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LDO</a:t>
            </a:r>
            <a:endParaRPr lang="en-US" altLang="zh-CN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OPA</a:t>
            </a:r>
            <a:endParaRPr lang="en-US" altLang="zh-CN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PGA</a:t>
            </a:r>
            <a:endParaRPr lang="en-US" altLang="zh-CN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6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路集成三相高、低侧半桥驱动电路</a:t>
            </a:r>
            <a:endParaRPr lang="zh-CN" altLang="en-US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PWM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输出（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路支持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HRPWM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LIN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控制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收发器</a:t>
            </a:r>
            <a:endParaRPr lang="zh-CN" altLang="en-US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13</a:t>
            </a:r>
            <a:r>
              <a:rPr lang="zh-CN" altLang="en-US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路</a:t>
            </a:r>
            <a:r>
              <a:rPr lang="en-US" altLang="zh-CN" sz="1600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endParaRPr lang="en-US" altLang="zh-CN" sz="1600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69315" y="3301365"/>
            <a:ext cx="1890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ADP32F036</a:t>
            </a:r>
            <a:endParaRPr lang="en-US" altLang="zh-CN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5123815" y="3274060"/>
            <a:ext cx="1890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ADM32F036Q</a:t>
            </a:r>
            <a:endParaRPr lang="en-US" altLang="zh-CN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9407525" y="3274060"/>
            <a:ext cx="202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ADM32F036A2Q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7587615" y="6602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26270" y="194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11175" y="254000"/>
            <a:ext cx="10986770" cy="5923915"/>
          </a:xfrm>
        </p:spPr>
        <p:txBody>
          <a:bodyPr/>
          <a:p>
            <a:endParaRPr lang="en-US" altLang="zh-CN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endParaRPr lang="en-US" altLang="zh-CN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endParaRPr lang="en-US" altLang="zh-CN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99275" y="1598295"/>
            <a:ext cx="4703445" cy="3137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ADM32F036A4Q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4.5~40V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集成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LDO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OPA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PGA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8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路集成三相高、低侧半桥驱动电路</a:t>
            </a:r>
            <a:endParaRPr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VCP</a:t>
            </a:r>
            <a:endParaRPr lang="en-US" altLang="zh-CN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带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GDF\VDS\OTP</a:t>
            </a:r>
            <a:r>
              <a:rPr lang="zh-CN" altLang="en-US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保护</a:t>
            </a:r>
            <a:endParaRPr lang="zh-CN" altLang="en-US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PWM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输出（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路支持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HRPWM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）</a:t>
            </a:r>
            <a:endParaRPr lang="zh-CN" altLang="en-US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控制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收发器</a:t>
            </a:r>
            <a:endParaRPr lang="zh-CN" altLang="en-US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13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ADC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1755" y="1598295"/>
            <a:ext cx="44005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ADM32F036A3Q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4.5~40V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集成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LDO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OPA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PGA</a:t>
            </a:r>
            <a:endParaRPr lang="en-US" altLang="zh-CN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6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路集成三相高、低侧半桥驱动电路</a:t>
            </a:r>
            <a:endParaRPr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VCP</a:t>
            </a:r>
            <a:endParaRPr lang="en-US" altLang="zh-CN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带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GDF\VDS\OTP</a:t>
            </a:r>
            <a:r>
              <a:rPr lang="zh-CN" altLang="en-US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保护</a:t>
            </a:r>
            <a:endParaRPr lang="zh-CN" altLang="en-US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PWM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输出（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路支持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HRPWM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）</a:t>
            </a:r>
            <a:endParaRPr lang="zh-CN" altLang="en-US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控制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收发器</a:t>
            </a:r>
            <a:endParaRPr lang="zh-CN" altLang="en-US">
              <a:solidFill>
                <a:schemeClr val="accent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13</a:t>
            </a:r>
            <a:r>
              <a:rPr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路</a:t>
            </a:r>
            <a:r>
              <a:rPr lang="en-US" altLang="zh-CN">
                <a:solidFill>
                  <a:schemeClr val="accent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ADC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98880" y="4974590"/>
            <a:ext cx="9829165" cy="1762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VCP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Voltage Charge Pump</a:t>
            </a:r>
            <a:r>
              <a:rPr lang="zh-CN" altLang="en-US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）电荷泵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：是一种利用电容储能实现电压转换的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DC-DC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电路，无需电感，通过开关和电容的周期性充放电来升压、降压或反转电压。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优点：结构简单，成本低，无电感，体积小，适合集成化，低噪声，开关频率可控。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245235"/>
            <a:ext cx="10536555" cy="650240"/>
          </a:xfrm>
        </p:spPr>
        <p:txBody>
          <a:bodyPr/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18K</a:t>
            </a:r>
            <a:r>
              <a:rPr lang="en-US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×</a:t>
            </a:r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16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位</a:t>
            </a:r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SARAM</a:t>
            </a:r>
            <a:endParaRPr lang="en-US" altLang="zh-CN"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endParaRPr lang="en-US" altLang="zh-CN"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配置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2033270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endParaRPr lang="en-US" altLang="zh-CN"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695325" y="1791970"/>
            <a:ext cx="10295890" cy="44615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相较于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Ti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2803x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系列，我司的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以及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03xB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系列显著优势是增加了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8K*16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RAM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空间。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由于不同于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ti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的配置，需要客户在开发之前更改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CCS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的配置文件，从而让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CCS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识别到这部分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RAM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的拓展空间，具体操作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如下：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找到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CCS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目录下的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28035.gel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文件：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3934460"/>
            <a:ext cx="5307965" cy="1294130"/>
          </a:xfrm>
          <a:prstGeom prst="rect">
            <a:avLst/>
          </a:prstGeom>
        </p:spPr>
      </p:pic>
      <p:sp>
        <p:nvSpPr>
          <p:cNvPr id="7" name="内容占位符 1"/>
          <p:cNvSpPr>
            <a:spLocks noGrp="1"/>
          </p:cNvSpPr>
          <p:nvPr/>
        </p:nvSpPr>
        <p:spPr>
          <a:xfrm>
            <a:off x="6134735" y="3045460"/>
            <a:ext cx="5657850" cy="33331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用户直接在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F2803x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f28035.gel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中新增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GEL_MapAdd(0xA000,0,0x2000,1,1)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490" y="3934460"/>
            <a:ext cx="5887085" cy="20770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1143615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Ti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以及我司的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ADP32F035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输入范围是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0-3.3v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，我司的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ADP32F036ADC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输入范围是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0-3v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，意味着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无法采集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3v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以上的电压，最高只能采集到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3v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提升的地方在于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ADC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通道为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个（包含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个内部温度采样）而同样封装的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只有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11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48Pin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/13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56Pin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）个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通道。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ADC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输入范围</a:t>
            </a:r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0~3V</a:t>
            </a:r>
            <a:endParaRPr lang="en-US" altLang="zh-CN"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876"/>
          <a:stretch>
            <a:fillRect/>
          </a:stretch>
        </p:blipFill>
        <p:spPr>
          <a:xfrm>
            <a:off x="695325" y="3763645"/>
            <a:ext cx="6205220" cy="2353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705" y="3763645"/>
            <a:ext cx="4892675" cy="14846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66941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作为电控的优势在于自带了运放，包含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用于母线电流检测放大，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用于相电流检测放大，正好适用于电控的三相检测；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可以通过更改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Rgnd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阻值实现不同的放大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倍数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107440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放大器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615" y="2460625"/>
            <a:ext cx="7224395" cy="2611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36820" y="4765040"/>
            <a:ext cx="22917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1400" b="1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PGA内部框图</a:t>
            </a:r>
            <a:endParaRPr lang="zh-CN" altLang="en-US" sz="1400" b="1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19500" y="4138930"/>
            <a:ext cx="432435" cy="4851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20800"/>
          <a:stretch>
            <a:fillRect/>
          </a:stretch>
        </p:blipFill>
        <p:spPr>
          <a:xfrm>
            <a:off x="1116330" y="5198110"/>
            <a:ext cx="10115550" cy="13201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运放不可通过软件编程更改放大倍数，需要客户外部电路搭建放大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系数；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放大器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17745" y="5539105"/>
            <a:ext cx="22917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</a:t>
            </a:r>
            <a:r>
              <a:rPr lang="zh-CN" altLang="en-US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PA内部框图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4310" y="2461260"/>
            <a:ext cx="7254875" cy="2413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81645" y="4015105"/>
            <a:ext cx="164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ADC_B1</a:t>
            </a:r>
            <a:endParaRPr lang="en-US" altLang="zh-CN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3077845"/>
            <a:ext cx="5706110" cy="17964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我司的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依赖于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Ti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配置文件去开发，但是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Ti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28035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并没有针对于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OPA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PGA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的配置寄存器，所以进芯把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0x7030h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地址作为运放控制寄存器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放大器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3068320"/>
            <a:ext cx="10172700" cy="2114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1381125"/>
            <a:ext cx="4800600" cy="514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参考原厂提供的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demo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，实际上原厂是通过以下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个步骤将运放控制寄存器写入到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DSP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中以供客户调用的，我司技术后续提供支持要学会帮客户配置该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环境。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放大器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" y="2869565"/>
            <a:ext cx="5048250" cy="542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30074"/>
          <a:stretch>
            <a:fillRect/>
          </a:stretch>
        </p:blipFill>
        <p:spPr>
          <a:xfrm>
            <a:off x="579120" y="3333750"/>
            <a:ext cx="5229225" cy="299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4113530"/>
            <a:ext cx="5810250" cy="16668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0" y="5046980"/>
            <a:ext cx="4267200" cy="7334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800" y="2755265"/>
            <a:ext cx="4581525" cy="17240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69315" y="37452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1.headerCMD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中分配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字段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0095" y="562546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Global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中分配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空间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35800" y="447929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Anlog.h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中声明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结构体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35800" y="597979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在程序中调用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写入结构体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模块可以配置为满足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 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CAN2.0B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的规范。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CPU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PF1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总线接口访问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CANFD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控制器，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模块通过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TX/RX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端口，在内部协议机制下控制帧的发送或接收。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模块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460" y="2945765"/>
            <a:ext cx="7224395" cy="2680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28820" y="5751830"/>
            <a:ext cx="222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CANFD结构框图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模块可以配置为满足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 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CAN2.0B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的规范。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CPU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PF1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总线接口访问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CANFD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控制器，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模块通过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GPIO32TX/GPIO0RX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端口，在内部协议机制下控制帧的发送或接收。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模块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0355" y="3142615"/>
            <a:ext cx="55911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支持 CAN 规范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 2.0B(8 字节的有效荷载)；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可选支持 CAN FD（64 字节的有效荷载）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可编程数据传输速率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 2.0B 1Mbit/s；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 FD 受收发器和 CAN 控制器时钟频率影响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可编程带宽波特率分频(1~1/256)；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主机接口和 CANFD 协议有独立时钟域；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可配置的接收缓冲区（RB）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通过参数选择缓冲区插槽数量；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类似 FIFO 功能；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91530" y="3082290"/>
            <a:ext cx="74047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两个传输缓冲器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一个主传输缓冲区(TBUF0)；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可选可配置的次要传输缓冲区（TBUF1~15）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BUF1~15 可选，通用参数可以选择缓冲区插槽的数量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在 FIFO 或优先级模式下的操作。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独立可编程的 29 位内部接收滤波器扩展特征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单次发送模式(发送给 TBUF)；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侦听模式；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回环模式 (内部回环或外部回环);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收发器待机模式；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具有存储保护的 ECC 校验；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与 AUTOSAR 兼容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的开发，进芯考虑到客户从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开始配置会很麻烦，所以针对该模块配置了不同使用情况的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DEMO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以供客户调用，在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demo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中已经把常用函数配置好，客户直接导入调用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即可；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模块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2935605"/>
            <a:ext cx="7372350" cy="1657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15" y="4726940"/>
            <a:ext cx="3600450" cy="4953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5530215"/>
            <a:ext cx="5095875" cy="742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同样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参考原厂提供的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demo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，也是通过以下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个步骤将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CANFD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控制寄存器写入到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DSP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中以供客户调用的，我司技术后续提供支持要学会帮客户配置该环境。</a:t>
            </a: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0" indent="0">
              <a:buNone/>
            </a:pPr>
            <a:endParaRPr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ADP32F036</a:t>
            </a:r>
            <a:r>
              <a:rPr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资源配置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模块</a:t>
            </a:r>
            <a:endParaRPr sz="24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20" y="3025140"/>
            <a:ext cx="5514340" cy="624205"/>
            <a:chOff x="1095" y="4612"/>
            <a:chExt cx="8684" cy="98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5" y="4612"/>
              <a:ext cx="8685" cy="52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" y="5205"/>
              <a:ext cx="6960" cy="390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45" y="4403090"/>
            <a:ext cx="5562600" cy="1352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53614"/>
          <a:stretch>
            <a:fillRect/>
          </a:stretch>
        </p:blipFill>
        <p:spPr>
          <a:xfrm>
            <a:off x="6548120" y="2857500"/>
            <a:ext cx="4462145" cy="11436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635" y="4492625"/>
            <a:ext cx="5390515" cy="17100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17220" y="37452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1.headerCMD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中分配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字段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5325" y="583438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Global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中分配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空间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48120" y="40627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CANFD.h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中声明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结构体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48120" y="626427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4.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在主程序中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写入结构体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85.xml><?xml version="1.0" encoding="utf-8"?>
<p:tagLst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1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TYPE" val="1"/>
  <p:tag name="KSO_WM_UNIT_PRESET_TEXT" val="Simple &amp; Creative"/>
</p:tagLst>
</file>

<file path=ppt/tags/tag86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  <p:tag name="KSO_WM_SLIDE_THEME_ID" val="3302458"/>
  <p:tag name="KSO_WM_SLIDE_THEME_NAME" val="白色简约立体风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4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DIAGRAM_GROUP_CODE" val="l1-1"/>
  <p:tag name="KSO_WM_UNIT_PRESET_TEXT_INDEX" val="-1"/>
  <p:tag name="KSO_WM_UNIT_PRESET_TEXT_LEN" val="0"/>
  <p:tag name="KSO_WM_UNIT_USESOURCEFORMAT_APPLY" val="1"/>
</p:tagLst>
</file>

<file path=ppt/tags/tag8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4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DIAGRAM_GROUP_CODE" val="l1-1"/>
  <p:tag name="KSO_WM_UNIT_PRESET_TEXT_INDEX" val="-1"/>
  <p:tag name="KSO_WM_UNIT_PRESET_TEXT_LEN" val="0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</p:tagLst>
</file>

<file path=ppt/tags/tag91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2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3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4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5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6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7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8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99.xml><?xml version="1.0" encoding="utf-8"?>
<p:tagLst xmlns:p="http://schemas.openxmlformats.org/presentationml/2006/main">
  <p:tag name="KSO_WM_DIAGRAM_VIRTUALLY_FRAME" val="{&quot;height&quot;:434.7,&quot;left&quot;:40.4,&quot;top&quot;:105.3,&quot;width&quot;:867.65}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3039</Words>
  <Application>WPS 演示</Application>
  <PresentationFormat>宽屏</PresentationFormat>
  <Paragraphs>241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MiSans Heavy</vt:lpstr>
      <vt:lpstr>Wingdings</vt:lpstr>
      <vt:lpstr>微软雅黑</vt:lpstr>
      <vt:lpstr>Arial Unicode MS</vt:lpstr>
      <vt:lpstr>MiSans Light</vt:lpstr>
      <vt:lpstr>Segoe Print</vt:lpstr>
      <vt:lpstr>Calibri</vt:lpstr>
      <vt:lpstr>MiSans Heavy</vt:lpstr>
      <vt:lpstr>仿宋</vt:lpstr>
      <vt:lpstr>WPS</vt:lpstr>
      <vt:lpstr>1_Office 主题</vt:lpstr>
      <vt:lpstr>ADP32F036开发指南</vt:lpstr>
      <vt:lpstr>ADP32F036资源总览（红字为特别外设）</vt:lpstr>
      <vt:lpstr>封装资源差异</vt:lpstr>
      <vt:lpstr>ADP32F036与ADM32F036差异</vt:lpstr>
      <vt:lpstr>PowerPoint 演示文稿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xx xx</dc:creator>
  <cp:lastModifiedBy>权</cp:lastModifiedBy>
  <cp:revision>110</cp:revision>
  <dcterms:created xsi:type="dcterms:W3CDTF">2023-08-09T12:44:00Z</dcterms:created>
  <dcterms:modified xsi:type="dcterms:W3CDTF">2025-12-24T08:50:36Z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