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6"/>
  </p:notesMasterIdLst>
  <p:sldIdLst>
    <p:sldId id="592" r:id="rId2"/>
    <p:sldId id="593" r:id="rId3"/>
    <p:sldId id="594" r:id="rId4"/>
    <p:sldId id="601" r:id="rId5"/>
    <p:sldId id="595" r:id="rId6"/>
    <p:sldId id="600" r:id="rId7"/>
    <p:sldId id="602" r:id="rId8"/>
    <p:sldId id="603" r:id="rId9"/>
    <p:sldId id="596" r:id="rId10"/>
    <p:sldId id="597" r:id="rId11"/>
    <p:sldId id="599" r:id="rId12"/>
    <p:sldId id="604" r:id="rId13"/>
    <p:sldId id="605" r:id="rId14"/>
    <p:sldId id="29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B71E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>
        <p:scale>
          <a:sx n="125" d="100"/>
          <a:sy n="125" d="100"/>
        </p:scale>
        <p:origin x="72" y="23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7" d="100"/>
          <a:sy n="107" d="100"/>
        </p:scale>
        <p:origin x="379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2394B-6AEA-4533-B138-6CE5D3968E6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67054-58DE-4190-BFB4-E8C787F7B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85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275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57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72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160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39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909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761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731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968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95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86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16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C1E0-FBDC-4DA3-BD45-E91635509E0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F5318DD-EBC8-474F-B6CA-B9EA321B7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3" descr="进芯科技-logo_画板 1">
            <a:extLst>
              <a:ext uri="{FF2B5EF4-FFF2-40B4-BE49-F238E27FC236}">
                <a16:creationId xmlns:a16="http://schemas.microsoft.com/office/drawing/2014/main" id="{AA911223-B4A5-41D5-816F-C5A3F2415E8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7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mc:AlternateContent xmlns:mc="http://schemas.openxmlformats.org/markup-compatibility/2006">
    <mc:Choice xmlns:p14="http://schemas.microsoft.com/office/powerpoint/2010/main" Requires="p14">
      <p:transition spd="slow" p14:dur="3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ADE16E-E74F-44E1-AE60-710372C39BCE}"/>
              </a:ext>
            </a:extLst>
          </p:cNvPr>
          <p:cNvSpPr txBox="1"/>
          <p:nvPr/>
        </p:nvSpPr>
        <p:spPr>
          <a:xfrm>
            <a:off x="3160601" y="2061526"/>
            <a:ext cx="5870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ADP32F035 </a:t>
            </a:r>
            <a:r>
              <a:rPr lang="zh-CN" altLang="en-US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移植到 </a:t>
            </a:r>
            <a:r>
              <a:rPr lang="en-US" altLang="zh-CN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AVP32F035</a:t>
            </a:r>
            <a:endParaRPr lang="zh-CN" altLang="en-US" sz="32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BF19F-AB0B-4C73-82B8-DC3B3A5CB5AA}"/>
              </a:ext>
            </a:extLst>
          </p:cNvPr>
          <p:cNvSpPr txBox="1"/>
          <p:nvPr/>
        </p:nvSpPr>
        <p:spPr>
          <a:xfrm>
            <a:off x="3634740" y="2878624"/>
            <a:ext cx="3150221" cy="858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提升主频以提升运算性能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Flash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以加大程序容量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9E88C-A23E-4E31-BA21-412F5209C6F2}"/>
              </a:ext>
            </a:extLst>
          </p:cNvPr>
          <p:cNvSpPr txBox="1"/>
          <p:nvPr/>
        </p:nvSpPr>
        <p:spPr>
          <a:xfrm>
            <a:off x="9251291" y="5181600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进芯电子：唐佳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2026.2.6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9F02F6-3371-422D-BDF7-79A8D8D7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75" y="-1"/>
            <a:ext cx="6103766" cy="6541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053DD6-AED5-4845-B1E2-9963FD912F12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封装定义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DDC6C-CB90-411B-96C2-89EAB6262B34}"/>
              </a:ext>
            </a:extLst>
          </p:cNvPr>
          <p:cNvSpPr txBox="1"/>
          <p:nvPr/>
        </p:nvSpPr>
        <p:spPr>
          <a:xfrm>
            <a:off x="804672" y="1053215"/>
            <a:ext cx="3724656" cy="2217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LINA -&gt; SCIB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TZ1(p75) -&gt; TZ1(p5)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HRCAP1 -&gt; ECAP3 (p37&amp;p39)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zh-CN" altLang="en-US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01207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62A20-5979-4706-80E4-E2A3B49301B5}"/>
              </a:ext>
            </a:extLst>
          </p:cNvPr>
          <p:cNvSpPr txBox="1"/>
          <p:nvPr/>
        </p:nvSpPr>
        <p:spPr>
          <a:xfrm>
            <a:off x="654854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Flash Sector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842FE-EE6D-4E06-AF8A-C51E89FB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21" y="932688"/>
            <a:ext cx="5439072" cy="29574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6572B4-CF91-4433-97CF-94BD9F496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194816"/>
            <a:ext cx="5739468" cy="2695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C685AD-C1F6-498F-95E2-93EE1E497E36}"/>
              </a:ext>
            </a:extLst>
          </p:cNvPr>
          <p:cNvSpPr txBox="1"/>
          <p:nvPr/>
        </p:nvSpPr>
        <p:spPr>
          <a:xfrm>
            <a:off x="1158240" y="3952459"/>
            <a:ext cx="9078063" cy="2121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CMD</a:t>
            </a:r>
            <a:r>
              <a:rPr lang="zh-CN" altLang="en-US" dirty="0"/>
              <a:t>文件对应</a:t>
            </a:r>
            <a:r>
              <a:rPr lang="en-US" altLang="zh-CN" dirty="0"/>
              <a:t>FLASH</a:t>
            </a:r>
            <a:r>
              <a:rPr lang="zh-CN" altLang="en-US" dirty="0"/>
              <a:t>地址和长度要替换 </a:t>
            </a:r>
            <a:r>
              <a:rPr lang="en-US" altLang="zh-CN" dirty="0"/>
              <a:t>(</a:t>
            </a:r>
            <a:r>
              <a:rPr lang="zh-CN" altLang="en-US" dirty="0"/>
              <a:t>直接替换</a:t>
            </a:r>
            <a:r>
              <a:rPr lang="en-US" altLang="zh-CN" dirty="0"/>
              <a:t>CMD</a:t>
            </a:r>
            <a:r>
              <a:rPr lang="zh-CN" altLang="en-US" dirty="0"/>
              <a:t>文件</a:t>
            </a:r>
            <a:r>
              <a:rPr lang="en-US" altLang="zh-CN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Flash API</a:t>
            </a:r>
            <a:r>
              <a:rPr lang="zh-CN" altLang="en-US" dirty="0"/>
              <a:t>文件要替换 </a:t>
            </a:r>
            <a:r>
              <a:rPr lang="en-US" altLang="zh-CN" dirty="0"/>
              <a:t>(Flash2803x_API_V100.lib </a:t>
            </a:r>
            <a:r>
              <a:rPr lang="zh-CN" altLang="en-US" dirty="0"/>
              <a:t>和 </a:t>
            </a:r>
            <a:r>
              <a:rPr lang="en-US" altLang="zh-CN" dirty="0"/>
              <a:t>2803x_FlashAPI_BootROMSymbols.lib)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Flash API</a:t>
            </a:r>
            <a:r>
              <a:rPr lang="zh-CN" altLang="en-US" dirty="0"/>
              <a:t>的头文件，有</a:t>
            </a:r>
            <a:r>
              <a:rPr lang="en-US" altLang="zh-CN" dirty="0"/>
              <a:t>API</a:t>
            </a:r>
            <a:r>
              <a:rPr lang="zh-CN" altLang="en-US" dirty="0"/>
              <a:t>的函数接口，需要更改或替换 </a:t>
            </a:r>
            <a:r>
              <a:rPr lang="en-US" altLang="zh-CN" dirty="0"/>
              <a:t>(Flash2803x_API_Library.h)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API</a:t>
            </a:r>
            <a:r>
              <a:rPr lang="zh-CN" altLang="en-US" dirty="0"/>
              <a:t>执行采用</a:t>
            </a:r>
            <a:r>
              <a:rPr lang="en-US" altLang="zh-CN" dirty="0"/>
              <a:t>DELAY</a:t>
            </a:r>
            <a:r>
              <a:rPr lang="zh-CN" altLang="en-US" dirty="0"/>
              <a:t>延时，主频升高后 </a:t>
            </a:r>
            <a:r>
              <a:rPr lang="en-US" altLang="zh-CN" dirty="0"/>
              <a:t>CPU_RATE </a:t>
            </a:r>
            <a:r>
              <a:rPr lang="zh-CN" altLang="en-US" dirty="0"/>
              <a:t>要更改。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InitFlash</a:t>
            </a:r>
            <a:r>
              <a:rPr lang="en-US" altLang="zh-CN" dirty="0"/>
              <a:t>() </a:t>
            </a:r>
            <a:r>
              <a:rPr lang="zh-CN" altLang="en-US" dirty="0"/>
              <a:t>函数内，</a:t>
            </a:r>
            <a:r>
              <a:rPr lang="en-US" altLang="zh-CN" dirty="0"/>
              <a:t>Flash</a:t>
            </a:r>
            <a:r>
              <a:rPr lang="zh-CN" altLang="en-US" dirty="0"/>
              <a:t>访问等待周期要适配。</a:t>
            </a:r>
          </a:p>
        </p:txBody>
      </p:sp>
    </p:spTree>
    <p:extLst>
      <p:ext uri="{BB962C8B-B14F-4D97-AF65-F5344CB8AC3E}">
        <p14:creationId xmlns:p14="http://schemas.microsoft.com/office/powerpoint/2010/main" val="186622969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058F31-88FB-4EAC-9D24-F4B92565AE7C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主频移植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(From 60M to 120M)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2F1D0-9B68-4433-A56A-1DF30A317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11" y="709323"/>
            <a:ext cx="3960015" cy="5962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27B836-727D-46B1-B2C5-1D42072A7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376" y="933450"/>
            <a:ext cx="5019101" cy="49911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5CA14A9-0A67-4775-A72C-38EE985D0A0C}"/>
              </a:ext>
            </a:extLst>
          </p:cNvPr>
          <p:cNvSpPr/>
          <p:nvPr/>
        </p:nvSpPr>
        <p:spPr>
          <a:xfrm rot="10800000">
            <a:off x="5245227" y="2578120"/>
            <a:ext cx="1616202" cy="850880"/>
          </a:xfrm>
          <a:prstGeom prst="rightArrow">
            <a:avLst/>
          </a:prstGeom>
          <a:solidFill>
            <a:srgbClr val="FFC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3DDDD-783D-49D5-A956-963720E879EF}"/>
              </a:ext>
            </a:extLst>
          </p:cNvPr>
          <p:cNvSpPr txBox="1"/>
          <p:nvPr/>
        </p:nvSpPr>
        <p:spPr>
          <a:xfrm>
            <a:off x="8756181" y="6184149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ADP32F035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B3956-159D-406E-8A45-A6AAF0A61532}"/>
              </a:ext>
            </a:extLst>
          </p:cNvPr>
          <p:cNvSpPr txBox="1"/>
          <p:nvPr/>
        </p:nvSpPr>
        <p:spPr>
          <a:xfrm>
            <a:off x="123564" y="1101609"/>
            <a:ext cx="1016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AVP32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614966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6F519-DB8C-47D3-849F-AE7A5C407DF7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主频移植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B2446-B504-4FD3-8B02-5262E2AB4A94}"/>
              </a:ext>
            </a:extLst>
          </p:cNvPr>
          <p:cNvSpPr txBox="1"/>
          <p:nvPr/>
        </p:nvSpPr>
        <p:spPr>
          <a:xfrm>
            <a:off x="804672" y="1053215"/>
            <a:ext cx="6716268" cy="3879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SYSCLKOUT 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从 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60MHz 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倍频到 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120MHz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采用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20M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晶振替换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10M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晶振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降半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LSPCLK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，维持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SCI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SPI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波特率。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SysCtrlRegs.LOSPCP.all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 = 4;) 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，缺省值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，表示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Low Speed Clock = SYSCLKOUT/4 (default)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ADC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时钟维持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60M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以下。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(AdcRegs.ADCCTL2.bit.CLKDIV2EN = 1;) ADCCLK=SYSCLKOUT/2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/* ADP32F035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中可能是设置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0 (30M ADCCLK)*/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ePWM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维持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TBCLK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(EPwm1Regs.TBCTL.bit.HSPCLKDIV = TB_DIV2;)</a:t>
            </a:r>
            <a:b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</a:b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注意：每个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PWM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模块都需要更改，建议改高速时钟分频。</a:t>
            </a: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FE8C87-D02F-461A-AC5B-BDA91904F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192" y="5235864"/>
            <a:ext cx="3703283" cy="1137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3340C0-F478-45BC-907E-779DACD6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04" y="1053214"/>
            <a:ext cx="4966096" cy="493839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11F8C8-75DC-4180-BA7E-C2A29DEA067A}"/>
              </a:ext>
            </a:extLst>
          </p:cNvPr>
          <p:cNvSpPr/>
          <p:nvPr/>
        </p:nvSpPr>
        <p:spPr>
          <a:xfrm>
            <a:off x="8282280" y="1638300"/>
            <a:ext cx="1483511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F26CFA-74C2-4ED5-924E-4C9E7959C44F}"/>
              </a:ext>
            </a:extLst>
          </p:cNvPr>
          <p:cNvSpPr/>
          <p:nvPr/>
        </p:nvSpPr>
        <p:spPr>
          <a:xfrm>
            <a:off x="8277613" y="3365437"/>
            <a:ext cx="1483511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2CE431-447A-45C4-BD5C-4AADA33B3EA7}"/>
              </a:ext>
            </a:extLst>
          </p:cNvPr>
          <p:cNvSpPr/>
          <p:nvPr/>
        </p:nvSpPr>
        <p:spPr>
          <a:xfrm>
            <a:off x="8277613" y="4640866"/>
            <a:ext cx="1483511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E6E3724-EA56-4839-BE1A-43AF7F14CDD2}"/>
              </a:ext>
            </a:extLst>
          </p:cNvPr>
          <p:cNvSpPr/>
          <p:nvPr/>
        </p:nvSpPr>
        <p:spPr>
          <a:xfrm>
            <a:off x="10348824" y="1120140"/>
            <a:ext cx="1727352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6381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384D3-E9C2-4F6A-86EC-C4B51CB0045B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主频移植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06C34-C1C9-408F-8B76-85D2E98C6A76}"/>
              </a:ext>
            </a:extLst>
          </p:cNvPr>
          <p:cNvSpPr txBox="1"/>
          <p:nvPr/>
        </p:nvSpPr>
        <p:spPr>
          <a:xfrm>
            <a:off x="804672" y="1053215"/>
            <a:ext cx="6498336" cy="3879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5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I2C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时钟分频：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(I2caRegs.I2CPSC.all = 6; // </a:t>
            </a:r>
            <a:r>
              <a:rPr lang="en-US" altLang="zh-CN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Prescaler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 - need 7-12 </a:t>
            </a:r>
            <a:r>
              <a:rPr lang="en-US" altLang="zh-CN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Mhz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 on module </a:t>
            </a:r>
            <a:r>
              <a:rPr lang="en-US" altLang="zh-CN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clk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5"/>
            </a:pP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维持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eCAN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波特率。</a:t>
            </a: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 startAt="5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eCAP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的时钟翻番，计数要根据实际情况而定。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注意：不是通过修改 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Event </a:t>
            </a:r>
            <a:r>
              <a:rPr lang="en-US" altLang="zh-CN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Prescale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：</a:t>
            </a:r>
            <a:r>
              <a:rPr lang="en-US" altLang="zh-CN" strike="sngStrike" dirty="0">
                <a:solidFill>
                  <a:srgbClr val="FF0000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ECap1Regs.ECCTL1.bit. PRESCALE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5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eQEP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不用修改</a:t>
            </a: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 startAt="5"/>
            </a:pP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5201F-3080-4863-84F3-AED9D03A7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511" y="2848317"/>
            <a:ext cx="4382112" cy="1324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F1F912-EB5E-425A-ADAF-3EA27864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511" y="4404291"/>
            <a:ext cx="4001058" cy="1286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5B9AC-6321-4353-88CF-A1EEA1C08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511" y="905672"/>
            <a:ext cx="4065566" cy="162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3578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94208-18D4-44BC-BDF6-ACDD00794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292" y="0"/>
            <a:ext cx="4554708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D5501A-2C88-4D1B-81A6-4F5B0558D02B}"/>
              </a:ext>
            </a:extLst>
          </p:cNvPr>
          <p:cNvSpPr/>
          <p:nvPr/>
        </p:nvSpPr>
        <p:spPr>
          <a:xfrm>
            <a:off x="7667772" y="22860"/>
            <a:ext cx="737088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753F88-E551-41FD-9429-D3974A76ABFE}"/>
              </a:ext>
            </a:extLst>
          </p:cNvPr>
          <p:cNvSpPr/>
          <p:nvPr/>
        </p:nvSpPr>
        <p:spPr>
          <a:xfrm>
            <a:off x="8404860" y="4846320"/>
            <a:ext cx="1630680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189AF0-0C25-4B29-B763-7B2B22487E7E}"/>
              </a:ext>
            </a:extLst>
          </p:cNvPr>
          <p:cNvCxnSpPr>
            <a:cxnSpLocks/>
          </p:cNvCxnSpPr>
          <p:nvPr/>
        </p:nvCxnSpPr>
        <p:spPr>
          <a:xfrm flipH="1" flipV="1">
            <a:off x="10972800" y="186104"/>
            <a:ext cx="274320" cy="400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31D4AB-9356-4023-A3FF-FEBA33816A72}"/>
              </a:ext>
            </a:extLst>
          </p:cNvPr>
          <p:cNvSpPr txBox="1"/>
          <p:nvPr/>
        </p:nvSpPr>
        <p:spPr>
          <a:xfrm>
            <a:off x="804672" y="1053215"/>
            <a:ext cx="6498336" cy="2217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9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HRCAP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：由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PLLCLK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切换到了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PLL2CLK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，需配置</a:t>
            </a: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PLL2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。</a:t>
            </a:r>
            <a:b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a. 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初始化需调用 </a:t>
            </a:r>
            <a:r>
              <a:rPr lang="en-US" altLang="zh-CN" dirty="0">
                <a:solidFill>
                  <a:srgbClr val="00B050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InitPLL2(PLL2SRC_INTOSC1, 12, PLL2_SYSCLK2DIV2DIS);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9"/>
            </a:pP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 startAt="9"/>
            </a:pP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B3CB9-16BC-4404-A3C4-80FBFDF53E8A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主频移植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21F23-02A5-42AE-9C0D-BB853AC76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140" y="2635336"/>
            <a:ext cx="5037399" cy="195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024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15CC8-DA14-4590-A4BA-2657F66D7DC3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主频移植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56AF5-68B6-4BB8-84B5-D15BDD315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396" y="1153985"/>
            <a:ext cx="7689435" cy="395664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D77D2C-94DF-4889-8AC3-224CD5B0698B}"/>
              </a:ext>
            </a:extLst>
          </p:cNvPr>
          <p:cNvSpPr/>
          <p:nvPr/>
        </p:nvSpPr>
        <p:spPr>
          <a:xfrm>
            <a:off x="5484876" y="3755136"/>
            <a:ext cx="897636" cy="512064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D0C298-1F63-4C0D-88C2-6213610EDDF9}"/>
              </a:ext>
            </a:extLst>
          </p:cNvPr>
          <p:cNvSpPr/>
          <p:nvPr/>
        </p:nvSpPr>
        <p:spPr>
          <a:xfrm>
            <a:off x="8063484" y="2688336"/>
            <a:ext cx="897636" cy="512064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AB3981-8906-407A-A85A-DFE22A39A98A}"/>
              </a:ext>
            </a:extLst>
          </p:cNvPr>
          <p:cNvSpPr/>
          <p:nvPr/>
        </p:nvSpPr>
        <p:spPr>
          <a:xfrm>
            <a:off x="6053328" y="2938272"/>
            <a:ext cx="646176" cy="411480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A048C-21F0-423A-B375-8862A21FE543}"/>
              </a:ext>
            </a:extLst>
          </p:cNvPr>
          <p:cNvSpPr txBox="1"/>
          <p:nvPr/>
        </p:nvSpPr>
        <p:spPr>
          <a:xfrm>
            <a:off x="804672" y="1053215"/>
            <a:ext cx="3438144" cy="418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altLang="zh-CN" dirty="0">
                <a:latin typeface="Bahnschrift Condensed" panose="020B0502040204020203" pitchFamily="34" charset="0"/>
                <a:ea typeface="宋体" panose="02010600030101010101" pitchFamily="2" charset="-122"/>
              </a:rPr>
              <a:t>COMP</a:t>
            </a:r>
            <a:r>
              <a:rPr lang="zh-CN" altLang="en-US" dirty="0">
                <a:latin typeface="Bahnschrift Condensed" panose="020B0502040204020203" pitchFamily="34" charset="0"/>
                <a:ea typeface="宋体" panose="02010600030101010101" pitchFamily="2" charset="-122"/>
              </a:rPr>
              <a:t>比较器</a:t>
            </a: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a. Ramp Generator </a:t>
            </a:r>
            <a:r>
              <a:rPr lang="zh-CN" altLang="en-US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以 </a:t>
            </a:r>
            <a:r>
              <a:rPr lang="en-US" altLang="zh-CN" sz="1600" dirty="0" err="1">
                <a:latin typeface="Bahnschrift Condensed" panose="020B0502040204020203" pitchFamily="34" charset="0"/>
                <a:ea typeface="宋体" panose="02010600030101010101" pitchFamily="2" charset="-122"/>
              </a:rPr>
              <a:t>SysClkOut</a:t>
            </a:r>
            <a:r>
              <a:rPr lang="zh-CN" altLang="en-US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 斜坡计算基数，需要考虑。</a:t>
            </a:r>
            <a:br>
              <a:rPr lang="en-US" altLang="zh-CN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b. Qualification </a:t>
            </a:r>
            <a:r>
              <a:rPr lang="zh-CN" altLang="en-US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有分频器，可以设置。以适配原系统指标。</a:t>
            </a:r>
            <a:endParaRPr lang="en-US" altLang="zh-CN" sz="1600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c. DAC</a:t>
            </a:r>
            <a:r>
              <a:rPr lang="zh-CN" altLang="en-US" sz="1600" dirty="0">
                <a:latin typeface="Bahnschrift Condensed" panose="020B0502040204020203" pitchFamily="34" charset="0"/>
                <a:ea typeface="宋体" panose="02010600030101010101" pitchFamily="2" charset="-122"/>
              </a:rPr>
              <a:t> 有建立时间差异，在软件设计原理上需要考虑。</a:t>
            </a:r>
            <a:endParaRPr lang="en-US" altLang="zh-CN" sz="1600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endParaRPr lang="en-US" altLang="zh-CN" dirty="0">
              <a:latin typeface="Bahnschrift Condensed" panose="020B0502040204020203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334667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ED52F-7BE3-4383-9E52-0ACFE6A795D6}"/>
              </a:ext>
            </a:extLst>
          </p:cNvPr>
          <p:cNvSpPr txBox="1"/>
          <p:nvPr/>
        </p:nvSpPr>
        <p:spPr>
          <a:xfrm>
            <a:off x="641322" y="186103"/>
            <a:ext cx="6801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寄存器地址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是否需要修改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文件？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47D6A-408B-452E-AECC-14E9ADD0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021"/>
            <a:ext cx="12192000" cy="39124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C18290-4F7A-4C0C-966A-D7689881714D}"/>
              </a:ext>
            </a:extLst>
          </p:cNvPr>
          <p:cNvSpPr/>
          <p:nvPr/>
        </p:nvSpPr>
        <p:spPr>
          <a:xfrm>
            <a:off x="134112" y="2663952"/>
            <a:ext cx="5077968" cy="128016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33420-10F3-43C4-9322-0297F6E21E02}"/>
              </a:ext>
            </a:extLst>
          </p:cNvPr>
          <p:cNvSpPr txBox="1"/>
          <p:nvPr/>
        </p:nvSpPr>
        <p:spPr>
          <a:xfrm>
            <a:off x="641322" y="5175504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有</a:t>
            </a:r>
            <a:r>
              <a:rPr lang="en-US" altLang="zh-CN" dirty="0"/>
              <a:t>DMA</a:t>
            </a:r>
            <a:r>
              <a:rPr lang="zh-CN" altLang="en-US" dirty="0"/>
              <a:t>功能</a:t>
            </a:r>
          </a:p>
        </p:txBody>
      </p:sp>
    </p:spTree>
    <p:extLst>
      <p:ext uri="{BB962C8B-B14F-4D97-AF65-F5344CB8AC3E}">
        <p14:creationId xmlns:p14="http://schemas.microsoft.com/office/powerpoint/2010/main" val="55753001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E3237B-B89E-4413-9915-51049981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027"/>
            <a:ext cx="12192000" cy="14318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B8ED2E-4093-4D20-9A7B-CDCD2D0784DD}"/>
              </a:ext>
            </a:extLst>
          </p:cNvPr>
          <p:cNvSpPr txBox="1"/>
          <p:nvPr/>
        </p:nvSpPr>
        <p:spPr>
          <a:xfrm>
            <a:off x="641322" y="186103"/>
            <a:ext cx="7698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寄存器地址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是否需要修改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CMD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文件？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75D9C3-931E-471A-B0E6-3A1225F273CE}"/>
              </a:ext>
            </a:extLst>
          </p:cNvPr>
          <p:cNvSpPr/>
          <p:nvPr/>
        </p:nvSpPr>
        <p:spPr>
          <a:xfrm>
            <a:off x="6906768" y="1987296"/>
            <a:ext cx="5242560" cy="128016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5769E-D5C6-4536-858F-92C8E4E892B8}"/>
              </a:ext>
            </a:extLst>
          </p:cNvPr>
          <p:cNvSpPr txBox="1"/>
          <p:nvPr/>
        </p:nvSpPr>
        <p:spPr>
          <a:xfrm>
            <a:off x="641322" y="2767584"/>
            <a:ext cx="835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无</a:t>
            </a:r>
            <a:r>
              <a:rPr lang="en-US" altLang="zh-CN" dirty="0"/>
              <a:t>LIN</a:t>
            </a:r>
            <a:r>
              <a:rPr lang="zh-CN" altLang="en-US" dirty="0"/>
              <a:t>模块，所以文件 </a:t>
            </a:r>
            <a:r>
              <a:rPr lang="en-US" altLang="zh-CN" dirty="0"/>
              <a:t>DSP2803x_GlobalVariableDefs.c </a:t>
            </a:r>
            <a:r>
              <a:rPr lang="zh-CN" altLang="en-US" dirty="0"/>
              <a:t>需将此部分替换成 </a:t>
            </a:r>
            <a:r>
              <a:rPr lang="en-US" altLang="zh-CN" dirty="0"/>
              <a:t>SCIB .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0D049-5BBE-4D95-990F-9630744A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8672"/>
            <a:ext cx="12192000" cy="176406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501ABD-4F06-444E-BEF1-006B8AC767D1}"/>
              </a:ext>
            </a:extLst>
          </p:cNvPr>
          <p:cNvSpPr/>
          <p:nvPr/>
        </p:nvSpPr>
        <p:spPr>
          <a:xfrm>
            <a:off x="42672" y="4766088"/>
            <a:ext cx="5157216" cy="134112"/>
          </a:xfrm>
          <a:prstGeom prst="round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6274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597FF-A72A-4854-87D6-02CF662386C9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寄存器地址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D8EC1-99A1-4AB1-AEC2-F2650AD63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3037"/>
            <a:ext cx="12192000" cy="312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0148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315B36-6843-4EC9-B91D-9EA00914A99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28" y="918654"/>
            <a:ext cx="4497769" cy="33607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774B2E-4608-4BD5-A145-55ECA4A5FF0B}"/>
              </a:ext>
            </a:extLst>
          </p:cNvPr>
          <p:cNvSpPr/>
          <p:nvPr/>
        </p:nvSpPr>
        <p:spPr>
          <a:xfrm>
            <a:off x="740027" y="4293651"/>
            <a:ext cx="4497769" cy="1676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dirty="0">
                <a:cs typeface="Times New Roman" panose="02020603050405020304" pitchFamily="18" charset="0"/>
              </a:rPr>
              <a:t>推荐使用</a:t>
            </a:r>
            <a:r>
              <a:rPr lang="en-US" altLang="zh-CN" dirty="0">
                <a:cs typeface="Times New Roman" panose="02020603050405020304" pitchFamily="18" charset="0"/>
              </a:rPr>
              <a:t>20M</a:t>
            </a:r>
            <a:r>
              <a:rPr lang="zh-CN" altLang="zh-CN" dirty="0">
                <a:cs typeface="Times New Roman" panose="02020603050405020304" pitchFamily="18" charset="0"/>
              </a:rPr>
              <a:t>外部晶体，在</a:t>
            </a:r>
            <a:r>
              <a:rPr lang="en-US" altLang="zh-CN" dirty="0">
                <a:cs typeface="Times New Roman" panose="02020603050405020304" pitchFamily="18" charset="0"/>
              </a:rPr>
              <a:t>X1</a:t>
            </a:r>
            <a:r>
              <a:rPr lang="zh-CN" altLang="zh-CN" dirty="0"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cs typeface="Times New Roman" panose="02020603050405020304" pitchFamily="18" charset="0"/>
              </a:rPr>
              <a:t>X2</a:t>
            </a:r>
            <a:r>
              <a:rPr lang="zh-CN" altLang="zh-CN" dirty="0">
                <a:cs typeface="Times New Roman" panose="02020603050405020304" pitchFamily="18" charset="0"/>
              </a:rPr>
              <a:t>并</a:t>
            </a:r>
            <a:r>
              <a:rPr lang="en-US" altLang="zh-CN" dirty="0">
                <a:cs typeface="Times New Roman" panose="02020603050405020304" pitchFamily="18" charset="0"/>
              </a:rPr>
              <a:t>100k</a:t>
            </a:r>
            <a:r>
              <a:rPr lang="zh-CN" altLang="zh-CN" dirty="0">
                <a:cs typeface="Times New Roman" panose="02020603050405020304" pitchFamily="18" charset="0"/>
              </a:rPr>
              <a:t>Ω的电阻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zh-CN" altLang="en-US" dirty="0">
                <a:cs typeface="Times New Roman" panose="02020603050405020304" pitchFamily="18" charset="0"/>
              </a:rPr>
              <a:t>预留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zh-CN" dirty="0"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cs typeface="Times New Roman" panose="02020603050405020304" pitchFamily="18" charset="0"/>
              </a:rPr>
              <a:t>PLL</a:t>
            </a:r>
            <a:r>
              <a:rPr lang="zh-CN" altLang="zh-CN" dirty="0">
                <a:cs typeface="Times New Roman" panose="02020603050405020304" pitchFamily="18" charset="0"/>
              </a:rPr>
              <a:t>建议配置：</a:t>
            </a:r>
            <a:r>
              <a:rPr lang="en-US" altLang="zh-CN" dirty="0"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cs typeface="Times New Roman" panose="02020603050405020304" pitchFamily="18" charset="0"/>
              </a:rPr>
              <a:t>倍频、</a:t>
            </a:r>
            <a:r>
              <a:rPr lang="en-US" altLang="zh-CN" dirty="0">
                <a:cs typeface="Times New Roman" panose="02020603050405020304" pitchFamily="18" charset="0"/>
              </a:rPr>
              <a:t>2</a:t>
            </a:r>
            <a:r>
              <a:rPr lang="zh-CN" altLang="zh-CN" dirty="0">
                <a:cs typeface="Times New Roman" panose="02020603050405020304" pitchFamily="18" charset="0"/>
              </a:rPr>
              <a:t>分频；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8ACA8-1A21-4D68-8C42-917411402902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主频及时钟配置推荐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27427-5283-4AC0-93BD-B2CBC7373829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"/>
          <a:stretch/>
        </p:blipFill>
        <p:spPr bwMode="auto">
          <a:xfrm>
            <a:off x="6784466" y="918654"/>
            <a:ext cx="4615053" cy="33621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402A7D-522B-4AE6-A868-D7B86DCA4808}"/>
              </a:ext>
            </a:extLst>
          </p:cNvPr>
          <p:cNvSpPr/>
          <p:nvPr/>
        </p:nvSpPr>
        <p:spPr>
          <a:xfrm>
            <a:off x="6784466" y="4488723"/>
            <a:ext cx="4497769" cy="1122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dirty="0">
                <a:cs typeface="Times New Roman" panose="02020603050405020304" pitchFamily="18" charset="0"/>
              </a:rPr>
              <a:t>推荐使用</a:t>
            </a:r>
            <a:r>
              <a:rPr lang="en-US" altLang="zh-CN" dirty="0">
                <a:cs typeface="Times New Roman" panose="02020603050405020304" pitchFamily="18" charset="0"/>
              </a:rPr>
              <a:t>20M</a:t>
            </a:r>
            <a:r>
              <a:rPr lang="zh-CN" altLang="zh-CN" dirty="0">
                <a:cs typeface="Times New Roman" panose="02020603050405020304" pitchFamily="18" charset="0"/>
              </a:rPr>
              <a:t>外部</a:t>
            </a:r>
            <a:r>
              <a:rPr lang="zh-CN" altLang="en-US" dirty="0">
                <a:cs typeface="Times New Roman" panose="02020603050405020304" pitchFamily="18" charset="0"/>
              </a:rPr>
              <a:t>有源时钟</a:t>
            </a:r>
            <a:r>
              <a:rPr lang="zh-CN" altLang="zh-CN" dirty="0"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cs typeface="Times New Roman" panose="02020603050405020304" pitchFamily="18" charset="0"/>
              </a:rPr>
              <a:t>PLL</a:t>
            </a:r>
            <a:r>
              <a:rPr lang="zh-CN" altLang="zh-CN" dirty="0">
                <a:cs typeface="Times New Roman" panose="02020603050405020304" pitchFamily="18" charset="0"/>
              </a:rPr>
              <a:t>建议配置：</a:t>
            </a:r>
            <a:r>
              <a:rPr lang="en-US" altLang="zh-CN" dirty="0"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cs typeface="Times New Roman" panose="02020603050405020304" pitchFamily="18" charset="0"/>
              </a:rPr>
              <a:t>倍频、</a:t>
            </a:r>
            <a:r>
              <a:rPr lang="en-US" altLang="zh-CN" dirty="0">
                <a:cs typeface="Times New Roman" panose="02020603050405020304" pitchFamily="18" charset="0"/>
              </a:rPr>
              <a:t>2</a:t>
            </a:r>
            <a:r>
              <a:rPr lang="zh-CN" altLang="zh-CN" dirty="0">
                <a:cs typeface="Times New Roman" panose="02020603050405020304" pitchFamily="18" charset="0"/>
              </a:rPr>
              <a:t>分频；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481431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7AA025-BA9E-4371-B364-640440039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016" y="15300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32C6122-227B-4067-B039-7E1B2FFE07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414443"/>
              </p:ext>
            </p:extLst>
          </p:nvPr>
        </p:nvGraphicFramePr>
        <p:xfrm>
          <a:off x="1554480" y="1005840"/>
          <a:ext cx="6217920" cy="448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Visio" r:id="rId3" imgW="3914677" imgH="2828828" progId="Visio.Drawing.15">
                  <p:embed/>
                </p:oleObj>
              </mc:Choice>
              <mc:Fallback>
                <p:oleObj name="Visio" r:id="rId3" imgW="3914677" imgH="282882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480" y="1005840"/>
                        <a:ext cx="6217920" cy="4488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EADD374-FD49-4764-9ADC-3B98C1CF81DE}"/>
              </a:ext>
            </a:extLst>
          </p:cNvPr>
          <p:cNvSpPr/>
          <p:nvPr/>
        </p:nvSpPr>
        <p:spPr>
          <a:xfrm>
            <a:off x="4620768" y="1280160"/>
            <a:ext cx="658368" cy="3846574"/>
          </a:xfrm>
          <a:prstGeom prst="rect">
            <a:avLst/>
          </a:prstGeom>
          <a:solidFill>
            <a:srgbClr val="B71E42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B6CEE-CBD9-4228-A6EA-DBCB10C8F22E}"/>
              </a:ext>
            </a:extLst>
          </p:cNvPr>
          <p:cNvSpPr txBox="1"/>
          <p:nvPr/>
        </p:nvSpPr>
        <p:spPr>
          <a:xfrm>
            <a:off x="641322" y="186103"/>
            <a:ext cx="5412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DAC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建立时间注意事项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69F7E27-EFB1-4FB3-ADBA-9F4EED189AB5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279136" y="2231136"/>
            <a:ext cx="2810256" cy="9723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4E8DF-5DBC-4295-8C1A-D79F37D3801F}"/>
              </a:ext>
            </a:extLst>
          </p:cNvPr>
          <p:cNvSpPr/>
          <p:nvPr/>
        </p:nvSpPr>
        <p:spPr>
          <a:xfrm>
            <a:off x="8211312" y="1814982"/>
            <a:ext cx="3249168" cy="568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COMP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禁止使能时间段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(1ms)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1124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picture 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  <a:solidFill>
            <a:srgbClr val="000000">
              <a:alpha val="50196"/>
            </a:srgbClr>
          </a:solidFill>
        </p:spPr>
      </p:pic>
      <p:graphicFrame>
        <p:nvGraphicFramePr>
          <p:cNvPr id="479" name="table 479"/>
          <p:cNvGraphicFramePr>
            <a:graphicFrameLocks noGrp="1"/>
          </p:cNvGraphicFramePr>
          <p:nvPr/>
        </p:nvGraphicFramePr>
        <p:xfrm>
          <a:off x="2896870" y="2041525"/>
          <a:ext cx="6262370" cy="2654300"/>
        </p:xfrm>
        <a:graphic>
          <a:graphicData uri="http://schemas.openxmlformats.org/drawingml/2006/table">
            <a:tbl>
              <a:tblPr/>
              <a:tblGrid>
                <a:gridCol w="626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800" dirty="0"/>
                    </a:p>
                    <a:p>
                      <a:pPr algn="l" rtl="0" eaLnBrk="0">
                        <a:lnSpc>
                          <a:spcPct val="17000"/>
                        </a:lnSpc>
                      </a:pPr>
                      <a:endParaRPr lang="en-US" altLang="en-US" sz="100" dirty="0"/>
                    </a:p>
                    <a:p>
                      <a:pPr marL="1532255" algn="l" rtl="0" eaLnBrk="0">
                        <a:lnSpc>
                          <a:spcPct val="93000"/>
                        </a:lnSpc>
                      </a:pPr>
                      <a:r>
                        <a:rPr lang="zh-CN" sz="6500" spc="50" dirty="0">
                          <a:ln w="19050" cap="flat" cmpd="sng">
                            <a:solidFill>
                              <a:srgbClr val="6BC4E5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6BC4E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谢</a:t>
                      </a:r>
                      <a:r>
                        <a:rPr lang="en-US" altLang="zh-CN" sz="6500" spc="50" dirty="0">
                          <a:ln w="19050" cap="flat" cmpd="sng">
                            <a:solidFill>
                              <a:srgbClr val="6BC4E5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6BC4E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lang="zh-CN" sz="6500" spc="50" dirty="0">
                          <a:ln w="19050" cap="flat" cmpd="sng">
                            <a:solidFill>
                              <a:srgbClr val="6BC4E5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6BC4E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谢！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2239</TotalTime>
  <Words>517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华文中宋</vt:lpstr>
      <vt:lpstr>宋体</vt:lpstr>
      <vt:lpstr>微软雅黑</vt:lpstr>
      <vt:lpstr>等线</vt:lpstr>
      <vt:lpstr>等线 Light</vt:lpstr>
      <vt:lpstr>Arial</vt:lpstr>
      <vt:lpstr>Bahnschrift Condensed</vt:lpstr>
      <vt:lpstr>Gill Sans MT</vt:lpstr>
      <vt:lpstr>Times New Roman</vt:lpstr>
      <vt:lpstr>Wingdings</vt:lpstr>
      <vt:lpstr>Gallery</vt:lpstr>
      <vt:lpstr>Microsoft Visio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xiaojian li</dc:creator>
  <cp:lastModifiedBy>TANG</cp:lastModifiedBy>
  <cp:revision>101</cp:revision>
  <dcterms:created xsi:type="dcterms:W3CDTF">2026-01-22T02:03:05Z</dcterms:created>
  <dcterms:modified xsi:type="dcterms:W3CDTF">2026-02-05T12:06:42Z</dcterms:modified>
</cp:coreProperties>
</file>