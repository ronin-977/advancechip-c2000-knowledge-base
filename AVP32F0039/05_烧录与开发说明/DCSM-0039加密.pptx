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Override PartName="/customXml/itemProps11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3" r:id="rId8"/>
    <p:sldId id="264" r:id="rId9"/>
    <p:sldId id="265" r:id="rId10"/>
    <p:sldId id="278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customXml" Target="../customXml/item1.xml"/><Relationship Id="rId27" Type="http://schemas.openxmlformats.org/officeDocument/2006/relationships/customXmlProps" Target="../customXml/itemProps117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707 (Stroke)_#color-2217&amp;955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0909300" cy="5791200"/>
          </a:xfrm>
          <a:custGeom>
            <a:avLst/>
            <a:gdLst/>
            <a:ahLst/>
            <a:cxnLst/>
            <a:rect l="l" t="t" r="r" b="b"/>
            <a:pathLst>
              <a:path w="10909300" h="5791200">
                <a:moveTo>
                  <a:pt x="0" y="5765800"/>
                </a:moveTo>
                <a:lnTo>
                  <a:pt x="10883900" y="5765800"/>
                </a:lnTo>
                <a:lnTo>
                  <a:pt x="10883900" y="0"/>
                </a:lnTo>
                <a:lnTo>
                  <a:pt x="10909300" y="0"/>
                </a:lnTo>
                <a:lnTo>
                  <a:pt x="10909300" y="5791200"/>
                </a:lnTo>
                <a:lnTo>
                  <a:pt x="0" y="5791200"/>
                </a:lnTo>
                <a:lnTo>
                  <a:pt x="0" y="5765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8" name="Rectangle 41706 (Stroke)_#color-2217&amp;9553"/>
          <p:cNvSpPr/>
          <p:nvPr userDrawn="1">
            <p:custDataLst>
              <p:tags r:id="rId3"/>
            </p:custDataLst>
          </p:nvPr>
        </p:nvSpPr>
        <p:spPr>
          <a:xfrm>
            <a:off x="8953500" y="4521200"/>
            <a:ext cx="3238500" cy="2336800"/>
          </a:xfrm>
          <a:custGeom>
            <a:avLst/>
            <a:gdLst/>
            <a:ahLst/>
            <a:cxnLst/>
            <a:rect l="l" t="t" r="r" b="b"/>
            <a:pathLst>
              <a:path w="3238500" h="2336800">
                <a:moveTo>
                  <a:pt x="3238500" y="0"/>
                </a:moveTo>
                <a:lnTo>
                  <a:pt x="0" y="0"/>
                </a:lnTo>
                <a:lnTo>
                  <a:pt x="0" y="2336800"/>
                </a:lnTo>
                <a:lnTo>
                  <a:pt x="25400" y="2336800"/>
                </a:lnTo>
                <a:lnTo>
                  <a:pt x="25400" y="25400"/>
                </a:lnTo>
                <a:lnTo>
                  <a:pt x="3238500" y="25400"/>
                </a:lnTo>
                <a:lnTo>
                  <a:pt x="32385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1734331" y="369277"/>
            <a:ext cx="8860399" cy="320797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1734331" y="3943799"/>
            <a:ext cx="7101937" cy="1468599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5587" y="857250"/>
            <a:ext cx="10561637" cy="1503413"/>
          </a:xfrm>
        </p:spPr>
        <p:txBody>
          <a:bodyPr wrap="square" anchor="b">
            <a:normAutofit/>
          </a:bodyPr>
          <a:lstStyle>
            <a:lvl1pPr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41706 (Stroke)_#color-2217&amp;9559"/>
          <p:cNvSpPr/>
          <p:nvPr userDrawn="1">
            <p:custDataLst>
              <p:tags r:id="rId6"/>
            </p:custDataLst>
          </p:nvPr>
        </p:nvSpPr>
        <p:spPr>
          <a:xfrm>
            <a:off x="10896600" y="215900"/>
            <a:ext cx="1295400" cy="571500"/>
          </a:xfrm>
          <a:custGeom>
            <a:avLst/>
            <a:gdLst/>
            <a:ahLst/>
            <a:cxnLst/>
            <a:rect l="l" t="t" r="r" b="b"/>
            <a:pathLst>
              <a:path w="1295400" h="571500">
                <a:moveTo>
                  <a:pt x="1295400" y="0"/>
                </a:moveTo>
                <a:lnTo>
                  <a:pt x="0" y="0"/>
                </a:lnTo>
                <a:lnTo>
                  <a:pt x="0" y="571500"/>
                </a:lnTo>
                <a:lnTo>
                  <a:pt x="1295400" y="571500"/>
                </a:lnTo>
                <a:lnTo>
                  <a:pt x="1295400" y="546100"/>
                </a:lnTo>
                <a:lnTo>
                  <a:pt x="25400" y="546100"/>
                </a:lnTo>
                <a:lnTo>
                  <a:pt x="25400" y="25400"/>
                </a:lnTo>
                <a:lnTo>
                  <a:pt x="1295400" y="25400"/>
                </a:lnTo>
                <a:lnTo>
                  <a:pt x="12954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5" name="Rectangle 41707 (Stroke)_#color-2217&amp;9562"/>
          <p:cNvSpPr/>
          <p:nvPr userDrawn="1">
            <p:custDataLst>
              <p:tags r:id="rId7"/>
            </p:custDataLst>
          </p:nvPr>
        </p:nvSpPr>
        <p:spPr>
          <a:xfrm>
            <a:off x="8445500" y="0"/>
            <a:ext cx="3251200" cy="508000"/>
          </a:xfrm>
          <a:custGeom>
            <a:avLst/>
            <a:gdLst/>
            <a:ahLst/>
            <a:cxnLst/>
            <a:rect l="l" t="t" r="r" b="b"/>
            <a:pathLst>
              <a:path w="3251200" h="508000">
                <a:moveTo>
                  <a:pt x="25400" y="0"/>
                </a:moveTo>
                <a:lnTo>
                  <a:pt x="25400" y="482600"/>
                </a:lnTo>
                <a:lnTo>
                  <a:pt x="3225800" y="482600"/>
                </a:lnTo>
                <a:lnTo>
                  <a:pt x="3225800" y="0"/>
                </a:lnTo>
                <a:lnTo>
                  <a:pt x="3251200" y="0"/>
                </a:lnTo>
                <a:lnTo>
                  <a:pt x="3251200" y="508000"/>
                </a:lnTo>
                <a:lnTo>
                  <a:pt x="0" y="508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/>
          </a:solidFill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5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Rectangle 41707 (Stroke)_#color-2217&amp;9565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0426700" cy="5537200"/>
          </a:xfrm>
          <a:custGeom>
            <a:avLst/>
            <a:gdLst/>
            <a:ahLst/>
            <a:cxnLst/>
            <a:rect l="l" t="t" r="r" b="b"/>
            <a:pathLst>
              <a:path w="10426700" h="5537200">
                <a:moveTo>
                  <a:pt x="0" y="5511800"/>
                </a:moveTo>
                <a:lnTo>
                  <a:pt x="10401300" y="5511800"/>
                </a:lnTo>
                <a:lnTo>
                  <a:pt x="10401300" y="0"/>
                </a:lnTo>
                <a:lnTo>
                  <a:pt x="10426700" y="0"/>
                </a:lnTo>
                <a:lnTo>
                  <a:pt x="10426700" y="5537200"/>
                </a:lnTo>
                <a:lnTo>
                  <a:pt x="0" y="5537200"/>
                </a:lnTo>
                <a:lnTo>
                  <a:pt x="0" y="551180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10" name="Rectangle 41706 (Stroke)_#color-2217&amp;9568"/>
          <p:cNvSpPr/>
          <p:nvPr userDrawn="1">
            <p:custDataLst>
              <p:tags r:id="rId4"/>
            </p:custDataLst>
          </p:nvPr>
        </p:nvSpPr>
        <p:spPr>
          <a:xfrm>
            <a:off x="8572500" y="4267200"/>
            <a:ext cx="3619500" cy="2590800"/>
          </a:xfrm>
          <a:custGeom>
            <a:avLst/>
            <a:gdLst/>
            <a:ahLst/>
            <a:cxnLst/>
            <a:rect l="l" t="t" r="r" b="b"/>
            <a:pathLst>
              <a:path w="3619500" h="2590800">
                <a:moveTo>
                  <a:pt x="3619500" y="0"/>
                </a:moveTo>
                <a:lnTo>
                  <a:pt x="0" y="0"/>
                </a:lnTo>
                <a:lnTo>
                  <a:pt x="0" y="2590800"/>
                </a:lnTo>
                <a:lnTo>
                  <a:pt x="25400" y="2590800"/>
                </a:lnTo>
                <a:lnTo>
                  <a:pt x="25400" y="25400"/>
                </a:lnTo>
                <a:lnTo>
                  <a:pt x="3619500" y="25400"/>
                </a:lnTo>
                <a:lnTo>
                  <a:pt x="3619500" y="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452950" y="3023453"/>
            <a:ext cx="6878250" cy="2374047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452950" y="304800"/>
            <a:ext cx="8643550" cy="2277882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4900" b="1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6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" name="Rectangle 41707 (Stroke)_#color-2217&amp;9583"/>
          <p:cNvSpPr/>
          <p:nvPr userDrawn="1">
            <p:custDataLst>
              <p:tags r:id="rId3"/>
            </p:custDataLst>
          </p:nvPr>
        </p:nvSpPr>
        <p:spPr>
          <a:xfrm>
            <a:off x="2514600" y="0"/>
            <a:ext cx="9677400" cy="5791200"/>
          </a:xfrm>
          <a:custGeom>
            <a:avLst/>
            <a:gdLst/>
            <a:ahLst/>
            <a:cxnLst/>
            <a:rect l="l" t="t" r="r" b="b"/>
            <a:pathLst>
              <a:path w="9677400" h="5791200">
                <a:moveTo>
                  <a:pt x="25400" y="0"/>
                </a:moveTo>
                <a:lnTo>
                  <a:pt x="0" y="0"/>
                </a:lnTo>
                <a:lnTo>
                  <a:pt x="0" y="5791200"/>
                </a:lnTo>
                <a:lnTo>
                  <a:pt x="9677400" y="5791200"/>
                </a:lnTo>
                <a:lnTo>
                  <a:pt x="9677400" y="5765800"/>
                </a:lnTo>
                <a:lnTo>
                  <a:pt x="25400" y="5765800"/>
                </a:lnTo>
                <a:lnTo>
                  <a:pt x="25400" y="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9" name="Rectangle 41706 (Stroke)_#color-2217&amp;9586"/>
          <p:cNvSpPr/>
          <p:nvPr userDrawn="1">
            <p:custDataLst>
              <p:tags r:id="rId4"/>
            </p:custDataLst>
          </p:nvPr>
        </p:nvSpPr>
        <p:spPr>
          <a:xfrm>
            <a:off x="0" y="4521200"/>
            <a:ext cx="4368800" cy="2336800"/>
          </a:xfrm>
          <a:custGeom>
            <a:avLst/>
            <a:gdLst/>
            <a:ahLst/>
            <a:cxnLst/>
            <a:rect l="l" t="t" r="r" b="b"/>
            <a:pathLst>
              <a:path w="4368800" h="2336800">
                <a:moveTo>
                  <a:pt x="4368800" y="2336800"/>
                </a:moveTo>
                <a:lnTo>
                  <a:pt x="4368800" y="0"/>
                </a:lnTo>
                <a:lnTo>
                  <a:pt x="0" y="0"/>
                </a:lnTo>
                <a:lnTo>
                  <a:pt x="0" y="25400"/>
                </a:lnTo>
                <a:lnTo>
                  <a:pt x="4343400" y="25400"/>
                </a:lnTo>
                <a:lnTo>
                  <a:pt x="4343400" y="2336800"/>
                </a:lnTo>
                <a:lnTo>
                  <a:pt x="4368800" y="2336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4635500" y="406400"/>
            <a:ext cx="7302500" cy="276815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4635500" y="3576600"/>
            <a:ext cx="7302500" cy="206220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1710 (Stroke)_#color-2217&amp;9571"/>
          <p:cNvSpPr/>
          <p:nvPr userDrawn="1">
            <p:custDataLst>
              <p:tags r:id="rId12"/>
            </p:custDataLst>
          </p:nvPr>
        </p:nvSpPr>
        <p:spPr>
          <a:xfrm>
            <a:off x="0" y="63373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11" name="Rectangle 41708 (Stroke)_#color-2217&amp;9574"/>
          <p:cNvSpPr/>
          <p:nvPr userDrawn="1">
            <p:custDataLst>
              <p:tags r:id="rId13"/>
            </p:custDataLst>
          </p:nvPr>
        </p:nvSpPr>
        <p:spPr>
          <a:xfrm>
            <a:off x="215900" y="6489700"/>
            <a:ext cx="1422400" cy="368300"/>
          </a:xfrm>
          <a:custGeom>
            <a:avLst/>
            <a:gdLst/>
            <a:ahLst/>
            <a:cxnLst/>
            <a:rect l="l" t="t" r="r" b="b"/>
            <a:pathLst>
              <a:path w="1422400" h="368300">
                <a:moveTo>
                  <a:pt x="1422400" y="368300"/>
                </a:moveTo>
                <a:lnTo>
                  <a:pt x="1422400" y="0"/>
                </a:lnTo>
                <a:lnTo>
                  <a:pt x="0" y="0"/>
                </a:lnTo>
                <a:lnTo>
                  <a:pt x="0" y="368300"/>
                </a:lnTo>
                <a:lnTo>
                  <a:pt x="25400" y="368300"/>
                </a:lnTo>
                <a:lnTo>
                  <a:pt x="25400" y="25400"/>
                </a:lnTo>
                <a:lnTo>
                  <a:pt x="1397000" y="25400"/>
                </a:lnTo>
                <a:lnTo>
                  <a:pt x="1397000" y="368300"/>
                </a:lnTo>
                <a:lnTo>
                  <a:pt x="1422400" y="36830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2" name="Rectangle 41706 (Stroke)_#color-2217&amp;9577"/>
          <p:cNvSpPr/>
          <p:nvPr userDrawn="1">
            <p:custDataLst>
              <p:tags r:id="rId14"/>
            </p:custDataLst>
          </p:nvPr>
        </p:nvSpPr>
        <p:spPr>
          <a:xfrm>
            <a:off x="10337800" y="0"/>
            <a:ext cx="1663700" cy="381000"/>
          </a:xfrm>
          <a:custGeom>
            <a:avLst/>
            <a:gdLst/>
            <a:ahLst/>
            <a:cxnLst/>
            <a:rect l="l" t="t" r="r" b="b"/>
            <a:pathLst>
              <a:path w="1663700" h="381000">
                <a:moveTo>
                  <a:pt x="25400" y="0"/>
                </a:moveTo>
                <a:lnTo>
                  <a:pt x="25400" y="355600"/>
                </a:lnTo>
                <a:lnTo>
                  <a:pt x="1638300" y="355600"/>
                </a:lnTo>
                <a:lnTo>
                  <a:pt x="1638300" y="0"/>
                </a:lnTo>
                <a:lnTo>
                  <a:pt x="1663700" y="0"/>
                </a:lnTo>
                <a:lnTo>
                  <a:pt x="1663700" y="381000"/>
                </a:lnTo>
                <a:lnTo>
                  <a:pt x="0" y="381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3" name="Rectangle 41710 (Stroke)_#color-2217&amp;9571"/>
          <p:cNvSpPr/>
          <p:nvPr userDrawn="1">
            <p:custDataLst>
              <p:tags r:id="rId15"/>
            </p:custDataLst>
          </p:nvPr>
        </p:nvSpPr>
        <p:spPr>
          <a:xfrm flipH="1">
            <a:off x="11582400" y="2032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8.xml"/><Relationship Id="rId7" Type="http://schemas.openxmlformats.org/officeDocument/2006/relationships/tags" Target="../tags/tag84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tags" Target="../tags/tag8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86.xml"/><Relationship Id="rId2" Type="http://schemas.openxmlformats.org/officeDocument/2006/relationships/image" Target="../media/image4.png"/><Relationship Id="rId1" Type="http://schemas.openxmlformats.org/officeDocument/2006/relationships/tags" Target="../tags/tag8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88.xml"/><Relationship Id="rId2" Type="http://schemas.openxmlformats.org/officeDocument/2006/relationships/image" Target="../media/image5.png"/><Relationship Id="rId1" Type="http://schemas.openxmlformats.org/officeDocument/2006/relationships/tags" Target="../tags/tag8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0.xml"/><Relationship Id="rId2" Type="http://schemas.openxmlformats.org/officeDocument/2006/relationships/image" Target="../media/image6.png"/><Relationship Id="rId1" Type="http://schemas.openxmlformats.org/officeDocument/2006/relationships/tags" Target="../tags/tag8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2.xml"/><Relationship Id="rId2" Type="http://schemas.openxmlformats.org/officeDocument/2006/relationships/image" Target="../media/image7.png"/><Relationship Id="rId1" Type="http://schemas.openxmlformats.org/officeDocument/2006/relationships/tags" Target="../tags/tag9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4.xml"/><Relationship Id="rId2" Type="http://schemas.openxmlformats.org/officeDocument/2006/relationships/image" Target="../media/image8.png"/><Relationship Id="rId1" Type="http://schemas.openxmlformats.org/officeDocument/2006/relationships/tags" Target="../tags/tag9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6.xml"/><Relationship Id="rId2" Type="http://schemas.openxmlformats.org/officeDocument/2006/relationships/image" Target="../media/image9.png"/><Relationship Id="rId1" Type="http://schemas.openxmlformats.org/officeDocument/2006/relationships/tags" Target="../tags/tag9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8.xml"/><Relationship Id="rId2" Type="http://schemas.openxmlformats.org/officeDocument/2006/relationships/image" Target="../media/image10.png"/><Relationship Id="rId1" Type="http://schemas.openxmlformats.org/officeDocument/2006/relationships/tags" Target="../tags/tag9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00.xml"/><Relationship Id="rId2" Type="http://schemas.openxmlformats.org/officeDocument/2006/relationships/image" Target="../media/image11.png"/><Relationship Id="rId1" Type="http://schemas.openxmlformats.org/officeDocument/2006/relationships/tags" Target="../tags/tag9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0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10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04.xml"/><Relationship Id="rId2" Type="http://schemas.openxmlformats.org/officeDocument/2006/relationships/image" Target="../media/image14.png"/><Relationship Id="rId1" Type="http://schemas.openxmlformats.org/officeDocument/2006/relationships/tags" Target="../tags/tag10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06.xml"/><Relationship Id="rId2" Type="http://schemas.openxmlformats.org/officeDocument/2006/relationships/image" Target="../media/image15.png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08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10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10.xml"/><Relationship Id="rId2" Type="http://schemas.openxmlformats.org/officeDocument/2006/relationships/image" Target="../media/image18.png"/><Relationship Id="rId1" Type="http://schemas.openxmlformats.org/officeDocument/2006/relationships/tags" Target="../tags/tag109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12.xml"/><Relationship Id="rId2" Type="http://schemas.openxmlformats.org/officeDocument/2006/relationships/image" Target="../media/image19.png"/><Relationship Id="rId1" Type="http://schemas.openxmlformats.org/officeDocument/2006/relationships/tags" Target="../tags/tag11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14.xml"/><Relationship Id="rId2" Type="http://schemas.openxmlformats.org/officeDocument/2006/relationships/image" Target="../media/image20.png"/><Relationship Id="rId1" Type="http://schemas.openxmlformats.org/officeDocument/2006/relationships/tags" Target="../tags/tag113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16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1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666386" y="1314157"/>
            <a:ext cx="8860399" cy="3207972"/>
          </a:xfrm>
        </p:spPr>
        <p:txBody>
          <a:bodyPr wrap="square">
            <a:normAutofit fontScale="90000"/>
          </a:bodyPr>
          <a:lstStyle/>
          <a:p>
            <a:pPr algn="ctr"/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DCSM-0039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加密</a:t>
            </a:r>
            <a:br>
              <a:rPr lang="zh-CN" altLang="en-US" dirty="0"/>
            </a:b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功能描述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二、加密操作步骤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 dcsm.cmd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文件解读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2.3 f28003x_dcsm.asm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文件解读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加密操作流程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具体加密操作步骤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解密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3.1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解密操作步骤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457200"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3.2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加密后扇区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状态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36307" y="247650"/>
            <a:ext cx="10561637" cy="1503413"/>
          </a:xfrm>
        </p:spPr>
        <p:txBody>
          <a:bodyPr wrap="square">
            <a:normAutofit/>
          </a:bodyPr>
          <a:lstStyle/>
          <a:p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目录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一、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DCSM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功能描述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24840" y="169798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CSM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加密是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C2000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系列芯片最基础的加密方式，也是在前代产品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F2803x/F2806x)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中广泛采用的加密方式。在最新的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28004x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28003x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2837x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等芯片中增加了双码安全模块（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），该功能支持将芯片中的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划为两个独立区域，并设置各自独立的的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128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CSM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。该功能可以阻止未授权人员访问加密内容，进而有效防止您的代码被重复或逆向编译；与此同时，需要维护与升级的代码可以存储于另一个独立区域内，并授权给相关人员使用。合理运用此功能，可以进一步地提高产品的安全性以及易用性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2.1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添加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dcsm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文件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1325880"/>
            <a:ext cx="10668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首先选择要加密的工程，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dcsm.cmd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f28003x_dcsm.asm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这两个文件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。这里以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0039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的例程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led_ex1_blinky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为例，如图添加这两个文件到该例程中。（本页面有附上该文件附件，选择该文件右键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保存到文件，即可保存，后续直接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copy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到需要加密的工程中即可）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70" y="3140075"/>
            <a:ext cx="2217420" cy="33248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595745" y="5329555"/>
          <a:ext cx="1579245" cy="1158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3" imgW="971550" imgH="800100" progId="Package">
                  <p:embed/>
                </p:oleObj>
              </mc:Choice>
              <mc:Fallback>
                <p:oleObj name="" showAsIcon="1" r:id="rId3" imgW="971550" imgH="8001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5745" y="5329555"/>
                        <a:ext cx="1579245" cy="1158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51240" y="5329555"/>
          <a:ext cx="2844800" cy="113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5" imgW="1113790" imgH="444500" progId="Package">
                  <p:embed/>
                </p:oleObj>
              </mc:Choice>
              <mc:Fallback>
                <p:oleObj name="" r:id="rId5" imgW="1113790" imgH="444500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651240" y="5329555"/>
                        <a:ext cx="2844800" cy="1135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/>
          <p:cNvCxnSpPr/>
          <p:nvPr/>
        </p:nvCxnSpPr>
        <p:spPr>
          <a:xfrm>
            <a:off x="5842000" y="2738120"/>
            <a:ext cx="1209040" cy="217424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6116320" y="2727960"/>
            <a:ext cx="3281680" cy="212344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2.2 dcsm.cmd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文件解读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9760" y="1386840"/>
            <a:ext cx="111556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加密分为两个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，分别为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。该文件主要是针对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zone2OTP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地址的分配，如下图。因为这一块是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otp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区域，所以分配的位置是固定的，无需更改，实际按照下图分配即可。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且该区域只能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写成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，无法让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写成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，也无法擦除。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" y="2955290"/>
            <a:ext cx="4846955" cy="33724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2.3 f28003x_dcsm.asm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文件解读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46760" y="1295400"/>
            <a:ext cx="676656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dcsm_otp_z1_linkpointer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该配置是选择哪个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，例如目前的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3FFF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配置的就是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，如果需要配置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则需要将所有的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3FFF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3FFE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。因为在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otp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区域写，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能翻转成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无法翻转成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3FFE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进制是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“0011111111111110”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，对应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3FFC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对应的二进制是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“0011111111111100”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linkpointer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中末尾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的个数就是对应的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多少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，但注意因为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otp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的特性，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不能变回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了，如果配置了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了，就无法配置回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955" y="1295400"/>
            <a:ext cx="4146550" cy="384365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2.3 f28003x_dcsm.asm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文件解读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6280" y="1490980"/>
            <a:ext cx="64008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因此，只有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dcsm_otp_z1_linkpointer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的值从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F”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写起，并在每次重新设置时按照下表顺序逐位写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，才能够充分利用到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OTP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中的所有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Block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。每个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block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的区域长度为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，例如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block0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地址起始为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0x78020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，长度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，所以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block1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地址起始为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0x78040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以此类推。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/>
          </a:p>
        </p:txBody>
      </p:sp>
      <p:pic>
        <p:nvPicPr>
          <p:cNvPr id="18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080" y="1324610"/>
            <a:ext cx="4429760" cy="383667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2.3 f28003x_dcsm.asm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文件解读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01700" y="1363980"/>
            <a:ext cx="493331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Block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解释：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block的意思就类似于一个保安，它负责给芯片加密设置密码，设置加密扇区等功能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，我们利用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link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pointer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去选择一个我们想要的保安，并配置其密码和要保护的区域。在一个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zone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区有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个保安可以选择，单次只能启用一个保安，且选择了保安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就回去配置选择保安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了（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OTP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特性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），只能继续往后配置保安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015" y="1248410"/>
            <a:ext cx="5928360" cy="48615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2.3 f28003x_dcsm.asm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文件解读</a:t>
            </a:r>
            <a:endParaRPr lang="zh-CN" altLang="en-US"/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800" y="1616075"/>
            <a:ext cx="5036185" cy="33413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95325" y="1555115"/>
            <a:ext cx="6340475" cy="4669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dcsm_otp_z1_pswdlock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该位配置的是密码锁定，如果不配置该位置，则填写密码的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OTP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区域能被仿真器读到，配置后，密码区域就会被锁定，仿真器无法看到密码。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dcsm_otp_z1_crclock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该位作用是用于使能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Safe CRC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（安全循环冗余校验）功能。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CRC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校验常用于验证数据完整性，而这里的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Safe CRC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主要是对区域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内的代码或数据进行完整性校验，避免数据被篡改后非法运行，进一步强化区域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的安全防护。这里建议保持默认即可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2.3 f28003x_dcsm.asm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文件解读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5960" y="1488440"/>
            <a:ext cx="617791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dcsm_otp_z1_jim_enable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该位配置的是仿真器锁设置，开启后会禁用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jtag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对该设备的任何仿真访问，建议保持默认即可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dcsm_zsel_z1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该位是配置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的密码，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保护扇区选择以及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Execute Only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功能，该部分配置方法在具体加密步骤中详细讲解。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875" y="1488440"/>
            <a:ext cx="5055235" cy="302831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2.4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加密操作流程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F360BE8B-6686-4F3D-AEAF-501FE73E4058-1" descr="绘图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35" y="2851150"/>
            <a:ext cx="10778490" cy="32785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5960" y="1353185"/>
            <a:ext cx="1016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此图是加密大致的操作流程，从选择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区域，配置对应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linkpointer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，配置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linkpointer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指向的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，再配置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cmd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文件后即可烧录。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2.5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具体加密操作步骤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1363980"/>
            <a:ext cx="108007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：首先确定需要用到是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，我们这里就配置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，用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作为例子。配置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linkpointer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指向该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，此时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linkpointer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3FFF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。注意：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都有对应的起始地址，长度为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，此时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区域地址为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0x78020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，每个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长度为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，那么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的区域地址为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0x78040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的区域地址为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0x78060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以此类推。所以我们在确定好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linkpointer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指向的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后，需要在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cmd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文件中更改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区域地址。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该步骤更改了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linkpointer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3FFF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，用来选择了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。接着在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dcsm.cmd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文件中将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DCSM_ZSEL_Z1_P0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的扇区位置改为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对应的区域地址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0x78020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，如下图。如果选择的是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，则将该扇区位置改为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0x78040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以此类推。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" y="5062855"/>
            <a:ext cx="10788650" cy="54102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2.5 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具体加密操作步骤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27710" y="1342390"/>
            <a:ext cx="1069213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：在选择完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后，修改自己想要更改的密码。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注意不能更改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“4D7”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，因为这是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block0 otp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区域的默认值，无法更改，每个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都有其独特的默认值，详情参考步骤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。所以在更改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linkpointer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的值指向不同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区域时需手动更改这些默认值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。其他密码位可以随意更改想要的值。但不要全写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，会导致永久锁死。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例如密码更改如下：左图为加密前密码区域，右图为加密后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密码区域。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10"/>
          <p:cNvPicPr>
            <a:picLocks noChangeAspect="1"/>
          </p:cNvPicPr>
          <p:nvPr/>
        </p:nvPicPr>
        <p:blipFill>
          <a:blip r:embed="rId2"/>
          <a:srcRect r="2290" b="67268"/>
          <a:stretch>
            <a:fillRect/>
          </a:stretch>
        </p:blipFill>
        <p:spPr>
          <a:xfrm>
            <a:off x="695960" y="3651250"/>
            <a:ext cx="5147310" cy="1002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603" y="3650933"/>
            <a:ext cx="5272405" cy="109283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2.5 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具体加密操作步骤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73100" y="1385570"/>
            <a:ext cx="1048639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：在写完自己所需的密码后，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将想要加密的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扇区和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ram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区分配到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。在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Z1OTP_GRABSECT1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位，每两位应对一个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bank0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扇区，寄存器描述如下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：无效。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：请求将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Bank 0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闪存扇区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分配到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Zone1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：没有针对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Bank 0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闪存扇区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的请求。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：当此区域已解锁时，没有针对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Bank 0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闪存扇区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的请求。否则，如果此区域已锁定，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Bank 0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闪存扇区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将无法访问。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495" y="4497705"/>
            <a:ext cx="7975600" cy="220916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2.5 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具体加密操作步骤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27710" y="1516380"/>
            <a:ext cx="98558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按照寄存器描述，我们这里配置为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，将我们要加密的扇区分配到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，因为我们加密目标是要把所有区域都加密，一共是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bank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，每个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bank16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扇区，再加上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ram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区，所以全部配置为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，配置结果如下图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10" y="3521075"/>
            <a:ext cx="8531860" cy="189738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2.5 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具体加密操作步骤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40715" y="1233805"/>
            <a:ext cx="5050790" cy="5024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：配置完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zone1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的要保密的区域后，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因为不同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会有不同的密码默认值写在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otp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区域中，所以我们需要针对自己配置的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，去将默认值更改到寄存器中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。例如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区域起始地址为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0x78020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的默认值有两个为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“4D7”,“2BF”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，如图中黄框。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block1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区域起始地址为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0x78040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的默认值有两个，为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“5F7”,“27F”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，如图中蓝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框，其余默认值参照下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默认值表即可。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215" y="4469765"/>
            <a:ext cx="4895215" cy="232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215" y="479425"/>
            <a:ext cx="5475605" cy="39833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2.5 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具体加密操作步骤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57885" y="1331595"/>
            <a:ext cx="5455920" cy="3371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其余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区域的默认值如下图中的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这一栏，我们只需要看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，开头的三位就是默认值，其余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“F”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是可以按照我们需求更改的。可以看到每个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都有两个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，例如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”0x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4D7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FFFFF”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“0x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2BF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FFFFF”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，两个默认值就为前三位，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“4D7”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“2BF”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020" y="1080135"/>
            <a:ext cx="5290185" cy="52228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2.5 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具体加密操作步骤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4690" y="1450975"/>
            <a:ext cx="100844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：我们前面配置了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dcsm_otp_z1_linkpointer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dcsm_zsel_z1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的配置，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所以需要在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dcsm.cmd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文件中的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SECTIONS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中将配置过的区域部分写入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dcsm.cmd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文件中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，如下图。如果不声明这些字段，就会导致配置不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生效。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0" y="3190240"/>
            <a:ext cx="7475855" cy="151066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3.1 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解密操作步骤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5960" y="1080135"/>
            <a:ext cx="1139825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到此文件全部配置完毕，如果芯片之前没有被加密过的，正常烧录即可。烧录完成后仿真器如果断开连接，再直接连接芯片可能会报错，因为此时芯片被加密了。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想要重新连接，需更改芯片的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引导模式，使用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Boot Mode boot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模式来启动，在此模式中，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会运行在一个循环中而不进入应用程序，从而避免触发保护。具体操作是将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GPIO24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拉低，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GPIO32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保持高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。更改引导模式后，芯片重新上下电即可连接芯片。连上芯片后，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tools-on chip flash-CSMPSWD-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写芯片密码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-unlock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，就可以解锁芯片，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注意加密芯片需解锁后才能正常烧录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。操作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位置如下图。一旦芯片连接断开后，芯片又会回到加密状态，此时按照上述步骤重复操作即可。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495" y="4126230"/>
            <a:ext cx="6172200" cy="267081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3.2 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加密后扇区</a:t>
            </a:r>
            <a:r>
              <a:rPr lang="zh-CN" altLang="en-US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状态</a:t>
            </a:r>
            <a:endParaRPr lang="zh-CN" altLang="en-US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7710" y="1080135"/>
            <a:ext cx="5672455" cy="263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最后我们给芯片重新上下电，可以看到连接芯片后不进行任何操作的情况下，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调出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broswer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，输入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bank0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扇区地址发现加密后该扇区所有位都为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，说明当前状态已经加密成功了，直接看扇区是看不了数据的，解密后就恢复正常状态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FFFF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733" y="1079818"/>
            <a:ext cx="3890645" cy="2639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050" y="3719830"/>
            <a:ext cx="3821430" cy="26377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95960" y="4049395"/>
            <a:ext cx="57048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到此加密就全部完成，后续如果想要更改密码，就按照步骤和排序配置后面的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。如果想要芯片维持不加密的状态，还是按照步骤配置，但是在配置密码的时候，不去配置密码中的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FFFF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位，这样默认芯片上电就是不加密的状态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TEXT_LAYER_COUNT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TEXT_LAYER_COUNT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TEXT_LAYER_COUNT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TEXT_LAYER_COUNT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  <p:tag name="KSO_WM_UNIT_TEXT_LAYER_COUNT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TYPE" val="i"/>
  <p:tag name="KSO_WM_UNIT_INDEX" val="4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331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1"/>
  <p:tag name="KSO_WM_TEMPLATE_THUMBS_INDEX" val="1、9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11_1*a*1"/>
  <p:tag name="KSO_WM_TEMPLATE_CATEGORY" val="custom"/>
  <p:tag name="KSO_WM_TEMPLATE_INDEX" val="20233311"/>
  <p:tag name="KSO_WM_UNIT_LAYERLEVEL" val="1"/>
  <p:tag name="KSO_WM_TAG_VERSION" val="3.0"/>
  <p:tag name="KSO_WM_BEAUTIFY_FLAG" val="#wm#"/>
  <p:tag name="KSO_WM_UNIT_TEXT_TYPE" val="1"/>
  <p:tag name="KSO_WM_UNIT_PRESET_TEXT" val="单击添加文档标题"/>
</p:tagLst>
</file>

<file path=ppt/tags/tag76.xml><?xml version="1.0" encoding="utf-8"?>
<p:tagLst xmlns:p="http://schemas.openxmlformats.org/presentationml/2006/main">
  <p:tag name="KSO_WM_SLIDE_ID" val="custom20233311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1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274"/>
  <p:tag name="KSO_WM_SLIDE_THEME_NAME" val="蓝色线条简约风主题"/>
</p:tagLst>
</file>

<file path=ppt/tags/tag77.xml><?xml version="1.0" encoding="utf-8"?>
<p:tagLst xmlns:p="http://schemas.openxmlformats.org/presentationml/2006/main">
  <p:tag name="KSO_WM_UNIT_INDEX" val="1_2_5"/>
  <p:tag name="KSO_WM_UNIT_TYPE" val="l_h_f"/>
  <p:tag name="KSO_WM_TEMPLATE_CATEGORY" val="diagram"/>
  <p:tag name="KSO_WM_TEMPLATE_INDEX" val="19882022"/>
  <p:tag name="KSO_WM_UNIT_ID" val="diagram19882022*l_h_f*1_2_5"/>
  <p:tag name="KSO_WM_DIAGRAM_GROUP_CODE" val="l1-1"/>
  <p:tag name="KSO_WM_TAG_VERSION" val="2.0"/>
  <p:tag name="KSO_WM_BEAUTIFY_FLAG" val="#wm#"/>
  <p:tag name="KSO_WM_DIAGRAM_VIRTUALLY_FRAME" val="{&quot;height&quot;:342.62503937007875,&quot;left&quot;:66,&quot;top&quot;:143.75,&quot;width&quot;:828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1_2*a*1"/>
  <p:tag name="KSO_WM_TEMPLATE_CATEGORY" val="custom"/>
  <p:tag name="KSO_WM_TEMPLATE_INDEX" val="2023331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PRESET_TEXT_INDEX" val="-1"/>
  <p:tag name="KSO_WM_UNIT_PRESET_TEXT_LEN" val="0"/>
</p:tagLst>
</file>

<file path=ppt/tags/tag79.xml><?xml version="1.0" encoding="utf-8"?>
<p:tagLst xmlns:p="http://schemas.openxmlformats.org/presentationml/2006/main">
  <p:tag name="KSO_WM_SLIDE_ID" val="custom20233311_2"/>
  <p:tag name="KSO_WM_TEMPLATE_SUBCATEGORY" val="29"/>
  <p:tag name="KSO_WM_TEMPLATE_MASTER_TYPE" val="0"/>
  <p:tag name="KSO_WM_TEMPLATE_COLOR_TYPE" val="0"/>
  <p:tag name="KSO_WM_SLIDE_ITEM_CNT" val="2"/>
  <p:tag name="KSO_WM_SLIDE_INDEX" val="2"/>
  <p:tag name="KSO_WM_TAG_VERSION" val="3.0"/>
  <p:tag name="KSO_WM_BEAUTIFY_FLAG" val="#wm#"/>
  <p:tag name="KSO_WM_TEMPLATE_CATEGORY" val="custom"/>
  <p:tag name="KSO_WM_TEMPLATE_INDEX" val="20233311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  <p:tag name="KSO_WM_SLIDE_THEME_ID" val="3321274"/>
  <p:tag name="KSO_WM_SLIDE_THEME_NAME" val="蓝色线条简约风主题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2.xml><?xml version="1.0" encoding="utf-8"?>
<p:tagLst xmlns:p="http://schemas.openxmlformats.org/presentationml/2006/main">
  <p:tag name="KSO_WM_SLIDE_TYPE" val="text"/>
  <p:tag name="KSO_WM_BEAUTIFY_FLAG" val="#wm#"/>
  <p:tag name="KSO_WM_SLIDE_ID" val="custom20233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1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4.xml><?xml version="1.0" encoding="utf-8"?>
<p:tagLst xmlns:p="http://schemas.openxmlformats.org/presentationml/2006/main">
  <p:tag name="KSO_WM_SLIDE_TYPE" val="text"/>
  <p:tag name="KSO_WM_BEAUTIFY_FLAG" val="#wm#"/>
  <p:tag name="KSO_WM_SLIDE_ID" val="custom20233311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1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0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F40B8"/>
      </a:accent1>
      <a:accent2>
        <a:srgbClr val="EB6A28"/>
      </a:accent2>
      <a:accent3>
        <a:srgbClr val="2876EB"/>
      </a:accent3>
      <a:accent4>
        <a:srgbClr val="2FAED6"/>
      </a:accent4>
      <a:accent5>
        <a:srgbClr val="2899EB"/>
      </a:accent5>
      <a:accent6>
        <a:srgbClr val="9163DE"/>
      </a:accent6>
      <a:hlink>
        <a:srgbClr val="658BD5"/>
      </a:hlink>
      <a:folHlink>
        <a:srgbClr val="A16AA5"/>
      </a:folHlink>
    </a:clrScheme>
    <a:fontScheme name="自定义 46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F360BE8B-6686-4F3D-AEAF-501FE73E4058-1">
      <extobjdata type="F360BE8B-6686-4F3D-AEAF-501FE73E4058" data="ewoJIkZpbGVDb250ZW50IiA6ICJVRXNEQkJRQUFBQUlBQ2RKa0ZzV3ZCNEdzUUVBQU8wREFBQU1BQUFBWkc5amRXMWxiblF1ZUcxc2haTmZiNXN3Rk1YZkorMDdXSDRudFNrMElZSlZHV203U3VsYWxiVjlkdkNGV0RGMlpVelhxdHAzbjAybi9LR0poaEFTNTNkOE1QZGVwK2V2alVRdllGcWhWWWJwaUdBRXF0UmNxRHJEbmEyQ0NUNy85dlZMT3RkbDE0Q3k2TGJJOEpOUUdEMXVGb1VqTWtvd2NwYXJUdkFNdjU4dUt6SlpSandJK2Rra2lHak1neVFwYVJCSFpCeXhtTEo0dlB5RFhTeHlsNC9PdGFwRS9VL294VUxMenJwNDlKamhtRkI4TW9BM3JGMTdSdmJKd3pObkZ1NVlEVDlaQTk1d09Wc1VGNFBsSy8zN3lnanU4YS83aHdQMHZwTmdqbVAvbXlDRmd1TVd2NFh2QnRqNnNPWFcxTFBPNmdWNzA1MDliR21hL3pzV3Vsem5IMFg2aks5cnBRM01vY3FWTGV5YlBGYU9qZTlTSzN2RWN5R2h0RWFVVE9aR3QrMG1ibHYrOUdUWXg3U3dicFNFYlBkcTg2R2hPMlpYYm5TaVFlWDJhTFFUUHNoS1o2VVZMMzJqcnhXSDE4RmV2TjU2YlRzNDZmeFo5TW9vakxkaVVSb0E5U1M0WGZVd0Nja1EvZ0JSci9xNlVETFovWVprdHRLbThZUkR1OTZTM1BYZEFwKzdoNGNoQ2VPQWhnR05FUjFQVDhOcE9CNTRkVDlyTXlsQjdXejR4cDNDU2h6SU9VTWttYnFieHAvTXc2QytLLzNCZFM5L0FWQkxBd1FVQUFBQUNBQW5TWkJicnBZdnFCMFJBQUNXVEFFQUR3QUFBSEJoWjJWekwzQmhaMlV4TG5odGJPMmRXMi9jeGhYSDN3djBPeXcyTDNZYmFYbm5MckNxSWN0YXhZRWtiN1d5WS9XTmx1Z1Y0MTF5d2FVY0swOUpnNlFYTjBDQXBGYzBRSUkwdGZ2UUdBV2F0bWliZnBySWNyNUZaNGFYNVdWSURrV3V0TFNPQ3pSYXpwazU1d3lITTcvNWM1ZnNYbnMwSGpVZTZ2YlVzTXlWSnIvTU5SdTZ1VzhkR09ad3BYbDd0N2ZVYmw3NzBmZS8xKzFyUTcxeDh3WXk0WkRKN3ZGRVgybmlZODNHdGpaR2YzLzMrZGRMZkxQeEU4c2FJNXRtNDdacE9Ddk44YmpaNk50Nlg1dm85a29UR2FDbUd1Z2ZhYTV2VzVPcGQ0QWNmTU00Y0E0YmQxQjlYaENXWmFIWkNwZStwaHZEUXdjWHF4MXhXZVg0YURGMkdEUWc4Rnl5ZE5hQTBGR2p4VGljNjdhdVBjZ09JVERMaWFWdjJZNnRHY1NndDdvNVdJOFdyeDQ1MXNCNFc4ZkZ1enUzMTFPY2JPcjNTUXRjU3ZtdU5ja3EzdkZEakFmbkcxeTNITWNhVXl3Rys3WTFHdDBsalMvTHRMSTl0MHlTRlVXSmRlV0diUnhjMTRlR2VaY1NYRkM0UnltOFpROXZHTGErNzZDaEdJMnEyNHFQbCs2bWRtd2RPZUhxcngrTkoxdldnVTVKQ0JjTm5PT1JUdkZLeXJ5VG9VU0x0by9HOXpiMWgvcUlVbTA4M3RMZXRHd3ltcEpGaHVrV3hZY2hTdkdPYnQ4d3BnNnRJaXA5emNvcFhaMU9jV0U3ZG0xTUJ2dWFtNTdNeFl2UUJiaVAydlI2bFZ0T0dDQ1BRYzl4b1U2UDlESDIzelAwMFFHMkhtbkhqY0doOVZiLzBISXNmNHczdHNtb0RqNlN3cjQxeFkwMnlJV0ZPZ1JsMVhDdkh0VGRuR2UwYVppNmI3aXJQM0pRSHprR1NzaHZLdFlOSkF6aTM3dCszSW5KbjRwT25ueDg4dEdIN3FmYkswMzhuMmFqTjlLR2J2dUdNOUlwRFpQRzcyaWpJOUlOYUFKYmFRNTJkeUpkUlV4Nmx1azBldHJZR0Iydk5MY01kRGxNTFhTZDdta29xMmJEN1FCMDJodHIxc2hDYzk0ckV2a1g3ZktXbndSVFlrS1EySi8rL3VMelQ0TEVTQ2Exemt3SlZvLzNubjczMjZkQlpqZjBpV1k3WTkxMGFwaWVOL3B4ZnFxZjMvcFlNMFpCZXQ2bk9tZldEc2JrUDcvODlwcy9ubjd5OVl0bm53WUp2b0d1YW5QUmgrYnNnRGVqeFNlNmFUQVQ5b3pScUdmWlk4M3h5R2NicHhjVVg5L28yZFo0OTFBZnh4YWZidDgyVEdlZ08wZVRSczlBcSszZ1VOZWRvQ005V09KbTB5UG1sbUI2eEpRUzRpaU1BMXVhalJaUE4xZXl2b2NQSUI0SWYzU1g5OUNSSUNvMHJ5UGdDL2NOT2VLZDBSZnYvZXI1NzU4RmMrcE44NkV4TmU3TlRsOWowOXAvNEYvRkpFSC93eXBhdWgvTzdLNXIrdytHdG5Wa0h2Z0dBMU9iMEpBbjdQN2tiei9GSU9sTmZHbmUvU1dHNXQ3OUZQYnVXVlBjazBWdTFobGQ5eVJpNStKc2Nucm5ENmVmUEkwc1FzU01ERGF5R0l2UmRFanArdjM3Q0dWd3NhaFFpdkV5UndvcFpXdVdhYUs2YnVPeUZBcVdGUHVmdHJabTBVcDRRR2lHZVE5ZnA1d2YrUjNEMFVhR2M1d1J1NlJteGk1eEdiRlRDd2VIQ1BaanBkMldGNnYvMlRWeXJ5WHl0emZjZUhUS3lRa0pWajAwSXlEdTI5ZW5VeitwNTErL2UvcjBjVFFsV3pPbjk5RUZHcDgzWmpqUGNjbFpaVWJ4Q3FWMDFSelNnSkdVYmZROXZ1Vmo2QitVRXNBVjVVNnlGQTFndjdhTXo1b0wyWTJ0T0xXR2pOM0dvc1lDWlpZY0dSTUtkUWRsTk9odTBmcXVTNmozaHVab2lYaU1lemNQeU5tbHVFQ1RZRW81dXN3b0xYYlgraGE2ZnFmeGh0ekQzdW51TzN3d0Y3a0Rob3V2SUtSU1N1S2tqTEgvV3E3am5IQ0VZSExLRFNmMy9NNmlvNXd5dG5CRU54eVJJUnl5MHV5UW5zeUpwcXEra3R6Z3BHcjdTZ21ud1JTYmZ5aXk2RzBaMC8xNDFWdjMza1F6SHc2V2JNRmlnemhXbzd2K1VLY01YM0wwaHUzdnpodTk1RVdYcU9qT2lCNWovUGpJMkgrd3BVM1JPaWNvQXQrUkU4aVVBSktCTlRJT3FKMGJ6UFN2M1BmK1VUcHMxbDd5Z2pkMWFrbFErb1pPRnhvaVJtc2E2UTBFaEE3ZGFBZXYxSVk1SkpyS3NpeDNPQ1c5dGI3bU9McHRldE1DMVl5b0RLdTJiYjFGckRpZkVwUHpGakZmTncvWWpVbWZvQjdMNjN0aUhPNS90RnEwSlh5bEJrc3dHdmZJMmFGMmdOcnA0R0d0MzhmNHlzdnlma3IrTGQ5NzRpU21ucXF1dTU2bm4wWWNBTW9kYXdEMG1TaWxnVzRyTkd3akN6SWloTVIxUWJBaHNsUGZSWCt0UDNKMDg4QjNUWXN1YlhVUERDS3JmTjRFUjJwRVZ2NnN1U1Nva1VFRGdjMEc4N29lcWNJMjR3WlZZdnlBWmhmY3NjdTcvRExwaHgvRUpUdEs1Y0JqcUxMYkpkbTFkeDg1N240d2E3TkdMS2xZTVdzSCtidytRaURmdUxNNk1vWm9lN0tHNWtQZGR0VWZkemk1OHgvZTFtajNCbzZGd0wxTkhSNmt3Y2hGMXNIL1MwOWk3VkN6dFgza3JYSHpyanMvcys4cjg5cnVvNmFIdGpZNTlOc2VUUEJWNlkxTUwxZThLSm9IUGNPZU9zUUdmY0I3Ty8vdkhYZjNSeXByKy9wMUhmV2lQdnU4ZXQvQmVKd3hETjB0MzdUaE5pcDVPMFYzRmNiOUtQbDd3N1FKTGpoSEtXV2tmREpwOU4wYzErNm1YTGtSZTJmaUc1Nzg5NTJUSjQrN0xXZVMxWDVya2xhTUJoYzlOcmVBREt6RURCYXI0aDZJck1BYnVqWFdIZHZRRXhPWFYzSk1jN2x0a1pVZ25UMjNpYnFaWWJBMnNxYjZRY2I2dVcxaCtTWFRCZDdaWnJTd1pUM1VkNjIwN21SbVEyTE5RbURFc0pYcWxTeWdsY2FUMGpHdFZFY3NJV1JjWWhmbmxLbm5TMFV3aDVGQTlkcHRVYTZyNE9Ec012UWdJMWM2RUdzbUhRaUNTaThGNlFDa0E1QU9RRG9BNlFDa0E1QU9nb01nSFNTcmdIUUEwc0Zsa2c2K2UrY1h6eC8vNVczTDFQa1cvbjhCVkFUUEFGU0U4dkdBaWxCZEJIVlZFYVNhcVFpaUxOSkxRVVVBRlFGVUJGQVJRRVVBRlFGVWhPQWdxQWpKS3FBaWdJcHdxVlNFOXo4OC9lYXJrV0UrbU9BMVdiZEJSZkFNUUVVb0h3K29DTlZGVUZjVlFhNlppaUNwRkowQVZBUlFFVUJGQUJVQlZJVEFDRlFFVUJGQVJhQlhBUlVCVklUTHB5TGN3K2NmOUFQUEFQU0Q4dkdBZmxCZEJIWFZENVNhNlFjS2wxeHVRVDhBL1FEMEE5QVBRRCtZR1lGK0FQb0I2QWYwS3FBZmdINXcrZlNEL2ZIQjg5Lzg3TnYvL0FNMEJNOEFOSVR5OFlDR1VGMEVkZFVRMUpwcENLb0lqMUlNWElDR0VBc0hOQVRRRUVCREFBMEJOQVQvSUdnSXlTcWdJWUNHY0prMGhOUDNucHg4ODJ1UURqd0RrQTdLeHdQU1FYVVIxRlU2YU5kTU9takw4Q2pGd0FWSUI3RndRRG9BNlFDa0E1QU9RRHJ3RDRKMGtLd0MwZ0ZJQjVkSk9qaDU5c0hwWis4Ky85MnprNC8rL08yLy9uM3k4MDlQbmp4MkQ0S2U0Qm1BbmxBK0h0QVRxb3VncG5vQ2Z1ZHpyZlFFUlduVFMwbS9DbElTQ2tGUEFEMkJFaDNvQ2FBbmdKNEFlZ0xvQ1lub1FFK0lWQUU5SVJrWTZBbWhJQlplVC9qbFp5ZlBQZ0Rwd0RNQTZhQjhQQ0FkVkJkQlhhVUR2bWJTUWZaWEVTU1ZzckVCNlNBNEN0SkJFQjFJQnlBZGdIUUEwZ0ZJQjRub1FEcUlWQUhwSUJrWVNBZWhJQlpkT25qeDVBdVFEbVlHSUIyVWp3ZWtnK29pcUt0MElMeFUwZ0Y4NnlCd0E5SUJTQWNnSGZnTmdYUVFOd0xwQUtRRGtBNUFPZ0RwNE9XWER2NzM4Y243WDRaL3kvRDhyMStjZnY0VmlBbWVBWWdKNWVNQk1hRzZDR29rSnF4WnBvbElCVGZ2U3dvaVJWS0ltTGtzRWo0VTJhTmFKbjJYU2dqVDdSOVpJRXRwZjN2MzdoVzBCS0MxYkhuejFocjZlSVhFeHZQQ2NuOTFKL0xaMjQ4czN4VmZUUnpiRTY5ZXZacWtNT0l3ZURxQzUzQnZqZzRSRkx2NXFXcE9mbUxNblRoeng3K2FPTGJIcDdsanpLNnNPN1FkcEp4VkJobEprRWxrdUdPVzNQT2ZwU3B4dnZHZWE3eVhLVEpoMjQzYnF6czNybkNVemduWWtsZWtaVGVLSzI0RVA4VFJYS1dDVy9SNUdyTTZlN2pPWGtxZEVGK2lJU0lYVUtpS0NGU3piSHVybTROMVNzWWh4U3JmbUtTMXF3MW45c0VndjB0T0szVzQwU3FJdEFvcE1obldBeUptS2J2NFRpZC9CNzl0b1lrbjJidm50UDB1dWFzV0dYYlZVbzd4MlhmVkxwUkhkdFZZblVPWE4xbUczRDAxUjFHQVNWTzEyRkNYUmRGVWtHUkcwWFRTbkQrS25wVzdTdkdta0xFUkxrNTdyR3hERG5zc1l0a0lYS3dqQjQzZ0Vma0Q3ZFozYnE4anNCbWFhRS80K3RFWTdlYklqSWd1TGVkNHBJY24zV0tRSk0wZGtvUXlFQ0ZTVnZYeWtGU0pReCtTUkU3TXlVK0t1Wk1vMUNKVkIwbGwzWjBka3BRTGh5U2h3NTBYSW9rMUJ5UXE3L2hEalZaQkFrQUNRQW9WQUNCZFZrQ2kzNkhLOTFwSFFKTG5Ea2hTR1lBUUtTdDZlVUNxeEtFUFNKTFF5Y2xQanJtVEtjUWlWd2RJWmQzVkdaQWtYZ0ZBaWhpbkFoS1ZkL3loUnFzZ0F5QUJJSVVLQUpBQWtJcDVyU01nMFY1L1hpMGd5V1VBUXFTczZPVUJxUktIUGlESnNweVRueEp6cDFDSVJha09rTXE2cXpNZ3laSUFnQlF4VGdVa0t1LzRRNDFXUVFGQUFrQUtGUUFnQVNBVjgxcEhRS0s5MjdWYVFGTEtBSVJJV2RITEExSWxEbjFBVXRwOFRuNXF6SjFLSVJhMU9rQXE2NjdPZ0lTZnR3dUFGRFpPQlNRcTcvaERqVlpCQlVBQ1FBb1ZBQ0FCSUJYeldrZEFvcjNCcmxwQVVzc0FoRWhaMGNzRFVpVU9mVUJxYzNuZnNXckgzTFVweE5LdURwREt1cXN6SUtrZENRQXBZcHdLU0ZUZThZY2FyVUliQUFrQUtWUUFnQVNBVk14ckhRR3BNM2RBd28rek9UTkFTSlFWWGNvRHBIWUpoR0IzR0FCU1huNENIM1dIUGdmdWhGY1R4L2FFVEVDU0pDRTd1OUx1emd4SVhCRStrc1Y1QUpKL01vb0Frc1RMa1YrL3NTSlNrUWN0Q1Vyc1YyK0xBVWxVNXZHSEc2VUNHamNBU1FCSnN3S0FwRXNLU1hsTzVaUnhYRWRJd2srMVdXUklFaWpNUW9lSUVDUUpKU0NKM1NFN0pNV2VMaUFJU1NZTEhVdG5NbmU1VlpVY1NDcnI3bndnYVdseEtFbmtoTGxUMHRMTGdrblVKd1FBSm9XNkdUQUpNQ25Vd21YRnBLV1hpcE5vTDJtcWxwTTZlWGVqc2haMmtiS3c1OTF0dzQ5YlBqTkpzRHYwT2FuVG9heDRnZlNqeGg4ZWUwWUdhUmQ2NUpBd3UvRlZKWVIwcE02NVBYUklLdmJRSVQ1Mjkyc2hLQVNnQXFBaVVnQlFjVW1ob2wzcFU0UXE4eXFrM0Rpcko4dlEzaHBSTWN0MGNoN3hLUExMRyt1M3RqWnZicS9qZy9RdnpzeFFCZU5CSnFvd3RSZVFTQzVwWmR4bkVpbjNtVkxCaHkzNDB1N09URXRMeFhCcExsLzhPUnNzK1oxYURKYVdDdExTQW43N1I2VGVwL0lISE56WUNoc0JYQUZjSmZyNThzTFZVclYwdGVDVU0vOEhXZWQrZnpoTFFPRXBBa29lQnBWU2JOZ2QrcHlrOHUyYy9MaVlPNDRDTGh3ckorVm5WOVpkQ1U3cVhEZ25xWXB3Qms3eU83VW9KMGwxNXlTNnB1UVBPSzhDSDY3QUFTY0JKNFVLZ0pNdUxTZGx2TE9vM3B3VXZOL0hweVRhazZ4M1VBQWFYcDk4UnBvZEtMWnN5cFNWWUxaS2lwUTFpT2t0b2gyRjhwN1EyWW9uS2ptckc3N3B3MzdEUkMzMHZZMnN4WXhoWFRuWFYzeXlwRmJnNVpBczZ5SFBNN3lkc2RZTDRoemVtRWp2ajBWYXBDN29CWWI0UlVMRjNsOG95bk40ZjJIdWZCS3B3bnJwQlpWaU0xZnZyRzh3ZEgzMjRCMkdUWGlISWYxY3orMGRobnZ3c2tMUFlERmVWbmdoV00wNlc4L3ZQbStoQ0JpV2lqbS9xdkRpSTVqTFBxZkk5b1QySFBuS3RpZENjbHF2WW51aUt0UU5TR2lESXVZOW9hQ1krbGJ6TFFyK3VVYk9WUW43RmRpdnZBVDdGWWFSVGlyTWViL0NNTDFFS3BYWnNmQlNiTk1CZXhiWXM1QWdGbjNQc2cxN0ZzL2dFdTlaV0dmcytlMVpDa1Z3OFR1R2k0L2d3dmNzdENjWFY3Wm5rVEp2cVFqdE0rNVoybTNLRmlQMEExazErNFlLWDJTM0lwM2ZYZ1V3SHpELy9ERmZLbnhiQWovTXMvcmJFbmxYWmFRSzI3VVpWSWxkL1djSGZBbndIdkFlOEI3dy9pTHdubldtbmgvZUY0cUFZWm1ZTTF4ZmZBUVhqdmUwNTI1WGh2Y2lCZUFydUNYUmJsUGFqVDBsTVBPR1JHZGhiMGNBNGdQaW56L2lpKzNGVVBMenJzdElsVkk2ZmdkVWZLOUJ3UHhRRUl1TytmRE5JOS9nRW1NKzYydzlQOHd2Rk1IRmErZ1hIOEY1WUw3M1d3dmE3eThhUGRzYUUyUFVDd0orVWlYNmpDWmNOTE4xM0E4dVYrQlp6amZqOFUrUExOZUk1MFQ4d2Y4MlRQU0hUd3hPY0ZzcFhzU3dGejdzaFdmd0lyR2xJcFpLUldKTVJTcVZpc3lXaWxRcUZaa3hGYmxVS2dwYktuS3BWQlRHVkpSU3FhaHNxU2lsVWxFWlUxRkxwZEptUzBVdGxVcWJNWlYycVZRNmJLbEVuRWhoSjFKUkorbXBDSHpZaXhEMkl1Ujd3VStzTHB4S09TY1pxUWhsT2d3L1ZKSWhGYUhVdWlJS1RFN0UwRW1SWnk2NGEvdzFmam4rQzFvR1I2eW52M0E2Ykd0eHRNK0tYaTRpNDFvc2NBeXBrSWNPK0p6UmJmVzFJUWFRL3dOUVN3TUVGQUFBQUFnQUowbVFXeVR3Mi9nNkFBQUFPZ0FBQUE0QUFBQnlaV3h6TDE5eVpXeHpMbmh0YkxPeHI4ak5VU2hMTFNyT3pNK3pWVExVTTFCU1NNMUx6ay9KekV1M1ZTb3RTZE8xVUxLMzQrV3lDVXJOU1N3QnFpbk95Q3dvMWdlS0FBQlFTd01FRkFBQUFBZ0FKMG1RV3lUdzIvZzZBQUFBT2dBQUFCTUFBQUJ5Wld4ekwzQmhaMlV4WDNKbGJITXVlRzFzczdHdnlNMVJLRXN0S3M3TXo3TlZNdFF6VUZKSXpVdk9UOG5NUzdkVktpMUowN1ZRc3JmajViSUpTczFKTEFHcUtjN0lMQ2pXQjRvQUFGQkxBd1FVQUFBQUNBQW9TWkJiVEFad1pLOERBQUJqSHdBQUNRQUFBSFJvWlcxbExuaHRiTzFaelc3VFFCQytJL0VPcSsyNWpSM0hkaXpGVkdscFJLVUdsU2JpNTJqc2RXTFZXVWVPUzF0T1hIZ0FKTlFEM0JBSExoUU8zQkM4VFNsNUMvYlBkaHc3VWFxMk5BWHZYcnpqbWRueGZET3ptMGxqL1dqZ2d4Y29ISGtCTnFHOEprR0FzQjA0SHU2WjhDQnlWK3R3L2Q3ZE80MXVIdzNRaUR3Qk12Z0tiTjgzb2FKQjhOQWFJQk9PWDcwN2Yvc0pDcGFVYlRQd2d4QjArcFlUSEpwd3BTcExiRUFtWGxkaThWOG5YOGNmVGliRm1Rb20zYkhaZmszYlJqaXFFU1V1R1RyU0RTaG9kVTVEaGlQck1VMW5OTjB3Wk5lTmFhcVF0VzFWaVdrYW85VWRXMHI1cW94VzAzVEhSVEZONWpUazZMWWEweFJPazFYVjFtQmxVZHV6ZXVzRmR1b0ZkcXFUZTJWc3ovcUMyeTVKaW1FNFdkdGRWNnRyeXBUdC9Ic21iVzlVVXR4eWFHNFJMOXZSRlBRWUhRTDJWczdoUjNBZm9sWVFEcXdJUERydzdQMjJOZG8zNFdxT2szRzNQTjhYek4zaklkSGNDWHpQS1dKTkhRd2VpNCtqQTRMVWRoTE9PVXo0OTZYYkZMM2U4VENhK1RiaGVJSzhYaitpbTh0ckdobDY0VjRKKzZZMXBMd3QzNHJtTSs1YVVZUkN6RHhjYkQ5ajNVQTlEemZETURoa25DU2RPdDVMNHJEYWJKRXQ3RnhNZ0RtQ3VHb1JMSmhBbXVxRVhTVmJjR2cwTmlIWVF5NVpHMnhrZ1ZKbkcxR0pyU2hFY2k1V0RSNnM4N0hraFFtMEEycXpOQ05nNWlocVZDWkMvTWFpSDdHWmM3R0hJMUpqcFVXY2ZlVlpVZVpEQnFFeTdQK0xzRmZLc0w5aWhKaktNaDB1Y0FjcXl6djQrOWNkSTdudUtGVTZ5K3ZPTlFhNmcrZ3NyaXJhamRUOTZwcENSNWtWMmF6UWs2eFFkVHJMckxpV3JCRGVyaWZlcnVsMFh0emI1VEZ4elFseGVZaVl6bHVkRUswQVI5UGRwU2x2Y1JmSkJwM0Z1OThtdm5uM3NpdmNseVJ2Z1dkRk80K0RWZENkeFpqUWlXb2EvMm90MjgwOVAvMTg5dkVieUxmMUVqSGUzdnlIU3NXY0l6eFRLbW9MQ0Z6cWw1TUFXZFFIMWpIbkZ4dzVXeVdxdDdsS3pJNmpwQXN0R0hLUjIwVkhvZzlOS21yVDkzclloSnNJRSt5SmY2em5uU2dZOG5MTEEvcnM1K252SDEvRzcxK1B2NzhoREVTWW04UVBZNm40andjQmhmakhJdC9nNzF1aFpaTWRRY3NhZVA2eENkdWVIUWFqd0kzQU0rc0I4aURZZnNwaVMyQzFFbmVwZWVqSUJUcDNpY3BlYUEzN3NlZzJkbHBlT0lyaXhRNXlrK2M5bWp4c0lSeEFvM0pJZ2FYS0M3UzNyWkNFL1FoMHFYTUlNMWRHSGphQ0tBb0c3RkVvelIrQnJIQnpvSFpHaFVHVE1nQ1NxRDFtR2FQRm44dFdISkJwVnkxeTc1OEJCSStYZFBQU3ROSzBwVEpOenBnbUw1TnBTK3kxcFRCdDhsVzI2b2tUaWg0bGdpb29aQ1dlNkIvbWZ3QlFTd01FRkFBQUFBZ0FLRW1RVzh0STN4UTNHUUFBRmhzQUFBNEFBQUIwYUhWdFltNWhhV3d1YW5CbFo2MTRlVlJUeWJkdUVERU1ZaFFFQkZyU0Rrd2lwRVVRUVV4YWFVQkFpSXdSRU5LMklnS05FVkdKRXBJV0dXUXlyWUFvVTVSUkJFd0RDY2hnSWlUQUZYOFNtUVZFTXFpTWtST1ZlRFRKeVkzdnZYWGZQMis5ZGRlOXQ4NnFjK3FzMnF0V2ZiWDMvdmJlcFh5dDVNTTJlbnQ0ZWNEVTFOUmdSTlVEVTA3RDNINzgvYmZhajBYK3UydW9LWi9CTm1uQ1ltRjMxTlcydzlac1VsUGZwS2Jrd3BBd21KckcveGFBL1orbXRrWjlyY1k2dUthV3RvNUtnTGtSdGtaTlhYM05XblVOamJWclZiTXBxbm5ZMmswYWV0djJIRnFuNzM4U3ZqMWhzLzIxV3c4MGR4eHU2allJR0FKMjd2M2pRcXFXdHFIUkZtTVRjd3RMSyt0ZERvNzduUFk3dTdqOTV1N2hlY1RMT3pBb09BUjNQRFRzMU9tb005Rm5ZMklUTDE2Nm5FUzhjdlY2V25wRzVvMnM3TnY1QllWM2l1N2VLNjZvcktxdXFYMVk5Nmk1aGNGc2JYdlMzdEhENGZiMjlmL2I4NEhoa2RHeDhZblhrMU1Db2VqZCt3OXo4d3VMa2srZnY2eEt2NExmdnYvQXBRWlQvdy9vLzA5Y20xUzQxcXhkcTc0Vy9nT1gycHFrSHdLYjFtcHMyN05PNzVBLy9HU0MvbmI3YTVxYkQ5OTYwTlN0dFdOdkFHRHd4NFVoYmNPZERnSnp5UTlvL3d2WmZ3NVk2bjhKMlg4QSs3KzRwbURyMWRWVXlsUGZCTVBBSU1pcUlodjJYKzcwVzZ4ZDVMR3J2R3RvdTBXYUJ0b01lcUdFTWVCaXBBaXBLOThQSUh0Ulc5amRMNU9sNGE4WVBEZ3hUa2pJZ2l5SjJHY3ZHdHJFY0prUFNYdk1ib1dwQ09SL3BiNThBbndvcEI4UG41NnZtbzAxYkRQYU9PM2tTSkRoNU1SaTRyWjhTS3RJUmdqejNEM1ViejdXVDZYd1MvSTBtbzhzTmlhNFRDbGgzWWNlbnl2ZUVuUnZaM2hjWE5hQWplYnZkM3liMmdLNnh4Tnk2Wm1wQlVHanNYOEFCYlV2ZGxZYkxvelJ0Yk84YmIyZHNqL2tCT0J5am1ZR1dETlhEaHlJOGJ1QTgrTUZHNWFWMytSNUZDY2ZTSG5xZmlVNkErMUlzcGNrZGMvQ1NTbERYY0dubFRBdFVqSWZyeW4zQm5pNTU0YUZBejFmdThuT1E0d1pDc2ZsVFYyQzNvblE3b2NMWVN6YXBkWkZxNnEyOEwvYWRQUnQwai9qcVVpR09MTWJZeVEvQ0NaVWtTekJJa21uTUltN3NvRjBTSktaampZajJVMmdOWWpKWENPeUlZaXZKemtOdWNZMG1xNVFaMDNJY0RDQStLWFJVOGhPRlVHREkxMWVsTVlUN3BURXhIVjNwZU5POWpYSEtnT3FjUjU3dkN2S3ZDL2t2amNoNVZkaXA0UFR2WUlTOHB3RHFtVlQyZWRjQzZaS0d3M3YrVlliT0pGeGNRNGxmbUx6T012a2R2ZVlsSW5FaFNtYno4UWZ4eVkvN29oWXpwZHBrRWRGUVo4cVNtUU9jb0lTbGhxbTYvYThXRHJubTBGb1VzSTQvZVNSOXo0UEp5T1B1MXNXTmZ0TSs1UUVXeEROODlEZG9MNmt2a2VsYUFUSEZ5UE1UR3U0RkcvcDNTbEJjckh3MlJpVFZWNzZpbU84Zmk5R203VWRiQkhnYmpMQ2w1UXdEV0pSSDNvanU4aEQwcGJhNVZhajY4WWhXMDh3d3VmRmVwK3hveDhiYTd4MHh6akIxVDdUejRjS3plMDhBKzdzUUVUdXlaZmV5WjNSWmpxYlNvTURQakJuWEhLSVhqdHJTdHZqelcwU3phMzhkT3ZkWnhMZDhWN3VDek5tM2U0NFppZUQxWGJ6WTkrSHQ1L0dmKyt6S1FtdGZOSldzSU54N2xTeElmR05UZVdPK0ZQTXNRSitxa1oyZDAySnI4TklDOWFqZU1aeHFDSTEyNnBLemYwS1FneVhKSHNyYU9nMUpBTDQ5ZkhDU094M3kyNUVHa2FQaFlvejhXV0k0eElleGVCMVNjYU5STjZ4a2NhUEllUGZHajg4WlF5ZGFjMisxTlIxOW5UaGFjTTJqZDlRbi8xYUpJbVF0bGJsb3RRa3VIOTVVcVl4NWZ0NDltMG9NWEk2VkhXNE9hUS9oeDBwRzVrVmpoelBrOVVZdWI3Mys0OEVVYlBPcFN1bmFrOHNXZ3pwNkxzTy9WejIzZnBrWEVoMjZjSGJPU1cxeHNIY2svUFdMeTg0YVNaZlpYeDc5N1Q2d01PM2J5U3MrYUtkWlkwV3d4OWlmeWx0WUk1OTZwM2NXUksvbko5c2tiTGdUam9GTEVsVHdmZnd2dG4xOGcyS0toWkNiZ2lHMDhFVkFiSVBsVXZXSFdNaHlFTm9aMUJVNVNQZ3Baclpndm9DaExHYjhGN1hKZGt2ME9BcFRoRXFXU0xyYVhNSm44VGNPUFdFT2JJYTBpNURGcVRKQzRIUGtQWWV5WkpRUVV0MUpHVFNOSld3ay9YaHlCdEsyRHEwaVp3Q3RGSWxidEx2NEFqd3VhK1Z0aDZ5QWQyOEpHMXBCRmQ4VmJqSzJweTdjQUpmT0Q3ZmZkeTJadlNpN29GKzh2YmIvN0o1WXp2VGU4L256dmorOVVlTHM0TXVlZlYyaFJnY1RzcTdBbjJzYkhnUTNMZmx4TkVQZFFOK0d4K0VKUHJuN2h6dCtDZWs4M2JYd2tqYnpoVmVTS1BKNXZzVHRxT1B4cm5IS3Yxc0xRTWFZeS95UytjMksyRy96OU1IbFRBMWFJSm1TcjFKWGo5UE15SHJrVitXbXdDWWZsUVdaQUZpK0VyWVZybU9vcDVzTGo5L2xoUXRvRnhUd296SkJ5TmZQSW9wZDFUa0tXSFJZazFpcUh3YmdPWGVzcnpCNEpuRUpqeWRnUXB0bjVhOUxIdFdLc0hyS0dIeG1LbEVhU3BROUJka1FWSUhVVElFa1NhWTdXV3ZBL0ZDSjg1KzBpV1Z0YThGaS9qMDdJbElIVWxOWHMzU1d5VCtKN2tqTUx1c0piSG83MzVybjlvZjB0SWl3YVF6ZUtaZ3o4aXZFKzdqK1VZM0x1RzNuYXNoMlBYMmVldmxiV210R0xtRDB0cnlvbXpNMzcvazhRUG55UFM0SHZ2RTdGcExxNnJIbG1IRkFmR015c0JKYjREVzZlL2xkdHZuam9SMjROajd5NlN2Vkc0eC9pRUQ5K3dxVGJ4VmRweGswd0VNZHNvOElCNitCWE1kdldVSnI4ZlNrZHVNTW1ldnMxdmh2ZGhjeWtZSHRqNzVGWEtMcXhGZ0thanVwWE5Xak1nY0pVejlTNFNuTzAxb1NXVm95ajBmUnBBOGh0NFB1enB2WU5ZdlNJdkYwaEt6bk9RWGI4aXYyVWpYMzZmNnM5SGFKR3NGZFJXYkJwQitBeWVBRjV4eUMxQW1JNEF5UHVhbXF4Y2Q0bEdNU0JIQVhtSEtKNkwrcjRwc2xzUDhMeUI1UWdoUHZYUk5vQWowQlc4OTNsY3ZxSjlGTExrVVByNStwYjdNY0RqcUw2Njd0YzlyajVMYjJmVzdJemY1SjU2WFpoYzNMRDJLSEptRVBrOSsvdndwV2Q3VlFaM2k0TE1YN1h5VFhZcjhxYjBXN2VjcWtVeUxoZzRHK2JZL3ZvUzFYL0ZRQ2Z1VGxvYlVoWDRtSllEdE1pZm8zL2F4TlNDRUhDMmg5UEt5WFNaNmVOTzF3cTljMnRiWGNpY0Fuc21rR3hEcmp3RzQxRlVLYURuQm1kSHBmYnZEeENtVEdmWEt3UmJYRDIwWWNTd0xtZm5UanVSYjlkdVpwMjF2SkczaUpNa1ptWkRIeFdmZ1lTeFYzR1B0eHFlejlaYlJPc1RiSzlKMEJkMzFwT3dBU0kwQTY2NEFKUUpVWDkwWFRDWjZNMUM3WENrN2ZFamthNG9GY0gyemF1RnZZOW5BcmZudlhMTmQrZUd2UGdCZElkOHZsZGZYT3hVSkN5cE4vYisrRXhpbkVEUUZQT09obW9XT2JQYjJPbDVrYnJDVHViTjNWZEFmMDBhdHRRTnpTUysydU56T1R4c09FbWtGRlhwK1hQQnpFRGdQVXRhZk5QYjIzVGxKbFhpTUNOa2N6TlNjeUxOWDExUjZESHl2Q3JyT3F2Y3U4a3M4M0x5STM1K3RoSjFCSUNnOXpvMXlVN0JFZGhyTTZiMUt5ZElYVFlnZEFmMEllTmdySmV3c1hvZVZkMFVRZ1FsbHVrVTl1dks5dW5ENWw1NkxYZXFTRjBMcXRmc2xic0NzWEI4dVhSeGlpS01qOGtORzZZNzBIRHlBbmRXN2d2dWVHanI1WnRISXFiaE52aG5QZFhuZDBzcG9ZUVkzall3VHhZM3hJVnVkL0daYWpmaVFBM2xDQ1dzdFdsYndVVm1VVFN3TDhpRHluekVXRmNnWFlHOUMrNGdjRHZrbkZYZG15djhZZzNhY2tMdUFjWUxHVTcyczNhTmROdnlYYnBBVysvNXpPdDY5OHF4SnhjS2R6NHRoZmlYSmRZZnZKSVgxbFpuNkpNR2ZrbzRvN3JPY01mMzRMWEoxUlNuNkJ4blNoUFFNdG81cWlBT3ZYNUhrUzdNa3ZHY3ZkSjA4d1VraC9XYWtBWkJCdTA5VmgvNkZZWndvSHE4MjREMGo2TDFkbEN4R2MvQlJ6V01PTWZIajRuTTZPSHh6dlUwSWNYZEhRKzNoL2FGQ1VkN3d4Zk5ZaEZjZ1BTVGpsUGFtb0ZvWG5kdWtXOUpoWC9mUnpzREJzZ1ZaMlBQQU9yR0JKVUl3U3Q5QVB0c1RWQkpRWnJOdm9tdUJtVFFnSklsbGUxUU11WXRsU0RKVDdWQk5iaVhoY2RsVEw0NUoyQnpDZFlxdXE2N0lSd25MVU1JQWZ5Um9oZjJMYkRaTDdPeDV1MkhvQzE1dkJqVHFSaU1VbFYwR0Fxb1dpSjRMYjJHVmNNaklJVmR6d1V1TTk5RGJ3Y0d0WnR6ZmZ2YzIrMFdSOTJWMlVpVE5BMzFrUG5JYjBGMTJsRHp1NHBtTzFvUmUwZUJkYmdDdmw4TEVaTFBQMHBBeDVkdkJkaEY5c29RTGJaYTBYVlBsUHFscDVMRXdpb29XMXA1MThic09KQXNOMDBWMVhmb2lDZ0tzNU5vVEszc3V0NFVoc3gxbURzNEJYNWxna3NoSi9GWG84NjN4SW50eVJMcDI3TlRJWTF2OUNDVXNMUW5TZHBKVVJyS0hmMjR2RjI3YU9XNm9ndVI3SlBnY2Noa25ISjc2OUxIYmJxNzV5WFh4TDk4Q3ZZeUt3UlpJRzMwYVFDMVRoS2gwMWpvdzlDRllKR1VwN2pKUlUvV2NNRXpmU2g3WkVYUVRFSFNKT2w0akVPenR6QUtPYktNU1g1RXNuV0JMdG81QXIxeldtOWd5Si81aTJCd01tamNaTm45bjlOYWpQUEVtMG1pMUtIaTRCMWNZZlNPWEw5a1M0eCtubjg0ZFlKeVpGMjZ2TzB6RU4zZzVCUlJMRTJnMnpXZE5hNjM2aWxZY0w0b01sai9NV1NkN24wOExLRUM2VmdjRUNRWXFMYTI5YkNMS1VVQ0pDSjdwU01pbE1DeVlmQXBvamhOVDZjU1daMlE3QU5YRFJvTGgvc05LR0wvd0t2b2FVTkpiak9KZzE4bjloaG1JdGJGNjVOZmxabU1vbzBnQTI0dFFKeTdoT2xvbHVOeUxKNU1hRjJxeDdjT29uNStPVkt3U0p1Y2dyWGIrUWN3ekYybXRCQk9zZU9RS0Z5R1E4dk9LV3JROWxvL053TGZSeExlQXBKNUkrQ3UwTTNtWVlraTJKOXAwM3lJNUtjclpNVFFFU1IvZzNYQzE1dE8zRXBOL2xUVGdkZiswYzkxVFI1ekFTamEwUkQ4R0h6Q05TVDcxcEdwQUpLS0lkUVQwcmRBd2RHQlVSV1RkSFYvd3hpcXZuMTFESGdvWjk1RWxRK09SMmxqMXhYSURSUmxaRStJWm1wbEI0MHlWVlp6eFlEbTN4ckRQMkJMNmlsKzRHb2JGdDViUXNSVmdKcWNsSnN3N3J1UHJNbktaTFhtTG1ITGpTMmtTdjYwN3ZGN1ZFTGJLbzhIRStwZ08rSTBWRWw3d1RtTDBUQW5MUTI1RWE0SVZTNXh5NjlFdVczNlpHeDc0V0MzRVpGNnRxYjRmMjhiU0ExYkhQdDVLaW5MNEh0R1ErOXliM2ZxOVZPd0c5MHZ0SFU2YlMrTTJ1TS81cFI4WGpKMXB1dlJ0bCtQcWs4NXU3NHFxUjROUHcvSkxZNllUQ3MvNkpkYnZHdnRGVXBEQytPbW5oOTJCdFhBL2dIclFhaVRQd05qRzNYbC9uM1VjNnBaY0Y4aHhWNVFvWVFUcVg3TWIwTWJnaWpUdEtXREVwYitla3o2WDRISzZrSkpFYVoyaWhuMld1dUVObUsvaWNzcHJvOE5nY3VQOEZFNlZOU1lLMDJ2VG1NZ05aOW1HckcwTENXOUFEOXNOdm9mN3VXMkdVKzJqMjF0R0RGOTgrY0F5QmxWWmhyV3Q0alo3dVkvQ2Y2Q0VmV2RUK0hjTnZqcGV5YmptdnZrWVBKVThob2MvVnAwNlpaSWkvUnRVcTEyOFBHV3JoUFdqL3FKdFFTTkM0NXp5ZG9YRk9GSDAwV1pnVG5mSVZObklvYmdVKytuanZvM1ZvMkxkd25jVlZuZjc0ODd6RHl0aEI4QnlrWFJGZ3FaWExyck1MbnVwZkZZdUNZSTJqVnVNa1l3YmlEVHBCN0QvU3YyOEVkdGg0NUtMYzZkS2l5ZGo2WUtaUDhJajZoMDZRdTRQYzlydmh5L2RHRDJpaE4yL2lITjNQWnkydzYvRzdPYjJ6WXNEVFBQUUNiL0MwRjBKQmZ6NWtJcHZWWFdCdVB3aWxLMW9ZUHFjcGErdjE3N2gwcTNPZmE4S290Y1ZueStJTnJZMHR2YnlDaHYyclUzOHJNNUZOaU95Vk1FWW9jcXQxclBNb1ZrbHJIbDJPYW1CaU9MemV2QlV0QnBBNE9SZ2IxeGxpeE1xWXNsV0tocGVtZVRocWYzMGFFbW05Q2hvRU1XbmJnUXgzdUMyeHJNdWtVMFBQQnNYUDRVUlJjZXlkWjZpTGRwRDIzbnBHQzAyQVpVNkN5T3ZoVjUyV0Q3RFR5YjJzUXdVTkxJT2FTOW9lWis0UU9GWFloZ3FpaVZzQWprK1lBSWZyd1BhWWZTV3lNWmdra3g5VVRwbFZsbFB6L2lESFdHUDJrSzhkWkhBUERIMWV2R1RaK0xsRWFqSlA2emgzQkR4VDllNi9rbVhpeVhjaDhPRjFtTjFXb2ZQY3ozWVRnZGpiM2N0OGtJYWluWTZIK256ai9XdkM5aUwreW9VVm4wckNHUjNSbjNzdGRVYlZreCtpeExSSnBORktIRkNQWGtRMGxZMHNjOWdYa1A5Zk1RemFvN1RyQ0dCWkZvTnZTcEhLK3AvQnE5ZHBMWE05Vk5UV1VqZzQxTStKWWZXVk5TZG9uOG1zMEgrKzdBOHVSWXNYdWtOZTF4ZkcxZU8rT2RwU3dzMDdCUDNtb2hOb3pUM2kvVmxHUGxlMEJtSTdxSDlNeWZYcnhWSzd3RndBZjRhV2hmMEZLRzRtQ2xjUHhvTzVvdks5SitabWJ4eTNWKytWNExNdURnTFdpaGgzRTdLdWlWb3p4TkFUTTlhVmNJMkxOQTJkVVhGbkdyNDF6Rml5WW5rNDZ2V2xEK3NhbmNuSGZnS1BJbnA5cnp6UzM1dm1HM0h4d3ZCaHVhNEN3K2Jna1grM296Sy9hTUpDYzE1TlE0RjJ5dTFCcXozVDdvZk1oK291RjhRNUt5WG1uWWxmck9JYm9QRFdFQTd5Qy93cHBSWUZHSUJDV2RoeVAyVWZ3Z2NmSm9UZXlNTERuYjJtNnlvNGdzVmJRc3UwR01oQTlCR01pS2c5OXZRTTR5UU9sMHhzclVxTXV2UFVqbWlPMlRDQVdTOTR5NXM3dFlEZmkzQTF4djBWV2NINnFhU3phOHVhWGJ0a08yU3g0SnFmRlBhNUlUQWNqbEpwa2tpS0doZEdJbU9TQW5MUmYvazFJZWxRdlpnY0pKZ1pUMzBDcm5WTlVVeThGWHd0S2pub0k1VUIvd3NRSzBubm5wMkcvd3cvY3pGTlF4TFhiV0pweHdHTXZJYUltS0tkNDdZWmRaQWpLSGZtZ1lUZ3VZeU9JUFpCYlhMcHlVQlZHWnBsTmFvbEtvbk1TbzF0L0kybTU3MDh2WWQrWERPZmYrK04yVmU3WjJXVGdQdmhwTmFUblRSSXdndlhxYVVNVEJXMEU2U2dlSWYxbDZTQ1Rnbk83Q0liNllzcXlKWE40VkI3NkhkbU5XQXRzbVBnSUd5RTZSakVteXU2OTc3SkN5UW1VWGFXa2ZrSEFWcysrWDZkQUc1VUtSSTVDUVE2d1BHdjdCMWw4b3hRT0VkT2ptS1FlTjIyTTlpeWZlbUNNdUhHcUZCOUM3d1FUWDBZcllwZXRsVVlzbGY0YUx5V3BFTXA3UXVTNG1QMEtKYWR2QTRTVk15UURJRWR3REpJVU5vSXhEK2pOYUVFMjhTMUlkdjlmdk1MMnZqeHBCQ3ExWG1OaHJPUmFOR0wvSkF6eDFVajlieFM5anhLV3ZYV05LdDc0OU5KMGZHSFVxNEE3dGlnOHkxYjVVMjJYVlorZ29leXB6OEdqWTcyMjR1cUw0c2N2WU9OZzlwZU9RM0VMeFRPTGZ6L3NJVTlzNnduMjd2Wjh1UGsyZHYrM3d5VWltbUd6R04rL0ZCNVdFMFZCUjRDZzlhc2puZjBBNGtZN0FPQ0NGa3VjREY5eVNuUWlXZTF4ajBITFQ2QkJvWiszYjdxd1p6RlhtZEJsT1lCMTVhK2s2YzZjcDBKMnljdnp6VjNlcTdieTdvbjdheWp5Yy9ma0ZPcW5Obm00MzZNZGswZmZidnlFbUMxR1dveTBEU0pzQStvNjRCZVlLOGZ1N0JjS2tiMEpjbHBLU3lkaXNxbUpPdThUWHo3SFZLMkduZXphdE9XWTVZb3dXTTZjVjRmZi8ycmhaZ1pxekxUSnRoZnhBbzFJWm9RMjU5bHByRHg0L2EzeThNM29VVTI5Y0dUZzNrenIyMEZrYUZvRmUxTHlobXZHTllwMGNDYjUrdnM0dEdYM0c1L2E1THJHRVRtSk1iR0t2bFVHbFJaSDg1eEo5WnlEN291b1hXaHJyMjBaeXFjbDFWSGozeWJEeXNhdHk2OFNXZk4zMWRDT1VuSk1iRkhCeTk5ZHkyUmhXZjFyS0hLc1lzbXFDaDBkcW0xczZ1MUQwSDN3ODN2cVJQemQyVlR3T3FUTGpwaW13amhXTk5jbFA4VFY1RGZqNUY3U09rMFpwNE56QlI3SnRmVFlwdXJHRE94R0Z2dWloaFdYYnNLUEVaa1hBdUI3MmRaSzhvSnY4QzV2UkhXalpOa05lQU5lSnpycUg4RnhIWW9CS2hYZVhEaU1YeHI3b0phb295ZWg0TFRUb0t2bU52aFhUSmcyeTFMaHhRS1ZqSmdzemxKb29INUwyejRKeHdwUWRwSkk5N0ZlK3djaTNTVlhIWGRTUEpLVWFBWENkUFV0QldOVkdYdmlvcThzQnhDMG5VRjhNY1FiZmE4RHVuTTRlWVAvMVdIM3dzZmIydDFmT2d1dkF5NFp6Zitlb011ckZMYzJIczZ1akp3NWNhSHU0ZkZJYzZlL3oweUwvNVFzR2N4YnNHSmV4eTlVdVhXL0h5UFRtSlphV2w5TXV6bDBtWlFMaXdYNXhCM2dtTlYzWmptdGpMMXdXOHpTUU1LQkNzWk5KTUxyR05WTloxbEJKam85RG5rbDNHV0JxcVVtZXVhakVTUWYxeEtYT0ZtTW83Q3N5d3I2TmRpWUcvR1VvN29xOXpJODJiSnI3STR0ZEYyUEc4eDFieFR5bFJ5TFJ5SzlBR1NCWDFSRHJHYTVCd1FsUXVtOEhyUzduSzYvbis5b0dRZ0RnN1JSVWJ5N3psWVlyN3RjRGJXMExiOEI1SWE1UzVoTktoWlhFNFRYRkdxa1RteS9lL2gxK0tGaTZ6TGcrQTZud0VCejhseEdiaG1YMFBnRTdwRjBXMkswVklNNWFuREpIaUpCd1BsbXByVjBsL2RnMnJDaTBzQndPSE5zczNOZ01mVXFWc3dEL2xwM0RPS1FIeW1obWl2YU81Yzh6VjUrRWttTDNWMHovRmU0d2didUN2SXE0amdhRFpTVU9DRHJIa2tLS2E4aWZoOVpMQXN4K1JNV3VDT1V0SlpXOTBSUW9KdWV3TmFOM1lIZjZnc2VTekVOdTloTkRuQUxOQ1pLOHZwWmRzTk9LYTlBRGM0U05oRmRYR1J2NDg4YTk5NkcycCs1azVvNGZNZmNuSCtTSVRHN2lKS3hoU21mSDlFN24zWk8ycTJYSFJ3ZGw2UmNSb0lmendrSFJ2VlduQXNRdHg5OGJ6NjhRUndlSWRUcmpKejlZOS91bkhYM0xlU3Y4dTJHeHV2R1I4Mkg4aGFnbXpFZlBlbk4yTVU5emx5VGRqbEREY2lseC9EZXNEZlFDbEE0M1NXanpGMjVRd0RaU2kxRWlhcEtyaXRPVWt2QWFadzI3N0UyMWZ3cS9scXVia3dhMUFicmtkdUtKeWpnODBqcFl3aDc0bUxteTFMWE9RamJ4TzhydElGOGZFYXl6TlR5VDhHb20zM3FtSW9POGYvZi9kWnR1OFI5MmtyWUdzaVR4aEVRZHhFNmtPV2NxZHdCaUpwNkNXUThtbGFZbnRvTjBrVTBsMEh3OGVpOTZnU2xSNGYwRjdKUHZSVzRDa2Z1cWtFaGJFbUxCMXhLb0dQYmNXaWt2TGJWak03SEZaMEUxZjJ4blIzeW5oN2pIZURmTkJ3ZFpQNnFyM3kxNmxIM2t5bWxZM2FKOStaRkF2OTRHMWU1MTdUY21yZ096YkxWTUw4MU5Kdmc0ZmkyTmZXbGFpVFZXRmt6cWtIYXlFZVViTGRKVXdZUmQwVUFuN3dyT1p4cHhSV1VnamdCQVV2SVYzVGx4azZ5OTF6SEpuVlFWT0YxNW9hOFJKSW04YWRpU1l5bFBBTVJXNTNrVGJGM2tCSHlxRkZKUEZNRFExUm9pOUVYYm5Yc1h4V0xTZHhPQjlUYzZwMm1uZlIyL3VYak9UdU1jRkdvUTFZcUpRcDdZNDkxWG03ZDVua3VrZ01PNno4MHZmZGFGb2Q3UkRRWW5QdmM2SU40V2F2Wi90eml3UFh5aDlmMXA4c2IxS1RBNm0vRnFSYlhQM240cHNLOWovY0ZkWFR2NDdVRXNCQWhRREZBQUFBQWdBSjBtUVd4YThIZ2F4QVFBQTdRTUFBQXdBQ1FBQUFBQUFBQUFBQUxhQkFBQUFBR1J2WTNWdFpXNTBMbmh0YkZWVUJRQUhPN0ZBYVZCTEFRSVVBeFFBQUFBSUFDZEprRnV1bGkrb0hSRUFBSlpNQVFBUEFBa0FBQUFBQUFBQUFBQzJnZHNCQUFCd1lXZGxjeTl3WVdkbE1TNTRiV3hWVkFVQUJ6dXhRR2xRU3dFQ0ZBTVVBQUFBQ0FBblNaQmJKUERiK0RvQUFBQTZBQUFBRGdBSkFBQUFBQUFBQUFBQXRvRWxFd0FBY21Wc2N5OWZjbVZzY3k1NGJXeFZWQVVBQnp1eFFHbFFTd0VDRkFNVUFBQUFDQUFuU1pCYkpQRGIrRG9BQUFBNkFBQUFFd0FKQUFBQUFBQUFBQUFBdG9HTEV3QUFjbVZzY3k5d1lXZGxNVjl5Wld4ekxuaHRiRlZVQlFBSE83RkFhVkJMQVFJVUF4UUFBQUFJQUNoSmtGdE1CbkJrcndNQUFHTWZBQUFKQUFrQUFBQUFBQUFBQUFDMmdmWVRBQUIwYUdWdFpTNTRiV3hWVkFVQUJ6eXhRR2xRU3dFQ0ZBTVVBQUFBQ0FBb1NaQmJ5MGpmRkRjWkFBQVdHd0FBRGdBSkFBQUFBQUFBQUFBQXRvSE1Gd0FBZEdoMWJXSnVZV2xzTG1wd1pXZFZWQVVBQnp5eFFHbFFTd1VHQUFBQUFBWUFCZ0NkQVFBQUx6RUFBQUFBIiwKCSJGaWxlTmFtZSIgOiAi57uY5Zu+MS5lZGR4Igp9Cg=="/>
    </extobj>
  </extobjs>
</s:customData>
</file>

<file path=customXml/itemProps117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3899</Words>
  <Application>WPS 演示</Application>
  <PresentationFormat>宽屏</PresentationFormat>
  <Paragraphs>100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Arial Unicode MS</vt:lpstr>
      <vt:lpstr>MiSans Demibold</vt:lpstr>
      <vt:lpstr>Calibri</vt:lpstr>
      <vt:lpstr>WPS</vt:lpstr>
      <vt:lpstr>Office 主题​​</vt:lpstr>
      <vt:lpstr>Package</vt:lpstr>
      <vt:lpstr>Package</vt:lpstr>
      <vt:lpstr>    DCSM-0039加密 </vt:lpstr>
      <vt:lpstr>目录</vt:lpstr>
      <vt:lpstr>一、DCSM功能描述</vt:lpstr>
      <vt:lpstr>2.1 添加dcsm文件</vt:lpstr>
      <vt:lpstr>2.2 dcsm.cmd文件解读</vt:lpstr>
      <vt:lpstr>2.3 f28003x_dcsm.asm文件解读</vt:lpstr>
      <vt:lpstr>2.3 f28003x_dcsm.asm文件解读</vt:lpstr>
      <vt:lpstr>2.3 f28003x_dcsm.asm文件解读</vt:lpstr>
      <vt:lpstr>2.3 f28003x_dcsm.asm文件解读</vt:lpstr>
      <vt:lpstr>2.3 f28003x_dcsm.asm文件解读</vt:lpstr>
      <vt:lpstr>2.4 加密操作流程</vt:lpstr>
      <vt:lpstr>2.5 具体加密操作步骤</vt:lpstr>
      <vt:lpstr>2.5 具体加密操作步骤</vt:lpstr>
      <vt:lpstr>2.5 具体加密操作步骤</vt:lpstr>
      <vt:lpstr>2.5 具体加密操作步骤</vt:lpstr>
      <vt:lpstr>2.5 具体加密操作步骤</vt:lpstr>
      <vt:lpstr>2.5 具体加密操作步骤</vt:lpstr>
      <vt:lpstr>2.5 具体加密操作步骤</vt:lpstr>
      <vt:lpstr>3.1 解密操作步骤</vt:lpstr>
      <vt:lpstr>3.2 加密后扇区状态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Allen1</dc:creator>
  <cp:lastModifiedBy>Skate</cp:lastModifiedBy>
  <cp:revision>10</cp:revision>
  <dcterms:created xsi:type="dcterms:W3CDTF">2023-08-09T12:44:00Z</dcterms:created>
  <dcterms:modified xsi:type="dcterms:W3CDTF">2025-12-16T02:57:23Z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3C7C76D1621A46898446A55BD5C47D00_13</vt:lpwstr>
  </property>
</Properties>
</file>