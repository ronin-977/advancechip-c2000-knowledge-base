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86" r:id="rId5"/>
    <p:sldId id="291" r:id="rId7"/>
    <p:sldId id="327" r:id="rId8"/>
    <p:sldId id="328" r:id="rId9"/>
    <p:sldId id="329" r:id="rId10"/>
    <p:sldId id="330" r:id="rId11"/>
    <p:sldId id="332" r:id="rId12"/>
    <p:sldId id="331" r:id="rId13"/>
    <p:sldId id="333" r:id="rId14"/>
    <p:sldId id="334" r:id="rId15"/>
    <p:sldId id="335" r:id="rId16"/>
    <p:sldId id="336" r:id="rId17"/>
    <p:sldId id="337" r:id="rId18"/>
    <p:sldId id="338" r:id="rId19"/>
    <p:sldId id="294" r:id="rId20"/>
    <p:sldId id="339" r:id="rId21"/>
    <p:sldId id="34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4" userDrawn="1">
          <p15:clr>
            <a:srgbClr val="A4A3A4"/>
          </p15:clr>
        </p15:guide>
        <p15:guide id="2" pos="3825" userDrawn="1">
          <p15:clr>
            <a:srgbClr val="A4A3A4"/>
          </p15:clr>
        </p15:guide>
        <p15:guide id="3" orient="horz" pos="3944" userDrawn="1">
          <p15:clr>
            <a:srgbClr val="A4A3A4"/>
          </p15:clr>
        </p15:guide>
        <p15:guide id="4" orient="horz" pos="332" userDrawn="1">
          <p15:clr>
            <a:srgbClr val="A4A3A4"/>
          </p15:clr>
        </p15:guide>
        <p15:guide id="5" orient="horz" pos="811" userDrawn="1">
          <p15:clr>
            <a:srgbClr val="A4A3A4"/>
          </p15:clr>
        </p15:guide>
        <p15:guide id="6" pos="7449" userDrawn="1">
          <p15:clr>
            <a:srgbClr val="A4A3A4"/>
          </p15:clr>
        </p15:guide>
        <p15:guide id="7" pos="1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6A6"/>
    <a:srgbClr val="FBD37B"/>
    <a:srgbClr val="CC9643"/>
    <a:srgbClr val="809DAC"/>
    <a:srgbClr val="E3B2B8"/>
    <a:srgbClr val="535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06" y="1146"/>
      </p:cViewPr>
      <p:guideLst>
        <p:guide orient="horz" pos="1984"/>
        <p:guide pos="3825"/>
        <p:guide orient="horz" pos="3944"/>
        <p:guide orient="horz" pos="332"/>
        <p:guide orient="horz" pos="811"/>
        <p:guide pos="7449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/>
          <a:stretch>
            <a:fillRect/>
          </a:stretch>
        </p:blipFill>
        <p:spPr>
          <a:xfrm>
            <a:off x="0" y="3486785"/>
            <a:ext cx="12192635" cy="33712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/>
          <a:stretch>
            <a:fillRect/>
          </a:stretch>
        </p:blipFill>
        <p:spPr>
          <a:xfrm rot="16200000" flipH="1">
            <a:off x="6211570" y="877570"/>
            <a:ext cx="6853555" cy="5107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rot="10800000" flipH="1">
            <a:off x="0" y="0"/>
            <a:ext cx="3642995" cy="2302510"/>
          </a:xfrm>
          <a:prstGeom prst="rect">
            <a:avLst/>
          </a:prstGeom>
        </p:spPr>
      </p:pic>
      <p:pic>
        <p:nvPicPr>
          <p:cNvPr id="2" name="图片 1" descr="图层 1"/>
          <p:cNvPicPr>
            <a:picLocks noChangeAspect="1"/>
          </p:cNvPicPr>
          <p:nvPr userDrawn="1"/>
        </p:nvPicPr>
        <p:blipFill>
          <a:blip r:embed="rId2"/>
          <a:srcRect t="22631" r="62901" b="16599"/>
          <a:stretch>
            <a:fillRect/>
          </a:stretch>
        </p:blipFill>
        <p:spPr>
          <a:xfrm flipH="1">
            <a:off x="9766935" y="5325110"/>
            <a:ext cx="2425065" cy="1532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19.xml"/><Relationship Id="rId2" Type="http://schemas.openxmlformats.org/officeDocument/2006/relationships/slide" Target="slide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21224" y="4511192"/>
            <a:ext cx="2730500" cy="457200"/>
            <a:chOff x="5016500" y="4318000"/>
            <a:chExt cx="2730500" cy="457200"/>
          </a:xfrm>
          <a:solidFill>
            <a:srgbClr val="1C56A6"/>
          </a:solidFill>
        </p:grpSpPr>
        <p:sp>
          <p:nvSpPr>
            <p:cNvPr id="3" name="矩形: 圆角 2"/>
            <p:cNvSpPr/>
            <p:nvPr/>
          </p:nvSpPr>
          <p:spPr>
            <a:xfrm>
              <a:off x="5016500" y="4318000"/>
              <a:ext cx="2730500" cy="4572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C56A6"/>
              </a:solidFill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891214" y="4377323"/>
              <a:ext cx="981075" cy="337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spc="200" dirty="0">
                  <a:solidFill>
                    <a:srgbClr val="1C5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2026.7</a:t>
              </a:r>
              <a:endParaRPr lang="en-US" altLang="zh-CN" sz="1600" spc="200" dirty="0">
                <a:solidFill>
                  <a:srgbClr val="1C5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75945" y="2259965"/>
            <a:ext cx="11527790" cy="10147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defRPr sz="7500">
                <a:solidFill>
                  <a:schemeClr val="accent1"/>
                </a:solidFill>
                <a:effectLst>
                  <a:outerShdw dist="63500" dir="5400000" algn="tl" rotWithShape="0">
                    <a:prstClr val="black">
                      <a:alpha val="10000"/>
                    </a:prstClr>
                  </a:outerShdw>
                </a:effectLst>
                <a:latin typeface="DIN-BlackItalic" pitchFamily="50" charset="0"/>
                <a:ea typeface="+mj-ea"/>
              </a:defRPr>
            </a:lvl1pPr>
          </a:lstStyle>
          <a:p>
            <a:pPr algn="ctr"/>
            <a:r>
              <a:rPr lang="en-US"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280039</a:t>
            </a:r>
            <a:r>
              <a:rPr lang="zh-CN" altLang="en-US"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安全引导配置</a:t>
            </a:r>
            <a:r>
              <a:rPr lang="zh-CN" altLang="en-US" sz="6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说明</a:t>
            </a:r>
            <a:endParaRPr lang="zh-CN" altLang="en-US" sz="6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8" name="图片 17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8897620" y="140335"/>
            <a:ext cx="3294380" cy="133286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2412068" y="3736494"/>
            <a:ext cx="7367865" cy="321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endParaRPr lang="zh-CN" altLang="en-US" sz="1000" dirty="0">
              <a:solidFill>
                <a:srgbClr val="535B6C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3517265" y="3423285"/>
            <a:ext cx="554672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杭州保威智能科技有限公司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技术人员：许子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洋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/>
            <a:r>
              <a:rPr lang="en-US" altLang="zh-CN" sz="1600" dirty="0">
                <a:solidFill>
                  <a:srgbClr val="A09FAD"/>
                </a:solidFill>
                <a:cs typeface="+mn-ea"/>
                <a:sym typeface="+mn-lt"/>
              </a:rPr>
              <a:t>HangZhou Bonway Intelligent Technology Co., Ltd</a:t>
            </a:r>
            <a:endParaRPr lang="en-US" altLang="zh-CN" sz="1600" dirty="0">
              <a:solidFill>
                <a:srgbClr val="A09FAD"/>
              </a:solidFill>
              <a:cs typeface="+mn-ea"/>
              <a:sym typeface="+mn-lt"/>
            </a:endParaRPr>
          </a:p>
          <a:p>
            <a:pPr algn="l"/>
            <a:endParaRPr lang="en-US" altLang="zh-CN" sz="1600" dirty="0">
              <a:solidFill>
                <a:srgbClr val="A09FAD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548255" y="2414036"/>
            <a:ext cx="4642073" cy="1875803"/>
            <a:chOff x="10211" y="1550"/>
            <a:chExt cx="8175" cy="3303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10211" y="1550"/>
              <a:ext cx="7884" cy="1282"/>
              <a:chOff x="3351" y="3543"/>
              <a:chExt cx="7884" cy="1282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351" y="3543"/>
                <a:ext cx="1023" cy="1023"/>
                <a:chOff x="910275" y="2123864"/>
                <a:chExt cx="792088" cy="792088"/>
              </a:xfrm>
            </p:grpSpPr>
            <p:sp>
              <p:nvSpPr>
                <p:cNvPr id="11" name="椭圆 10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910275" y="2123864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文本框 9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1001314" y="2310639"/>
                  <a:ext cx="610011" cy="4190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 rot="0">
                <a:off x="4899" y="3647"/>
                <a:ext cx="6336" cy="1177"/>
                <a:chOff x="3315584" y="3321699"/>
                <a:chExt cx="4023418" cy="747827"/>
              </a:xfrm>
            </p:grpSpPr>
            <p:sp>
              <p:nvSpPr>
                <p:cNvPr id="14" name="矩形 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15584" y="3321699"/>
                  <a:ext cx="4023418" cy="5837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安全引导概念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及流程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315584" y="3692445"/>
                  <a:ext cx="3324681" cy="37708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endParaRPr lang="en-US" altLang="zh-CN" sz="1600" dirty="0">
                    <a:solidFill>
                      <a:schemeClr val="tx1"/>
                    </a:solidFill>
                    <a:latin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 rot="0">
              <a:off x="10211" y="3631"/>
              <a:ext cx="8175" cy="1222"/>
              <a:chOff x="3351" y="3603"/>
              <a:chExt cx="8175" cy="1223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351" y="3603"/>
                <a:ext cx="1023" cy="1023"/>
                <a:chOff x="910275" y="2170651"/>
                <a:chExt cx="792088" cy="792088"/>
              </a:xfrm>
            </p:grpSpPr>
            <p:sp>
              <p:nvSpPr>
                <p:cNvPr id="7" name="椭圆 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10275" y="2170651"/>
                  <a:ext cx="792088" cy="792088"/>
                </a:xfrm>
                <a:prstGeom prst="ellipse">
                  <a:avLst/>
                </a:prstGeom>
                <a:solidFill>
                  <a:srgbClr val="1C56A6"/>
                </a:solidFill>
                <a:ln w="9525">
                  <a:noFill/>
                </a:ln>
                <a:effectLst>
                  <a:outerShdw blurRad="76200" dir="18900000" sy="23000" kx="-1200000" algn="b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2000">
                    <a:solidFill>
                      <a:srgbClr val="2663A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9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001314" y="2356520"/>
                  <a:ext cx="610011" cy="4193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marL="0" lvl="1" algn="ctr"/>
                  <a:r>
                    <a:rPr lang="en-US" altLang="zh-CN" sz="2000" dirty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 rot="0">
                <a:off x="4899" y="3604"/>
                <a:ext cx="6627" cy="1222"/>
                <a:chOff x="3315584" y="3294048"/>
                <a:chExt cx="4207709" cy="775865"/>
              </a:xfrm>
            </p:grpSpPr>
            <p:sp>
              <p:nvSpPr>
                <p:cNvPr id="10" name="矩形 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315584" y="3294048"/>
                  <a:ext cx="4207709" cy="5839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例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程配置</a:t>
                  </a:r>
                  <a:r>
                    <a:rPr lang="zh-CN" altLang="en-US" sz="2800" dirty="0">
                      <a:solidFill>
                        <a:srgbClr val="1C56A6"/>
                      </a:solidFill>
                      <a:cs typeface="+mn-ea"/>
                      <a:sym typeface="+mn-lt"/>
                    </a:rPr>
                    <a:t>说明</a:t>
                  </a:r>
                  <a:endPara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15584" y="3692698"/>
                  <a:ext cx="3434599" cy="37721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algn="l"/>
                  <a:endParaRPr lang="en-US" altLang="zh-CN" sz="1600" dirty="0">
                    <a:solidFill>
                      <a:schemeClr val="tx1"/>
                    </a:solidFill>
                    <a:latin typeface="+mn-ea"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" name="文本框 2"/>
          <p:cNvSpPr txBox="1"/>
          <p:nvPr userDrawn="1"/>
        </p:nvSpPr>
        <p:spPr>
          <a:xfrm>
            <a:off x="191770" y="2008505"/>
            <a:ext cx="1290320" cy="2609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dist"/>
            <a:r>
              <a:rPr lang="zh-CN" altLang="en-US" sz="7200">
                <a:solidFill>
                  <a:srgbClr val="1C56A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7200">
              <a:solidFill>
                <a:srgbClr val="1C56A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 descr="65f91e9ede8511ff8378a49e0fde4cc"/>
          <p:cNvPicPr>
            <a:picLocks noChangeAspect="1"/>
          </p:cNvPicPr>
          <p:nvPr/>
        </p:nvPicPr>
        <p:blipFill>
          <a:blip r:embed="rId10"/>
          <a:srcRect t="23916" b="22003"/>
          <a:stretch>
            <a:fillRect/>
          </a:stretch>
        </p:blipFill>
        <p:spPr>
          <a:xfrm>
            <a:off x="0" y="16510"/>
            <a:ext cx="2607310" cy="105473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 rot="0">
            <a:off x="2548255" y="4574925"/>
            <a:ext cx="4476750" cy="727916"/>
            <a:chOff x="3351" y="3543"/>
            <a:chExt cx="7884" cy="1282"/>
          </a:xfrm>
        </p:grpSpPr>
        <p:grpSp>
          <p:nvGrpSpPr>
            <p:cNvPr id="19" name="组合 18"/>
            <p:cNvGrpSpPr/>
            <p:nvPr/>
          </p:nvGrpSpPr>
          <p:grpSpPr>
            <a:xfrm>
              <a:off x="3351" y="3543"/>
              <a:ext cx="1023" cy="1023"/>
              <a:chOff x="910275" y="2123864"/>
              <a:chExt cx="792088" cy="792088"/>
            </a:xfrm>
          </p:grpSpPr>
          <p:sp>
            <p:nvSpPr>
              <p:cNvPr id="20" name="椭圆 19"/>
              <p:cNvSpPr/>
              <p:nvPr>
                <p:custDataLst>
                  <p:tags r:id="rId11"/>
                </p:custDataLst>
              </p:nvPr>
            </p:nvSpPr>
            <p:spPr>
              <a:xfrm>
                <a:off x="910275" y="2123864"/>
                <a:ext cx="792088" cy="792088"/>
              </a:xfrm>
              <a:prstGeom prst="ellipse">
                <a:avLst/>
              </a:prstGeom>
              <a:solidFill>
                <a:srgbClr val="1C56A6"/>
              </a:solidFill>
              <a:ln w="9525"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solidFill>
                    <a:srgbClr val="2663A4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001314" y="2310639"/>
                <a:ext cx="610011" cy="419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:pPr marL="0" lvl="1" algn="ctr"/>
                <a:r>
                  <a:rPr lang="en-US" altLang="zh-CN" sz="2000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03</a:t>
                </a:r>
                <a:endParaRPr lang="en-US" altLang="zh-CN" sz="20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 rot="0">
              <a:off x="4899" y="3643"/>
              <a:ext cx="6336" cy="1182"/>
              <a:chOff x="3315584" y="3318888"/>
              <a:chExt cx="4023418" cy="750714"/>
            </a:xfrm>
          </p:grpSpPr>
          <p:sp>
            <p:nvSpPr>
              <p:cNvPr id="23" name="矩形 22"/>
              <p:cNvSpPr/>
              <p:nvPr>
                <p:custDataLst>
                  <p:tags r:id="rId13"/>
                </p:custDataLst>
              </p:nvPr>
            </p:nvSpPr>
            <p:spPr>
              <a:xfrm>
                <a:off x="3315584" y="3318888"/>
                <a:ext cx="4023418" cy="5838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rPr>
                  <a:t>结果</a:t>
                </a:r>
                <a:r>
                  <a:rPr lang="zh-CN" altLang="en-US" sz="2800" dirty="0">
                    <a:solidFill>
                      <a:srgbClr val="1C56A6"/>
                    </a:solidFill>
                    <a:cs typeface="+mn-ea"/>
                    <a:sym typeface="+mn-lt"/>
                  </a:rPr>
                  <a:t>展示</a:t>
                </a:r>
                <a:endParaRPr lang="zh-CN" altLang="en-US" sz="2800" dirty="0">
                  <a:solidFill>
                    <a:srgbClr val="1C56A6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矩形 23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15584" y="3692445"/>
                <a:ext cx="3324681" cy="3771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l"/>
                <a:endParaRPr lang="en-US" altLang="zh-CN" sz="1600" dirty="0">
                  <a:solidFill>
                    <a:schemeClr val="tx1"/>
                  </a:solidFill>
                  <a:latin typeface="+mn-ea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0" y="-4445"/>
            <a:ext cx="2607310" cy="105473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13079" y="1177290"/>
            <a:ext cx="3629024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2" action="ppaction://hlinksldjump"/>
              </a:rPr>
              <a:t>安全启动</a:t>
            </a:r>
            <a:r>
              <a: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2" action="ppaction://hlinksldjump"/>
              </a:rPr>
              <a:t>流程</a:t>
            </a:r>
            <a:endParaRPr lang="zh-CN" altLang="en-US" sz="2800" b="1" dirty="0">
              <a:solidFill>
                <a:schemeClr val="accent1"/>
              </a:solidFill>
              <a:latin typeface="+mn-ea"/>
              <a:cs typeface="+mn-ea"/>
              <a:sym typeface="+mn-ea"/>
              <a:hlinkClick r:id="rId2" action="ppaction://hlinksldjump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3120" y="1699260"/>
            <a:ext cx="10196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Ti</a:t>
            </a:r>
            <a:r>
              <a:rPr lang="zh-CN" altLang="en-US" sz="2000"/>
              <a:t>的安全闪存启动本质上就是通过用户设定</a:t>
            </a:r>
            <a:r>
              <a:rPr lang="en-US" altLang="zh-CN" sz="2000"/>
              <a:t>OTP</a:t>
            </a:r>
            <a:r>
              <a:rPr lang="zh-CN" altLang="en-US" sz="2000"/>
              <a:t>中的</a:t>
            </a:r>
            <a:r>
              <a:rPr lang="en-US" altLang="zh-CN" sz="2000"/>
              <a:t>128</a:t>
            </a:r>
            <a:r>
              <a:rPr lang="zh-CN" altLang="en-US" sz="2000"/>
              <a:t>位</a:t>
            </a:r>
            <a:r>
              <a:rPr lang="en-US" altLang="zh-CN" sz="2000"/>
              <a:t>CMAC_KEY</a:t>
            </a:r>
            <a:r>
              <a:rPr lang="zh-CN" altLang="en-US" sz="2000"/>
              <a:t>，经过</a:t>
            </a:r>
            <a:r>
              <a:rPr lang="en-US" altLang="zh-CN" sz="2000"/>
              <a:t>Ti</a:t>
            </a:r>
            <a:r>
              <a:rPr lang="zh-CN" altLang="en-US" sz="2000"/>
              <a:t>自己的脚本，结合用户的</a:t>
            </a:r>
            <a:r>
              <a:rPr lang="en-US" altLang="zh-CN" sz="2000"/>
              <a:t>flash</a:t>
            </a:r>
            <a:r>
              <a:rPr lang="zh-CN" altLang="en-US" sz="2000"/>
              <a:t>程序生成的固定且唯一的</a:t>
            </a:r>
            <a:r>
              <a:rPr lang="en-US" altLang="zh-CN" sz="2000"/>
              <a:t>CMAC_TAG</a:t>
            </a:r>
            <a:r>
              <a:rPr lang="zh-CN" altLang="en-US" sz="2000"/>
              <a:t>，也叫黄金标签。</a:t>
            </a:r>
            <a:endParaRPr lang="zh-CN" altLang="en-US" sz="2000"/>
          </a:p>
          <a:p>
            <a:r>
              <a:rPr lang="zh-CN" altLang="en-US" sz="2000"/>
              <a:t>用户可以通过更改</a:t>
            </a:r>
            <a:r>
              <a:rPr lang="en-US" altLang="zh-CN" sz="2000"/>
              <a:t>OTPBOOTDEF</a:t>
            </a:r>
            <a:r>
              <a:rPr lang="zh-CN" altLang="en-US" sz="2000"/>
              <a:t>修改引导模式，使得每次</a:t>
            </a:r>
            <a:r>
              <a:rPr lang="en-US" altLang="zh-CN" sz="2000"/>
              <a:t>DSP</a:t>
            </a:r>
            <a:r>
              <a:rPr lang="zh-CN" altLang="en-US" sz="2000"/>
              <a:t>通过安全引导路径启动，在此路径下，</a:t>
            </a:r>
            <a:r>
              <a:rPr lang="en-US" altLang="zh-CN" sz="2000"/>
              <a:t>BootROM</a:t>
            </a:r>
            <a:r>
              <a:rPr lang="zh-CN" altLang="en-US" sz="2000"/>
              <a:t>中会比对生成的</a:t>
            </a:r>
            <a:r>
              <a:rPr lang="en-US" altLang="zh-CN" sz="2000"/>
              <a:t>CMAC_TAG</a:t>
            </a:r>
            <a:r>
              <a:rPr lang="zh-CN" altLang="en-US" sz="2000"/>
              <a:t>以及</a:t>
            </a:r>
            <a:r>
              <a:rPr lang="en-US" altLang="zh-CN" sz="2000"/>
              <a:t>CMAC_KEY</a:t>
            </a:r>
            <a:r>
              <a:rPr lang="zh-CN" altLang="en-US" sz="2000"/>
              <a:t>，如果不匹配，则无法进入用户程序，</a:t>
            </a:r>
            <a:r>
              <a:rPr lang="en-US" altLang="zh-CN" sz="2000"/>
              <a:t>DSP</a:t>
            </a:r>
            <a:r>
              <a:rPr lang="zh-CN" altLang="en-US" sz="2000"/>
              <a:t>将一直复位。如果比对通过，则正常跳转到</a:t>
            </a:r>
            <a:r>
              <a:rPr lang="en-US" altLang="zh-CN" sz="2000"/>
              <a:t>Begin</a:t>
            </a:r>
            <a:r>
              <a:rPr lang="zh-CN" altLang="en-US" sz="2000"/>
              <a:t>地址运行用户</a:t>
            </a:r>
            <a:r>
              <a:rPr lang="zh-CN" altLang="en-US" sz="2000"/>
              <a:t>程序。</a:t>
            </a:r>
            <a:endParaRPr lang="zh-CN" altLang="en-US" sz="2000"/>
          </a:p>
        </p:txBody>
      </p:sp>
      <p:sp>
        <p:nvSpPr>
          <p:cNvPr id="7" name="矩形 6"/>
          <p:cNvSpPr/>
          <p:nvPr/>
        </p:nvSpPr>
        <p:spPr>
          <a:xfrm>
            <a:off x="1007745" y="3683000"/>
            <a:ext cx="9218295" cy="265493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326515" y="4455160"/>
            <a:ext cx="1355090" cy="986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上电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355340" y="4455160"/>
            <a:ext cx="1591310" cy="986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安全</a:t>
            </a:r>
            <a:r>
              <a:rPr lang="zh-CN" altLang="en-US"/>
              <a:t>启动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5696585" y="4455160"/>
            <a:ext cx="1591310" cy="986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对比</a:t>
            </a:r>
            <a:r>
              <a:rPr lang="en-US" altLang="zh-CN"/>
              <a:t>CMAC</a:t>
            </a:r>
            <a:endParaRPr lang="en-US" altLang="zh-CN"/>
          </a:p>
        </p:txBody>
      </p:sp>
      <p:sp>
        <p:nvSpPr>
          <p:cNvPr id="16" name="圆角矩形 15"/>
          <p:cNvSpPr/>
          <p:nvPr/>
        </p:nvSpPr>
        <p:spPr>
          <a:xfrm>
            <a:off x="8038465" y="4455160"/>
            <a:ext cx="1591310" cy="9861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运行</a:t>
            </a:r>
            <a:r>
              <a:rPr lang="zh-CN" altLang="en-US"/>
              <a:t>程序</a:t>
            </a:r>
            <a:endParaRPr lang="zh-CN" altLang="en-US"/>
          </a:p>
        </p:txBody>
      </p:sp>
      <p:cxnSp>
        <p:nvCxnSpPr>
          <p:cNvPr id="18" name="直接箭头连接符 17"/>
          <p:cNvCxnSpPr>
            <a:stCxn id="8" idx="3"/>
            <a:endCxn id="11" idx="1"/>
          </p:cNvCxnSpPr>
          <p:nvPr/>
        </p:nvCxnSpPr>
        <p:spPr>
          <a:xfrm>
            <a:off x="2681605" y="4948555"/>
            <a:ext cx="67373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946650" y="4948555"/>
            <a:ext cx="74993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287895" y="4948555"/>
            <a:ext cx="74993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5" idx="0"/>
            <a:endCxn id="11" idx="0"/>
          </p:cNvCxnSpPr>
          <p:nvPr/>
        </p:nvCxnSpPr>
        <p:spPr>
          <a:xfrm rot="16200000" flipH="1" flipV="1">
            <a:off x="5321300" y="3284855"/>
            <a:ext cx="3175" cy="2341245"/>
          </a:xfrm>
          <a:prstGeom prst="bentConnector3">
            <a:avLst>
              <a:gd name="adj1" fmla="val -7460000"/>
            </a:avLst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7287895" y="4528820"/>
            <a:ext cx="833120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通过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863465" y="3816350"/>
            <a:ext cx="1231900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不通过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CMAC_KEY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配置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我们先了解</a:t>
            </a:r>
            <a:r>
              <a:rPr lang="en-US" altLang="zh-CN" sz="2000"/>
              <a:t>CMAC_KEY</a:t>
            </a:r>
            <a:r>
              <a:rPr lang="zh-CN" altLang="en-US" sz="2000"/>
              <a:t>如何由用户定义写入，</a:t>
            </a:r>
            <a:r>
              <a:rPr lang="en-US" altLang="zh-CN" sz="2000"/>
              <a:t>CMAC_KEY</a:t>
            </a:r>
            <a:r>
              <a:rPr lang="zh-CN" altLang="en-US" sz="2000"/>
              <a:t>位于</a:t>
            </a:r>
            <a:r>
              <a:rPr lang="en-US" altLang="zh-CN" sz="2000"/>
              <a:t>DSP</a:t>
            </a:r>
            <a:r>
              <a:rPr lang="zh-CN" altLang="en-US" sz="2000"/>
              <a:t>的</a:t>
            </a:r>
            <a:r>
              <a:rPr lang="en-US" altLang="zh-CN" sz="2000"/>
              <a:t>DCSM</a:t>
            </a:r>
            <a:r>
              <a:rPr lang="zh-CN" altLang="en-US" sz="2000"/>
              <a:t>模块，配置寄存器在</a:t>
            </a:r>
            <a:r>
              <a:rPr lang="en-US" altLang="zh-CN" sz="2000"/>
              <a:t>OTP</a:t>
            </a:r>
            <a:r>
              <a:rPr lang="zh-CN" altLang="en-US" sz="2000"/>
              <a:t>中，</a:t>
            </a:r>
            <a:r>
              <a:rPr lang="zh-CN" altLang="en-US" sz="2000" b="1"/>
              <a:t>所以特别注意，</a:t>
            </a:r>
            <a:r>
              <a:rPr lang="en-US" altLang="zh-CN" sz="2000" b="1"/>
              <a:t>OTP</a:t>
            </a:r>
            <a:r>
              <a:rPr lang="zh-CN" altLang="en-US" sz="2000" b="1"/>
              <a:t>中的数据，仅支持</a:t>
            </a:r>
            <a:r>
              <a:rPr lang="en-US" altLang="zh-CN" sz="2000" b="1"/>
              <a:t>1-0</a:t>
            </a:r>
            <a:r>
              <a:rPr lang="zh-CN" altLang="en-US" sz="2000" b="1"/>
              <a:t>写入一次，无法实现反复刷写，在配置</a:t>
            </a:r>
            <a:r>
              <a:rPr lang="en-US" altLang="zh-CN" sz="2000" b="1"/>
              <a:t>CMAC_KEY</a:t>
            </a:r>
            <a:r>
              <a:rPr lang="zh-CN" altLang="en-US" sz="2000" b="1"/>
              <a:t>前务小心。</a:t>
            </a:r>
            <a:endParaRPr lang="zh-CN" altLang="en-US" sz="2000" b="1"/>
          </a:p>
          <a:p>
            <a:endParaRPr lang="zh-CN" altLang="en-US" sz="2000" b="1"/>
          </a:p>
          <a:p>
            <a:r>
              <a:rPr lang="en-US" altLang="zh-CN" sz="2000"/>
              <a:t>DCSM</a:t>
            </a:r>
            <a:r>
              <a:rPr lang="zh-CN" altLang="en-US" sz="2000"/>
              <a:t>的</a:t>
            </a:r>
            <a:r>
              <a:rPr lang="en-US" altLang="zh-CN" sz="2000"/>
              <a:t>CMACKEY</a:t>
            </a:r>
            <a:r>
              <a:rPr lang="zh-CN" altLang="en-US" sz="2000"/>
              <a:t>配置地址在</a:t>
            </a:r>
            <a:r>
              <a:rPr lang="en-US" altLang="zh-CN" sz="2000"/>
              <a:t>USER_OTP</a:t>
            </a:r>
            <a:r>
              <a:rPr lang="zh-CN" altLang="en-US" sz="2000"/>
              <a:t>的</a:t>
            </a:r>
            <a:r>
              <a:rPr lang="en-US" altLang="zh-CN" sz="2000"/>
              <a:t>0x78018</a:t>
            </a:r>
            <a:r>
              <a:rPr lang="zh-CN" altLang="en-US" sz="2000"/>
              <a:t>地址，伴随</a:t>
            </a:r>
            <a:r>
              <a:rPr lang="en-US" altLang="zh-CN" sz="2000"/>
              <a:t>.out</a:t>
            </a:r>
            <a:r>
              <a:rPr lang="zh-CN" altLang="en-US" sz="2000"/>
              <a:t>文件一同刷入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45" y="2837815"/>
            <a:ext cx="8488045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CMAC_KEY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配置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对于</a:t>
            </a:r>
            <a:r>
              <a:rPr lang="en-US" altLang="zh-CN" sz="2000"/>
              <a:t>DCSM</a:t>
            </a:r>
            <a:r>
              <a:rPr lang="zh-CN" altLang="en-US" sz="2000"/>
              <a:t>模块的全局配置，我建议用</a:t>
            </a:r>
            <a:r>
              <a:rPr lang="en-US" altLang="zh-CN" sz="2000"/>
              <a:t>TiC2000ware</a:t>
            </a:r>
            <a:r>
              <a:rPr lang="zh-CN" altLang="en-US" sz="2000"/>
              <a:t>中的</a:t>
            </a:r>
            <a:r>
              <a:rPr lang="en-US" altLang="zh-CN" sz="2000"/>
              <a:t>Dcsm_Security_tool</a:t>
            </a:r>
            <a:r>
              <a:rPr lang="zh-CN" altLang="en-US" sz="2000"/>
              <a:t>配置生成对应的</a:t>
            </a:r>
            <a:r>
              <a:rPr lang="en-US" altLang="zh-CN" sz="2000"/>
              <a:t>dcsm.asm</a:t>
            </a:r>
            <a:r>
              <a:rPr lang="zh-CN" altLang="en-US" sz="2000"/>
              <a:t>和</a:t>
            </a:r>
            <a:r>
              <a:rPr lang="en-US" altLang="zh-CN" sz="2000"/>
              <a:t>dcsm.cmd</a:t>
            </a:r>
            <a:r>
              <a:rPr lang="zh-CN" altLang="en-US" sz="2000"/>
              <a:t>文件，再把配置好的文件放入需要用到的工程即可。</a:t>
            </a:r>
            <a:endParaRPr lang="zh-CN" altLang="en-US" sz="2000"/>
          </a:p>
          <a:p>
            <a:r>
              <a:rPr lang="zh-CN" altLang="en-US" sz="2000"/>
              <a:t>这里以配置</a:t>
            </a:r>
            <a:r>
              <a:rPr lang="en-US" altLang="zh-CN" sz="2000"/>
              <a:t>CMACKEY</a:t>
            </a:r>
            <a:r>
              <a:rPr lang="zh-CN" altLang="en-US" sz="2000"/>
              <a:t>为例：</a:t>
            </a:r>
            <a:r>
              <a:rPr lang="en-US" altLang="zh-CN" sz="2000"/>
              <a:t>11223344 55667788 99AABBCC DDEEFF00</a:t>
            </a:r>
            <a:endParaRPr lang="en-US" altLang="zh-CN" sz="2000"/>
          </a:p>
          <a:p>
            <a:r>
              <a:rPr lang="zh-CN" altLang="en-US" sz="2000">
                <a:solidFill>
                  <a:srgbClr val="FF0000"/>
                </a:solidFill>
              </a:rPr>
              <a:t>注意：这里仅演示</a:t>
            </a:r>
            <a:r>
              <a:rPr lang="en-US" altLang="zh-CN" sz="2000">
                <a:solidFill>
                  <a:srgbClr val="FF0000"/>
                </a:solidFill>
              </a:rPr>
              <a:t>CMAC</a:t>
            </a:r>
            <a:r>
              <a:rPr lang="zh-CN" altLang="en-US" sz="2000">
                <a:solidFill>
                  <a:srgbClr val="FF0000"/>
                </a:solidFill>
              </a:rPr>
              <a:t>配置，请勿参照勾选其他安全项</a:t>
            </a:r>
            <a:endParaRPr lang="zh-CN" altLang="en-US" sz="20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" y="2335530"/>
            <a:ext cx="9637395" cy="4301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CMAC_KEY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配置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可以看到生成的</a:t>
            </a:r>
            <a:r>
              <a:rPr lang="en-US" altLang="zh-CN" sz="2000"/>
              <a:t>dcsm.asm</a:t>
            </a:r>
            <a:r>
              <a:rPr lang="zh-CN" altLang="en-US" sz="2000"/>
              <a:t>中已更新</a:t>
            </a:r>
            <a:r>
              <a:rPr lang="en-US" altLang="zh-CN" sz="2000"/>
              <a:t>CMACKEY</a:t>
            </a:r>
            <a:r>
              <a:rPr lang="zh-CN" altLang="en-US" sz="2000"/>
              <a:t>的</a:t>
            </a:r>
            <a:r>
              <a:rPr lang="zh-CN" altLang="en-US" sz="2000"/>
              <a:t>值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10" y="1534795"/>
            <a:ext cx="9029700" cy="4617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CMAC_KEY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配置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dcsm.asm</a:t>
            </a:r>
            <a:r>
              <a:rPr lang="zh-CN" altLang="en-US" sz="2000"/>
              <a:t>汇编文件的作用是对字段填充配置，而</a:t>
            </a:r>
            <a:r>
              <a:rPr lang="en-US" altLang="zh-CN" sz="2000"/>
              <a:t>dcsm.cmd</a:t>
            </a:r>
            <a:r>
              <a:rPr lang="zh-CN" altLang="en-US" sz="2000"/>
              <a:t>的作用是给这些字段做</a:t>
            </a:r>
            <a:r>
              <a:rPr lang="zh-CN" altLang="en-US" sz="2000"/>
              <a:t>分区。</a:t>
            </a:r>
            <a:endParaRPr lang="zh-CN" altLang="en-US" sz="2000"/>
          </a:p>
          <a:p>
            <a:r>
              <a:rPr lang="zh-CN" altLang="en-US" sz="2000"/>
              <a:t>可以看到再</a:t>
            </a:r>
            <a:r>
              <a:rPr lang="en-US" altLang="zh-CN" sz="2000"/>
              <a:t>cmd</a:t>
            </a:r>
            <a:r>
              <a:rPr lang="zh-CN" altLang="en-US" sz="2000"/>
              <a:t>中，程序对不同</a:t>
            </a:r>
            <a:r>
              <a:rPr lang="en-US" altLang="zh-CN" sz="2000"/>
              <a:t>DCSM</a:t>
            </a:r>
            <a:r>
              <a:rPr lang="zh-CN" altLang="en-US" sz="2000"/>
              <a:t>寄存器进行的地址</a:t>
            </a:r>
            <a:r>
              <a:rPr lang="zh-CN" altLang="en-US" sz="2000"/>
              <a:t>声明。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需要注意的是，</a:t>
            </a:r>
            <a:r>
              <a:rPr lang="en-US" altLang="zh-CN" sz="2000"/>
              <a:t>SECTIONS</a:t>
            </a:r>
            <a:r>
              <a:rPr lang="zh-CN" altLang="en-US" sz="2000"/>
              <a:t>中的</a:t>
            </a:r>
            <a:r>
              <a:rPr lang="en-US" altLang="zh-CN" sz="2000"/>
              <a:t>type = DSECT</a:t>
            </a:r>
            <a:r>
              <a:rPr lang="zh-CN" altLang="en-US" sz="2000"/>
              <a:t>意思是，不对该字段操作。</a:t>
            </a:r>
            <a:endParaRPr lang="zh-CN" altLang="en-US" sz="2000"/>
          </a:p>
          <a:p>
            <a:r>
              <a:rPr lang="zh-CN" altLang="en-US" sz="2000"/>
              <a:t>强烈建议不要开启无关安全配置，只开启要测试的</a:t>
            </a:r>
            <a:r>
              <a:rPr lang="en-US" altLang="zh-CN" sz="2000"/>
              <a:t>CMACKEY</a:t>
            </a:r>
            <a:r>
              <a:rPr lang="zh-CN" altLang="en-US" sz="2000"/>
              <a:t>，</a:t>
            </a:r>
            <a:r>
              <a:rPr lang="zh-CN" altLang="en-US" sz="2000"/>
              <a:t>如图所示：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" y="2950845"/>
            <a:ext cx="5892800" cy="35058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775" y="3171825"/>
            <a:ext cx="7243445" cy="3284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CMAC_KEY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配置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在工程中添加</a:t>
            </a:r>
            <a:r>
              <a:rPr lang="en-US" altLang="zh-CN" sz="2000"/>
              <a:t>dcsm.asm</a:t>
            </a:r>
            <a:r>
              <a:rPr lang="zh-CN" altLang="en-US" sz="2000"/>
              <a:t>以及</a:t>
            </a:r>
            <a:r>
              <a:rPr lang="en-US" altLang="zh-CN" sz="2000"/>
              <a:t>dcsm.cmd</a:t>
            </a:r>
            <a:r>
              <a:rPr lang="zh-CN" altLang="en-US" sz="2000"/>
              <a:t>后，对于工程来说就已经分配好了</a:t>
            </a:r>
            <a:r>
              <a:rPr lang="en-US" altLang="zh-CN" sz="2000"/>
              <a:t>OTP</a:t>
            </a:r>
            <a:r>
              <a:rPr lang="zh-CN" altLang="en-US" sz="2000"/>
              <a:t>数据，编译工程后生成的</a:t>
            </a:r>
            <a:r>
              <a:rPr lang="en-US" altLang="zh-CN" sz="2000"/>
              <a:t>.out</a:t>
            </a:r>
            <a:r>
              <a:rPr lang="zh-CN" altLang="en-US" sz="2000"/>
              <a:t>文件烧录后就可以在对应</a:t>
            </a:r>
            <a:r>
              <a:rPr lang="en-US" altLang="zh-CN" sz="2000"/>
              <a:t>OTP</a:t>
            </a:r>
            <a:r>
              <a:rPr lang="zh-CN" altLang="en-US" sz="2000"/>
              <a:t>地址看到配置的</a:t>
            </a:r>
            <a:r>
              <a:rPr lang="zh-CN" altLang="en-US" sz="2000"/>
              <a:t>数据：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0" y="1934845"/>
            <a:ext cx="9002395" cy="3587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经过以上操作，已经成功把用户配置的</a:t>
            </a:r>
            <a:r>
              <a:rPr lang="en-US" altLang="zh-CN" sz="2000"/>
              <a:t>CMACKEY</a:t>
            </a:r>
            <a:r>
              <a:rPr lang="zh-CN" altLang="en-US" sz="2000"/>
              <a:t>写入到</a:t>
            </a:r>
            <a:r>
              <a:rPr lang="en-US" altLang="zh-CN" sz="2000"/>
              <a:t>OTP</a:t>
            </a:r>
            <a:r>
              <a:rPr lang="zh-CN" altLang="en-US" sz="2000"/>
              <a:t>中了，接下来需要用</a:t>
            </a:r>
            <a:r>
              <a:rPr lang="en-US" altLang="zh-CN" sz="2000"/>
              <a:t>Ti</a:t>
            </a:r>
            <a:r>
              <a:rPr lang="zh-CN" altLang="en-US" sz="2000"/>
              <a:t>的</a:t>
            </a:r>
            <a:r>
              <a:rPr lang="en-US" altLang="zh-CN" sz="2000"/>
              <a:t>C2000HEX</a:t>
            </a:r>
            <a:r>
              <a:rPr lang="zh-CN" altLang="en-US" sz="2000"/>
              <a:t>脚本，根据</a:t>
            </a:r>
            <a:r>
              <a:rPr lang="en-US" altLang="zh-CN" sz="2000"/>
              <a:t>CMACKEY</a:t>
            </a:r>
            <a:r>
              <a:rPr lang="zh-CN" altLang="en-US" sz="2000"/>
              <a:t>生成对应的</a:t>
            </a:r>
            <a:r>
              <a:rPr lang="en-US" altLang="zh-CN" sz="2000"/>
              <a:t>CMACTAG</a:t>
            </a:r>
            <a:r>
              <a:rPr lang="zh-CN" altLang="en-US" sz="2000"/>
              <a:t>。</a:t>
            </a:r>
            <a:endParaRPr lang="zh-CN" altLang="en-US" sz="2000"/>
          </a:p>
          <a:p>
            <a:r>
              <a:rPr lang="zh-CN" altLang="en-US" sz="2000"/>
              <a:t>这里需要引入一个概念，</a:t>
            </a:r>
            <a:r>
              <a:rPr lang="en-US" altLang="zh-CN" sz="2000" b="1"/>
              <a:t>CCS</a:t>
            </a:r>
            <a:r>
              <a:rPr lang="zh-CN" altLang="en-US" sz="2000" b="1"/>
              <a:t>生成的</a:t>
            </a:r>
            <a:r>
              <a:rPr lang="en-US" altLang="zh-CN" sz="2000" b="1"/>
              <a:t>.out</a:t>
            </a:r>
            <a:r>
              <a:rPr lang="zh-CN" altLang="en-US" sz="2000" b="1"/>
              <a:t>文件，是包含了所有存储区域，即</a:t>
            </a:r>
            <a:r>
              <a:rPr lang="en-US" altLang="zh-CN" sz="2000" b="1"/>
              <a:t>OTP+FLASH</a:t>
            </a:r>
            <a:r>
              <a:rPr lang="zh-CN" altLang="en-US" sz="2000" b="1"/>
              <a:t>的数据，烧录时会全部写入。但</a:t>
            </a:r>
            <a:r>
              <a:rPr lang="en-US" altLang="zh-CN" sz="2000" b="1"/>
              <a:t>C2000HEX</a:t>
            </a:r>
            <a:r>
              <a:rPr lang="zh-CN" altLang="en-US" sz="2000" b="1"/>
              <a:t>生成的</a:t>
            </a:r>
            <a:r>
              <a:rPr lang="en-US" altLang="zh-CN" sz="2000" b="1"/>
              <a:t>hex</a:t>
            </a:r>
            <a:r>
              <a:rPr lang="zh-CN" altLang="en-US" sz="2000" b="1"/>
              <a:t>文件，是仅包含</a:t>
            </a:r>
            <a:r>
              <a:rPr lang="en-US" altLang="zh-CN" sz="2000" b="1"/>
              <a:t>FLASH</a:t>
            </a:r>
            <a:r>
              <a:rPr lang="zh-CN" altLang="en-US" sz="2000" b="1"/>
              <a:t>数据的，因此我们需要</a:t>
            </a:r>
            <a:r>
              <a:rPr lang="en-US" altLang="zh-CN" sz="2000" b="1"/>
              <a:t>2</a:t>
            </a:r>
            <a:r>
              <a:rPr lang="zh-CN" altLang="en-US" sz="2000" b="1"/>
              <a:t>步烧录</a:t>
            </a:r>
            <a:endParaRPr lang="zh-CN" altLang="en-US" sz="2000" b="1"/>
          </a:p>
        </p:txBody>
      </p:sp>
      <p:sp>
        <p:nvSpPr>
          <p:cNvPr id="4" name="圆角矩形 3"/>
          <p:cNvSpPr/>
          <p:nvPr/>
        </p:nvSpPr>
        <p:spPr>
          <a:xfrm>
            <a:off x="2228215" y="3136265"/>
            <a:ext cx="3117215" cy="177673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先烧录带有</a:t>
            </a:r>
            <a:r>
              <a:rPr lang="en-US" altLang="zh-CN"/>
              <a:t>CMACKEY</a:t>
            </a:r>
            <a:r>
              <a:rPr lang="zh-CN" altLang="en-US"/>
              <a:t>的</a:t>
            </a:r>
            <a:r>
              <a:rPr lang="en-US" altLang="zh-CN"/>
              <a:t>.out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306820" y="3136265"/>
            <a:ext cx="3350260" cy="17970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再烧录</a:t>
            </a:r>
            <a:r>
              <a:rPr lang="en-US" altLang="zh-CN"/>
              <a:t>C2000HEX</a:t>
            </a:r>
            <a:r>
              <a:rPr lang="zh-CN" altLang="en-US"/>
              <a:t>生成带有</a:t>
            </a:r>
            <a:r>
              <a:rPr lang="en-US" altLang="zh-CN"/>
              <a:t>CMACTAG</a:t>
            </a:r>
            <a:r>
              <a:rPr lang="zh-CN" altLang="en-US"/>
              <a:t>的主程序</a:t>
            </a:r>
            <a:r>
              <a:rPr lang="en-US" altLang="zh-CN"/>
              <a:t>hex</a:t>
            </a:r>
            <a:r>
              <a:rPr lang="zh-CN" altLang="en-US"/>
              <a:t>文件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在确定</a:t>
            </a:r>
            <a:r>
              <a:rPr lang="en-US" altLang="zh-CN" sz="2000"/>
              <a:t>CMACKEY</a:t>
            </a:r>
            <a:r>
              <a:rPr lang="zh-CN" altLang="en-US" sz="2000"/>
              <a:t>已经写入后，需要对工程进行以下修改，才能正常生成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55625" y="1719580"/>
            <a:ext cx="101961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1. </a:t>
            </a:r>
            <a:r>
              <a:rPr lang="en-US" altLang="zh-CN" sz="2000"/>
              <a:t>CMACTAG</a:t>
            </a:r>
            <a:r>
              <a:rPr lang="zh-CN" altLang="en-US" sz="2000"/>
              <a:t>是需要写在用户定义入口地址</a:t>
            </a:r>
            <a:r>
              <a:rPr lang="en-US" altLang="zh-CN" sz="2000"/>
              <a:t>+0x2</a:t>
            </a:r>
            <a:r>
              <a:rPr lang="zh-CN" altLang="en-US" sz="2000"/>
              <a:t>后</a:t>
            </a:r>
            <a:r>
              <a:rPr lang="en-US" altLang="zh-CN" sz="2000"/>
              <a:t>8</a:t>
            </a:r>
            <a:r>
              <a:rPr lang="zh-CN" altLang="en-US" sz="2000"/>
              <a:t>字节的位置，详情见</a:t>
            </a:r>
            <a:r>
              <a:rPr lang="zh-CN" altLang="en-US" sz="2000"/>
              <a:t>下表</a:t>
            </a:r>
            <a:endParaRPr lang="zh-CN" altLang="en-US" sz="2000"/>
          </a:p>
          <a:p>
            <a:r>
              <a:rPr lang="zh-CN" altLang="en-US" sz="2000"/>
              <a:t>这里以常规的</a:t>
            </a:r>
            <a:r>
              <a:rPr lang="en-US" altLang="zh-CN" sz="2000"/>
              <a:t>0x80000</a:t>
            </a:r>
            <a:r>
              <a:rPr lang="zh-CN" altLang="en-US" sz="2000"/>
              <a:t>为起始地址，那么黄金标签</a:t>
            </a:r>
            <a:r>
              <a:rPr lang="en-US" altLang="zh-CN" sz="2000"/>
              <a:t>CMACTAG</a:t>
            </a:r>
            <a:r>
              <a:rPr lang="zh-CN" altLang="en-US" sz="2000"/>
              <a:t>就是从</a:t>
            </a:r>
            <a:r>
              <a:rPr lang="en-US" altLang="zh-CN" sz="2000"/>
              <a:t>0x80002</a:t>
            </a:r>
            <a:r>
              <a:rPr lang="zh-CN" altLang="en-US" sz="2000"/>
              <a:t>开始，对此我们需要在程序端的</a:t>
            </a:r>
            <a:r>
              <a:rPr lang="en-US" altLang="zh-CN" sz="2000"/>
              <a:t>CMD</a:t>
            </a:r>
            <a:r>
              <a:rPr lang="zh-CN" altLang="en-US" sz="2000"/>
              <a:t>中把这部分空间预留分配</a:t>
            </a:r>
            <a:r>
              <a:rPr lang="zh-CN" altLang="en-US" sz="2000"/>
              <a:t>出来：</a:t>
            </a:r>
            <a:endParaRPr lang="zh-CN" altLang="en-US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876550"/>
            <a:ext cx="7813040" cy="2270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在确定</a:t>
            </a:r>
            <a:r>
              <a:rPr lang="en-US" altLang="zh-CN" sz="2000"/>
              <a:t>CMACKEY</a:t>
            </a:r>
            <a:r>
              <a:rPr lang="zh-CN" altLang="en-US" sz="2000"/>
              <a:t>已经写入后，需要对工程进行以下修改，才能正常生成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55625" y="1719580"/>
            <a:ext cx="101961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1. </a:t>
            </a:r>
            <a:r>
              <a:rPr lang="en-US" altLang="zh-CN" sz="2000"/>
              <a:t>CMACTAG</a:t>
            </a:r>
            <a:r>
              <a:rPr lang="zh-CN" altLang="en-US" sz="2000"/>
              <a:t>是需要写在用户定义入口地址</a:t>
            </a:r>
            <a:r>
              <a:rPr lang="en-US" altLang="zh-CN" sz="2000"/>
              <a:t>+0x2</a:t>
            </a:r>
            <a:r>
              <a:rPr lang="zh-CN" altLang="en-US" sz="2000"/>
              <a:t>后</a:t>
            </a:r>
            <a:r>
              <a:rPr lang="en-US" altLang="zh-CN" sz="2000"/>
              <a:t>8</a:t>
            </a:r>
            <a:r>
              <a:rPr lang="zh-CN" altLang="en-US" sz="2000"/>
              <a:t>字节的位置，详情见</a:t>
            </a:r>
            <a:r>
              <a:rPr lang="zh-CN" altLang="en-US" sz="2000"/>
              <a:t>下表</a:t>
            </a:r>
            <a:endParaRPr lang="zh-CN" altLang="en-US" sz="2000"/>
          </a:p>
          <a:p>
            <a:r>
              <a:rPr lang="zh-CN" altLang="en-US" sz="2000"/>
              <a:t>这里以常规的</a:t>
            </a:r>
            <a:r>
              <a:rPr lang="en-US" altLang="zh-CN" sz="2000"/>
              <a:t>0x80000</a:t>
            </a:r>
            <a:r>
              <a:rPr lang="zh-CN" altLang="en-US" sz="2000"/>
              <a:t>为起始地址，那么黄金标签</a:t>
            </a:r>
            <a:r>
              <a:rPr lang="en-US" altLang="zh-CN" sz="2000"/>
              <a:t>CMACTAG</a:t>
            </a:r>
            <a:r>
              <a:rPr lang="zh-CN" altLang="en-US" sz="2000"/>
              <a:t>就是从</a:t>
            </a:r>
            <a:r>
              <a:rPr lang="en-US" altLang="zh-CN" sz="2000"/>
              <a:t>0x80002</a:t>
            </a:r>
            <a:r>
              <a:rPr lang="zh-CN" altLang="en-US" sz="2000"/>
              <a:t>开始，对此我们需要在程序端的</a:t>
            </a:r>
            <a:r>
              <a:rPr lang="en-US" altLang="zh-CN" sz="2000"/>
              <a:t>CMD</a:t>
            </a:r>
            <a:r>
              <a:rPr lang="zh-CN" altLang="en-US" sz="2000"/>
              <a:t>中把这部分空间预留分配</a:t>
            </a:r>
            <a:r>
              <a:rPr lang="zh-CN" altLang="en-US" sz="2000"/>
              <a:t>出来：</a:t>
            </a:r>
            <a:endParaRPr lang="zh-CN" altLang="en-US" sz="2000"/>
          </a:p>
          <a:p>
            <a:r>
              <a:rPr lang="en-US" altLang="zh-CN" sz="2000"/>
              <a:t>CMD</a:t>
            </a:r>
            <a:r>
              <a:rPr lang="zh-CN" altLang="en-US" sz="2000"/>
              <a:t>中需要把这部分预留，不要分配给字段</a:t>
            </a:r>
            <a:r>
              <a:rPr lang="zh-CN" altLang="en-US" sz="2000"/>
              <a:t>使用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5" y="3084195"/>
            <a:ext cx="5048250" cy="30873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335" y="4077335"/>
            <a:ext cx="6057900" cy="20040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84595" y="3307715"/>
            <a:ext cx="44672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程序中需要定义</a:t>
            </a:r>
            <a:r>
              <a:rPr lang="en-US" altLang="zh-CN" sz="2000"/>
              <a:t>CMACTAG</a:t>
            </a:r>
            <a:r>
              <a:rPr lang="zh-CN" altLang="en-US" sz="2000"/>
              <a:t>结构体并定义数组预留位置，加在</a:t>
            </a:r>
            <a:r>
              <a:rPr lang="en-US" altLang="zh-CN" sz="2000"/>
              <a:t>main</a:t>
            </a:r>
            <a:r>
              <a:rPr lang="zh-CN" altLang="en-US" sz="2000"/>
              <a:t>之前</a:t>
            </a:r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在确定</a:t>
            </a:r>
            <a:r>
              <a:rPr lang="en-US" altLang="zh-CN" sz="2000"/>
              <a:t>CMACKEY</a:t>
            </a:r>
            <a:r>
              <a:rPr lang="zh-CN" altLang="en-US" sz="2000"/>
              <a:t>已经写入后，需要对工程进行以下修改，才能正常生成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55625" y="1719580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2. </a:t>
            </a:r>
            <a:r>
              <a:rPr lang="zh-CN" altLang="en-US" sz="2000"/>
              <a:t>右键工程，选择配置，进入</a:t>
            </a:r>
            <a:r>
              <a:rPr lang="en-US" altLang="zh-CN" sz="2000"/>
              <a:t>C2000</a:t>
            </a:r>
            <a:r>
              <a:rPr lang="en-US" altLang="zh-CN" sz="2000"/>
              <a:t>HEX</a:t>
            </a:r>
            <a:endParaRPr lang="en-US" altLang="zh-CN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90" y="2573655"/>
            <a:ext cx="3977640" cy="33985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075" y="1864995"/>
            <a:ext cx="6276975" cy="46615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在确定</a:t>
            </a:r>
            <a:r>
              <a:rPr lang="en-US" altLang="zh-CN" sz="2000"/>
              <a:t>CMACKEY</a:t>
            </a:r>
            <a:r>
              <a:rPr lang="zh-CN" altLang="en-US" sz="2000"/>
              <a:t>已经写入后，需要对工程进行以下修改，才能正常生成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55625" y="1719580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2. </a:t>
            </a:r>
            <a:r>
              <a:rPr lang="zh-CN" altLang="en-US" sz="2000"/>
              <a:t>工程中添加带有</a:t>
            </a:r>
            <a:r>
              <a:rPr lang="en-US" altLang="zh-CN" sz="2000"/>
              <a:t>CMACKEY</a:t>
            </a:r>
            <a:r>
              <a:rPr lang="zh-CN" altLang="en-US" sz="2000"/>
              <a:t>的</a:t>
            </a:r>
            <a:r>
              <a:rPr lang="en-US" altLang="zh-CN" sz="2000"/>
              <a:t>txt</a:t>
            </a:r>
            <a:r>
              <a:rPr lang="zh-CN" altLang="en-US" sz="2000"/>
              <a:t>文本文件，内容</a:t>
            </a:r>
            <a:r>
              <a:rPr lang="zh-CN" altLang="en-US" sz="2000"/>
              <a:t>如下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5" y="3615055"/>
            <a:ext cx="3408680" cy="25736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75" y="2268220"/>
            <a:ext cx="3741420" cy="609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5625" y="2950210"/>
            <a:ext cx="110699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3. </a:t>
            </a:r>
            <a:r>
              <a:rPr lang="zh-CN" altLang="en-US" sz="2000"/>
              <a:t>工程中添加</a:t>
            </a:r>
            <a:r>
              <a:rPr lang="en-US" altLang="zh-CN" sz="2000"/>
              <a:t>hex</a:t>
            </a:r>
            <a:r>
              <a:rPr lang="zh-CN" altLang="en-US" sz="2000"/>
              <a:t>生成范围的</a:t>
            </a:r>
            <a:r>
              <a:rPr lang="en-US" altLang="zh-CN" sz="2000"/>
              <a:t>cmd</a:t>
            </a:r>
            <a:r>
              <a:rPr lang="zh-CN" altLang="en-US" sz="2000"/>
              <a:t>文件，包含用户工程</a:t>
            </a:r>
            <a:r>
              <a:rPr lang="en-US" altLang="zh-CN" sz="2000"/>
              <a:t>flash</a:t>
            </a:r>
            <a:r>
              <a:rPr lang="zh-CN" altLang="en-US" sz="2000"/>
              <a:t>起始地址和长度，</a:t>
            </a:r>
            <a:r>
              <a:rPr lang="zh-CN" altLang="en-US" sz="2000"/>
              <a:t>参考如下：</a:t>
            </a:r>
            <a:endParaRPr lang="zh-CN" altLang="en-US" sz="2000"/>
          </a:p>
          <a:p>
            <a:r>
              <a:rPr lang="zh-CN" altLang="en-US" sz="2000"/>
              <a:t>我这里演示</a:t>
            </a:r>
            <a:r>
              <a:rPr lang="en-US" altLang="zh-CN" sz="2000"/>
              <a:t>0x80000</a:t>
            </a:r>
            <a:r>
              <a:rPr lang="zh-CN" altLang="en-US" sz="2000"/>
              <a:t>开始，</a:t>
            </a:r>
            <a:r>
              <a:rPr lang="en-US" altLang="zh-CN" sz="2000"/>
              <a:t>30000</a:t>
            </a:r>
            <a:r>
              <a:rPr lang="zh-CN" altLang="en-US" sz="2000"/>
              <a:t>长度，包含</a:t>
            </a:r>
            <a:r>
              <a:rPr lang="en-US" altLang="zh-CN" sz="2000"/>
              <a:t>280039</a:t>
            </a:r>
            <a:r>
              <a:rPr lang="zh-CN" altLang="en-US" sz="2000"/>
              <a:t>的</a:t>
            </a:r>
            <a:r>
              <a:rPr lang="en-US" altLang="zh-CN" sz="2000"/>
              <a:t>BANK0-BANK2</a:t>
            </a:r>
            <a:r>
              <a:rPr lang="zh-CN" altLang="en-US" sz="2000"/>
              <a:t>，无程序段用</a:t>
            </a:r>
            <a:r>
              <a:rPr lang="en-US" altLang="zh-CN" sz="2000"/>
              <a:t>ffff</a:t>
            </a:r>
            <a:r>
              <a:rPr lang="zh-CN" altLang="en-US" sz="2000"/>
              <a:t>填充</a:t>
            </a:r>
            <a:endParaRPr lang="zh-CN" altLang="en-US" sz="2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860" y="3615055"/>
            <a:ext cx="610362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在确定</a:t>
            </a:r>
            <a:r>
              <a:rPr lang="en-US" altLang="zh-CN" sz="2000"/>
              <a:t>CMACKEY</a:t>
            </a:r>
            <a:r>
              <a:rPr lang="zh-CN" altLang="en-US" sz="2000"/>
              <a:t>已经写入后，需要对工程进行以下修改，才能正常生成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432435" y="1586230"/>
            <a:ext cx="101961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4. </a:t>
            </a:r>
            <a:r>
              <a:rPr lang="zh-CN" altLang="en-US" sz="2000"/>
              <a:t>以上工作完成后，就可以配置</a:t>
            </a:r>
            <a:r>
              <a:rPr lang="en-US" altLang="zh-CN" sz="2000"/>
              <a:t>C2000HEX</a:t>
            </a:r>
            <a:r>
              <a:rPr lang="zh-CN" altLang="en-US" sz="2000"/>
              <a:t>生成带有</a:t>
            </a:r>
            <a:r>
              <a:rPr lang="en-US" altLang="zh-CN" sz="2000"/>
              <a:t>CMACTAG</a:t>
            </a:r>
            <a:r>
              <a:rPr lang="zh-CN" altLang="en-US" sz="2000"/>
              <a:t>的</a:t>
            </a:r>
            <a:r>
              <a:rPr lang="en-US" altLang="zh-CN" sz="2000"/>
              <a:t>hex</a:t>
            </a:r>
            <a:r>
              <a:rPr lang="zh-CN" altLang="en-US" sz="2000"/>
              <a:t>文件：</a:t>
            </a:r>
            <a:endParaRPr lang="zh-CN" altLang="en-US" sz="2000"/>
          </a:p>
          <a:p>
            <a:r>
              <a:rPr lang="zh-CN" altLang="en-US" sz="2000"/>
              <a:t>右键工程配置，开启</a:t>
            </a:r>
            <a:r>
              <a:rPr lang="en-US" altLang="zh-CN" sz="2000"/>
              <a:t>C2000</a:t>
            </a:r>
            <a:r>
              <a:rPr lang="en-US" altLang="zh-CN" sz="2000"/>
              <a:t>HEX</a:t>
            </a:r>
            <a:endParaRPr lang="en-US" altLang="zh-CN" sz="2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2782570"/>
            <a:ext cx="4556760" cy="33375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20" y="2339975"/>
            <a:ext cx="6331585" cy="4222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5625" y="1054735"/>
            <a:ext cx="101961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在确定</a:t>
            </a:r>
            <a:r>
              <a:rPr lang="en-US" altLang="zh-CN" sz="2000"/>
              <a:t>CMACKEY</a:t>
            </a:r>
            <a:r>
              <a:rPr lang="zh-CN" altLang="en-US" sz="2000"/>
              <a:t>已经写入后，需要对工程进行以下修改，才能正常生成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432435" y="1586230"/>
            <a:ext cx="101961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4. </a:t>
            </a:r>
            <a:r>
              <a:rPr lang="zh-CN" altLang="en-US" sz="2000"/>
              <a:t>以上工作完成后，就可以配置</a:t>
            </a:r>
            <a:r>
              <a:rPr lang="en-US" altLang="zh-CN" sz="2000"/>
              <a:t>C2000HEX</a:t>
            </a:r>
            <a:r>
              <a:rPr lang="zh-CN" altLang="en-US" sz="2000"/>
              <a:t>生成带有</a:t>
            </a:r>
            <a:r>
              <a:rPr lang="en-US" altLang="zh-CN" sz="2000"/>
              <a:t>CMACTAG</a:t>
            </a:r>
            <a:r>
              <a:rPr lang="zh-CN" altLang="en-US" sz="2000"/>
              <a:t>的</a:t>
            </a:r>
            <a:r>
              <a:rPr lang="en-US" altLang="zh-CN" sz="2000"/>
              <a:t>hex</a:t>
            </a:r>
            <a:r>
              <a:rPr lang="zh-CN" altLang="en-US" sz="2000"/>
              <a:t>文件：</a:t>
            </a:r>
            <a:endParaRPr lang="zh-CN" altLang="en-US" sz="2000"/>
          </a:p>
          <a:p>
            <a:r>
              <a:rPr lang="zh-CN" altLang="en-US" sz="2000"/>
              <a:t>右键工程配置，开启</a:t>
            </a:r>
            <a:r>
              <a:rPr lang="en-US" altLang="zh-CN" sz="2000"/>
              <a:t>C2000</a:t>
            </a:r>
            <a:r>
              <a:rPr lang="en-US" altLang="zh-CN" sz="2000"/>
              <a:t>HEX</a:t>
            </a:r>
            <a:endParaRPr lang="en-US" altLang="zh-CN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510" y="2023110"/>
            <a:ext cx="6948805" cy="46018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-381001" y="266700"/>
            <a:ext cx="3808094" cy="859155"/>
            <a:chOff x="3136510" y="3169020"/>
            <a:chExt cx="3808163" cy="859234"/>
          </a:xfrm>
        </p:grpSpPr>
        <p:sp>
          <p:nvSpPr>
            <p:cNvPr id="10" name="矩形 9"/>
            <p:cNvSpPr/>
            <p:nvPr/>
          </p:nvSpPr>
          <p:spPr>
            <a:xfrm>
              <a:off x="3315583" y="3169020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CMAC_TAG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生成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1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2435" y="1156970"/>
            <a:ext cx="101961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以上配置完成后，编译工程，可以在</a:t>
            </a:r>
            <a:r>
              <a:rPr lang="en-US" altLang="zh-CN" sz="2000"/>
              <a:t>debug</a:t>
            </a:r>
            <a:r>
              <a:rPr lang="zh-CN" altLang="en-US" sz="2000"/>
              <a:t>文件夹下看到生成的</a:t>
            </a:r>
            <a:r>
              <a:rPr lang="en-US" altLang="zh-CN" sz="2000"/>
              <a:t>hex</a:t>
            </a:r>
            <a:r>
              <a:rPr lang="zh-CN" altLang="en-US" sz="2000"/>
              <a:t>文件</a:t>
            </a:r>
            <a:endParaRPr lang="zh-CN" altLang="en-US" sz="2000"/>
          </a:p>
          <a:p>
            <a:r>
              <a:rPr lang="zh-CN" altLang="en-US" sz="2000"/>
              <a:t>将该文件烧录后，可以看到在</a:t>
            </a:r>
            <a:r>
              <a:rPr lang="en-US" altLang="zh-CN" sz="2000"/>
              <a:t>0x80002</a:t>
            </a:r>
            <a:r>
              <a:rPr lang="zh-CN" altLang="en-US" sz="2000"/>
              <a:t>开始后面为生成的</a:t>
            </a:r>
            <a:r>
              <a:rPr lang="en-US" altLang="zh-CN" sz="2000"/>
              <a:t>CMAC</a:t>
            </a:r>
            <a:r>
              <a:rPr lang="en-US" altLang="zh-CN" sz="2000"/>
              <a:t>TAG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前面</a:t>
            </a:r>
            <a:r>
              <a:rPr lang="en-US" altLang="zh-CN" sz="2000"/>
              <a:t>0x80000-0x80002</a:t>
            </a:r>
            <a:r>
              <a:rPr lang="zh-CN" altLang="en-US" sz="2000"/>
              <a:t>为</a:t>
            </a:r>
            <a:r>
              <a:rPr lang="en-US" altLang="zh-CN" sz="2000"/>
              <a:t>BEGIN</a:t>
            </a:r>
            <a:r>
              <a:rPr lang="zh-CN" altLang="en-US" sz="2000"/>
              <a:t>地址</a:t>
            </a: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" y="2828290"/>
            <a:ext cx="3268980" cy="3505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125" y="2975610"/>
            <a:ext cx="79248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144144" y="266700"/>
            <a:ext cx="3629024" cy="788035"/>
            <a:chOff x="2759948" y="3240147"/>
            <a:chExt cx="3629090" cy="788107"/>
          </a:xfrm>
        </p:grpSpPr>
        <p:sp>
          <p:nvSpPr>
            <p:cNvPr id="10" name="矩形 9"/>
            <p:cNvSpPr/>
            <p:nvPr/>
          </p:nvSpPr>
          <p:spPr>
            <a:xfrm>
              <a:off x="2759948" y="3240147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安全引导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仿真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2160" y="889635"/>
            <a:ext cx="101961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经过以上配置，目前</a:t>
            </a:r>
            <a:r>
              <a:rPr lang="en-US" altLang="zh-CN" sz="2000"/>
              <a:t>DSP</a:t>
            </a:r>
            <a:r>
              <a:rPr lang="zh-CN" altLang="en-US" sz="2000"/>
              <a:t>的</a:t>
            </a:r>
            <a:r>
              <a:rPr lang="en-US" altLang="zh-CN" sz="2000"/>
              <a:t>OTP</a:t>
            </a:r>
            <a:r>
              <a:rPr lang="zh-CN" altLang="en-US" sz="2000"/>
              <a:t>中已经存在</a:t>
            </a:r>
            <a:r>
              <a:rPr lang="en-US" altLang="zh-CN" sz="2000"/>
              <a:t>CMACKEY</a:t>
            </a:r>
            <a:r>
              <a:rPr lang="zh-CN" altLang="en-US" sz="2000"/>
              <a:t>，</a:t>
            </a:r>
            <a:r>
              <a:rPr lang="en-US" altLang="zh-CN" sz="2000"/>
              <a:t>flash</a:t>
            </a:r>
            <a:r>
              <a:rPr lang="zh-CN" altLang="en-US" sz="2000"/>
              <a:t>中也存在</a:t>
            </a:r>
            <a:r>
              <a:rPr lang="en-US" altLang="zh-CN" sz="2000"/>
              <a:t>CMACTAG</a:t>
            </a:r>
            <a:r>
              <a:rPr lang="zh-CN" altLang="en-US" sz="2000"/>
              <a:t>。</a:t>
            </a:r>
            <a:endParaRPr lang="zh-CN" altLang="en-US" sz="2000"/>
          </a:p>
          <a:p>
            <a:r>
              <a:rPr lang="zh-CN" altLang="en-US" sz="2000"/>
              <a:t>接下来的思路就是更改芯片的引导模式，让其从安全引导启动。</a:t>
            </a:r>
            <a:endParaRPr lang="en-US" altLang="zh-CN" sz="2000"/>
          </a:p>
          <a:p>
            <a:endParaRPr lang="zh-CN" altLang="en-US" sz="2000"/>
          </a:p>
          <a:p>
            <a:r>
              <a:rPr lang="zh-CN" altLang="en-US" sz="2000"/>
              <a:t>芯片永久更改安全引导，同样需要在</a:t>
            </a:r>
            <a:r>
              <a:rPr lang="en-US" altLang="zh-CN" sz="2000"/>
              <a:t>DCSM</a:t>
            </a:r>
            <a:r>
              <a:rPr lang="zh-CN" altLang="en-US" sz="2000"/>
              <a:t>模块中配置</a:t>
            </a:r>
            <a:r>
              <a:rPr lang="en-US" altLang="zh-CN" sz="2000"/>
              <a:t>OTP</a:t>
            </a:r>
            <a:r>
              <a:rPr lang="zh-CN" altLang="en-US" sz="2000"/>
              <a:t>数据，</a:t>
            </a:r>
            <a:r>
              <a:rPr lang="zh-CN" altLang="en-US" sz="2000" b="1"/>
              <a:t>但是如果一旦配置了</a:t>
            </a:r>
            <a:r>
              <a:rPr lang="en-US" altLang="zh-CN" sz="2000" b="1"/>
              <a:t>OTP</a:t>
            </a:r>
            <a:r>
              <a:rPr lang="zh-CN" altLang="en-US" sz="2000" b="1"/>
              <a:t>，则该芯片永久安全启动，无法再调试其他程序了</a:t>
            </a:r>
            <a:r>
              <a:rPr lang="zh-CN" altLang="en-US" sz="2000"/>
              <a:t>，所以为了模拟，我们可以通过</a:t>
            </a:r>
            <a:r>
              <a:rPr lang="en-US" altLang="zh-CN" sz="2000"/>
              <a:t>EMU_BOOTDEF</a:t>
            </a:r>
            <a:r>
              <a:rPr lang="zh-CN" altLang="en-US" sz="2000"/>
              <a:t>寄存器去仿真。</a:t>
            </a:r>
            <a:r>
              <a:rPr lang="en-US" altLang="zh-CN" sz="2000"/>
              <a:t>ti</a:t>
            </a:r>
            <a:r>
              <a:rPr lang="zh-CN" altLang="en-US" sz="2000"/>
              <a:t>的手册中也有</a:t>
            </a:r>
            <a:r>
              <a:rPr lang="zh-CN" altLang="en-US" sz="2000"/>
              <a:t>提到：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2970530"/>
            <a:ext cx="10752455" cy="21202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144144" y="266700"/>
            <a:ext cx="3629024" cy="788035"/>
            <a:chOff x="2759948" y="3240147"/>
            <a:chExt cx="3629090" cy="788107"/>
          </a:xfrm>
        </p:grpSpPr>
        <p:sp>
          <p:nvSpPr>
            <p:cNvPr id="10" name="矩形 9"/>
            <p:cNvSpPr/>
            <p:nvPr/>
          </p:nvSpPr>
          <p:spPr>
            <a:xfrm>
              <a:off x="2759948" y="3240147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安全引导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仿真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2160" y="889635"/>
            <a:ext cx="10196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芯片烧录</a:t>
            </a:r>
            <a:r>
              <a:rPr lang="en-US" altLang="zh-CN" sz="2000"/>
              <a:t>HEX</a:t>
            </a:r>
            <a:r>
              <a:rPr lang="zh-CN" altLang="en-US" sz="2000"/>
              <a:t>后，断开仿真器链接，再重新链接芯片，此时</a:t>
            </a:r>
            <a:r>
              <a:rPr lang="en-US" altLang="zh-CN" sz="2000"/>
              <a:t>DSP</a:t>
            </a:r>
            <a:r>
              <a:rPr lang="zh-CN" altLang="en-US" sz="2000"/>
              <a:t>会</a:t>
            </a:r>
            <a:r>
              <a:rPr lang="zh-CN" altLang="en-US" sz="2000"/>
              <a:t>复位。</a:t>
            </a:r>
            <a:endParaRPr lang="zh-CN" altLang="en-US" sz="2000"/>
          </a:p>
          <a:p>
            <a:r>
              <a:rPr lang="zh-CN" altLang="en-US" sz="2000"/>
              <a:t>用户可以通过</a:t>
            </a:r>
            <a:r>
              <a:rPr lang="en-US" altLang="zh-CN" sz="2000"/>
              <a:t>Memory Browser</a:t>
            </a:r>
            <a:r>
              <a:rPr lang="zh-CN" altLang="en-US" sz="2000"/>
              <a:t>定位</a:t>
            </a:r>
            <a:r>
              <a:rPr lang="en-US" altLang="zh-CN" sz="2000"/>
              <a:t>0x0D00</a:t>
            </a:r>
            <a:r>
              <a:rPr lang="zh-CN" altLang="en-US" sz="2000"/>
              <a:t>和</a:t>
            </a:r>
            <a:r>
              <a:rPr lang="en-US" altLang="zh-CN" sz="2000"/>
              <a:t>0x0D04</a:t>
            </a:r>
            <a:r>
              <a:rPr lang="zh-CN" altLang="en-US" sz="2000"/>
              <a:t>按照</a:t>
            </a:r>
            <a:r>
              <a:rPr lang="en-US" altLang="zh-CN" sz="2000"/>
              <a:t>ti</a:t>
            </a:r>
            <a:r>
              <a:rPr lang="zh-CN" altLang="en-US" sz="2000"/>
              <a:t>的说明给地址</a:t>
            </a:r>
            <a:r>
              <a:rPr lang="zh-CN" altLang="en-US" sz="2000"/>
              <a:t>赋值。</a:t>
            </a:r>
            <a:endParaRPr lang="zh-CN" altLang="en-US" sz="2000"/>
          </a:p>
          <a:p>
            <a:r>
              <a:rPr lang="zh-CN" altLang="en-US" sz="2000"/>
              <a:t>参考下图，在修改模拟引导模式为安全引导启动后，程序可以正常运行到主循环，说明匹配无误，程序可以正常</a:t>
            </a:r>
            <a:r>
              <a:rPr lang="zh-CN" altLang="en-US" sz="2000"/>
              <a:t>运行。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30" y="2480310"/>
            <a:ext cx="860298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 rot="0">
            <a:off x="144144" y="266700"/>
            <a:ext cx="3629024" cy="788035"/>
            <a:chOff x="2759948" y="3240147"/>
            <a:chExt cx="3629090" cy="788107"/>
          </a:xfrm>
        </p:grpSpPr>
        <p:sp>
          <p:nvSpPr>
            <p:cNvPr id="10" name="矩形 9"/>
            <p:cNvSpPr/>
            <p:nvPr/>
          </p:nvSpPr>
          <p:spPr>
            <a:xfrm>
              <a:off x="2759948" y="3240147"/>
              <a:ext cx="3629090" cy="52201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安全引导</a:t>
              </a:r>
              <a:r>
                <a:rPr lang="zh-CN" altLang="en-US" sz="28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  <a:hlinkClick r:id="rId1" action="ppaction://hlinksldjump"/>
                </a:rPr>
                <a:t>仿真</a:t>
              </a:r>
              <a:endParaRPr lang="zh-CN" alt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  <a:hlinkClick r:id="rId1" action="ppaction://hlinksldjump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36510" y="3691038"/>
              <a:ext cx="2609262" cy="3372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/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" name="图片 2" descr="65f91e9ede8511ff8378a49e0fde4cc"/>
          <p:cNvPicPr>
            <a:picLocks noChangeAspect="1"/>
          </p:cNvPicPr>
          <p:nvPr/>
        </p:nvPicPr>
        <p:blipFill>
          <a:blip r:embed="rId2"/>
          <a:srcRect t="23916" b="22003"/>
          <a:stretch>
            <a:fillRect/>
          </a:stretch>
        </p:blipFill>
        <p:spPr>
          <a:xfrm>
            <a:off x="9584690" y="0"/>
            <a:ext cx="2607310" cy="10547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2160" y="889635"/>
            <a:ext cx="101961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如果重新刷入错误的</a:t>
            </a:r>
            <a:r>
              <a:rPr lang="en-US" altLang="zh-CN" sz="2000"/>
              <a:t>CMACTAG</a:t>
            </a:r>
            <a:r>
              <a:rPr lang="zh-CN" altLang="en-US" sz="2000"/>
              <a:t>程序，同样都模拟安全引导启动，程序也无法</a:t>
            </a:r>
            <a:r>
              <a:rPr lang="zh-CN" altLang="en-US" sz="2000"/>
              <a:t>进入</a:t>
            </a:r>
            <a:endParaRPr lang="zh-CN" altLang="en-US" sz="2000"/>
          </a:p>
          <a:p>
            <a:r>
              <a:rPr lang="zh-CN" altLang="en-US" sz="2000"/>
              <a:t>用户程序，一直在</a:t>
            </a:r>
            <a:r>
              <a:rPr lang="en-US" altLang="zh-CN" sz="2000"/>
              <a:t>bootrom</a:t>
            </a:r>
            <a:r>
              <a:rPr lang="zh-CN" altLang="en-US" sz="2000"/>
              <a:t>中</a:t>
            </a:r>
            <a:r>
              <a:rPr lang="zh-CN" altLang="en-US" sz="2000"/>
              <a:t>复位：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515" y="1697355"/>
            <a:ext cx="9261475" cy="43980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6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7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8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9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0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1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2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3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4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5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6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7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8.xml><?xml version="1.0" encoding="utf-8"?>
<p:tagLst xmlns:p="http://schemas.openxmlformats.org/presentationml/2006/main">
  <p:tag name="KSO_WM_DIAGRAM_VIRTUALLY_FRAME" val="{&quot;height&quot;:346.67590551181104,&quot;left&quot;:243.85,&quot;top&quot;:100.55,&quot;width&quot;:432.4685039370079}"/>
</p:tagLst>
</file>

<file path=ppt/tags/tag19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8"/>
  <p:tag name="KSO_WM_SPECIAL_SOURCE" val="bdnull"/>
  <p:tag name="KSO_WM_SLIDE_ID" val="diagram20231068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LAYOUT" val="a_m"/>
  <p:tag name="KSO_WM_SLIDE_LAYOUT_CNT" val="1_1"/>
  <p:tag name="KSO_WM_SLIDE_TYPE" val="text"/>
  <p:tag name="KSO_WM_SLIDE_SUBTYPE" val="diag"/>
  <p:tag name="KSO_WM_SLIDE_SIZE" val="845.9*279.7"/>
  <p:tag name="KSO_WM_SLIDE_POSITION" val="66.522*170"/>
  <p:tag name="KSO_WM_DIAGRAM_GROUP_CODE" val="m1-1"/>
  <p:tag name="KSO_WM_SLIDE_DIAGTYPE" val="m"/>
</p:tagLst>
</file>

<file path=ppt/theme/theme1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1eyvzsk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WPS 演示</Application>
  <PresentationFormat>宽屏</PresentationFormat>
  <Paragraphs>149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DIN-BlackItalic</vt:lpstr>
      <vt:lpstr>Segoe Print</vt:lpstr>
      <vt:lpstr>Segoe UI</vt:lpstr>
      <vt:lpstr>Arial Unicode MS</vt:lpstr>
      <vt:lpstr>Calibri</vt:lpstr>
      <vt:lpstr>黑体</vt:lpstr>
      <vt:lpstr>Office 主题​​</vt:lpstr>
      <vt:lpstr>PowerPoint 演示文稿</vt:lpstr>
      <vt:lpstr>PowerPoint 演示文稿</vt:lpstr>
      <vt:lpstr>产品目录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Sheng xia</dc:creator>
  <cp:lastModifiedBy>Biy</cp:lastModifiedBy>
  <cp:revision>68</cp:revision>
  <dcterms:created xsi:type="dcterms:W3CDTF">2020-11-18T12:01:00Z</dcterms:created>
  <dcterms:modified xsi:type="dcterms:W3CDTF">2026-07-30T09:50:20Z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TemplateUUID">
    <vt:lpwstr>v1.0_mb_nExWx4yflLJo75D2YYg1Fg==</vt:lpwstr>
  </property>
  <property fmtid="{D5CDD505-2E9C-101B-9397-08002B2CF9AE}" pid="4" name="ICV">
    <vt:lpwstr>8C824742F8974133B87F24A2ADFF1D46_12</vt:lpwstr>
  </property>
</Properties>
</file>