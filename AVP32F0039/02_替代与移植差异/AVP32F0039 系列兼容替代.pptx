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63" r:id="rId4"/>
    <p:sldId id="257" r:id="rId5"/>
    <p:sldId id="258" r:id="rId6"/>
    <p:sldId id="266" r:id="rId7"/>
    <p:sldId id="264" r:id="rId8"/>
    <p:sldId id="265" r:id="rId9"/>
    <p:sldId id="259" r:id="rId10"/>
    <p:sldId id="268" r:id="rId11"/>
    <p:sldId id="267" r:id="rId12"/>
    <p:sldId id="269" r:id="rId13"/>
    <p:sldId id="260" r:id="rId14"/>
    <p:sldId id="261" r:id="rId1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348" y="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C5151C-ED44-4A0E-BC21-126377EEF62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BE156-61FA-47F1-AE1D-FECA6E1B8CB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C5151C-ED44-4A0E-BC21-126377EEF62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BE156-61FA-47F1-AE1D-FECA6E1B8CB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C5151C-ED44-4A0E-BC21-126377EEF62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BE156-61FA-47F1-AE1D-FECA6E1B8CB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C5151C-ED44-4A0E-BC21-126377EEF62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BE156-61FA-47F1-AE1D-FECA6E1B8CB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C5151C-ED44-4A0E-BC21-126377EEF62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BE156-61FA-47F1-AE1D-FECA6E1B8CB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C5151C-ED44-4A0E-BC21-126377EEF62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BE156-61FA-47F1-AE1D-FECA6E1B8CB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C5151C-ED44-4A0E-BC21-126377EEF62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BE156-61FA-47F1-AE1D-FECA6E1B8CB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C5151C-ED44-4A0E-BC21-126377EEF62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BE156-61FA-47F1-AE1D-FECA6E1B8CB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C5151C-ED44-4A0E-BC21-126377EEF62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BE156-61FA-47F1-AE1D-FECA6E1B8CB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C5151C-ED44-4A0E-BC21-126377EEF62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BE156-61FA-47F1-AE1D-FECA6E1B8CB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C5151C-ED44-4A0E-BC21-126377EEF62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BE156-61FA-47F1-AE1D-FECA6E1B8CB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C5151C-ED44-4A0E-BC21-126377EEF62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7BE156-61FA-47F1-AE1D-FECA6E1B8CB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800100" y="190500"/>
            <a:ext cx="23391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产品封装列表</a:t>
            </a:r>
            <a:endParaRPr lang="zh-CN" altLang="en-US" sz="2800" dirty="0">
              <a:latin typeface="宋体" panose="02010600030101010101" pitchFamily="2" charset="-122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800100" y="713720"/>
          <a:ext cx="1078230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5700"/>
                <a:gridCol w="2089150"/>
                <a:gridCol w="2089150"/>
                <a:gridCol w="2089150"/>
                <a:gridCol w="2089150"/>
              </a:tblGrid>
              <a:tr h="258657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封装形式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AVP32F0039</a:t>
                      </a:r>
                      <a:r>
                        <a:rPr lang="zh-CN" altLang="en-US" dirty="0"/>
                        <a:t>系列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AVP32F0025</a:t>
                      </a:r>
                      <a:r>
                        <a:rPr lang="zh-CN" altLang="en-US" dirty="0"/>
                        <a:t>系列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AVP32F00157</a:t>
                      </a:r>
                      <a:r>
                        <a:rPr lang="zh-CN" altLang="en-US" dirty="0"/>
                        <a:t>系列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AVP32F00137</a:t>
                      </a:r>
                      <a:r>
                        <a:rPr lang="zh-CN" altLang="en-US" dirty="0"/>
                        <a:t>系列</a:t>
                      </a:r>
                      <a:endParaRPr lang="zh-CN" altLang="en-US" dirty="0"/>
                    </a:p>
                  </a:txBody>
                  <a:tcPr/>
                </a:tc>
              </a:tr>
              <a:tr h="258657">
                <a:tc>
                  <a:txBody>
                    <a:bodyPr/>
                    <a:lstStyle/>
                    <a:p>
                      <a:pPr algn="l"/>
                      <a:r>
                        <a:rPr lang="en-US" altLang="zh-CN" dirty="0"/>
                        <a:t>QP100S/Q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✔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 anchor="ctr"/>
                </a:tc>
              </a:tr>
              <a:tr h="258657">
                <a:tc>
                  <a:txBody>
                    <a:bodyPr/>
                    <a:lstStyle/>
                    <a:p>
                      <a:pPr lvl="1" algn="l"/>
                      <a:r>
                        <a:rPr lang="en-US" altLang="zh-CN" dirty="0"/>
                        <a:t>QP80S/Q-39/25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dirty="0"/>
                        <a:t>✔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dirty="0"/>
                        <a:t>✔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dirty="0">
                        <a:solidFill>
                          <a:schemeClr val="accent6">
                            <a:lumMod val="75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 anchor="ctr"/>
                </a:tc>
              </a:tr>
              <a:tr h="258657">
                <a:tc>
                  <a:txBody>
                    <a:bodyPr/>
                    <a:lstStyle/>
                    <a:p>
                      <a:pPr lvl="1" algn="l"/>
                      <a:r>
                        <a:rPr lang="en-US" altLang="zh-CN" dirty="0"/>
                        <a:t>QP80Q-157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✔</a:t>
                      </a:r>
                      <a:endParaRPr lang="zh-CN" altLang="en-US" dirty="0">
                        <a:solidFill>
                          <a:schemeClr val="accent6">
                            <a:lumMod val="75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/>
                </a:tc>
              </a:tr>
              <a:tr h="258657">
                <a:tc>
                  <a:txBody>
                    <a:bodyPr/>
                    <a:lstStyle/>
                    <a:p>
                      <a:pPr algn="l"/>
                      <a:r>
                        <a:rPr lang="en-US" altLang="zh-CN" dirty="0"/>
                        <a:t>QP64Q-39/25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dirty="0"/>
                        <a:t>✔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dirty="0">
                          <a:solidFill>
                            <a:srgbClr val="FF0000"/>
                          </a:solidFill>
                        </a:rPr>
                        <a:t>✔</a:t>
                      </a:r>
                      <a:r>
                        <a:rPr lang="zh-CN" altLang="en-US" dirty="0"/>
                        <a:t>（</a:t>
                      </a:r>
                      <a:r>
                        <a:rPr lang="en-US" altLang="zh-CN" dirty="0"/>
                        <a:t>TI</a:t>
                      </a:r>
                      <a:r>
                        <a:rPr lang="zh-CN" altLang="en-US" dirty="0"/>
                        <a:t>没有）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 anchor="ctr"/>
                </a:tc>
              </a:tr>
              <a:tr h="258657">
                <a:tc>
                  <a:txBody>
                    <a:bodyPr/>
                    <a:lstStyle/>
                    <a:p>
                      <a:pPr algn="l"/>
                      <a:r>
                        <a:rPr lang="en-US" altLang="zh-CN" dirty="0"/>
                        <a:t>QP64S-39/25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dirty="0"/>
                        <a:t>✔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dirty="0"/>
                        <a:t>✔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anchor="ctr"/>
                </a:tc>
              </a:tr>
              <a:tr h="258657">
                <a:tc>
                  <a:txBody>
                    <a:bodyPr/>
                    <a:lstStyle/>
                    <a:p>
                      <a:pPr algn="l"/>
                      <a:r>
                        <a:rPr lang="en-US" altLang="zh-CN" dirty="0"/>
                        <a:t>QP64Q-157/137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dirty="0"/>
                        <a:t>✔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dirty="0"/>
                        <a:t>✔</a:t>
                      </a:r>
                      <a:endParaRPr lang="zh-CN" altLang="en-US" dirty="0"/>
                    </a:p>
                  </a:txBody>
                  <a:tcPr anchor="ctr"/>
                </a:tc>
              </a:tr>
              <a:tr h="258657">
                <a:tc>
                  <a:txBody>
                    <a:bodyPr/>
                    <a:lstStyle/>
                    <a:p>
                      <a:pPr algn="l"/>
                      <a:r>
                        <a:rPr lang="en-US" altLang="zh-CN" dirty="0"/>
                        <a:t>QP64S-157/137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dirty="0">
                          <a:solidFill>
                            <a:srgbClr val="FF0000"/>
                          </a:solidFill>
                        </a:rPr>
                        <a:t>✔</a:t>
                      </a:r>
                      <a:r>
                        <a:rPr lang="zh-CN" altLang="en-US" dirty="0"/>
                        <a:t>（</a:t>
                      </a:r>
                      <a:r>
                        <a:rPr lang="en-US" altLang="zh-CN" dirty="0"/>
                        <a:t>TI</a:t>
                      </a:r>
                      <a:r>
                        <a:rPr lang="zh-CN" altLang="en-US" dirty="0"/>
                        <a:t>没有）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dirty="0"/>
                        <a:t>✔</a:t>
                      </a:r>
                      <a:endParaRPr lang="zh-CN" altLang="en-US" dirty="0"/>
                    </a:p>
                  </a:txBody>
                  <a:tcPr anchor="ctr"/>
                </a:tc>
              </a:tr>
              <a:tr h="258657"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/>
                        <a:t>QP48Q/S-39(VDD)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dirty="0"/>
                        <a:t>✔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anchor="ctr"/>
                </a:tc>
              </a:tr>
              <a:tr h="258657"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/>
                        <a:t>QP48Q/S-25/137(GPIO)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dirty="0"/>
                        <a:t>✔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dirty="0"/>
                        <a:t>✔</a:t>
                      </a:r>
                      <a:endParaRPr lang="zh-CN" altLang="en-US" dirty="0"/>
                    </a:p>
                  </a:txBody>
                  <a:tcPr anchor="ctr"/>
                </a:tc>
              </a:tr>
              <a:tr h="258657"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/>
                        <a:t>QP48Q-157(VREG/PAD)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dirty="0"/>
                        <a:t>✔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/>
                </a:tc>
              </a:tr>
              <a:tr h="258657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QN32Q-157(PAD)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dirty="0"/>
                        <a:t>✔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dirty="0"/>
                    </a:p>
                  </a:txBody>
                  <a:tcPr anchor="ctr"/>
                </a:tc>
              </a:tr>
              <a:tr h="258657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QN32S-137(PAD)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dirty="0"/>
                        <a:t>✔</a:t>
                      </a:r>
                      <a:endParaRPr lang="zh-CN" altLang="en-US" dirty="0"/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850900" y="6021169"/>
            <a:ext cx="92560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注意：</a:t>
            </a:r>
            <a:endParaRPr lang="en-US" altLang="zh-CN" dirty="0"/>
          </a:p>
          <a:p>
            <a:r>
              <a:rPr lang="en-US" altLang="zh-CN" dirty="0"/>
              <a:t>	100</a:t>
            </a:r>
            <a:r>
              <a:rPr lang="zh-CN" altLang="en-US" dirty="0"/>
              <a:t>脚的封装只有</a:t>
            </a:r>
            <a:r>
              <a:rPr lang="en-US" altLang="zh-CN" dirty="0"/>
              <a:t>AVP32F0039</a:t>
            </a:r>
            <a:r>
              <a:rPr lang="zh-CN" altLang="en-US" dirty="0"/>
              <a:t>系列才有。</a:t>
            </a:r>
            <a:r>
              <a:rPr lang="en-US" altLang="zh-CN" dirty="0"/>
              <a:t>S</a:t>
            </a:r>
            <a:r>
              <a:rPr lang="zh-CN" altLang="en-US" dirty="0"/>
              <a:t>和</a:t>
            </a:r>
            <a:r>
              <a:rPr lang="en-US" altLang="zh-CN" dirty="0"/>
              <a:t>Q</a:t>
            </a:r>
            <a:r>
              <a:rPr lang="zh-CN" altLang="en-US" dirty="0"/>
              <a:t>等级是同样的封装，可引脚兼容。</a:t>
            </a:r>
            <a:endParaRPr lang="zh-CN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800100" y="190500"/>
            <a:ext cx="26981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80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脚封装兼容性</a:t>
            </a:r>
            <a:endParaRPr lang="zh-CN" altLang="en-US" sz="2800" dirty="0">
              <a:latin typeface="宋体" panose="02010600030101010101" pitchFamily="2" charset="-122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800100" y="920115"/>
          <a:ext cx="10909300" cy="34963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7325"/>
                <a:gridCol w="2727325"/>
                <a:gridCol w="2727325"/>
                <a:gridCol w="2727325"/>
              </a:tblGrid>
              <a:tr h="36830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引脚差异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AVP32F0039</a:t>
                      </a:r>
                      <a:r>
                        <a:rPr lang="zh-CN" altLang="en-US" dirty="0"/>
                        <a:t>系列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TI280025</a:t>
                      </a:r>
                      <a:r>
                        <a:rPr lang="zh-CN" altLang="en-US" dirty="0"/>
                        <a:t>系列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Ti2800157</a:t>
                      </a:r>
                      <a:r>
                        <a:rPr lang="zh-CN" altLang="en-US" dirty="0"/>
                        <a:t>系列</a:t>
                      </a:r>
                      <a:endParaRPr lang="zh-CN" altLang="en-US" dirty="0"/>
                    </a:p>
                  </a:txBody>
                  <a:tcPr/>
                </a:tc>
              </a:tr>
              <a:tr h="367665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PIN56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GPIO39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GPIO39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rgbClr val="00B050"/>
                          </a:solidFill>
                        </a:rPr>
                        <a:t>VREGENZ</a:t>
                      </a:r>
                      <a:endParaRPr lang="zh-CN" altLang="en-US" b="1" dirty="0">
                        <a:solidFill>
                          <a:srgbClr val="00B050"/>
                        </a:solidFill>
                      </a:endParaRPr>
                    </a:p>
                  </a:txBody>
                  <a:tcPr anchor="ctr"/>
                </a:tc>
              </a:tr>
              <a:tr h="36830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PIN31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/>
                        <a:t>VDD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/>
                        <a:t>VDD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b="1" dirty="0">
                          <a:solidFill>
                            <a:srgbClr val="00B050"/>
                          </a:solidFill>
                        </a:rPr>
                        <a:t>GPIO48</a:t>
                      </a:r>
                      <a:endParaRPr lang="zh-CN" altLang="en-US" b="1" dirty="0">
                        <a:solidFill>
                          <a:srgbClr val="00B050"/>
                        </a:solidFill>
                      </a:endParaRPr>
                    </a:p>
                  </a:txBody>
                  <a:tcPr anchor="ctr"/>
                </a:tc>
              </a:tr>
              <a:tr h="367665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PIN32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/>
                        <a:t>VDDIO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/>
                        <a:t>VDDIO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b="1" dirty="0">
                          <a:solidFill>
                            <a:srgbClr val="00B050"/>
                          </a:solidFill>
                        </a:rPr>
                        <a:t>GPIO49</a:t>
                      </a:r>
                      <a:endParaRPr lang="zh-CN" altLang="en-US" b="1" dirty="0">
                        <a:solidFill>
                          <a:srgbClr val="00B050"/>
                        </a:solidFill>
                      </a:endParaRPr>
                    </a:p>
                  </a:txBody>
                  <a:tcPr anchor="ctr"/>
                </a:tc>
              </a:tr>
              <a:tr h="644525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PIN33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/>
                        <a:t>GPIO20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dirty="0"/>
                        <a:t>悬空，或保留</a:t>
                      </a:r>
                      <a:r>
                        <a:rPr lang="en-US" altLang="zh-CN" dirty="0"/>
                        <a:t>GPIO20</a:t>
                      </a:r>
                      <a:r>
                        <a:rPr lang="zh-CN" altLang="en-US" dirty="0"/>
                        <a:t>（原</a:t>
                      </a:r>
                      <a:r>
                        <a:rPr lang="en-US" altLang="zh-CN" dirty="0"/>
                        <a:t>TI</a:t>
                      </a:r>
                      <a:r>
                        <a:rPr lang="zh-CN" altLang="en-US" dirty="0"/>
                        <a:t>是</a:t>
                      </a:r>
                      <a:r>
                        <a:rPr lang="en-US" altLang="zh-CN" dirty="0"/>
                        <a:t>FLT1</a:t>
                      </a:r>
                      <a:r>
                        <a:rPr lang="zh-CN" altLang="en-US" dirty="0"/>
                        <a:t>）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A17/C17</a:t>
                      </a:r>
                      <a:r>
                        <a:rPr lang="en-US" altLang="zh-CN" dirty="0"/>
                        <a:t>/</a:t>
                      </a:r>
                      <a:r>
                        <a:rPr lang="en-US" altLang="zh-CN" b="1" dirty="0">
                          <a:solidFill>
                            <a:srgbClr val="00B050"/>
                          </a:solidFill>
                        </a:rPr>
                        <a:t>GPIO20</a:t>
                      </a:r>
                      <a:endParaRPr lang="zh-CN" altLang="en-US" b="1" dirty="0">
                        <a:solidFill>
                          <a:srgbClr val="00B050"/>
                        </a:solidFill>
                      </a:endParaRPr>
                    </a:p>
                  </a:txBody>
                  <a:tcPr anchor="ctr"/>
                </a:tc>
              </a:tr>
              <a:tr h="64389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PIN34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/>
                        <a:t>GPIO21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dirty="0"/>
                        <a:t>悬空，或保留</a:t>
                      </a:r>
                      <a:r>
                        <a:rPr lang="en-US" altLang="zh-CN" dirty="0"/>
                        <a:t>GPIO20</a:t>
                      </a:r>
                      <a:r>
                        <a:rPr lang="zh-CN" altLang="en-US" dirty="0"/>
                        <a:t>（原</a:t>
                      </a:r>
                      <a:r>
                        <a:rPr lang="en-US" altLang="zh-CN" dirty="0"/>
                        <a:t>TI</a:t>
                      </a:r>
                      <a:r>
                        <a:rPr lang="zh-CN" altLang="en-US" dirty="0"/>
                        <a:t>是</a:t>
                      </a:r>
                      <a:r>
                        <a:rPr lang="en-US" altLang="zh-CN" dirty="0"/>
                        <a:t>FLT2</a:t>
                      </a:r>
                      <a:r>
                        <a:rPr lang="zh-CN" altLang="en-US" dirty="0"/>
                        <a:t>）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A18/C18</a:t>
                      </a:r>
                      <a:r>
                        <a:rPr lang="en-US" altLang="zh-CN" dirty="0"/>
                        <a:t>/</a:t>
                      </a:r>
                      <a:r>
                        <a:rPr lang="en-US" altLang="zh-CN" b="1" dirty="0">
                          <a:solidFill>
                            <a:srgbClr val="00B050"/>
                          </a:solidFill>
                        </a:rPr>
                        <a:t>GPIO21</a:t>
                      </a:r>
                      <a:endParaRPr lang="zh-CN" altLang="en-US" b="1" dirty="0">
                        <a:solidFill>
                          <a:srgbClr val="00B050"/>
                        </a:solidFill>
                      </a:endParaRPr>
                    </a:p>
                  </a:txBody>
                  <a:tcPr anchor="ctr"/>
                </a:tc>
              </a:tr>
              <a:tr h="367665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其他功能脚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ADCB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——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/>
                        <a:t>——</a:t>
                      </a:r>
                      <a:endParaRPr lang="zh-CN" altLang="en-US" dirty="0"/>
                    </a:p>
                  </a:txBody>
                  <a:tcPr anchor="ctr"/>
                </a:tc>
              </a:tr>
              <a:tr h="368300"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dirty="0"/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800101" y="4873031"/>
            <a:ext cx="1082675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注意：</a:t>
            </a:r>
            <a:endParaRPr lang="en-US" altLang="zh-CN" dirty="0"/>
          </a:p>
          <a:p>
            <a:r>
              <a:rPr lang="en-US" altLang="zh-CN" dirty="0"/>
              <a:t>	80</a:t>
            </a:r>
            <a:r>
              <a:rPr lang="zh-CN" altLang="en-US" dirty="0"/>
              <a:t>脚的封装有两种封装形式：</a:t>
            </a:r>
            <a:r>
              <a:rPr lang="en-US" altLang="zh-CN" dirty="0"/>
              <a:t>AVP32F0039</a:t>
            </a:r>
            <a:r>
              <a:rPr lang="zh-CN" altLang="en-US" dirty="0"/>
              <a:t>和</a:t>
            </a:r>
            <a:r>
              <a:rPr lang="en-US" altLang="zh-CN" dirty="0"/>
              <a:t>AVP32F0025</a:t>
            </a:r>
            <a:r>
              <a:rPr lang="zh-CN" altLang="en-US" dirty="0"/>
              <a:t>共用一个封装形式；</a:t>
            </a:r>
            <a:r>
              <a:rPr lang="en-US" altLang="zh-CN" dirty="0"/>
              <a:t>AVP32F00157</a:t>
            </a:r>
            <a:r>
              <a:rPr lang="zh-CN" altLang="en-US" dirty="0"/>
              <a:t>单独一种封装形式，内部设计可以兼容到</a:t>
            </a:r>
            <a:r>
              <a:rPr lang="en-US" altLang="zh-CN" dirty="0"/>
              <a:t>VREGENZ</a:t>
            </a:r>
            <a:r>
              <a:rPr lang="zh-CN" altLang="en-US" dirty="0"/>
              <a:t>引脚和</a:t>
            </a:r>
            <a:r>
              <a:rPr lang="en-US" altLang="zh-CN" dirty="0"/>
              <a:t>GPIO48/GPIO49</a:t>
            </a:r>
            <a:r>
              <a:rPr lang="zh-CN" altLang="en-US" dirty="0"/>
              <a:t>引脚的输出。但</a:t>
            </a:r>
            <a:r>
              <a:rPr lang="en-US" altLang="zh-CN" dirty="0"/>
              <a:t>AVP32F00157</a:t>
            </a:r>
            <a:r>
              <a:rPr lang="zh-CN" altLang="en-US" dirty="0"/>
              <a:t>的</a:t>
            </a:r>
            <a:r>
              <a:rPr lang="en-US" altLang="zh-CN" dirty="0"/>
              <a:t>ADC</a:t>
            </a:r>
            <a:r>
              <a:rPr lang="zh-CN" altLang="en-US" dirty="0"/>
              <a:t>相比</a:t>
            </a:r>
            <a:r>
              <a:rPr lang="en-US" altLang="zh-CN" dirty="0"/>
              <a:t>AVP32F0039</a:t>
            </a:r>
            <a:r>
              <a:rPr lang="zh-CN" altLang="en-US" dirty="0"/>
              <a:t>扩展了通道，所以无法兼容到</a:t>
            </a:r>
            <a:r>
              <a:rPr lang="en-US" altLang="zh-CN" dirty="0"/>
              <a:t>A17/C17</a:t>
            </a:r>
            <a:r>
              <a:rPr lang="zh-CN" altLang="en-US" dirty="0"/>
              <a:t>、</a:t>
            </a:r>
            <a:r>
              <a:rPr lang="en-US" altLang="zh-CN" dirty="0"/>
              <a:t>A18/C18</a:t>
            </a:r>
            <a:r>
              <a:rPr lang="zh-CN" altLang="en-US" dirty="0"/>
              <a:t>的应用。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详情参考下一页移植对比</a:t>
            </a:r>
            <a:endParaRPr lang="zh-CN" alt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8701483" y="4460168"/>
            <a:ext cx="28809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* 红色代表无法覆盖的功能</a:t>
            </a:r>
            <a:endParaRPr lang="zh-CN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800100" y="190500"/>
            <a:ext cx="26981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80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脚封装兼容性</a:t>
            </a:r>
            <a:endParaRPr lang="zh-CN" altLang="en-US" sz="2800" dirty="0">
              <a:latin typeface="宋体" panose="02010600030101010101" pitchFamily="2" charset="-122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4598" y="713720"/>
            <a:ext cx="5768712" cy="576328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2682" y="533400"/>
            <a:ext cx="6073413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800100" y="190500"/>
            <a:ext cx="26981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64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脚封装兼容性</a:t>
            </a:r>
            <a:endParaRPr lang="zh-CN" altLang="en-US" sz="2800" dirty="0">
              <a:latin typeface="宋体" panose="02010600030101010101" pitchFamily="2" charset="-122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800100" y="941917"/>
          <a:ext cx="1078230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6460"/>
                <a:gridCol w="2156460"/>
                <a:gridCol w="2156460"/>
                <a:gridCol w="2156460"/>
                <a:gridCol w="2156460"/>
              </a:tblGrid>
              <a:tr h="35433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引脚差异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AVP32F0039</a:t>
                      </a:r>
                      <a:r>
                        <a:rPr lang="zh-CN" altLang="en-US" dirty="0"/>
                        <a:t>系列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ym typeface="+mn-ea"/>
                        </a:rPr>
                        <a:t>TI280025</a:t>
                      </a:r>
                      <a:r>
                        <a:rPr lang="zh-CN" altLang="en-US" sz="1800" dirty="0">
                          <a:sym typeface="+mn-ea"/>
                        </a:rPr>
                        <a:t>系列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ym typeface="+mn-ea"/>
                        </a:rPr>
                        <a:t>TI2800137</a:t>
                      </a:r>
                      <a:r>
                        <a:rPr lang="zh-CN" altLang="en-US" sz="1800" dirty="0">
                          <a:sym typeface="+mn-ea"/>
                        </a:rPr>
                        <a:t>系列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ym typeface="+mn-ea"/>
                        </a:rPr>
                        <a:t>TI2800157</a:t>
                      </a:r>
                      <a:r>
                        <a:rPr lang="zh-CN" altLang="en-US" sz="1800" dirty="0">
                          <a:sym typeface="+mn-ea"/>
                        </a:rPr>
                        <a:t>系列</a:t>
                      </a:r>
                      <a:endParaRPr lang="zh-CN" altLang="en-US" dirty="0"/>
                    </a:p>
                  </a:txBody>
                  <a:tcPr anchor="ctr"/>
                </a:tc>
              </a:tr>
              <a:tr h="258657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PIN46</a:t>
                      </a:r>
                      <a:r>
                        <a:rPr lang="zh-CN" altLang="en-US" dirty="0"/>
                        <a:t>（带</a:t>
                      </a:r>
                      <a:r>
                        <a:rPr lang="en-US" altLang="zh-CN" dirty="0"/>
                        <a:t>Q</a:t>
                      </a:r>
                      <a:r>
                        <a:rPr lang="zh-CN" altLang="en-US" dirty="0"/>
                        <a:t>）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VREGENZ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——</a:t>
                      </a:r>
                      <a:endParaRPr lang="en-US" altLang="zh-CN" dirty="0"/>
                    </a:p>
                    <a:p>
                      <a:pPr algn="ctr"/>
                      <a:r>
                        <a:rPr lang="zh-CN" altLang="en-US" dirty="0"/>
                        <a:t>（没有带</a:t>
                      </a:r>
                      <a:r>
                        <a:rPr lang="en-US" altLang="zh-CN" dirty="0"/>
                        <a:t>Q</a:t>
                      </a:r>
                      <a:r>
                        <a:rPr lang="zh-CN" altLang="en-US" dirty="0"/>
                        <a:t>产品）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VREGENZ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VREGENZ</a:t>
                      </a:r>
                      <a:endParaRPr lang="zh-CN" altLang="en-US" dirty="0"/>
                    </a:p>
                  </a:txBody>
                  <a:tcPr anchor="ctr"/>
                </a:tc>
              </a:tr>
              <a:tr h="258657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PIN46</a:t>
                      </a:r>
                      <a:r>
                        <a:rPr lang="zh-CN" altLang="en-US" dirty="0"/>
                        <a:t>（非</a:t>
                      </a:r>
                      <a:r>
                        <a:rPr lang="en-US" altLang="zh-CN" dirty="0"/>
                        <a:t>Q</a:t>
                      </a:r>
                      <a:r>
                        <a:rPr lang="zh-CN" altLang="en-US" dirty="0"/>
                        <a:t>）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/>
                        <a:t>GPIO39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/>
                        <a:t>GPIO39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——</a:t>
                      </a:r>
                      <a:endParaRPr lang="en-US" altLang="zh-CN" dirty="0">
                        <a:solidFill>
                          <a:schemeClr val="accent6">
                            <a:lumMod val="75000"/>
                          </a:schemeClr>
                        </a:solidFill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（没有非</a:t>
                      </a:r>
                      <a:r>
                        <a:rPr lang="en-US" altLang="zh-CN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Q</a:t>
                      </a:r>
                      <a:r>
                        <a:rPr lang="zh-CN" altLang="en-US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产品）</a:t>
                      </a:r>
                      <a:endParaRPr lang="zh-CN" altLang="en-US" dirty="0">
                        <a:solidFill>
                          <a:schemeClr val="accent6">
                            <a:lumMod val="75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GPIO39</a:t>
                      </a:r>
                      <a:endParaRPr lang="zh-CN" altLang="en-US" dirty="0"/>
                    </a:p>
                  </a:txBody>
                  <a:tcPr anchor="ctr"/>
                </a:tc>
              </a:tr>
              <a:tr h="258657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PIN27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/>
                        <a:t>VDD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/>
                        <a:t>VDD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A17/C17 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/GPIO20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A17/C17 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/GPIO20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</a:tr>
              <a:tr h="258657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PIN28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/>
                        <a:t>VDDIO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/>
                        <a:t>VDDIO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A18/C18 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/GPIO21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A18/C18 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/GPIO21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</a:tr>
              <a:tr h="258657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PIN29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/>
                        <a:t>GPIO13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/>
                        <a:t>GPIO13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A19/C19 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/GPIO13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A19/C19 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/GPIO13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</a:tr>
              <a:tr h="258657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PIN30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GPIO12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GPIO12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A20/C20 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/GPIO12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A20/C20 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/GPIO12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</a:tr>
              <a:tr h="258657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PIN2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GPIO28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GPIO28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A16/C16</a:t>
                      </a:r>
                      <a:r>
                        <a:rPr lang="en-US" altLang="zh-CN" dirty="0"/>
                        <a:t> /GPIO28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A16/C16 </a:t>
                      </a:r>
                      <a:r>
                        <a:rPr lang="en-US" altLang="zh-CN" dirty="0"/>
                        <a:t>/GPIO28</a:t>
                      </a:r>
                      <a:endParaRPr lang="zh-CN" altLang="en-US" dirty="0"/>
                    </a:p>
                  </a:txBody>
                  <a:tcPr anchor="ctr"/>
                </a:tc>
              </a:tr>
              <a:tr h="258657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PIN6</a:t>
                      </a:r>
                      <a:endParaRPr lang="zh-CN" altLang="en-US" dirty="0"/>
                    </a:p>
                  </a:txBody>
                  <a:tcPr anchor="ctr"/>
                </a:tc>
                <a:tc rowSpan="4" gridSpan="2"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ADC input</a:t>
                      </a:r>
                      <a:endParaRPr lang="zh-CN" altLang="en-US" dirty="0"/>
                    </a:p>
                  </a:txBody>
                  <a:tcPr anchor="ctr"/>
                </a:tc>
                <a:tc rowSpan="4" hMerge="1"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GPIO228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GPIO228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</a:tr>
              <a:tr h="258657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PIN7</a:t>
                      </a:r>
                      <a:endParaRPr lang="zh-CN" altLang="en-US" dirty="0"/>
                    </a:p>
                  </a:txBody>
                  <a:tcPr anchor="ctr"/>
                </a:tc>
                <a:tc vMerge="1" gridSpan="2">
                  <a:tcPr anchor="ctr"/>
                </a:tc>
                <a:tc vMerge="1" hMerge="1"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GPIO226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GPIO226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</a:tr>
              <a:tr h="258657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PIN8</a:t>
                      </a:r>
                      <a:endParaRPr lang="zh-CN" altLang="en-US" dirty="0"/>
                    </a:p>
                  </a:txBody>
                  <a:tcPr anchor="ctr"/>
                </a:tc>
                <a:tc vMerge="1" gridSpan="2">
                  <a:tcPr anchor="ctr"/>
                </a:tc>
                <a:tc vMerge="1" hMerge="1"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GPIO242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GPIO242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</a:tr>
              <a:tr h="258657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PIN9</a:t>
                      </a:r>
                      <a:endParaRPr lang="zh-CN" altLang="en-US" dirty="0"/>
                    </a:p>
                  </a:txBody>
                  <a:tcPr anchor="ctr"/>
                </a:tc>
                <a:tc vMerge="1" gridSpan="2">
                  <a:tcPr anchor="ctr"/>
                </a:tc>
                <a:tc vMerge="1" hMerge="1"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GPIO224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GPIO224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</a:tr>
              <a:tr h="258657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PIN15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DAC_OUT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——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/>
                        <a:t>CMP_DACL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/>
                        <a:t>CMP_DACL</a:t>
                      </a:r>
                      <a:endParaRPr lang="zh-CN" altLang="en-US" dirty="0"/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8701483" y="6288968"/>
            <a:ext cx="28809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* 红色代表无法覆盖的功能</a:t>
            </a:r>
            <a:endParaRPr lang="zh-CN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800101" y="1336484"/>
            <a:ext cx="10826752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注意：</a:t>
            </a:r>
            <a:endParaRPr lang="en-US" altLang="zh-CN" dirty="0"/>
          </a:p>
          <a:p>
            <a:r>
              <a:rPr lang="en-US" altLang="zh-CN" dirty="0"/>
              <a:t>	64</a:t>
            </a:r>
            <a:r>
              <a:rPr lang="zh-CN" altLang="en-US" dirty="0"/>
              <a:t>脚的封装有四种封装形式：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分别是带</a:t>
            </a:r>
            <a:r>
              <a:rPr lang="en-US" altLang="zh-CN" dirty="0"/>
              <a:t>Q</a:t>
            </a:r>
            <a:r>
              <a:rPr lang="zh-CN" altLang="en-US" dirty="0"/>
              <a:t>（引出</a:t>
            </a:r>
            <a:r>
              <a:rPr lang="en-US" altLang="zh-CN" dirty="0"/>
              <a:t>VREGENZ</a:t>
            </a:r>
            <a:r>
              <a:rPr lang="zh-CN" altLang="en-US" dirty="0"/>
              <a:t>）的</a:t>
            </a:r>
            <a:r>
              <a:rPr lang="en-US" altLang="zh-CN" dirty="0"/>
              <a:t>AVP32F0039</a:t>
            </a:r>
            <a:r>
              <a:rPr lang="zh-CN" altLang="en-US" dirty="0"/>
              <a:t>（</a:t>
            </a:r>
            <a:r>
              <a:rPr lang="en-US" altLang="zh-CN" dirty="0"/>
              <a:t>PIN27/PIN28</a:t>
            </a:r>
            <a:r>
              <a:rPr lang="zh-CN" altLang="en-US" dirty="0"/>
              <a:t>引出</a:t>
            </a:r>
            <a:r>
              <a:rPr lang="en-US" altLang="zh-CN" dirty="0"/>
              <a:t>VDD</a:t>
            </a:r>
            <a:r>
              <a:rPr lang="zh-CN" altLang="en-US" dirty="0"/>
              <a:t>和</a:t>
            </a:r>
            <a:r>
              <a:rPr lang="en-US" altLang="zh-CN" dirty="0"/>
              <a:t>VDDIO</a:t>
            </a:r>
            <a:r>
              <a:rPr lang="zh-CN" altLang="en-US" dirty="0"/>
              <a:t>）；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非</a:t>
            </a:r>
            <a:r>
              <a:rPr lang="en-US" altLang="zh-CN" dirty="0"/>
              <a:t>Q</a:t>
            </a:r>
            <a:r>
              <a:rPr lang="zh-CN" altLang="en-US" dirty="0"/>
              <a:t>的</a:t>
            </a:r>
            <a:r>
              <a:rPr lang="en-US" altLang="zh-CN" dirty="0"/>
              <a:t>AVP32F0025</a:t>
            </a:r>
            <a:r>
              <a:rPr lang="zh-CN" altLang="en-US" dirty="0"/>
              <a:t>和</a:t>
            </a:r>
            <a:r>
              <a:rPr lang="en-US" altLang="zh-CN" dirty="0"/>
              <a:t>AVP32F0039</a:t>
            </a:r>
            <a:r>
              <a:rPr lang="zh-CN" altLang="en-US" dirty="0"/>
              <a:t>（</a:t>
            </a:r>
            <a:r>
              <a:rPr lang="en-US" altLang="zh-CN" dirty="0"/>
              <a:t>PIN46</a:t>
            </a:r>
            <a:r>
              <a:rPr lang="zh-CN" altLang="en-US" dirty="0"/>
              <a:t>引出</a:t>
            </a:r>
            <a:r>
              <a:rPr lang="en-US" altLang="zh-CN" dirty="0"/>
              <a:t>GPIO39</a:t>
            </a:r>
            <a:r>
              <a:rPr lang="zh-CN" altLang="en-US" dirty="0"/>
              <a:t>，</a:t>
            </a:r>
            <a:r>
              <a:rPr lang="en-US" altLang="zh-CN" dirty="0"/>
              <a:t>PIN27/PIN28</a:t>
            </a:r>
            <a:r>
              <a:rPr lang="zh-CN" altLang="en-US" dirty="0"/>
              <a:t>引出</a:t>
            </a:r>
            <a:r>
              <a:rPr lang="en-US" altLang="zh-CN" dirty="0"/>
              <a:t>VDD</a:t>
            </a:r>
            <a:r>
              <a:rPr lang="zh-CN" altLang="en-US" dirty="0"/>
              <a:t>和</a:t>
            </a:r>
            <a:r>
              <a:rPr lang="en-US" altLang="zh-CN" dirty="0"/>
              <a:t>VDDIO</a:t>
            </a:r>
            <a:r>
              <a:rPr lang="zh-CN" altLang="en-US" dirty="0"/>
              <a:t>）；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第三种是</a:t>
            </a:r>
            <a:r>
              <a:rPr lang="en-US" altLang="zh-CN" dirty="0"/>
              <a:t>AVP32F00157/00137</a:t>
            </a:r>
            <a:r>
              <a:rPr lang="zh-CN" altLang="en-US" dirty="0"/>
              <a:t>兼容</a:t>
            </a:r>
            <a:r>
              <a:rPr lang="en-US" altLang="zh-CN" dirty="0"/>
              <a:t>Q</a:t>
            </a:r>
            <a:r>
              <a:rPr lang="zh-CN" altLang="en-US" dirty="0"/>
              <a:t>产品（</a:t>
            </a:r>
            <a:r>
              <a:rPr lang="en-US" altLang="zh-CN" dirty="0"/>
              <a:t>PIN46</a:t>
            </a:r>
            <a:r>
              <a:rPr lang="zh-CN" altLang="en-US" dirty="0"/>
              <a:t>引出</a:t>
            </a:r>
            <a:r>
              <a:rPr lang="en-US" altLang="zh-CN" dirty="0"/>
              <a:t>VREGENZ</a:t>
            </a:r>
            <a:r>
              <a:rPr lang="zh-CN" altLang="en-US" dirty="0"/>
              <a:t>，</a:t>
            </a:r>
            <a:r>
              <a:rPr lang="en-US" altLang="zh-CN" dirty="0"/>
              <a:t>PIN27/PIN28</a:t>
            </a:r>
            <a:r>
              <a:rPr lang="zh-CN" altLang="en-US" dirty="0"/>
              <a:t>引出</a:t>
            </a:r>
            <a:r>
              <a:rPr lang="en-US" altLang="zh-CN" dirty="0"/>
              <a:t>GPIO</a:t>
            </a:r>
            <a:r>
              <a:rPr lang="zh-CN" altLang="en-US" dirty="0"/>
              <a:t>）；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第四种是</a:t>
            </a:r>
            <a:r>
              <a:rPr lang="en-US" altLang="zh-CN" dirty="0"/>
              <a:t>AVP32F00157/00137</a:t>
            </a:r>
            <a:r>
              <a:rPr lang="zh-CN" altLang="en-US" dirty="0"/>
              <a:t>非</a:t>
            </a:r>
            <a:r>
              <a:rPr lang="en-US" altLang="zh-CN" dirty="0"/>
              <a:t>Q</a:t>
            </a:r>
            <a:r>
              <a:rPr lang="zh-CN" altLang="en-US" dirty="0"/>
              <a:t>产品（</a:t>
            </a:r>
            <a:r>
              <a:rPr lang="en-US" altLang="zh-CN" dirty="0"/>
              <a:t>PIN46/PIN27/PIN28</a:t>
            </a:r>
            <a:r>
              <a:rPr lang="zh-CN" altLang="en-US" dirty="0"/>
              <a:t>均引出</a:t>
            </a:r>
            <a:r>
              <a:rPr lang="en-US" altLang="zh-CN" dirty="0"/>
              <a:t>GPIO</a:t>
            </a:r>
            <a:r>
              <a:rPr lang="zh-CN" altLang="en-US" dirty="0"/>
              <a:t>）。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同理，</a:t>
            </a:r>
            <a:r>
              <a:rPr lang="en-US" altLang="zh-CN" dirty="0"/>
              <a:t>AVP32F00157/00137</a:t>
            </a:r>
            <a:r>
              <a:rPr lang="zh-CN" altLang="en-US" dirty="0"/>
              <a:t>的</a:t>
            </a:r>
            <a:r>
              <a:rPr lang="en-US" altLang="zh-CN" dirty="0"/>
              <a:t>ADC</a:t>
            </a:r>
            <a:r>
              <a:rPr lang="zh-CN" altLang="en-US" dirty="0"/>
              <a:t>相比</a:t>
            </a:r>
            <a:r>
              <a:rPr lang="en-US" altLang="zh-CN" dirty="0"/>
              <a:t>AVP32F0039</a:t>
            </a:r>
            <a:r>
              <a:rPr lang="zh-CN" altLang="en-US" dirty="0"/>
              <a:t>扩展了通道，所以无法兼容到</a:t>
            </a:r>
            <a:r>
              <a:rPr lang="en-US" altLang="zh-CN" dirty="0"/>
              <a:t>A16/C1~A20/C20</a:t>
            </a:r>
            <a:r>
              <a:rPr lang="zh-CN" altLang="en-US" dirty="0"/>
              <a:t>的应用，且</a:t>
            </a:r>
            <a:r>
              <a:rPr lang="en-US" altLang="zh-CN" dirty="0"/>
              <a:t>ADC</a:t>
            </a:r>
            <a:r>
              <a:rPr lang="zh-CN" altLang="en-US" dirty="0"/>
              <a:t>输入通道复用的数字</a:t>
            </a:r>
            <a:r>
              <a:rPr lang="en-US" altLang="zh-CN" dirty="0"/>
              <a:t>IO</a:t>
            </a:r>
            <a:r>
              <a:rPr lang="zh-CN" altLang="en-US" dirty="0"/>
              <a:t>，所以</a:t>
            </a:r>
            <a:r>
              <a:rPr lang="en-US" altLang="zh-CN" dirty="0"/>
              <a:t>GPIO224/226/228/242</a:t>
            </a:r>
            <a:r>
              <a:rPr lang="zh-CN" altLang="en-US" dirty="0"/>
              <a:t>都无法使用。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详情参考下一页移植对比</a:t>
            </a:r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800100" y="190500"/>
            <a:ext cx="26981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64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脚封装兼容性</a:t>
            </a:r>
            <a:endParaRPr lang="zh-CN" altLang="en-US" sz="2800" dirty="0">
              <a:latin typeface="宋体" panose="02010600030101010101" pitchFamily="2" charset="-122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7240" y="425770"/>
            <a:ext cx="5948760" cy="6006459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425770"/>
            <a:ext cx="5845307" cy="606393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800100" y="190500"/>
            <a:ext cx="26981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48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脚封装兼容性</a:t>
            </a:r>
            <a:endParaRPr lang="zh-CN" altLang="en-US" sz="2800" dirty="0">
              <a:latin typeface="宋体" panose="02010600030101010101" pitchFamily="2" charset="-122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800100" y="941917"/>
          <a:ext cx="1078230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6460"/>
                <a:gridCol w="2156460"/>
                <a:gridCol w="2156460"/>
                <a:gridCol w="2156460"/>
                <a:gridCol w="2156460"/>
              </a:tblGrid>
              <a:tr h="25865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dirty="0"/>
                        <a:t>引脚差异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AVP32F0039</a:t>
                      </a:r>
                      <a:r>
                        <a:rPr lang="zh-CN" altLang="en-US" dirty="0"/>
                        <a:t>系列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sym typeface="+mn-ea"/>
                        </a:rPr>
                        <a:t>TI280025</a:t>
                      </a:r>
                      <a:r>
                        <a:rPr lang="zh-CN" altLang="en-US" sz="1800" dirty="0">
                          <a:sym typeface="+mn-ea"/>
                        </a:rPr>
                        <a:t>系列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AVP32F00157</a:t>
                      </a:r>
                      <a:r>
                        <a:rPr lang="zh-CN" altLang="en-US" dirty="0"/>
                        <a:t>系列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AVP32F00137</a:t>
                      </a:r>
                      <a:r>
                        <a:rPr lang="zh-CN" altLang="en-US" dirty="0"/>
                        <a:t>系列</a:t>
                      </a:r>
                      <a:endParaRPr lang="zh-CN" altLang="en-US" dirty="0"/>
                    </a:p>
                  </a:txBody>
                  <a:tcPr/>
                </a:tc>
              </a:tr>
              <a:tr h="258657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PIN23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VDD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GPIO13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A19/C19 </a:t>
                      </a:r>
                      <a:r>
                        <a:rPr lang="en-US" altLang="zh-CN" dirty="0"/>
                        <a:t>GPIO13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A19/C19 </a:t>
                      </a:r>
                      <a:r>
                        <a:rPr lang="en-US" altLang="zh-CN" dirty="0"/>
                        <a:t>GPIO13</a:t>
                      </a:r>
                      <a:endParaRPr lang="zh-CN" altLang="en-US" dirty="0"/>
                    </a:p>
                  </a:txBody>
                  <a:tcPr anchor="ctr"/>
                </a:tc>
              </a:tr>
              <a:tr h="258657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PIN24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/>
                        <a:t>VDDIO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/>
                        <a:t>GPIO12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A20/C20 </a:t>
                      </a:r>
                      <a:r>
                        <a:rPr lang="en-US" altLang="zh-CN" dirty="0"/>
                        <a:t>GPIO12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A20/C20 </a:t>
                      </a:r>
                      <a:r>
                        <a:rPr lang="en-US" altLang="zh-CN" dirty="0"/>
                        <a:t>GPIO12</a:t>
                      </a:r>
                      <a:endParaRPr lang="zh-CN" altLang="en-US" dirty="0"/>
                    </a:p>
                  </a:txBody>
                  <a:tcPr anchor="ctr"/>
                </a:tc>
              </a:tr>
              <a:tr h="258657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PIN22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/>
                        <a:t>VSS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/>
                        <a:t>VSS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A17/C17 </a:t>
                      </a:r>
                      <a:r>
                        <a:rPr lang="en-US" altLang="zh-CN" dirty="0"/>
                        <a:t>GPIO20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VSS</a:t>
                      </a:r>
                      <a:endParaRPr lang="zh-CN" alt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</a:tr>
              <a:tr h="258657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PIN37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/>
                        <a:t>VSS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/>
                        <a:t>VSS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VREGENZ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/>
                        <a:t>VSS</a:t>
                      </a:r>
                      <a:endParaRPr lang="zh-CN" altLang="en-US" dirty="0"/>
                    </a:p>
                  </a:txBody>
                  <a:tcPr anchor="ctr"/>
                </a:tc>
              </a:tr>
              <a:tr h="258657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PIN44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/>
                        <a:t>VSS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/>
                        <a:t>VSS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GPIO44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/>
                        <a:t>VSS</a:t>
                      </a:r>
                      <a:endParaRPr lang="zh-CN" altLang="en-US" dirty="0"/>
                    </a:p>
                  </a:txBody>
                  <a:tcPr anchor="ctr"/>
                </a:tc>
              </a:tr>
              <a:tr h="258657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PIN2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GPIO28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/>
                        <a:t>GPIO28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A16/C16 </a:t>
                      </a:r>
                      <a:r>
                        <a:rPr lang="en-US" altLang="zh-CN" dirty="0"/>
                        <a:t>GPIO28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A16/C16 </a:t>
                      </a:r>
                      <a:r>
                        <a:rPr lang="en-US" altLang="zh-CN" dirty="0"/>
                        <a:t>GPIO28</a:t>
                      </a:r>
                      <a:endParaRPr lang="zh-CN" altLang="en-US" dirty="0"/>
                    </a:p>
                  </a:txBody>
                  <a:tcPr anchor="ctr"/>
                </a:tc>
              </a:tr>
              <a:tr h="258657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PIN4</a:t>
                      </a:r>
                      <a:endParaRPr lang="zh-CN" altLang="en-US" dirty="0"/>
                    </a:p>
                  </a:txBody>
                  <a:tcPr/>
                </a:tc>
                <a:tc rowSpan="4" gridSpan="2"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ADC input</a:t>
                      </a:r>
                      <a:endParaRPr lang="zh-CN" altLang="en-US" dirty="0"/>
                    </a:p>
                  </a:txBody>
                  <a:tcPr anchor="ctr"/>
                </a:tc>
                <a:tc rowSpan="4" hMerge="1"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GPIO226/GPIO228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GPIO226/GPIO228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</a:tr>
              <a:tr h="258657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PIN5</a:t>
                      </a:r>
                      <a:endParaRPr lang="zh-CN" altLang="en-US" dirty="0"/>
                    </a:p>
                  </a:txBody>
                  <a:tcPr/>
                </a:tc>
                <a:tc vMerge="1" gridSpan="2">
                  <a:tcPr anchor="ctr"/>
                </a:tc>
                <a:tc vMerge="1" hMerge="1"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GPIO242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GPIO242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</a:tr>
              <a:tr h="258657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PIN6</a:t>
                      </a:r>
                      <a:endParaRPr lang="zh-CN" altLang="en-US" dirty="0"/>
                    </a:p>
                  </a:txBody>
                  <a:tcPr/>
                </a:tc>
                <a:tc vMerge="1" gridSpan="2">
                  <a:tcPr anchor="ctr"/>
                </a:tc>
                <a:tc vMerge="1" hMerge="1"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GPIO224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GPIO224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</a:tr>
              <a:tr h="258657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PIN7</a:t>
                      </a:r>
                      <a:endParaRPr lang="zh-CN" altLang="en-US" dirty="0"/>
                    </a:p>
                  </a:txBody>
                  <a:tcPr/>
                </a:tc>
                <a:tc vMerge="1" gridSpan="2">
                  <a:tcPr anchor="ctr"/>
                </a:tc>
                <a:tc vMerge="1" hMerge="1"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A14/C4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A14/C4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</a:tr>
              <a:tr h="258657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PIN11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DAC_OUT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DAC_OUT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/>
                        <a:t>CMP_DAC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/>
                        <a:t>CMP_DAC</a:t>
                      </a:r>
                      <a:endParaRPr lang="zh-CN" altLang="en-US" dirty="0"/>
                    </a:p>
                  </a:txBody>
                  <a:tcPr anchor="ctr"/>
                </a:tc>
              </a:tr>
              <a:tr h="258657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PIN20</a:t>
                      </a:r>
                      <a:endParaRPr lang="zh-CN" altLang="en-US" dirty="0"/>
                    </a:p>
                  </a:txBody>
                  <a:tcPr/>
                </a:tc>
                <a:tc rowSpan="2" gridSpan="2"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ADC input</a:t>
                      </a:r>
                      <a:endParaRPr lang="zh-CN" altLang="en-US" dirty="0"/>
                    </a:p>
                  </a:txBody>
                  <a:tcPr anchor="ctr"/>
                </a:tc>
                <a:tc rowSpan="2" hMerge="1"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GPIO227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GPIO227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</a:tr>
              <a:tr h="258657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PIN21</a:t>
                      </a:r>
                      <a:endParaRPr lang="zh-CN" altLang="en-US" dirty="0"/>
                    </a:p>
                  </a:txBody>
                  <a:tcPr/>
                </a:tc>
                <a:tc vMerge="1" gridSpan="2">
                  <a:tcPr anchor="ctr"/>
                </a:tc>
                <a:tc vMerge="1" hMerge="1"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GPIO230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GPIO230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8701483" y="6191250"/>
            <a:ext cx="28809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* 红色代表无法覆盖的功能</a:t>
            </a:r>
            <a:endParaRPr lang="zh-CN" alt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800100" y="190500"/>
            <a:ext cx="26981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48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脚封装兼容性</a:t>
            </a:r>
            <a:endParaRPr lang="zh-CN" altLang="en-US" sz="2800" dirty="0">
              <a:latin typeface="宋体" panose="02010600030101010101" pitchFamily="2" charset="-122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00101" y="1336484"/>
            <a:ext cx="10826752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注意：</a:t>
            </a:r>
            <a:endParaRPr lang="en-US" altLang="zh-CN" dirty="0"/>
          </a:p>
          <a:p>
            <a:r>
              <a:rPr lang="en-US" altLang="zh-CN" dirty="0"/>
              <a:t>	48</a:t>
            </a:r>
            <a:r>
              <a:rPr lang="zh-CN" altLang="en-US" dirty="0"/>
              <a:t>脚的封装有三种封装形式：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AVP32F0039QP48Q/S</a:t>
            </a:r>
            <a:r>
              <a:rPr lang="zh-CN" altLang="en-US" dirty="0"/>
              <a:t>是一种封装（</a:t>
            </a:r>
            <a:r>
              <a:rPr lang="en-US" altLang="zh-CN" dirty="0"/>
              <a:t>PIN23/PIN24</a:t>
            </a:r>
            <a:r>
              <a:rPr lang="zh-CN" altLang="en-US" dirty="0"/>
              <a:t>为</a:t>
            </a:r>
            <a:r>
              <a:rPr lang="en-US" altLang="zh-CN" dirty="0"/>
              <a:t>VDD/VDDIO</a:t>
            </a:r>
            <a:r>
              <a:rPr lang="zh-CN" altLang="en-US" dirty="0"/>
              <a:t>，</a:t>
            </a:r>
            <a:r>
              <a:rPr lang="en-US" altLang="zh-CN" dirty="0"/>
              <a:t>PIN22/37/44</a:t>
            </a:r>
            <a:r>
              <a:rPr lang="zh-CN" altLang="en-US" dirty="0"/>
              <a:t>为</a:t>
            </a:r>
            <a:r>
              <a:rPr lang="en-US" altLang="zh-CN" dirty="0"/>
              <a:t>VSS</a:t>
            </a:r>
            <a:r>
              <a:rPr lang="zh-CN" altLang="en-US" dirty="0"/>
              <a:t>）；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AVP32F0025QP48Q/S</a:t>
            </a:r>
            <a:r>
              <a:rPr lang="zh-CN" altLang="en-US" dirty="0"/>
              <a:t>、</a:t>
            </a:r>
            <a:r>
              <a:rPr lang="en-US" altLang="zh-CN" dirty="0"/>
              <a:t> AVP32F00137QP48S</a:t>
            </a:r>
            <a:r>
              <a:rPr lang="zh-CN" altLang="en-US" dirty="0"/>
              <a:t>是一种封装（</a:t>
            </a:r>
            <a:r>
              <a:rPr lang="en-US" altLang="zh-CN" dirty="0"/>
              <a:t> PIN23/PIN24</a:t>
            </a:r>
            <a:r>
              <a:rPr lang="zh-CN" altLang="en-US" dirty="0"/>
              <a:t>为</a:t>
            </a:r>
            <a:r>
              <a:rPr lang="en-US" altLang="zh-CN" dirty="0"/>
              <a:t>GPIO13/12</a:t>
            </a:r>
            <a:r>
              <a:rPr lang="zh-CN" altLang="en-US" dirty="0"/>
              <a:t>，</a:t>
            </a:r>
            <a:r>
              <a:rPr lang="en-US" altLang="zh-CN" dirty="0"/>
              <a:t>PIN22/37/44</a:t>
            </a:r>
            <a:r>
              <a:rPr lang="zh-CN" altLang="en-US" dirty="0"/>
              <a:t>为</a:t>
            </a:r>
            <a:r>
              <a:rPr lang="en-US" altLang="zh-CN" dirty="0"/>
              <a:t>VSS </a:t>
            </a:r>
            <a:r>
              <a:rPr lang="zh-CN" altLang="en-US" dirty="0"/>
              <a:t>）；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AVP32F00157QP48Q</a:t>
            </a:r>
            <a:r>
              <a:rPr lang="zh-CN" altLang="en-US" dirty="0"/>
              <a:t>是一种带散热</a:t>
            </a:r>
            <a:r>
              <a:rPr lang="en-US" altLang="zh-CN" dirty="0"/>
              <a:t>PAD</a:t>
            </a:r>
            <a:r>
              <a:rPr lang="zh-CN" altLang="en-US" dirty="0"/>
              <a:t>的封装（</a:t>
            </a:r>
            <a:r>
              <a:rPr lang="en-US" altLang="zh-CN" dirty="0"/>
              <a:t>PIN37</a:t>
            </a:r>
            <a:r>
              <a:rPr lang="zh-CN" altLang="en-US" dirty="0"/>
              <a:t>引出</a:t>
            </a:r>
            <a:r>
              <a:rPr lang="en-US" altLang="zh-CN" dirty="0"/>
              <a:t>VREGENZ</a:t>
            </a:r>
            <a:r>
              <a:rPr lang="zh-CN" altLang="en-US" dirty="0"/>
              <a:t>，</a:t>
            </a:r>
            <a:r>
              <a:rPr lang="en-US" altLang="zh-CN" dirty="0"/>
              <a:t>PIN44/22/23/24</a:t>
            </a:r>
            <a:r>
              <a:rPr lang="zh-CN" altLang="en-US" dirty="0"/>
              <a:t>引出</a:t>
            </a:r>
            <a:r>
              <a:rPr lang="en-US" altLang="zh-CN" dirty="0"/>
              <a:t>GPIO</a:t>
            </a:r>
            <a:r>
              <a:rPr lang="zh-CN" altLang="en-US" dirty="0"/>
              <a:t>）；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00137</a:t>
            </a:r>
            <a:r>
              <a:rPr lang="zh-CN" altLang="en-US" dirty="0"/>
              <a:t>的</a:t>
            </a:r>
            <a:r>
              <a:rPr lang="en-US" altLang="zh-CN" dirty="0"/>
              <a:t>48PIN-RGZ</a:t>
            </a:r>
            <a:r>
              <a:rPr lang="zh-CN" altLang="en-US" dirty="0"/>
              <a:t>封装形式由于差异性太大，暂不做封装定义。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同理，</a:t>
            </a:r>
            <a:r>
              <a:rPr lang="en-US" altLang="zh-CN" dirty="0"/>
              <a:t>AVP32F00157/00137</a:t>
            </a:r>
            <a:r>
              <a:rPr lang="zh-CN" altLang="en-US" dirty="0"/>
              <a:t>的</a:t>
            </a:r>
            <a:r>
              <a:rPr lang="en-US" altLang="zh-CN" dirty="0"/>
              <a:t>ADC</a:t>
            </a:r>
            <a:r>
              <a:rPr lang="zh-CN" altLang="en-US" dirty="0"/>
              <a:t>相比</a:t>
            </a:r>
            <a:r>
              <a:rPr lang="en-US" altLang="zh-CN" dirty="0"/>
              <a:t>AVP32F0039</a:t>
            </a:r>
            <a:r>
              <a:rPr lang="zh-CN" altLang="en-US" dirty="0"/>
              <a:t>扩展了通道，所以无法兼容到</a:t>
            </a:r>
            <a:r>
              <a:rPr lang="en-US" altLang="zh-CN" dirty="0"/>
              <a:t>A16/C1~A20/C20</a:t>
            </a:r>
            <a:r>
              <a:rPr lang="zh-CN" altLang="en-US" dirty="0"/>
              <a:t>的应用，且</a:t>
            </a:r>
            <a:r>
              <a:rPr lang="en-US" altLang="zh-CN" dirty="0"/>
              <a:t>ADC</a:t>
            </a:r>
            <a:r>
              <a:rPr lang="zh-CN" altLang="en-US" dirty="0"/>
              <a:t>输入通道复用的数字</a:t>
            </a:r>
            <a:r>
              <a:rPr lang="en-US" altLang="zh-CN" dirty="0"/>
              <a:t>IO</a:t>
            </a:r>
            <a:r>
              <a:rPr lang="zh-CN" altLang="en-US" dirty="0"/>
              <a:t>，所以</a:t>
            </a:r>
            <a:r>
              <a:rPr lang="en-US" altLang="zh-CN" dirty="0"/>
              <a:t>GPIO224/226/228/242</a:t>
            </a:r>
            <a:r>
              <a:rPr lang="zh-CN" altLang="en-US" dirty="0"/>
              <a:t>都无法使用。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详情参考下一页移植对比</a:t>
            </a:r>
            <a:endParaRPr lang="zh-CN" alt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4426" y="438150"/>
            <a:ext cx="5681574" cy="586105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488950"/>
            <a:ext cx="5830866" cy="56007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13096" y="939800"/>
            <a:ext cx="5478903" cy="5378450"/>
          </a:xfrm>
          <a:prstGeom prst="rect">
            <a:avLst/>
          </a:prstGeom>
        </p:spPr>
      </p:pic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336550" y="1189567"/>
          <a:ext cx="64693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6460"/>
                <a:gridCol w="2156460"/>
                <a:gridCol w="2156460"/>
              </a:tblGrid>
              <a:tr h="25865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dirty="0"/>
                        <a:t>引脚差异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AVP32F00157</a:t>
                      </a:r>
                      <a:r>
                        <a:rPr lang="zh-CN" altLang="en-US" dirty="0"/>
                        <a:t>系列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AVP32F00137</a:t>
                      </a:r>
                      <a:r>
                        <a:rPr lang="zh-CN" altLang="en-US" dirty="0"/>
                        <a:t>系列</a:t>
                      </a:r>
                      <a:endParaRPr lang="zh-CN" altLang="en-US" dirty="0"/>
                    </a:p>
                  </a:txBody>
                  <a:tcPr/>
                </a:tc>
              </a:tr>
              <a:tr h="258657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PIN25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VREGENZ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/>
                        <a:t>GPIO4</a:t>
                      </a:r>
                      <a:endParaRPr lang="zh-CN" altLang="en-US" dirty="0"/>
                    </a:p>
                  </a:txBody>
                  <a:tcPr anchor="ctr"/>
                </a:tc>
              </a:tr>
              <a:tr h="258657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PIN2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>
                          <a:solidFill>
                            <a:srgbClr val="FF0000"/>
                          </a:solidFill>
                        </a:rPr>
                        <a:t>GPIO226,GPIO228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GPIO226,GPIO228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</a:tr>
              <a:tr h="258657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PIN3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>
                          <a:solidFill>
                            <a:srgbClr val="FF0000"/>
                          </a:solidFill>
                        </a:rPr>
                        <a:t>GPIO242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GPIO242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</a:tr>
              <a:tr h="258657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PIN4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>
                          <a:solidFill>
                            <a:srgbClr val="FF0000"/>
                          </a:solidFill>
                        </a:rPr>
                        <a:t>GPIO224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GPIO224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</a:tr>
              <a:tr h="258657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PIN13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>
                          <a:solidFill>
                            <a:srgbClr val="FF0000"/>
                          </a:solidFill>
                        </a:rPr>
                        <a:t>GPIO227,GPIO230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GPIO227,GPIO230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</a:tr>
              <a:tr h="258657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PIN32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>
                          <a:solidFill>
                            <a:srgbClr val="FF0000"/>
                          </a:solidFill>
                        </a:rPr>
                        <a:t>A16/C16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A16/C16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800100" y="190500"/>
            <a:ext cx="26981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48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脚封装兼容性</a:t>
            </a:r>
            <a:endParaRPr lang="zh-CN" altLang="en-US" sz="2800" dirty="0">
              <a:latin typeface="宋体" panose="02010600030101010101" pitchFamily="2" charset="-122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640283" y="3814988"/>
            <a:ext cx="28809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* 红色代表无法覆盖的功能</a:t>
            </a:r>
            <a:endParaRPr lang="zh-CN" alt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800100" y="190500"/>
            <a:ext cx="26981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32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脚封装兼容性</a:t>
            </a:r>
            <a:endParaRPr lang="zh-CN" altLang="en-US" sz="2800" dirty="0">
              <a:latin typeface="宋体" panose="02010600030101010101" pitchFamily="2" charset="-122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00101" y="1336484"/>
            <a:ext cx="10826752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注意：</a:t>
            </a:r>
            <a:endParaRPr lang="en-US" altLang="zh-CN" dirty="0"/>
          </a:p>
          <a:p>
            <a:r>
              <a:rPr lang="en-US" altLang="zh-CN" dirty="0"/>
              <a:t>	32</a:t>
            </a:r>
            <a:r>
              <a:rPr lang="zh-CN" altLang="en-US" dirty="0"/>
              <a:t>脚的封装有两种封装形式：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AVP32F00157QN32Q</a:t>
            </a:r>
            <a:r>
              <a:rPr lang="zh-CN" altLang="en-US" dirty="0"/>
              <a:t>是一种带散热</a:t>
            </a:r>
            <a:r>
              <a:rPr lang="en-US" altLang="zh-CN" dirty="0"/>
              <a:t>PAD</a:t>
            </a:r>
            <a:r>
              <a:rPr lang="zh-CN" altLang="en-US" dirty="0"/>
              <a:t>的封装（</a:t>
            </a:r>
            <a:r>
              <a:rPr lang="en-US" altLang="zh-CN" dirty="0"/>
              <a:t>PIN25</a:t>
            </a:r>
            <a:r>
              <a:rPr lang="zh-CN" altLang="en-US" dirty="0"/>
              <a:t>引出</a:t>
            </a:r>
            <a:r>
              <a:rPr lang="en-US" altLang="zh-CN" dirty="0"/>
              <a:t>VREGENZ</a:t>
            </a:r>
            <a:r>
              <a:rPr lang="zh-CN" altLang="en-US" dirty="0"/>
              <a:t>）；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AVP32F00137QN32S</a:t>
            </a:r>
            <a:r>
              <a:rPr lang="zh-CN" altLang="en-US" dirty="0"/>
              <a:t>是一种带散热</a:t>
            </a:r>
            <a:r>
              <a:rPr lang="en-US" altLang="zh-CN" dirty="0"/>
              <a:t>PAD</a:t>
            </a:r>
            <a:r>
              <a:rPr lang="zh-CN" altLang="en-US" dirty="0"/>
              <a:t>的封装（</a:t>
            </a:r>
            <a:r>
              <a:rPr lang="en-US" altLang="zh-CN" dirty="0"/>
              <a:t>PIN25</a:t>
            </a:r>
            <a:r>
              <a:rPr lang="zh-CN" altLang="en-US" dirty="0"/>
              <a:t>引出</a:t>
            </a:r>
            <a:r>
              <a:rPr lang="en-US" altLang="zh-CN" dirty="0"/>
              <a:t>GPIO4</a:t>
            </a:r>
            <a:r>
              <a:rPr lang="zh-CN" altLang="en-US" dirty="0"/>
              <a:t>） 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同理，</a:t>
            </a:r>
            <a:r>
              <a:rPr lang="en-US" altLang="zh-CN" dirty="0"/>
              <a:t>AVP32F00157/00137</a:t>
            </a:r>
            <a:r>
              <a:rPr lang="zh-CN" altLang="en-US" dirty="0"/>
              <a:t>的</a:t>
            </a:r>
            <a:r>
              <a:rPr lang="en-US" altLang="zh-CN" dirty="0"/>
              <a:t>ADC</a:t>
            </a:r>
            <a:r>
              <a:rPr lang="zh-CN" altLang="en-US" dirty="0"/>
              <a:t>相比</a:t>
            </a:r>
            <a:r>
              <a:rPr lang="en-US" altLang="zh-CN" dirty="0"/>
              <a:t>AVP32F0039</a:t>
            </a:r>
            <a:r>
              <a:rPr lang="zh-CN" altLang="en-US" dirty="0"/>
              <a:t>扩展了通道，所以无法兼容到</a:t>
            </a:r>
            <a:r>
              <a:rPr lang="en-US" altLang="zh-CN" dirty="0"/>
              <a:t>A16/C16~A20/C20</a:t>
            </a:r>
            <a:r>
              <a:rPr lang="zh-CN" altLang="en-US" dirty="0"/>
              <a:t>的应用，且</a:t>
            </a:r>
            <a:r>
              <a:rPr lang="en-US" altLang="zh-CN" dirty="0"/>
              <a:t>ADC</a:t>
            </a:r>
            <a:r>
              <a:rPr lang="zh-CN" altLang="en-US" dirty="0"/>
              <a:t>输入通道复用的数字</a:t>
            </a:r>
            <a:r>
              <a:rPr lang="en-US" altLang="zh-CN" dirty="0"/>
              <a:t>IO</a:t>
            </a:r>
            <a:r>
              <a:rPr lang="zh-CN" altLang="en-US" dirty="0"/>
              <a:t>，所以</a:t>
            </a:r>
            <a:r>
              <a:rPr lang="en-US" altLang="zh-CN" dirty="0"/>
              <a:t>GPIO224/226/228/242/230/227</a:t>
            </a:r>
            <a:r>
              <a:rPr lang="zh-CN" altLang="en-US" dirty="0"/>
              <a:t>都无法使用。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详情参考下一页移植对比</a:t>
            </a:r>
            <a:endParaRPr lang="zh-CN" alt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800100" y="19050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汇总</a:t>
            </a:r>
            <a:endParaRPr lang="zh-CN" altLang="en-US" sz="2800" dirty="0">
              <a:latin typeface="宋体" panose="02010600030101010101" pitchFamily="2" charset="-122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800100" y="777240"/>
          <a:ext cx="107823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65450"/>
                <a:gridCol w="2349500"/>
                <a:gridCol w="1498600"/>
                <a:gridCol w="2133600"/>
                <a:gridCol w="1835150"/>
              </a:tblGrid>
              <a:tr h="258657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封装形式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需要的丝印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数量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dirty="0"/>
                        <a:t>是否已有设计文件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是否有样品</a:t>
                      </a:r>
                      <a:endParaRPr lang="zh-CN" altLang="en-US" dirty="0"/>
                    </a:p>
                  </a:txBody>
                  <a:tcPr/>
                </a:tc>
              </a:tr>
              <a:tr h="258657">
                <a:tc>
                  <a:txBody>
                    <a:bodyPr/>
                    <a:lstStyle/>
                    <a:p>
                      <a:pPr algn="l"/>
                      <a:r>
                        <a:rPr lang="en-US" altLang="zh-CN" dirty="0"/>
                        <a:t>QP100S/Q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例如：</a:t>
                      </a:r>
                      <a:r>
                        <a:rPr lang="en-US" altLang="zh-CN" dirty="0"/>
                        <a:t>AVP32F0033QP100S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例如：</a:t>
                      </a:r>
                      <a:r>
                        <a:rPr lang="en-US" altLang="zh-CN" dirty="0"/>
                        <a:t>100ea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dirty="0"/>
                        <a:t>✔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dirty="0"/>
                        <a:t>✔</a:t>
                      </a:r>
                      <a:endParaRPr lang="zh-CN" altLang="en-US" dirty="0"/>
                    </a:p>
                  </a:txBody>
                  <a:tcPr anchor="ctr"/>
                </a:tc>
              </a:tr>
              <a:tr h="258657">
                <a:tc>
                  <a:txBody>
                    <a:bodyPr/>
                    <a:lstStyle/>
                    <a:p>
                      <a:pPr lvl="0" algn="l"/>
                      <a:r>
                        <a:rPr lang="en-US" altLang="zh-CN" dirty="0"/>
                        <a:t>QP80S/Q-39/25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dirty="0"/>
                        <a:t>✔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dirty="0"/>
                        <a:t>✔</a:t>
                      </a:r>
                      <a:endParaRPr lang="zh-CN" altLang="en-US" dirty="0"/>
                    </a:p>
                  </a:txBody>
                  <a:tcPr anchor="ctr"/>
                </a:tc>
              </a:tr>
              <a:tr h="258657">
                <a:tc>
                  <a:txBody>
                    <a:bodyPr/>
                    <a:lstStyle/>
                    <a:p>
                      <a:pPr lvl="0" algn="l"/>
                      <a:r>
                        <a:rPr lang="en-US" altLang="zh-CN" dirty="0"/>
                        <a:t>QP80Q-157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dirty="0">
                        <a:solidFill>
                          <a:schemeClr val="accent6">
                            <a:lumMod val="75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/>
                </a:tc>
              </a:tr>
              <a:tr h="258657">
                <a:tc>
                  <a:txBody>
                    <a:bodyPr/>
                    <a:lstStyle/>
                    <a:p>
                      <a:pPr algn="l"/>
                      <a:r>
                        <a:rPr lang="en-US" altLang="zh-CN" dirty="0"/>
                        <a:t>QP64Q-39/25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zh-CN" alt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等线" panose="02010600030101010101" charset="-122"/>
                          <a:ea typeface="等线" panose="02010600030101010101" charset="-122"/>
                          <a:cs typeface="+mn-cs"/>
                        </a:rPr>
                        <a:t>✔</a:t>
                      </a:r>
                      <a:endParaRPr kumimoji="0" lang="zh-CN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等线" panose="02010600030101010101" charset="-122"/>
                        <a:ea typeface="等线" panose="02010600030101010101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zh-CN" alt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等线" panose="02010600030101010101" charset="-122"/>
                          <a:ea typeface="等线" panose="02010600030101010101" charset="-122"/>
                          <a:cs typeface="+mn-cs"/>
                        </a:rPr>
                        <a:t>✔</a:t>
                      </a:r>
                      <a:endParaRPr kumimoji="0" lang="zh-CN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等线" panose="02010600030101010101" charset="-122"/>
                        <a:ea typeface="等线" panose="02010600030101010101" charset="-122"/>
                        <a:cs typeface="+mn-cs"/>
                      </a:endParaRPr>
                    </a:p>
                  </a:txBody>
                  <a:tcPr anchor="ctr"/>
                </a:tc>
              </a:tr>
              <a:tr h="258657">
                <a:tc>
                  <a:txBody>
                    <a:bodyPr/>
                    <a:lstStyle/>
                    <a:p>
                      <a:pPr algn="l"/>
                      <a:r>
                        <a:rPr lang="en-US" altLang="zh-CN" dirty="0"/>
                        <a:t>QP64S-39/25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zh-CN" alt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等线" panose="02010600030101010101" charset="-122"/>
                          <a:ea typeface="等线" panose="02010600030101010101" charset="-122"/>
                          <a:cs typeface="+mn-cs"/>
                        </a:rPr>
                        <a:t>✔</a:t>
                      </a:r>
                      <a:endParaRPr kumimoji="0" lang="zh-CN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等线" panose="02010600030101010101" charset="-122"/>
                        <a:ea typeface="等线" panose="02010600030101010101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zh-CN" alt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等线" panose="02010600030101010101" charset="-122"/>
                          <a:ea typeface="等线" panose="02010600030101010101" charset="-122"/>
                          <a:cs typeface="+mn-cs"/>
                        </a:rPr>
                        <a:t>✔</a:t>
                      </a:r>
                      <a:endParaRPr kumimoji="0" lang="zh-CN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等线" panose="02010600030101010101" charset="-122"/>
                        <a:ea typeface="等线" panose="02010600030101010101" charset="-122"/>
                        <a:cs typeface="+mn-cs"/>
                      </a:endParaRPr>
                    </a:p>
                  </a:txBody>
                  <a:tcPr anchor="ctr"/>
                </a:tc>
              </a:tr>
              <a:tr h="258657">
                <a:tc>
                  <a:txBody>
                    <a:bodyPr/>
                    <a:lstStyle/>
                    <a:p>
                      <a:pPr algn="l"/>
                      <a:r>
                        <a:rPr lang="en-US" altLang="zh-CN" dirty="0"/>
                        <a:t>QP64Q-157/137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dirty="0"/>
                    </a:p>
                  </a:txBody>
                  <a:tcPr anchor="ctr"/>
                </a:tc>
              </a:tr>
              <a:tr h="258657">
                <a:tc>
                  <a:txBody>
                    <a:bodyPr/>
                    <a:lstStyle/>
                    <a:p>
                      <a:pPr algn="l"/>
                      <a:r>
                        <a:rPr lang="en-US" altLang="zh-CN" dirty="0"/>
                        <a:t>QP64S-157/137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dirty="0"/>
                    </a:p>
                  </a:txBody>
                  <a:tcPr anchor="ctr"/>
                </a:tc>
              </a:tr>
              <a:tr h="258657">
                <a:tc>
                  <a:txBody>
                    <a:bodyPr/>
                    <a:lstStyle/>
                    <a:p>
                      <a:pPr algn="l"/>
                      <a:r>
                        <a:rPr lang="en-US" altLang="zh-CN" dirty="0"/>
                        <a:t>QP48Q/S-39(VDD)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dirty="0"/>
                        <a:t>✔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dirty="0"/>
                        <a:t>✔</a:t>
                      </a:r>
                      <a:endParaRPr lang="zh-CN" altLang="en-US" dirty="0"/>
                    </a:p>
                  </a:txBody>
                  <a:tcPr anchor="ctr"/>
                </a:tc>
              </a:tr>
              <a:tr h="258657">
                <a:tc>
                  <a:txBody>
                    <a:bodyPr/>
                    <a:lstStyle/>
                    <a:p>
                      <a:pPr algn="l"/>
                      <a:r>
                        <a:rPr lang="en-US" altLang="zh-CN" dirty="0"/>
                        <a:t>QP48Q/S-25/137(GPIO)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dirty="0"/>
                        <a:t>✔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dirty="0"/>
                    </a:p>
                  </a:txBody>
                  <a:tcPr anchor="ctr"/>
                </a:tc>
              </a:tr>
              <a:tr h="258657">
                <a:tc>
                  <a:txBody>
                    <a:bodyPr/>
                    <a:lstStyle/>
                    <a:p>
                      <a:pPr algn="l"/>
                      <a:r>
                        <a:rPr lang="en-US" altLang="zh-CN" dirty="0"/>
                        <a:t>QP48Q-157(VREG/PAD)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/>
                </a:tc>
              </a:tr>
              <a:tr h="258657">
                <a:tc>
                  <a:txBody>
                    <a:bodyPr/>
                    <a:lstStyle/>
                    <a:p>
                      <a:pPr algn="l"/>
                      <a:r>
                        <a:rPr lang="en-US" altLang="zh-CN" dirty="0"/>
                        <a:t>QN32Q-157(PAD)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dirty="0"/>
                    </a:p>
                  </a:txBody>
                  <a:tcPr anchor="ctr"/>
                </a:tc>
              </a:tr>
              <a:tr h="258657">
                <a:tc>
                  <a:txBody>
                    <a:bodyPr/>
                    <a:lstStyle/>
                    <a:p>
                      <a:pPr algn="l"/>
                      <a:r>
                        <a:rPr lang="en-US" altLang="zh-CN" dirty="0"/>
                        <a:t>QN32S-137(PAD)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dirty="0"/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3219</Words>
  <Application>WPS 演示</Application>
  <PresentationFormat>宽屏</PresentationFormat>
  <Paragraphs>567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2" baseType="lpstr">
      <vt:lpstr>Arial</vt:lpstr>
      <vt:lpstr>宋体</vt:lpstr>
      <vt:lpstr>Wingdings</vt:lpstr>
      <vt:lpstr>等线</vt:lpstr>
      <vt:lpstr>微软雅黑</vt:lpstr>
      <vt:lpstr>Arial Unicode MS</vt:lpstr>
      <vt:lpstr>等线 Light</vt:lpstr>
      <vt:lpstr>Calibri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TANG</dc:creator>
  <cp:lastModifiedBy>Skate</cp:lastModifiedBy>
  <cp:revision>176</cp:revision>
  <dcterms:created xsi:type="dcterms:W3CDTF">2025-04-16T00:58:00Z</dcterms:created>
  <dcterms:modified xsi:type="dcterms:W3CDTF">2026-03-04T10:00:10Z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B993EC8B77014CEC9AE2E0FD2A7781DD_12</vt:lpwstr>
  </property>
  <property fmtid="{D5CDD505-2E9C-101B-9397-08002B2CF9AE}" pid="3" name="KSOProductBuildVer">
    <vt:lpwstr>2052-12.1.0.25225</vt:lpwstr>
  </property>
</Properties>
</file>