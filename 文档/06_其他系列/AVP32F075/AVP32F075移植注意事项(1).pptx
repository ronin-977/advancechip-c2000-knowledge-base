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807" r:id="rId3"/>
    <p:sldId id="813" r:id="rId5"/>
    <p:sldId id="874" r:id="rId6"/>
    <p:sldId id="890" r:id="rId7"/>
    <p:sldId id="880" r:id="rId8"/>
    <p:sldId id="889" r:id="rId9"/>
    <p:sldId id="891" r:id="rId10"/>
    <p:sldId id="602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6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bron James" initials="LJ" lastIdx="1" clrIdx="0"/>
  <p:cmAuthor id="7" name="赵传东" initials="赵传东" lastIdx="1" clrIdx="4"/>
  <p:cmAuthor id="1" name="Administrator" initials="A" lastIdx="1" clrIdx="0"/>
  <p:cmAuthor id="2" name="未知用户1" initials="未" lastIdx="1" clrIdx="1"/>
  <p:cmAuthor id="3" name="章元军" initials="章" lastIdx="1" clrIdx="2"/>
  <p:cmAuthor id="4" name="00827" initials="0" lastIdx="1" clrIdx="3"/>
  <p:cmAuthor id="6" name="传东 赵" initials="传东" lastIdx="4" clrIdx="3"/>
  <p:cmAuthor id="8" name="shuxiang" initials="s" lastIdx="1" clrIdx="5"/>
  <p:cmAuthor id="9" name="WPS_1679281038" initials="W" lastIdx="0" clrIdx="8"/>
  <p:cmAuthor id="10" name="参谋长sama" initials="参" lastIdx="0" clrIdx="9"/>
  <p:cmAuthor id="11" name="宋洁然" initials="宋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1CAA6"/>
    <a:srgbClr val="171A1C"/>
    <a:srgbClr val="949393"/>
    <a:srgbClr val="D7010F"/>
    <a:srgbClr val="595757"/>
    <a:srgbClr val="C8161D"/>
    <a:srgbClr val="D7000F"/>
    <a:srgbClr val="555251"/>
    <a:srgbClr val="3B4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1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08" y="468"/>
      </p:cViewPr>
      <p:guideLst>
        <p:guide orient="horz" pos="2056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37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BBBFD-C8C8-4725-9EAB-14606A201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by </a:t>
            </a:r>
            <a:r>
              <a:rPr lang="en-US" dirty="0" err="1"/>
              <a:t>Freepik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D225FB8-320C-4083-8A3A-856629D1A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tags" Target="../tags/tag3.xml"/><Relationship Id="rId4" Type="http://schemas.openxmlformats.org/officeDocument/2006/relationships/image" Target="../media/image4.jpeg"/><Relationship Id="rId3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资源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90730" cy="6858000"/>
          </a:xfrm>
          <a:prstGeom prst="rect">
            <a:avLst/>
          </a:prstGeom>
        </p:spPr>
      </p:pic>
      <p:pic>
        <p:nvPicPr>
          <p:cNvPr id="8" name="图片 7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3" imgW="3175" imgH="3175" progId="TCLayout.ActiveDocument.1">
                  <p:embed/>
                </p:oleObj>
              </mc:Choice>
              <mc:Fallback>
                <p:oleObj name="think-cell Slide" r:id="rId3" imgW="3175" imgH="3175" progId="TCLayout.ActiveDocument.1">
                  <p:embed/>
                  <p:pic>
                    <p:nvPicPr>
                      <p:cNvPr id="0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/>
            <a:endParaRPr lang="en-US" sz="3600" b="1" i="0" baseline="0" dirty="0">
              <a:latin typeface="Calibri" panose="020F0502020204030204" charset="0"/>
              <a:ea typeface="+mj-ea"/>
              <a:cs typeface="+mj-cs"/>
              <a:sym typeface="Calibri" panose="020F050202020403020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9600" y="365126"/>
            <a:ext cx="10972800" cy="775612"/>
          </a:xfrm>
        </p:spPr>
        <p:txBody>
          <a:bodyPr lIns="0" tIns="0" rIns="0" bIns="0" anchor="ctr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330859"/>
            <a:ext cx="10972800" cy="484610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0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image" Target="../media/image4.jpeg"/><Relationship Id="rId4" Type="http://schemas.openxmlformats.org/officeDocument/2006/relationships/oleObject" Target="../embeddings/oleObject2.bin"/><Relationship Id="rId3" Type="http://schemas.openxmlformats.org/officeDocument/2006/relationships/tags" Target="../tags/tag24.xml"/><Relationship Id="rId22" Type="http://schemas.openxmlformats.org/officeDocument/2006/relationships/notesSlide" Target="../notesSlides/notesSlide3.xml"/><Relationship Id="rId21" Type="http://schemas.openxmlformats.org/officeDocument/2006/relationships/vmlDrawing" Target="../drawings/vmlDrawing2.v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3.xml"/><Relationship Id="rId19" Type="http://schemas.openxmlformats.org/officeDocument/2006/relationships/image" Target="../media/image12.png"/><Relationship Id="rId18" Type="http://schemas.openxmlformats.org/officeDocument/2006/relationships/image" Target="../media/image11.jpeg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250324进芯BP （转曲）-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720" y="3051810"/>
            <a:ext cx="5580000" cy="8625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9720" y="6055995"/>
            <a:ext cx="13119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2026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年</a:t>
            </a: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05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月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0520" y="3314700"/>
            <a:ext cx="4010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AVP32F075</a:t>
            </a:r>
            <a:r>
              <a:rPr lang="zh-CN" altLang="en-US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移植注意事项</a:t>
            </a:r>
            <a:endParaRPr lang="zh-CN" altLang="en-US" sz="3200" spc="-300" dirty="0">
              <a:solidFill>
                <a:srgbClr val="595757"/>
              </a:solidFill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1935" y="2044700"/>
            <a:ext cx="7851140" cy="1007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与时俱进</a:t>
            </a:r>
            <a:r>
              <a:rPr lang="en-US" altLang="zh-CN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  </a:t>
            </a:r>
            <a:r>
              <a:rPr lang="zh-CN" altLang="en-US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持续创芯</a:t>
            </a:r>
            <a:endParaRPr lang="zh-CN" altLang="en-US" sz="5400" b="1" dirty="0">
              <a:solidFill>
                <a:srgbClr val="C8161D"/>
              </a:solidFill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39700" y="4413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275590" y="32258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产品规划图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1305" y="322580"/>
            <a:ext cx="141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rPr>
              <a:t>/ ADVCHIP</a:t>
            </a:r>
            <a:endParaRPr lang="en-US" altLang="zh-CN" b="1">
              <a:solidFill>
                <a:srgbClr val="625F60"/>
              </a:solidFill>
              <a:latin typeface="+mj-lt"/>
              <a:ea typeface="思源黑体 CN Medium" panose="020B0600000000000000" charset="-122"/>
              <a:cs typeface="+mj-lt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75590" y="894715"/>
            <a:ext cx="11680825" cy="5752465"/>
            <a:chOff x="434" y="1409"/>
            <a:chExt cx="18395" cy="9059"/>
          </a:xfrm>
        </p:grpSpPr>
        <p:sp>
          <p:nvSpPr>
            <p:cNvPr id="4" name="圆角矩形 3"/>
            <p:cNvSpPr/>
            <p:nvPr/>
          </p:nvSpPr>
          <p:spPr>
            <a:xfrm>
              <a:off x="441" y="2683"/>
              <a:ext cx="1099" cy="5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</a:rPr>
                <a:t>DSP</a:t>
              </a:r>
              <a:endParaRPr lang="en-US" altLang="zh-CN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434" y="8133"/>
              <a:ext cx="1099" cy="5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</a:rPr>
                <a:t>SOC</a:t>
              </a:r>
              <a:endParaRPr lang="en-US" altLang="zh-CN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368" y="2608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900" b="1" spc="-5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368" y="5078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2368" y="6513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368" y="8133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368" y="9691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529" y="283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3529" y="529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3529" y="675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3529" y="834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3570" y="289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3570" y="5353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570" y="681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570" y="840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3570" y="9992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/>
          </p:nvSpPr>
          <p:spPr>
            <a:xfrm>
              <a:off x="3529" y="9931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1720" y="9992"/>
              <a:ext cx="64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1720" y="9998"/>
              <a:ext cx="5" cy="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720" y="8408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/>
          </p:nvSpPr>
          <p:spPr>
            <a:xfrm>
              <a:off x="1662" y="834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1" name="直接连接符 60"/>
            <p:cNvCxnSpPr>
              <a:endCxn id="58" idx="4"/>
            </p:cNvCxnSpPr>
            <p:nvPr/>
          </p:nvCxnSpPr>
          <p:spPr>
            <a:xfrm flipH="1" flipV="1">
              <a:off x="1722" y="8467"/>
              <a:ext cx="6" cy="152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1718" y="6757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 flipV="1">
              <a:off x="1718" y="2928"/>
              <a:ext cx="16" cy="382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718" y="5353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689" y="2928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3" name="圆角矩形 322"/>
            <p:cNvSpPr/>
            <p:nvPr/>
          </p:nvSpPr>
          <p:spPr>
            <a:xfrm rot="16200000">
              <a:off x="10937" y="2577"/>
              <a:ext cx="1049" cy="14732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24" name="圆角矩形 323"/>
            <p:cNvSpPr/>
            <p:nvPr/>
          </p:nvSpPr>
          <p:spPr>
            <a:xfrm rot="16200000">
              <a:off x="10514" y="1011"/>
              <a:ext cx="1893" cy="14730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8" name="圆角矩形 247"/>
            <p:cNvSpPr/>
            <p:nvPr/>
          </p:nvSpPr>
          <p:spPr>
            <a:xfrm rot="16200000">
              <a:off x="10828" y="-701"/>
              <a:ext cx="1241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1" name="圆角矩形 240"/>
            <p:cNvSpPr/>
            <p:nvPr/>
          </p:nvSpPr>
          <p:spPr>
            <a:xfrm rot="16200000">
              <a:off x="10828" y="-2101"/>
              <a:ext cx="1241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 rot="16200000">
              <a:off x="9868" y="-4392"/>
              <a:ext cx="3160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2" name="灰 91"/>
            <p:cNvSpPr/>
            <p:nvPr/>
          </p:nvSpPr>
          <p:spPr>
            <a:xfrm>
              <a:off x="6782" y="2310"/>
              <a:ext cx="2162" cy="6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3" name="灰 92"/>
            <p:cNvSpPr/>
            <p:nvPr/>
          </p:nvSpPr>
          <p:spPr>
            <a:xfrm>
              <a:off x="6782" y="3154"/>
              <a:ext cx="2162" cy="71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60" name="灰 59"/>
            <p:cNvSpPr/>
            <p:nvPr/>
          </p:nvSpPr>
          <p:spPr>
            <a:xfrm>
              <a:off x="4288" y="3155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4289" y="3155"/>
              <a:ext cx="2269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150MHz,256K*16bit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87" name="灰"/>
            <p:cNvSpPr/>
            <p:nvPr/>
          </p:nvSpPr>
          <p:spPr>
            <a:xfrm>
              <a:off x="4289" y="2080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4288" y="2105"/>
              <a:ext cx="2290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AVP32F335 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150MHz,256K*16bit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5603" y="277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5549" y="269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5560" y="380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506" y="373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764" y="3154"/>
              <a:ext cx="2290" cy="66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AVP32F035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90MHz,128K*16bit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6764" y="2333"/>
              <a:ext cx="2289" cy="66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AVP32F069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90MHz,128K*16bit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09" name="灰 108"/>
            <p:cNvSpPr/>
            <p:nvPr/>
          </p:nvSpPr>
          <p:spPr>
            <a:xfrm>
              <a:off x="9089" y="2635"/>
              <a:ext cx="2221" cy="88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9078" y="2659"/>
              <a:ext cx="2298" cy="83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AVP32F0049</a:t>
              </a:r>
              <a:r>
                <a:rPr lang="en-US" altLang="zh-CN" sz="9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9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21" name="圆角矩形 120"/>
            <p:cNvSpPr/>
            <p:nvPr/>
          </p:nvSpPr>
          <p:spPr>
            <a:xfrm>
              <a:off x="10360" y="3301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0306" y="3230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25" name="灰 124"/>
            <p:cNvSpPr/>
            <p:nvPr/>
          </p:nvSpPr>
          <p:spPr>
            <a:xfrm>
              <a:off x="11482" y="3155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11494" y="3180"/>
              <a:ext cx="2269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AVP32F0025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3" name="灰 142"/>
            <p:cNvSpPr/>
            <p:nvPr/>
          </p:nvSpPr>
          <p:spPr>
            <a:xfrm>
              <a:off x="11455" y="2144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11454" y="2169"/>
              <a:ext cx="2290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AVP32F0039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120MHz,192K*16bit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34.5K*16bit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6" name="圆角矩形 145"/>
            <p:cNvSpPr/>
            <p:nvPr/>
          </p:nvSpPr>
          <p:spPr>
            <a:xfrm>
              <a:off x="12726" y="2811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12672" y="2740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63" name="圆角矩形 162"/>
            <p:cNvSpPr/>
            <p:nvPr/>
          </p:nvSpPr>
          <p:spPr>
            <a:xfrm>
              <a:off x="12732" y="380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12678" y="373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67" name="灰 166"/>
            <p:cNvSpPr/>
            <p:nvPr/>
          </p:nvSpPr>
          <p:spPr>
            <a:xfrm>
              <a:off x="13877" y="2610"/>
              <a:ext cx="2210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13863" y="2635"/>
              <a:ext cx="2422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AVP32F00157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0" name="灰 189"/>
            <p:cNvSpPr/>
            <p:nvPr/>
          </p:nvSpPr>
          <p:spPr>
            <a:xfrm>
              <a:off x="13877" y="1607"/>
              <a:ext cx="2162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3876" y="1632"/>
              <a:ext cx="2326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AVP32F379D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200MHz,512K*16bit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3" name="灰"/>
            <p:cNvSpPr/>
            <p:nvPr/>
          </p:nvSpPr>
          <p:spPr>
            <a:xfrm>
              <a:off x="13888" y="3649"/>
              <a:ext cx="2170" cy="74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4" name="文本框 193"/>
            <p:cNvSpPr txBox="1"/>
            <p:nvPr/>
          </p:nvSpPr>
          <p:spPr>
            <a:xfrm>
              <a:off x="13900" y="3670"/>
              <a:ext cx="2385" cy="70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AVP32F00137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6" name="圆角矩形 195"/>
            <p:cNvSpPr/>
            <p:nvPr/>
          </p:nvSpPr>
          <p:spPr>
            <a:xfrm>
              <a:off x="15206" y="226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15152" y="2198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99" name="圆角矩形 198"/>
            <p:cNvSpPr/>
            <p:nvPr/>
          </p:nvSpPr>
          <p:spPr>
            <a:xfrm>
              <a:off x="15206" y="3272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15152" y="3201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02" name="灰"/>
            <p:cNvSpPr/>
            <p:nvPr/>
          </p:nvSpPr>
          <p:spPr>
            <a:xfrm>
              <a:off x="16360" y="2012"/>
              <a:ext cx="2221" cy="88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16360" y="2012"/>
              <a:ext cx="2298" cy="83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AVP32F28P65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200MHz; lockstep 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Flash:1.28MB RAM:248KB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5" name="圆角矩形 204"/>
            <p:cNvSpPr/>
            <p:nvPr/>
          </p:nvSpPr>
          <p:spPr>
            <a:xfrm>
              <a:off x="17630" y="269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17576" y="265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20" name="灰"/>
            <p:cNvSpPr/>
            <p:nvPr/>
          </p:nvSpPr>
          <p:spPr>
            <a:xfrm>
              <a:off x="4295" y="4869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4265" y="4901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ADP32F1X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3" name="灰"/>
            <p:cNvSpPr/>
            <p:nvPr/>
          </p:nvSpPr>
          <p:spPr>
            <a:xfrm>
              <a:off x="6770" y="4877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6740" y="4909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6" name="灰"/>
            <p:cNvSpPr/>
            <p:nvPr/>
          </p:nvSpPr>
          <p:spPr>
            <a:xfrm>
              <a:off x="9128" y="4845"/>
              <a:ext cx="2221" cy="90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9167" y="4871"/>
              <a:ext cx="2143" cy="62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ADP32F03X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60MHz,64K*16bit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9" name="灰"/>
            <p:cNvSpPr/>
            <p:nvPr/>
          </p:nvSpPr>
          <p:spPr>
            <a:xfrm>
              <a:off x="11524" y="4845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0" name="文本框 229"/>
            <p:cNvSpPr txBox="1"/>
            <p:nvPr/>
          </p:nvSpPr>
          <p:spPr>
            <a:xfrm>
              <a:off x="11494" y="4877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ADP32F03XB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2" name="灰"/>
            <p:cNvSpPr/>
            <p:nvPr/>
          </p:nvSpPr>
          <p:spPr>
            <a:xfrm>
              <a:off x="13905" y="4869"/>
              <a:ext cx="2221" cy="85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13944" y="4845"/>
              <a:ext cx="2143" cy="609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ADP32F036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6" name="圆角矩形 235"/>
            <p:cNvSpPr/>
            <p:nvPr/>
          </p:nvSpPr>
          <p:spPr>
            <a:xfrm>
              <a:off x="10419" y="5583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10365" y="5512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39" name="圆角矩形 238"/>
            <p:cNvSpPr/>
            <p:nvPr/>
          </p:nvSpPr>
          <p:spPr>
            <a:xfrm>
              <a:off x="15260" y="5566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15206" y="5495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43" name="灰"/>
            <p:cNvSpPr/>
            <p:nvPr/>
          </p:nvSpPr>
          <p:spPr>
            <a:xfrm>
              <a:off x="4256" y="6186"/>
              <a:ext cx="2221" cy="100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4295" y="6215"/>
              <a:ext cx="2143" cy="88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ADP16F03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150MHz,32K*16bit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6" name="圆角矩形 245"/>
            <p:cNvSpPr/>
            <p:nvPr/>
          </p:nvSpPr>
          <p:spPr>
            <a:xfrm>
              <a:off x="5526" y="696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5472" y="6898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77" name="前面都是灰色"/>
            <p:cNvSpPr/>
            <p:nvPr>
              <p:custDataLst>
                <p:tags r:id="rId1"/>
              </p:custDataLst>
            </p:nvPr>
          </p:nvSpPr>
          <p:spPr>
            <a:xfrm>
              <a:off x="4276" y="8499"/>
              <a:ext cx="2162" cy="753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78" name="文本框 277"/>
            <p:cNvSpPr txBox="1"/>
            <p:nvPr>
              <p:custDataLst>
                <p:tags r:id="rId2"/>
              </p:custDataLst>
            </p:nvPr>
          </p:nvSpPr>
          <p:spPr>
            <a:xfrm>
              <a:off x="4307" y="8511"/>
              <a:ext cx="2101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0" name="圆角矩形 279"/>
            <p:cNvSpPr/>
            <p:nvPr>
              <p:custDataLst>
                <p:tags r:id="rId3"/>
              </p:custDataLst>
            </p:nvPr>
          </p:nvSpPr>
          <p:spPr>
            <a:xfrm>
              <a:off x="6709" y="8214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1" name="文本框 280"/>
            <p:cNvSpPr txBox="1"/>
            <p:nvPr>
              <p:custDataLst>
                <p:tags r:id="rId4"/>
              </p:custDataLst>
            </p:nvPr>
          </p:nvSpPr>
          <p:spPr>
            <a:xfrm>
              <a:off x="6740" y="8228"/>
              <a:ext cx="2101" cy="68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ADM16F03A1Q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3" name="圆角矩形 282"/>
            <p:cNvSpPr/>
            <p:nvPr>
              <p:custDataLst>
                <p:tags r:id="rId5"/>
              </p:custDataLst>
            </p:nvPr>
          </p:nvSpPr>
          <p:spPr>
            <a:xfrm>
              <a:off x="9036" y="8002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4" name="文本框 283"/>
            <p:cNvSpPr txBox="1"/>
            <p:nvPr>
              <p:custDataLst>
                <p:tags r:id="rId6"/>
              </p:custDataLst>
            </p:nvPr>
          </p:nvSpPr>
          <p:spPr>
            <a:xfrm>
              <a:off x="9067" y="8016"/>
              <a:ext cx="2101" cy="68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ADM16F03A2Q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6" name="圆角矩形 285"/>
            <p:cNvSpPr/>
            <p:nvPr>
              <p:custDataLst>
                <p:tags r:id="rId7"/>
              </p:custDataLst>
            </p:nvPr>
          </p:nvSpPr>
          <p:spPr>
            <a:xfrm>
              <a:off x="11402" y="7723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7" name="文本框 286"/>
            <p:cNvSpPr txBox="1"/>
            <p:nvPr>
              <p:custDataLst>
                <p:tags r:id="rId8"/>
              </p:custDataLst>
            </p:nvPr>
          </p:nvSpPr>
          <p:spPr>
            <a:xfrm>
              <a:off x="11433" y="7728"/>
              <a:ext cx="2101" cy="85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LDO60V/12V,LD012V/5V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9" name="圆角矩形 288"/>
            <p:cNvSpPr/>
            <p:nvPr/>
          </p:nvSpPr>
          <p:spPr>
            <a:xfrm>
              <a:off x="13732" y="7581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0" name="文本框 289"/>
            <p:cNvSpPr txBox="1"/>
            <p:nvPr/>
          </p:nvSpPr>
          <p:spPr>
            <a:xfrm>
              <a:off x="13763" y="7586"/>
              <a:ext cx="2101" cy="84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ADM32F036A2Q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92" name="圆角矩形 291"/>
            <p:cNvSpPr/>
            <p:nvPr/>
          </p:nvSpPr>
          <p:spPr>
            <a:xfrm>
              <a:off x="16126" y="7510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3" name="文本框 292"/>
            <p:cNvSpPr txBox="1"/>
            <p:nvPr/>
          </p:nvSpPr>
          <p:spPr>
            <a:xfrm>
              <a:off x="16157" y="7515"/>
              <a:ext cx="2101" cy="84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ADM32F036A3Q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LDO60V/12V,LD012V/5V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95" name="圆角矩形 294"/>
            <p:cNvSpPr/>
            <p:nvPr>
              <p:custDataLst>
                <p:tags r:id="rId9"/>
              </p:custDataLst>
            </p:nvPr>
          </p:nvSpPr>
          <p:spPr>
            <a:xfrm>
              <a:off x="4306" y="9494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6" name="文本框 295"/>
            <p:cNvSpPr txBox="1"/>
            <p:nvPr>
              <p:custDataLst>
                <p:tags r:id="rId10"/>
              </p:custDataLst>
            </p:nvPr>
          </p:nvSpPr>
          <p:spPr>
            <a:xfrm>
              <a:off x="4337" y="9507"/>
              <a:ext cx="1430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ADM735DQ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2*AVP32F335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2*AVP32F035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8" name="圆角矩形 297"/>
            <p:cNvSpPr/>
            <p:nvPr>
              <p:custDataLst>
                <p:tags r:id="rId11"/>
              </p:custDataLst>
            </p:nvPr>
          </p:nvSpPr>
          <p:spPr>
            <a:xfrm>
              <a:off x="6678" y="9481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9" name="文本框 298"/>
            <p:cNvSpPr txBox="1"/>
            <p:nvPr>
              <p:custDataLst>
                <p:tags r:id="rId12"/>
              </p:custDataLst>
            </p:nvPr>
          </p:nvSpPr>
          <p:spPr>
            <a:xfrm>
              <a:off x="6709" y="9494"/>
              <a:ext cx="1550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ADM735EQ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2*AVP32F335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3*AVP32F035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2" name="前面都是红色"/>
            <p:cNvSpPr/>
            <p:nvPr/>
          </p:nvSpPr>
          <p:spPr>
            <a:xfrm>
              <a:off x="5552" y="10148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5498" y="10077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05" name="圆角矩形 304"/>
            <p:cNvSpPr/>
            <p:nvPr/>
          </p:nvSpPr>
          <p:spPr>
            <a:xfrm>
              <a:off x="7921" y="10136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6" name="文本框 305"/>
            <p:cNvSpPr txBox="1"/>
            <p:nvPr/>
          </p:nvSpPr>
          <p:spPr>
            <a:xfrm>
              <a:off x="7867" y="10065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08" name="圆角矩形 307"/>
            <p:cNvSpPr/>
            <p:nvPr/>
          </p:nvSpPr>
          <p:spPr>
            <a:xfrm>
              <a:off x="7891" y="888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9" name="文本框 308"/>
            <p:cNvSpPr txBox="1"/>
            <p:nvPr/>
          </p:nvSpPr>
          <p:spPr>
            <a:xfrm>
              <a:off x="7837" y="880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1" name="圆角矩形 310"/>
            <p:cNvSpPr/>
            <p:nvPr/>
          </p:nvSpPr>
          <p:spPr>
            <a:xfrm>
              <a:off x="10248" y="869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2" name="文本框 311"/>
            <p:cNvSpPr txBox="1"/>
            <p:nvPr/>
          </p:nvSpPr>
          <p:spPr>
            <a:xfrm>
              <a:off x="10194" y="861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4" name="圆角矩形 313"/>
            <p:cNvSpPr/>
            <p:nvPr/>
          </p:nvSpPr>
          <p:spPr>
            <a:xfrm>
              <a:off x="12613" y="8534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5" name="文本框 314"/>
            <p:cNvSpPr txBox="1"/>
            <p:nvPr/>
          </p:nvSpPr>
          <p:spPr>
            <a:xfrm>
              <a:off x="12559" y="8463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7" name="圆角矩形 316"/>
            <p:cNvSpPr/>
            <p:nvPr/>
          </p:nvSpPr>
          <p:spPr>
            <a:xfrm>
              <a:off x="14944" y="8394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14890" y="8323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20" name="圆角矩形 319"/>
            <p:cNvSpPr/>
            <p:nvPr/>
          </p:nvSpPr>
          <p:spPr>
            <a:xfrm>
              <a:off x="17350" y="833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17296" y="826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2180" y="2596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32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位浮点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180" y="5044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32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位定点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2191" y="6492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16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位定点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2191" y="8102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单核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SoC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2191" y="9671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多核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SoC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sp>
        <p:nvSpPr>
          <p:cNvPr id="3" name="灰"/>
          <p:cNvSpPr/>
          <p:nvPr/>
        </p:nvSpPr>
        <p:spPr>
          <a:xfrm>
            <a:off x="10388600" y="2002790"/>
            <a:ext cx="1410335" cy="56261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26700" y="2019300"/>
            <a:ext cx="1459230" cy="5308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90000"/>
              </a:lnSpc>
            </a:pPr>
            <a:r>
              <a: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AVP32F28P55</a:t>
            </a:r>
            <a:endParaRPr lang="en-US" altLang="zh-CN" sz="1000" b="1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  <a:p>
            <a:pPr>
              <a:lnSpc>
                <a:spcPct val="90000"/>
              </a:lnSpc>
            </a:pP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150MHz; </a:t>
            </a: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rPr>
              <a:t>lockstep</a:t>
            </a:r>
            <a:endParaRPr lang="en-US" altLang="zh-CN" sz="8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  <a:p>
            <a:pPr>
              <a:lnSpc>
                <a:spcPct val="90000"/>
              </a:lnSpc>
            </a:pP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Flash:1.0MB RAM:133KB</a:t>
            </a:r>
            <a:endParaRPr lang="en-US" altLang="zh-CN" sz="8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60760" y="2416175"/>
            <a:ext cx="547370" cy="14224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rPr>
              <a:t>AEC-Q100</a:t>
            </a:r>
            <a:endParaRPr lang="en-US" altLang="zh-CN" sz="7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516318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AVP32F379x/07x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资源差异对比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99185" y="1666240"/>
          <a:ext cx="9369425" cy="3193415"/>
        </p:xfrm>
        <a:graphic>
          <a:graphicData uri="http://schemas.openxmlformats.org/drawingml/2006/table">
            <a:tbl>
              <a:tblPr/>
              <a:tblGrid>
                <a:gridCol w="2896870"/>
                <a:gridCol w="3087370"/>
                <a:gridCol w="3385185"/>
              </a:tblGrid>
              <a:tr h="5753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项点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F28075</a:t>
                      </a:r>
                      <a:endParaRPr lang="en-US" altLang="en-US" sz="1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AVP32F075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7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芯片主频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（MAX）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CORE1.2V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CORE1.1V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4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芯片功耗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VREG)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550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mW @ 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12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Mhz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470mW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@ 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片内L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DO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3.3/1.2 VREG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3.3/1.1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FLASH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随机等待配置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N=2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N+3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35735" y="917575"/>
          <a:ext cx="11090910" cy="56730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95195"/>
                <a:gridCol w="1983105"/>
                <a:gridCol w="1748790"/>
                <a:gridCol w="1663700"/>
                <a:gridCol w="1730375"/>
              </a:tblGrid>
              <a:tr h="290195">
                <a:tc>
                  <a:txBody>
                    <a:bodyPr/>
                    <a:p>
                      <a:r>
                        <a:rPr lang="zh-CN" altLang="en-US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型号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AVP32F379D/377D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AVP32F379S/377S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AVP32F374S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AVP32F076/F075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97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CPU(Mhz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）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200+200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543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FPU32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TMU32/DMA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3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Type2-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3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CLB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4-Type2/-</a:t>
                      </a:r>
                      <a:endParaRPr lang="zh-CN" altLang="en-US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4-Type2/-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4-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Type2/-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RAM/Flash (8 bit)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204Kb/1.0Mb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164Kb/1.0Mb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132Kb/512Kb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PWM/HRPWM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(Type4)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464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12-ADC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3.1MSPS/17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01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16-ADC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1.1MSPS/24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1.1MSPS/24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27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ECAP/HRCAP/EQEP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PGA/CMPSS/DAC/EMIF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0/8/3/1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7030">
                <a:tc>
                  <a:txBody>
                    <a:bodyPr/>
                    <a:p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Spi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/Sci/CAN/I2C/LIN/USB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3/4/</a:t>
                      </a:r>
                      <a:r>
                        <a:rPr lang="en-US" altLang="zh-CN" sz="1100" baseline="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/2/0/1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861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MCBSP/CANFD/PMBUS/SDFM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/0/6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/0/8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33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uPP/LFU/AES/JTAG Lock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GPIO/AIO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97/0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p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供电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0525">
                <a:tc>
                  <a:txBody>
                    <a:bodyPr/>
                    <a:p>
                      <a:pPr algn="l"/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封装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LQFP176/100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75590" y="322580"/>
            <a:ext cx="2458720" cy="368300"/>
            <a:chOff x="2329" y="4165"/>
            <a:chExt cx="3872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2329" y="4165"/>
              <a:ext cx="17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D7000F"/>
                  </a:solidFill>
                  <a:latin typeface="+mj-lt"/>
                  <a:ea typeface="思源黑体 CN Medium" panose="020B0600000000000000" charset="-122"/>
                </a:rPr>
                <a:t>产品参数</a:t>
              </a:r>
              <a:endPara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78" y="4165"/>
              <a:ext cx="22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b="1">
                  <a:solidFill>
                    <a:srgbClr val="625F60"/>
                  </a:solidFill>
                  <a:latin typeface="+mj-lt"/>
                  <a:ea typeface="思源黑体 CN Medium" panose="020B0600000000000000" charset="-122"/>
                  <a:cs typeface="+mj-lt"/>
                </a:rPr>
                <a:t>/ ADVCHIP</a:t>
              </a:r>
              <a:endPara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AVP32F075 -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内核电压差异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057910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F075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集成了内部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LDO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，支持单电源供电，所以此差异可以忽略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75" y="1537970"/>
            <a:ext cx="6685915" cy="464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AVP32F075 - flash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配置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2606040"/>
            <a:ext cx="6034405" cy="35902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535" y="2606040"/>
            <a:ext cx="4219575" cy="3411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27265" y="6041390"/>
            <a:ext cx="415226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使能预取缓冲和数据缓冲提升代码效率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897890"/>
            <a:ext cx="10579100" cy="170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单核系列的FLASH执行速度比双核快，我司在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FRDCNTL[RWAIT]上面默认+3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标准读取模式和复位后的默认读取模式，每次对闪存的读取访问将在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RWAIT+1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个时钟周期后返回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Prefetch mode: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提升线性代码的执行效率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</a:t>
            </a: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Data cache: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提升数据空间读取性能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当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RWAIT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为零时，预取和数据缓存均被绕过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68600" y="6196330"/>
            <a:ext cx="192278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FLASH</a:t>
            </a:r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预取</a:t>
            </a:r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模式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5282565" cy="96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GS12RAM-GS15RAM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为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377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375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独有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F076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F075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RAM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没有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GS8RAM~GS15RAM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AVP32F37x/07x - RAM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分配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" y="2078355"/>
            <a:ext cx="5506085" cy="3832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365" y="847725"/>
            <a:ext cx="5045710" cy="54540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89100" y="5989955"/>
            <a:ext cx="220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F28076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F28075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3810" y="6358255"/>
            <a:ext cx="1061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F28379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 userDrawn="1">
            <p:custDataLst>
              <p:tags r:id="rId1"/>
            </p:custDataLst>
          </p:nvPr>
        </p:nvSpPr>
        <p:spPr>
          <a:xfrm rot="16200000" flipH="1">
            <a:off x="2666365" y="-2667000"/>
            <a:ext cx="6858000" cy="12191365"/>
          </a:xfrm>
          <a:prstGeom prst="rect">
            <a:avLst/>
          </a:prstGeom>
          <a:solidFill>
            <a:schemeClr val="tx1">
              <a:lumMod val="75000"/>
              <a:lumOff val="25000"/>
              <a:alpha val="78000"/>
            </a:scheme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 rot="16200000" flipH="1">
            <a:off x="407035" y="930275"/>
            <a:ext cx="5235575" cy="4803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4" imgW="3175" imgH="3175" progId="TCLayout.ActiveDocument.1">
                  <p:embed/>
                </p:oleObj>
              </mc:Choice>
              <mc:Fallback>
                <p:oleObj name="think-cell Slide" r:id="rId4" imgW="3175" imgH="317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1298893" y="1111250"/>
            <a:ext cx="3452495" cy="4356100"/>
            <a:chOff x="2003" y="2009"/>
            <a:chExt cx="5437" cy="6860"/>
          </a:xfrm>
        </p:grpSpPr>
        <p:grpSp>
          <p:nvGrpSpPr>
            <p:cNvPr id="11" name="组合 10"/>
            <p:cNvGrpSpPr/>
            <p:nvPr/>
          </p:nvGrpSpPr>
          <p:grpSpPr>
            <a:xfrm>
              <a:off x="2168" y="3163"/>
              <a:ext cx="5241" cy="1734"/>
              <a:chOff x="11972" y="2784"/>
              <a:chExt cx="5241" cy="1734"/>
            </a:xfrm>
          </p:grpSpPr>
          <p:sp>
            <p:nvSpPr>
              <p:cNvPr id="19" name="Rectangle 59"/>
              <p:cNvSpPr/>
              <p:nvPr>
                <p:custDataLst>
                  <p:tags r:id="rId6"/>
                </p:custDataLst>
              </p:nvPr>
            </p:nvSpPr>
            <p:spPr>
              <a:xfrm>
                <a:off x="12416" y="2784"/>
                <a:ext cx="2253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电邮</a:t>
                </a:r>
                <a:r>
                  <a:rPr lang="en-US" altLang="zh-CN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/</a:t>
                </a:r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网址</a:t>
                </a:r>
                <a:r>
                  <a:rPr lang="en-US" altLang="zh-CN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 </a:t>
                </a:r>
                <a:endParaRPr lang="en-US" altLang="zh-CN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  <p:sp>
            <p:nvSpPr>
              <p:cNvPr id="23" name="Freeform 185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1972" y="2966"/>
                <a:ext cx="575" cy="440"/>
              </a:xfrm>
              <a:custGeom>
                <a:avLst/>
                <a:gdLst>
                  <a:gd name="T0" fmla="*/ 545 w 619"/>
                  <a:gd name="T1" fmla="*/ 0 h 472"/>
                  <a:gd name="T2" fmla="*/ 545 w 619"/>
                  <a:gd name="T3" fmla="*/ 0 h 472"/>
                  <a:gd name="T4" fmla="*/ 73 w 619"/>
                  <a:gd name="T5" fmla="*/ 0 h 472"/>
                  <a:gd name="T6" fmla="*/ 0 w 619"/>
                  <a:gd name="T7" fmla="*/ 73 h 472"/>
                  <a:gd name="T8" fmla="*/ 0 w 619"/>
                  <a:gd name="T9" fmla="*/ 397 h 472"/>
                  <a:gd name="T10" fmla="*/ 73 w 619"/>
                  <a:gd name="T11" fmla="*/ 471 h 472"/>
                  <a:gd name="T12" fmla="*/ 545 w 619"/>
                  <a:gd name="T13" fmla="*/ 471 h 472"/>
                  <a:gd name="T14" fmla="*/ 618 w 619"/>
                  <a:gd name="T15" fmla="*/ 397 h 472"/>
                  <a:gd name="T16" fmla="*/ 618 w 619"/>
                  <a:gd name="T17" fmla="*/ 73 h 472"/>
                  <a:gd name="T18" fmla="*/ 545 w 619"/>
                  <a:gd name="T19" fmla="*/ 0 h 472"/>
                  <a:gd name="T20" fmla="*/ 559 w 619"/>
                  <a:gd name="T21" fmla="*/ 44 h 472"/>
                  <a:gd name="T22" fmla="*/ 559 w 619"/>
                  <a:gd name="T23" fmla="*/ 44 h 472"/>
                  <a:gd name="T24" fmla="*/ 309 w 619"/>
                  <a:gd name="T25" fmla="*/ 235 h 472"/>
                  <a:gd name="T26" fmla="*/ 59 w 619"/>
                  <a:gd name="T27" fmla="*/ 44 h 472"/>
                  <a:gd name="T28" fmla="*/ 559 w 619"/>
                  <a:gd name="T29" fmla="*/ 44 h 472"/>
                  <a:gd name="T30" fmla="*/ 29 w 619"/>
                  <a:gd name="T31" fmla="*/ 397 h 472"/>
                  <a:gd name="T32" fmla="*/ 29 w 619"/>
                  <a:gd name="T33" fmla="*/ 397 h 472"/>
                  <a:gd name="T34" fmla="*/ 29 w 619"/>
                  <a:gd name="T35" fmla="*/ 73 h 472"/>
                  <a:gd name="T36" fmla="*/ 206 w 619"/>
                  <a:gd name="T37" fmla="*/ 221 h 472"/>
                  <a:gd name="T38" fmla="*/ 29 w 619"/>
                  <a:gd name="T39" fmla="*/ 397 h 472"/>
                  <a:gd name="T40" fmla="*/ 59 w 619"/>
                  <a:gd name="T41" fmla="*/ 427 h 472"/>
                  <a:gd name="T42" fmla="*/ 59 w 619"/>
                  <a:gd name="T43" fmla="*/ 427 h 472"/>
                  <a:gd name="T44" fmla="*/ 236 w 619"/>
                  <a:gd name="T45" fmla="*/ 235 h 472"/>
                  <a:gd name="T46" fmla="*/ 309 w 619"/>
                  <a:gd name="T47" fmla="*/ 294 h 472"/>
                  <a:gd name="T48" fmla="*/ 368 w 619"/>
                  <a:gd name="T49" fmla="*/ 235 h 472"/>
                  <a:gd name="T50" fmla="*/ 559 w 619"/>
                  <a:gd name="T51" fmla="*/ 427 h 472"/>
                  <a:gd name="T52" fmla="*/ 59 w 619"/>
                  <a:gd name="T53" fmla="*/ 427 h 472"/>
                  <a:gd name="T54" fmla="*/ 589 w 619"/>
                  <a:gd name="T55" fmla="*/ 397 h 472"/>
                  <a:gd name="T56" fmla="*/ 589 w 619"/>
                  <a:gd name="T57" fmla="*/ 397 h 472"/>
                  <a:gd name="T58" fmla="*/ 589 w 619"/>
                  <a:gd name="T59" fmla="*/ 397 h 472"/>
                  <a:gd name="T60" fmla="*/ 412 w 619"/>
                  <a:gd name="T61" fmla="*/ 221 h 472"/>
                  <a:gd name="T62" fmla="*/ 589 w 619"/>
                  <a:gd name="T63" fmla="*/ 73 h 472"/>
                  <a:gd name="T64" fmla="*/ 589 w 619"/>
                  <a:gd name="T65" fmla="*/ 397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19" h="472"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3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0" y="442"/>
                      <a:pt x="29" y="471"/>
                      <a:pt x="73" y="471"/>
                    </a:cubicBezTo>
                    <a:cubicBezTo>
                      <a:pt x="545" y="471"/>
                      <a:pt x="545" y="471"/>
                      <a:pt x="545" y="471"/>
                    </a:cubicBezTo>
                    <a:cubicBezTo>
                      <a:pt x="589" y="471"/>
                      <a:pt x="618" y="442"/>
                      <a:pt x="618" y="397"/>
                    </a:cubicBezTo>
                    <a:cubicBezTo>
                      <a:pt x="618" y="73"/>
                      <a:pt x="618" y="73"/>
                      <a:pt x="618" y="73"/>
                    </a:cubicBezTo>
                    <a:cubicBezTo>
                      <a:pt x="618" y="30"/>
                      <a:pt x="589" y="0"/>
                      <a:pt x="545" y="0"/>
                    </a:cubicBezTo>
                    <a:close/>
                    <a:moveTo>
                      <a:pt x="559" y="44"/>
                    </a:moveTo>
                    <a:lnTo>
                      <a:pt x="559" y="44"/>
                    </a:lnTo>
                    <a:cubicBezTo>
                      <a:pt x="309" y="235"/>
                      <a:pt x="309" y="235"/>
                      <a:pt x="309" y="235"/>
                    </a:cubicBezTo>
                    <a:cubicBezTo>
                      <a:pt x="59" y="44"/>
                      <a:pt x="59" y="44"/>
                      <a:pt x="59" y="44"/>
                    </a:cubicBezTo>
                    <a:lnTo>
                      <a:pt x="559" y="44"/>
                    </a:lnTo>
                    <a:close/>
                    <a:moveTo>
                      <a:pt x="29" y="397"/>
                    </a:moveTo>
                    <a:lnTo>
                      <a:pt x="29" y="397"/>
                    </a:lnTo>
                    <a:cubicBezTo>
                      <a:pt x="29" y="73"/>
                      <a:pt x="29" y="73"/>
                      <a:pt x="29" y="73"/>
                    </a:cubicBezTo>
                    <a:cubicBezTo>
                      <a:pt x="206" y="221"/>
                      <a:pt x="206" y="221"/>
                      <a:pt x="206" y="221"/>
                    </a:cubicBezTo>
                    <a:cubicBezTo>
                      <a:pt x="29" y="397"/>
                      <a:pt x="29" y="397"/>
                      <a:pt x="29" y="397"/>
                    </a:cubicBezTo>
                    <a:close/>
                    <a:moveTo>
                      <a:pt x="59" y="427"/>
                    </a:moveTo>
                    <a:lnTo>
                      <a:pt x="59" y="427"/>
                    </a:lnTo>
                    <a:cubicBezTo>
                      <a:pt x="236" y="235"/>
                      <a:pt x="236" y="235"/>
                      <a:pt x="236" y="235"/>
                    </a:cubicBezTo>
                    <a:cubicBezTo>
                      <a:pt x="309" y="294"/>
                      <a:pt x="309" y="294"/>
                      <a:pt x="309" y="294"/>
                    </a:cubicBezTo>
                    <a:cubicBezTo>
                      <a:pt x="368" y="235"/>
                      <a:pt x="368" y="235"/>
                      <a:pt x="368" y="235"/>
                    </a:cubicBezTo>
                    <a:cubicBezTo>
                      <a:pt x="559" y="427"/>
                      <a:pt x="559" y="427"/>
                      <a:pt x="559" y="427"/>
                    </a:cubicBezTo>
                    <a:cubicBezTo>
                      <a:pt x="545" y="427"/>
                      <a:pt x="73" y="427"/>
                      <a:pt x="59" y="427"/>
                    </a:cubicBezTo>
                    <a:close/>
                    <a:moveTo>
                      <a:pt x="589" y="397"/>
                    </a:moveTo>
                    <a:lnTo>
                      <a:pt x="589" y="397"/>
                    </a:lnTo>
                    <a:lnTo>
                      <a:pt x="589" y="397"/>
                    </a:lnTo>
                    <a:cubicBezTo>
                      <a:pt x="412" y="221"/>
                      <a:pt x="412" y="221"/>
                      <a:pt x="412" y="221"/>
                    </a:cubicBezTo>
                    <a:cubicBezTo>
                      <a:pt x="589" y="73"/>
                      <a:pt x="589" y="73"/>
                      <a:pt x="589" y="73"/>
                    </a:cubicBezTo>
                    <a:lnTo>
                      <a:pt x="589" y="397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696" y="3357"/>
                <a:ext cx="4517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Email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sales@advancechip.com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WEB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www.advancechip.com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2241" y="5064"/>
              <a:ext cx="4317" cy="1761"/>
              <a:chOff x="9182" y="5765"/>
              <a:chExt cx="4317" cy="1761"/>
            </a:xfrm>
          </p:grpSpPr>
          <p:sp>
            <p:nvSpPr>
              <p:cNvPr id="29" name="Rectangle 58"/>
              <p:cNvSpPr/>
              <p:nvPr>
                <p:custDataLst>
                  <p:tags r:id="rId9"/>
                </p:custDataLst>
              </p:nvPr>
            </p:nvSpPr>
            <p:spPr>
              <a:xfrm>
                <a:off x="9606" y="5765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公司地址</a:t>
                </a:r>
                <a:endParaRPr lang="zh-CN" altLang="en-US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161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182" y="5881"/>
                <a:ext cx="502" cy="653"/>
              </a:xfrm>
              <a:custGeom>
                <a:avLst/>
                <a:gdLst>
                  <a:gd name="T0" fmla="*/ 236 w 472"/>
                  <a:gd name="T1" fmla="*/ 0 h 619"/>
                  <a:gd name="T2" fmla="*/ 236 w 472"/>
                  <a:gd name="T3" fmla="*/ 0 h 619"/>
                  <a:gd name="T4" fmla="*/ 0 w 472"/>
                  <a:gd name="T5" fmla="*/ 235 h 619"/>
                  <a:gd name="T6" fmla="*/ 236 w 472"/>
                  <a:gd name="T7" fmla="*/ 618 h 619"/>
                  <a:gd name="T8" fmla="*/ 471 w 472"/>
                  <a:gd name="T9" fmla="*/ 235 h 619"/>
                  <a:gd name="T10" fmla="*/ 236 w 472"/>
                  <a:gd name="T11" fmla="*/ 0 h 619"/>
                  <a:gd name="T12" fmla="*/ 236 w 472"/>
                  <a:gd name="T13" fmla="*/ 559 h 619"/>
                  <a:gd name="T14" fmla="*/ 236 w 472"/>
                  <a:gd name="T15" fmla="*/ 559 h 619"/>
                  <a:gd name="T16" fmla="*/ 45 w 472"/>
                  <a:gd name="T17" fmla="*/ 235 h 619"/>
                  <a:gd name="T18" fmla="*/ 236 w 472"/>
                  <a:gd name="T19" fmla="*/ 29 h 619"/>
                  <a:gd name="T20" fmla="*/ 427 w 472"/>
                  <a:gd name="T21" fmla="*/ 235 h 619"/>
                  <a:gd name="T22" fmla="*/ 236 w 472"/>
                  <a:gd name="T23" fmla="*/ 559 h 619"/>
                  <a:gd name="T24" fmla="*/ 236 w 472"/>
                  <a:gd name="T25" fmla="*/ 132 h 619"/>
                  <a:gd name="T26" fmla="*/ 236 w 472"/>
                  <a:gd name="T27" fmla="*/ 132 h 619"/>
                  <a:gd name="T28" fmla="*/ 133 w 472"/>
                  <a:gd name="T29" fmla="*/ 235 h 619"/>
                  <a:gd name="T30" fmla="*/ 236 w 472"/>
                  <a:gd name="T31" fmla="*/ 323 h 619"/>
                  <a:gd name="T32" fmla="*/ 339 w 472"/>
                  <a:gd name="T33" fmla="*/ 235 h 619"/>
                  <a:gd name="T34" fmla="*/ 236 w 472"/>
                  <a:gd name="T35" fmla="*/ 132 h 619"/>
                  <a:gd name="T36" fmla="*/ 236 w 472"/>
                  <a:gd name="T37" fmla="*/ 294 h 619"/>
                  <a:gd name="T38" fmla="*/ 236 w 472"/>
                  <a:gd name="T39" fmla="*/ 294 h 619"/>
                  <a:gd name="T40" fmla="*/ 177 w 472"/>
                  <a:gd name="T41" fmla="*/ 235 h 619"/>
                  <a:gd name="T42" fmla="*/ 236 w 472"/>
                  <a:gd name="T43" fmla="*/ 176 h 619"/>
                  <a:gd name="T44" fmla="*/ 295 w 472"/>
                  <a:gd name="T45" fmla="*/ 235 h 619"/>
                  <a:gd name="T46" fmla="*/ 236 w 472"/>
                  <a:gd name="T47" fmla="*/ 294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2" h="619">
                    <a:moveTo>
                      <a:pt x="236" y="0"/>
                    </a:moveTo>
                    <a:lnTo>
                      <a:pt x="236" y="0"/>
                    </a:lnTo>
                    <a:cubicBezTo>
                      <a:pt x="104" y="0"/>
                      <a:pt x="0" y="103"/>
                      <a:pt x="0" y="235"/>
                    </a:cubicBezTo>
                    <a:cubicBezTo>
                      <a:pt x="0" y="323"/>
                      <a:pt x="192" y="618"/>
                      <a:pt x="236" y="618"/>
                    </a:cubicBezTo>
                    <a:cubicBezTo>
                      <a:pt x="280" y="618"/>
                      <a:pt x="471" y="323"/>
                      <a:pt x="471" y="235"/>
                    </a:cubicBezTo>
                    <a:cubicBezTo>
                      <a:pt x="471" y="103"/>
                      <a:pt x="368" y="0"/>
                      <a:pt x="236" y="0"/>
                    </a:cubicBezTo>
                    <a:close/>
                    <a:moveTo>
                      <a:pt x="236" y="559"/>
                    </a:moveTo>
                    <a:lnTo>
                      <a:pt x="236" y="559"/>
                    </a:lnTo>
                    <a:cubicBezTo>
                      <a:pt x="207" y="559"/>
                      <a:pt x="45" y="309"/>
                      <a:pt x="45" y="235"/>
                    </a:cubicBezTo>
                    <a:cubicBezTo>
                      <a:pt x="45" y="117"/>
                      <a:pt x="133" y="29"/>
                      <a:pt x="236" y="29"/>
                    </a:cubicBezTo>
                    <a:cubicBezTo>
                      <a:pt x="339" y="29"/>
                      <a:pt x="427" y="117"/>
                      <a:pt x="427" y="235"/>
                    </a:cubicBezTo>
                    <a:cubicBezTo>
                      <a:pt x="427" y="309"/>
                      <a:pt x="266" y="559"/>
                      <a:pt x="236" y="559"/>
                    </a:cubicBezTo>
                    <a:close/>
                    <a:moveTo>
                      <a:pt x="236" y="132"/>
                    </a:moveTo>
                    <a:lnTo>
                      <a:pt x="236" y="132"/>
                    </a:lnTo>
                    <a:cubicBezTo>
                      <a:pt x="177" y="132"/>
                      <a:pt x="133" y="176"/>
                      <a:pt x="133" y="235"/>
                    </a:cubicBezTo>
                    <a:cubicBezTo>
                      <a:pt x="133" y="279"/>
                      <a:pt x="177" y="323"/>
                      <a:pt x="236" y="323"/>
                    </a:cubicBezTo>
                    <a:cubicBezTo>
                      <a:pt x="295" y="323"/>
                      <a:pt x="339" y="279"/>
                      <a:pt x="339" y="235"/>
                    </a:cubicBezTo>
                    <a:cubicBezTo>
                      <a:pt x="339" y="176"/>
                      <a:pt x="295" y="132"/>
                      <a:pt x="236" y="132"/>
                    </a:cubicBezTo>
                    <a:close/>
                    <a:moveTo>
                      <a:pt x="236" y="294"/>
                    </a:moveTo>
                    <a:lnTo>
                      <a:pt x="236" y="294"/>
                    </a:lnTo>
                    <a:cubicBezTo>
                      <a:pt x="207" y="294"/>
                      <a:pt x="177" y="264"/>
                      <a:pt x="177" y="235"/>
                    </a:cubicBezTo>
                    <a:cubicBezTo>
                      <a:pt x="177" y="191"/>
                      <a:pt x="207" y="176"/>
                      <a:pt x="236" y="176"/>
                    </a:cubicBezTo>
                    <a:cubicBezTo>
                      <a:pt x="266" y="176"/>
                      <a:pt x="295" y="191"/>
                      <a:pt x="295" y="235"/>
                    </a:cubicBezTo>
                    <a:cubicBezTo>
                      <a:pt x="295" y="264"/>
                      <a:pt x="266" y="294"/>
                      <a:pt x="236" y="294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TextBox 1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851" y="6365"/>
                <a:ext cx="3648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长沙市</a:t>
                </a:r>
                <a:r>
                  <a:rPr 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湘江新</a:t>
                </a: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区东方红街道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北斗产业园·黄金园A5栋  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241" y="7081"/>
              <a:ext cx="5199" cy="1788"/>
              <a:chOff x="2484" y="7433"/>
              <a:chExt cx="5199" cy="1788"/>
            </a:xfrm>
          </p:grpSpPr>
          <p:sp>
            <p:nvSpPr>
              <p:cNvPr id="33" name="Rectangle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2932" y="7433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联系电话</a:t>
                </a:r>
                <a:endParaRPr lang="zh-CN" altLang="en-US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Freeform 178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84" y="7580"/>
                <a:ext cx="580" cy="563"/>
              </a:xfrm>
              <a:custGeom>
                <a:avLst/>
                <a:gdLst>
                  <a:gd name="T0" fmla="*/ 603 w 634"/>
                  <a:gd name="T1" fmla="*/ 74 h 619"/>
                  <a:gd name="T2" fmla="*/ 603 w 634"/>
                  <a:gd name="T3" fmla="*/ 74 h 619"/>
                  <a:gd name="T4" fmla="*/ 545 w 634"/>
                  <a:gd name="T5" fmla="*/ 15 h 619"/>
                  <a:gd name="T6" fmla="*/ 486 w 634"/>
                  <a:gd name="T7" fmla="*/ 15 h 619"/>
                  <a:gd name="T8" fmla="*/ 412 w 634"/>
                  <a:gd name="T9" fmla="*/ 133 h 619"/>
                  <a:gd name="T10" fmla="*/ 412 w 634"/>
                  <a:gd name="T11" fmla="*/ 191 h 619"/>
                  <a:gd name="T12" fmla="*/ 441 w 634"/>
                  <a:gd name="T13" fmla="*/ 221 h 619"/>
                  <a:gd name="T14" fmla="*/ 353 w 634"/>
                  <a:gd name="T15" fmla="*/ 324 h 619"/>
                  <a:gd name="T16" fmla="*/ 235 w 634"/>
                  <a:gd name="T17" fmla="*/ 427 h 619"/>
                  <a:gd name="T18" fmla="*/ 191 w 634"/>
                  <a:gd name="T19" fmla="*/ 397 h 619"/>
                  <a:gd name="T20" fmla="*/ 132 w 634"/>
                  <a:gd name="T21" fmla="*/ 397 h 619"/>
                  <a:gd name="T22" fmla="*/ 29 w 634"/>
                  <a:gd name="T23" fmla="*/ 486 h 619"/>
                  <a:gd name="T24" fmla="*/ 29 w 634"/>
                  <a:gd name="T25" fmla="*/ 530 h 619"/>
                  <a:gd name="T26" fmla="*/ 88 w 634"/>
                  <a:gd name="T27" fmla="*/ 589 h 619"/>
                  <a:gd name="T28" fmla="*/ 191 w 634"/>
                  <a:gd name="T29" fmla="*/ 589 h 619"/>
                  <a:gd name="T30" fmla="*/ 427 w 634"/>
                  <a:gd name="T31" fmla="*/ 412 h 619"/>
                  <a:gd name="T32" fmla="*/ 603 w 634"/>
                  <a:gd name="T33" fmla="*/ 191 h 619"/>
                  <a:gd name="T34" fmla="*/ 603 w 634"/>
                  <a:gd name="T35" fmla="*/ 74 h 619"/>
                  <a:gd name="T36" fmla="*/ 574 w 634"/>
                  <a:gd name="T37" fmla="*/ 162 h 619"/>
                  <a:gd name="T38" fmla="*/ 574 w 634"/>
                  <a:gd name="T39" fmla="*/ 162 h 619"/>
                  <a:gd name="T40" fmla="*/ 412 w 634"/>
                  <a:gd name="T41" fmla="*/ 383 h 619"/>
                  <a:gd name="T42" fmla="*/ 162 w 634"/>
                  <a:gd name="T43" fmla="*/ 559 h 619"/>
                  <a:gd name="T44" fmla="*/ 103 w 634"/>
                  <a:gd name="T45" fmla="*/ 559 h 619"/>
                  <a:gd name="T46" fmla="*/ 73 w 634"/>
                  <a:gd name="T47" fmla="*/ 530 h 619"/>
                  <a:gd name="T48" fmla="*/ 73 w 634"/>
                  <a:gd name="T49" fmla="*/ 486 h 619"/>
                  <a:gd name="T50" fmla="*/ 147 w 634"/>
                  <a:gd name="T51" fmla="*/ 442 h 619"/>
                  <a:gd name="T52" fmla="*/ 177 w 634"/>
                  <a:gd name="T53" fmla="*/ 442 h 619"/>
                  <a:gd name="T54" fmla="*/ 221 w 634"/>
                  <a:gd name="T55" fmla="*/ 486 h 619"/>
                  <a:gd name="T56" fmla="*/ 500 w 634"/>
                  <a:gd name="T57" fmla="*/ 221 h 619"/>
                  <a:gd name="T58" fmla="*/ 441 w 634"/>
                  <a:gd name="T59" fmla="*/ 176 h 619"/>
                  <a:gd name="T60" fmla="*/ 441 w 634"/>
                  <a:gd name="T61" fmla="*/ 133 h 619"/>
                  <a:gd name="T62" fmla="*/ 500 w 634"/>
                  <a:gd name="T63" fmla="*/ 59 h 619"/>
                  <a:gd name="T64" fmla="*/ 545 w 634"/>
                  <a:gd name="T65" fmla="*/ 59 h 619"/>
                  <a:gd name="T66" fmla="*/ 574 w 634"/>
                  <a:gd name="T67" fmla="*/ 103 h 619"/>
                  <a:gd name="T68" fmla="*/ 574 w 634"/>
                  <a:gd name="T69" fmla="*/ 16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34" h="619">
                    <a:moveTo>
                      <a:pt x="603" y="74"/>
                    </a:moveTo>
                    <a:lnTo>
                      <a:pt x="603" y="74"/>
                    </a:lnTo>
                    <a:cubicBezTo>
                      <a:pt x="545" y="15"/>
                      <a:pt x="545" y="15"/>
                      <a:pt x="545" y="15"/>
                    </a:cubicBezTo>
                    <a:cubicBezTo>
                      <a:pt x="530" y="0"/>
                      <a:pt x="500" y="0"/>
                      <a:pt x="486" y="15"/>
                    </a:cubicBezTo>
                    <a:cubicBezTo>
                      <a:pt x="412" y="133"/>
                      <a:pt x="412" y="133"/>
                      <a:pt x="412" y="133"/>
                    </a:cubicBezTo>
                    <a:cubicBezTo>
                      <a:pt x="398" y="147"/>
                      <a:pt x="398" y="176"/>
                      <a:pt x="412" y="191"/>
                    </a:cubicBezTo>
                    <a:cubicBezTo>
                      <a:pt x="441" y="221"/>
                      <a:pt x="441" y="221"/>
                      <a:pt x="441" y="221"/>
                    </a:cubicBezTo>
                    <a:cubicBezTo>
                      <a:pt x="412" y="250"/>
                      <a:pt x="382" y="294"/>
                      <a:pt x="353" y="324"/>
                    </a:cubicBezTo>
                    <a:cubicBezTo>
                      <a:pt x="309" y="368"/>
                      <a:pt x="265" y="397"/>
                      <a:pt x="235" y="427"/>
                    </a:cubicBezTo>
                    <a:cubicBezTo>
                      <a:pt x="191" y="397"/>
                      <a:pt x="191" y="397"/>
                      <a:pt x="191" y="397"/>
                    </a:cubicBezTo>
                    <a:cubicBezTo>
                      <a:pt x="177" y="383"/>
                      <a:pt x="162" y="383"/>
                      <a:pt x="132" y="397"/>
                    </a:cubicBezTo>
                    <a:cubicBezTo>
                      <a:pt x="29" y="486"/>
                      <a:pt x="29" y="486"/>
                      <a:pt x="29" y="486"/>
                    </a:cubicBezTo>
                    <a:cubicBezTo>
                      <a:pt x="0" y="500"/>
                      <a:pt x="15" y="515"/>
                      <a:pt x="29" y="530"/>
                    </a:cubicBezTo>
                    <a:cubicBezTo>
                      <a:pt x="88" y="589"/>
                      <a:pt x="88" y="589"/>
                      <a:pt x="88" y="589"/>
                    </a:cubicBezTo>
                    <a:cubicBezTo>
                      <a:pt x="118" y="618"/>
                      <a:pt x="147" y="618"/>
                      <a:pt x="191" y="589"/>
                    </a:cubicBezTo>
                    <a:cubicBezTo>
                      <a:pt x="191" y="589"/>
                      <a:pt x="324" y="530"/>
                      <a:pt x="427" y="412"/>
                    </a:cubicBezTo>
                    <a:cubicBezTo>
                      <a:pt x="530" y="324"/>
                      <a:pt x="603" y="191"/>
                      <a:pt x="603" y="191"/>
                    </a:cubicBezTo>
                    <a:cubicBezTo>
                      <a:pt x="618" y="147"/>
                      <a:pt x="633" y="103"/>
                      <a:pt x="603" y="74"/>
                    </a:cubicBezTo>
                    <a:close/>
                    <a:moveTo>
                      <a:pt x="574" y="162"/>
                    </a:moveTo>
                    <a:lnTo>
                      <a:pt x="574" y="162"/>
                    </a:lnTo>
                    <a:cubicBezTo>
                      <a:pt x="545" y="221"/>
                      <a:pt x="471" y="324"/>
                      <a:pt x="412" y="383"/>
                    </a:cubicBezTo>
                    <a:cubicBezTo>
                      <a:pt x="339" y="456"/>
                      <a:pt x="162" y="559"/>
                      <a:pt x="162" y="559"/>
                    </a:cubicBezTo>
                    <a:cubicBezTo>
                      <a:pt x="147" y="574"/>
                      <a:pt x="118" y="574"/>
                      <a:pt x="103" y="559"/>
                    </a:cubicBezTo>
                    <a:cubicBezTo>
                      <a:pt x="73" y="530"/>
                      <a:pt x="73" y="530"/>
                      <a:pt x="73" y="530"/>
                    </a:cubicBezTo>
                    <a:cubicBezTo>
                      <a:pt x="59" y="515"/>
                      <a:pt x="59" y="500"/>
                      <a:pt x="73" y="486"/>
                    </a:cubicBezTo>
                    <a:cubicBezTo>
                      <a:pt x="147" y="442"/>
                      <a:pt x="147" y="442"/>
                      <a:pt x="147" y="442"/>
                    </a:cubicBezTo>
                    <a:cubicBezTo>
                      <a:pt x="162" y="427"/>
                      <a:pt x="177" y="427"/>
                      <a:pt x="177" y="442"/>
                    </a:cubicBezTo>
                    <a:cubicBezTo>
                      <a:pt x="221" y="486"/>
                      <a:pt x="221" y="486"/>
                      <a:pt x="221" y="486"/>
                    </a:cubicBezTo>
                    <a:cubicBezTo>
                      <a:pt x="235" y="471"/>
                      <a:pt x="398" y="368"/>
                      <a:pt x="500" y="221"/>
                    </a:cubicBezTo>
                    <a:cubicBezTo>
                      <a:pt x="441" y="176"/>
                      <a:pt x="441" y="176"/>
                      <a:pt x="441" y="176"/>
                    </a:cubicBezTo>
                    <a:cubicBezTo>
                      <a:pt x="441" y="162"/>
                      <a:pt x="441" y="147"/>
                      <a:pt x="441" y="133"/>
                    </a:cubicBezTo>
                    <a:cubicBezTo>
                      <a:pt x="500" y="59"/>
                      <a:pt x="500" y="59"/>
                      <a:pt x="500" y="59"/>
                    </a:cubicBezTo>
                    <a:cubicBezTo>
                      <a:pt x="515" y="44"/>
                      <a:pt x="530" y="59"/>
                      <a:pt x="545" y="59"/>
                    </a:cubicBezTo>
                    <a:cubicBezTo>
                      <a:pt x="574" y="103"/>
                      <a:pt x="574" y="103"/>
                      <a:pt x="574" y="103"/>
                    </a:cubicBezTo>
                    <a:cubicBezTo>
                      <a:pt x="589" y="117"/>
                      <a:pt x="589" y="147"/>
                      <a:pt x="574" y="1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TextBox 1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230" y="8060"/>
                <a:ext cx="4453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0731-88731027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（长沙总部）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025-66051670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（南京销售中心）</a:t>
                </a:r>
                <a:endParaRPr lang="zh-CN" altLang="en-US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5"/>
              </p:custDataLst>
            </p:nvPr>
          </p:nvSpPr>
          <p:spPr>
            <a:xfrm>
              <a:off x="2003" y="2009"/>
              <a:ext cx="311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zh-CN" sz="2800" b="1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联系我们</a:t>
              </a:r>
              <a:endParaRPr lang="zh-CN" altLang="zh-CN" sz="2800" b="1">
                <a:solidFill>
                  <a:srgbClr val="D7010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sp>
        <p:nvSpPr>
          <p:cNvPr id="40" name="矩形 39"/>
          <p:cNvSpPr/>
          <p:nvPr userDrawn="1">
            <p:custDataLst>
              <p:tags r:id="rId16"/>
            </p:custDataLst>
          </p:nvPr>
        </p:nvSpPr>
        <p:spPr>
          <a:xfrm rot="16200000" flipH="1">
            <a:off x="5838825" y="301625"/>
            <a:ext cx="5235575" cy="6060440"/>
          </a:xfrm>
          <a:prstGeom prst="rect">
            <a:avLst/>
          </a:prstGeom>
          <a:noFill/>
          <a:ln w="12700" cmpd="sng">
            <a:solidFill>
              <a:schemeClr val="bg1"/>
            </a:solidFill>
            <a:prstDash val="sysDot"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86488" y="1919288"/>
            <a:ext cx="4540885" cy="2825750"/>
            <a:chOff x="9742" y="2999"/>
            <a:chExt cx="7151" cy="4450"/>
          </a:xfrm>
        </p:grpSpPr>
        <p:sp>
          <p:nvSpPr>
            <p:cNvPr id="44" name="文本框 43"/>
            <p:cNvSpPr txBox="1"/>
            <p:nvPr userDrawn="1">
              <p:custDataLst>
                <p:tags r:id="rId17"/>
              </p:custDataLst>
            </p:nvPr>
          </p:nvSpPr>
          <p:spPr>
            <a:xfrm>
              <a:off x="9742" y="2999"/>
              <a:ext cx="7151" cy="34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sz="5400">
                  <a:solidFill>
                    <a:srgbClr val="A43975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COMPANY PROFILE</a:t>
              </a:r>
              <a:endPara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72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sym typeface="+mn-lt"/>
                </a:rPr>
                <a:t>感谢观看</a:t>
              </a:r>
              <a:endParaRPr lang="zh-CN" altLang="en-US" sz="72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sym typeface="+mn-lt"/>
              </a:endParaRPr>
            </a:p>
          </p:txBody>
        </p:sp>
        <p:pic>
          <p:nvPicPr>
            <p:cNvPr id="3" name="图片 2" descr="官网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442" y="6438"/>
              <a:ext cx="1011" cy="1011"/>
            </a:xfrm>
            <a:prstGeom prst="rect">
              <a:avLst/>
            </a:prstGeom>
          </p:spPr>
        </p:pic>
      </p:grpSp>
      <p:pic>
        <p:nvPicPr>
          <p:cNvPr id="5" name="图片 4" descr="20250324进芯BP （转曲）-3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83195" y="4102735"/>
            <a:ext cx="652145" cy="642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KRBZtSHR3OuSJzhCtKm3g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6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7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8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9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0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1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2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3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4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5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6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7.xml><?xml version="1.0" encoding="utf-8"?>
<p:tagLst xmlns:p="http://schemas.openxmlformats.org/presentationml/2006/main">
  <p:tag name="KSO_WM_UNIT_TABLE_BEAUTIFY" val="smartTable{68b650bd-341a-490d-8a33-41955a60b412}"/>
  <p:tag name="TABLE_ENDDRAG_ORIGIN_RECT" val="725*297"/>
  <p:tag name="TABLE_ENDDRAG_RECT" val="83*137*725*297"/>
</p:tagLst>
</file>

<file path=ppt/tags/tag18.xml><?xml version="1.0" encoding="utf-8"?>
<p:tagLst xmlns:p="http://schemas.openxmlformats.org/presentationml/2006/main">
  <p:tag name="TABLE_ENDDRAG_ORIGIN_RECT" val="901*456"/>
  <p:tag name="TABLE_ENDDRAG_RECT" val="27*64*901*456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THINKCELLSHAPEDONOTDELETE" val="thinkcellActiveDocDoNotDelete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ISPRING_ULTRA_SCORM_COURSE_ID" val="76911CB8-0FF1-4403-B446-35EEB9DD7CA9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AQlGkk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EJRpJzRbB6igDAACGDAAAJwAAAHVuaXZlcnNhbC9mbGFzaF9wdWJsaXNoaW5nX3NldHRpbmdzLnhtbNVX3W7aMBS+5yksT70soR1dOxSopgIaaguosK29qkxsiFXHzmIbSq/2NHuwPcmOY6Cgdl36g7QhIeLz853/ExMe3yYCTVmmuZJ1vFeuYMRkpCiXkzr+MmzvHmGkDZGUCCVZHUuF0XGjFKZ2JLiOB8wYENUIYKSupaaOY2PSWhDMZrMy12nmuEpYA/i6HKkkSDOmmTQsC1JB5vBj5inTeIFQAAC+iZILtUaphFDokc4VtYIhTsFzyV1QRLQF0TEOvNiIRDeTTFlJT5RQGcomozp+V8k/SxkP1eQJky4nugFERzY1Qil3XhAx4HcMxYxPYnD3sIrRjFMT1/F+1aGAdPAQJcf2oROHcqIgB9Is4BNmCCWG+KO3Z9it0UuCJ9G5JAmPhsBBLv46bg6vP1/1Wxdnne7p9bDXOxt2+t6JXCfYxAmDTUMhOKRsFrGVnZAYQ6IY/AadMRGahcE6aSk2VnLDOXdGIyUg97kWtFEyYrRLErZWjcENl22Q3MNoDIGIeR1/yjgRGHFDBI9WytqOtOEmr3p7XRIBFrQnQ+cDfG/eZyeKSabZultLjnY5jxrflBUUzZVFgt8wZBSC+G0CTzFD68VB40wlORXaxyAtOFiccjZj9DjP6QLwT4auwERiQRN6NRXMeAvfLb9DIzZWGeAyMoXOBjrXHr/8LOCUaH0PSpY+7gzOOs3WdafbbF3uuAAJnRIZPRMcCs6S1GwFn8yRVGapB+mIiNUsLwrlNOcVia388jJonljhy/zWxViD3mJJtmPlOYX5qweFzcZkmg+iG64cGkaQQ0k8JjAiWBdcWlYUMCISKSnmiESw1rQb6ylXVgPFD7CH1i/30OsjLvPTBFYbWMwoywpBVvb231cPPhwefayVg18/fu4+qbRY+H1BnDm/8U+eXPmrtf9wG4aB29KPL22T2X9zZ/cvWl+L5LXbuhwWKmlrUAiuV0Sqd1pE6sK/ZPprL5hCLsBSmvghg7UkeMINo2/ZYi9ok1e9232PbadNthjza0bjvwnZn1bXxI17YRg8enF1nIRLnkAi3Epc3XYbB9UK3DQfZZVKgLb536FR+g1QSwMEFAACAAgABCUaSSVTHtKxAgAAVwoAACEAAAB1bml2ZXJzYWwvZmxhc2hfc2tpbl9zZXR0aW5ncy54bWyVVttO4zAQfecrqu47Ya+wkqkEpUhI7IIA8e4k08SqY0e2U7Z/v57EwXbbkNARUj1zzng8t0L0honFyWxGMsmlegZjmCg0anrdjOWX87QxRorTTAoDwpwKqSrK54svNxcoJGmRYyy5BWU5t+1nhLOmGfhrvt+iTKG4O36eowwRMlnVVOzuZSFPU5ptCiUbkY+GVu5qUJyJjUWe/T5frgYv4EybOwNVFNPqAmUapVagNWBIv1YooyxOU+D9TWftZyLHX/Xx6/doW6aZaWlXX1GGaDUtIE7yx9HZwljvnyYY+GewUb6hDEI53YH6lHNZN/VneqRWssCExpyPi/jO4ZLmdvxwrs5QRgn4ILxotAouPT9uUAKQ+xrOPcFxVZI/Yl73FgIWPeWwMKoBkvSnzqZL+fbQGDsfsFhTri0gVHnQow36kTY6gnmlBz7BGxN5iHIaD3mVvKlg2UXswjrUe/xyed0ui9Dpuy4IUcHWKb3PQOmRf21iD5CB0iOfOcvhQfDdYQT7po7UV/maunoGBXDkqALWDILaY+5C6U+9Fa+6x+HVQaxO0WMqmcNCYzwvrAKsHElaXRdTchAUEXTLCmqYFH8Ql+7a12iS7Blctx3vLWKY4XCs5doY7aIO89WeT0YTQrofBv+47jwzdo9fzqkxNCsr+8Ok5zPHu5y3fubJcQquSosHdSfWciqpomoD6kVKPvkeIQ1MBstuwIbgJAmyQJLjeSbOybECiKZKQa1s3Rj0jRPrOlzJipLbP/PK4A3ymDBg7JimtO4EZe99GShcEwBVWdl3bXfoLFXDDeOwhX76A0X74KGXEW27dKjhrsw9rE3Yck4zqSfdsvCtEi26yHCE8GrjkvHaCQ0T2t7QVLcviya/X8Tec7Sa+32GrReusvbsOilybO2HGbRK/IfyP1BLAwQUAAIACAAEJRpJLE+2i/0CAACXCwAAJgAAAHVuaXZlcnNhbC9odG1sX3B1Ymxpc2hpbmdfc2V0dGluZ3MueG1szZbdUhoxFIDveYpMOl7KqrXVMrs4HcHRqRVGaKtXTtgENmM22eYHxKs+TR+sT9KTDSCMlq6OdMoMAznJ+c5fcpL46C4XaMy04UomeLe+gxGTqaJcjhL8pX+yfYiRsURSIpRkCZYKo6NmLS7cQHCT9Zi1sNQgwEjTKGyCM2uLRhRNJpM6N4X2s0o4C3xTT1UeFZoZJi3TUSHIFH7stGAGzwgVAPDNlZypNWs1hOJA+qyoEwxxCp5L7oMi4tTmAkdh1YCktyOtnKTHSiiN9GiQ4Dc75We+JpBaPGfSp8Q0QejFtkEo5d4JInr8nqGM8VEG3h7sYzTh1GYJ3tv3FFgdPaaU7BA58ZRjBSmQdobPmSWUWBKGwZ5ld9bMBUFEp5LkPO3DDPLhJ7jVvzm97rYvz88uPt30O53z/lk3OFHqRKucOFo1FINDyumULezExFqSZuA36AyJMCyOlkXzZUMlV5zzYzRQAlJfamE0BE/FNMEfNScCI26J4Oli1hI9YvaEC4jB6+7Wh9LiB2CIN82INmzZ0HzG+CymzW/KCYqmyiHBbxmyCkFELod/GUPL6UZDrfJSKoixyAhOGRpzNmH0qMzSDPgnQ9dgInegCZuvEMwGC98dv0cDNlQauIyMYauCnJvArz8LXBBjHqBk7uNW7/ys1b45u2i1r7Z8gISOiUyfCYcSsrywG+GTKZLKzvUgHSlxhpVFoZyWc1Viq7+8DIbnToQyv3YxltAbLMlmrDynMH/1oLLZjIzLg+gPV4mGI8ihJIEJEykcdy4dqwpMiURKiikiKTQq44/1mCtnQBIOcECbl3sY9BGX5WgENwdY1JTpSsid3b23++/eHxx+aNSjXz9+bq9VmrXwriDeXOjhx2ub+KKRP+6GceR759Nt2Gr3r7pw97L9tUqmLtpX/UpFavcq4TpVVnU+VVl1Ga6N7tKVUckFaDOjcGyg0Qiec8voa26aFxR+/f0btsUrFX6DUazdvv9vEGG0eG6tvK/i6MkHYA3kq4/pZu03UEsDBBQAAgAIAAQlGknHREcDgQEAAAMGAAAfAAAAdW5pdmVyc2FsL2h0bWxfc2tpbl9zZXR0aW5ncy5qc42UTW/CMAyG7/yKqrtOiH2y7TYNkCZxmLTdph3SYkpFmkRJ2tEh/vvqUqBJ3Y34Ql49vI6dOttBUK0wDoOnYFv/rvdv7r7WADWrc7h0dd6jZ6iHhqcL+Egz4KmA0EMKRJaMGzjquxNCOYeido3Kd/Q1LcNQHs1aoqJETfgaCiwI8JvQNtSff9zimsL2RbVaHeXWSjGMpbAg7FBInbGaCS8mDxjtGj1YFqD36KxeBLpkMTimNzOMPvLkeDfGaHOxzBQT5VwmchixeJ1omYtFX/5VqUBXl77eA6PH8cvUseOpsa8WMj/x9AGjn1QajIEm7/0Ug4Q5i4C3fEf1+gN1jLsFeXSRmtQe6OcrjDatWAKdLnWPUDW08jqXs7CxzS1eYzgEZyXoc6ykytUZF6i0TLAjHbTb8yPKJVukImk+3xEGyeFh0bave6dCbycYoTNC0huhFTGSWd/bQc29p9mD5mQ1XtY5NfScEqm8ktBU7xvUfUas/4zg/jP4+u8svt1g9wtQSwMEFAACAAgABCUaST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BCUaSZQTsyJpAAAAbgAAABwAAAB1bml2ZXJzYWwvbG9jYWxfc2V0dGluZ3MueG1sDcwxDoMwDEDRnVNY3int1oHAxlaW0gNYxEWRHBuRgOD2ZPvD02/7MwocvKVg6vD1eCKwzuaDLg5/01C/EVIm9SSm7FANoe+qVmwm+XLOBSZYhS7eJo4lMo8Uixx2EajhU17/wB6brroB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AQlGkk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BSUaSQj37reyCAAAYh0AABcAAAB1bml2ZXJzYWwvdW5pdmVyc2FsLnBuZ+2Z+VdTZxrHg1Jr3cCxgxs1rUTsnClwrI0QIWGQzZwWqVuRSBKtSzpGlhAiBLK41FoLEoVx2MlQj4JQEx2qARIIPVNZqt6MBbliIGEJXCAnhHBJQva5CfW3+RNyz7k3ue/nPe/z3O/7LD+81788kLh21ZZVKBRqLXF/3CEUypeIQi3PXLkCGflI8u0U8uPDPJS4DyUCAqeRF19aTFIMCvVIsNp+8h3k/b2s/alMFGrdf9y3T3dmw2kUKtBMjIs5kkfRDdc170gZFZ1s3O65/IP813/vvo59FrD+6o6AxLqXxx5GrLoRv6FwPLmiAOxPn+2oV+FpwRWjzn/LoSN41lmVql2aothFTzITotls2Dicq263T1ZlUngOIyi2a3ZG+yBO5G0CK7tTXRHaDyVUVyrGYlJmMmnI+MVE1kCsSJxSiOE7YSF8FRlCCWZ/KpSRMBaz3FUT5h44ZjjH1URdObzVvdJXMhKabRiLz/D1EP5AYn4Q8q+zvMg9lf7pMuT5U+9K5Pkw2AMqvcALvMALvMALvMALvMALvMALvMALvMALvMALvMAL/g+Y8ycsjlwpC6PI8iwWSCi3W7Vi/s+ABR1tG1RQbtzvIgF0BQF0GlXRAZBdIZ9QFrlCzviiUBfR7QKCdWqijMqr2DCLbhZ3WGdevT73XALQAboWz3sOyKerilwFPYskSVOWfuyaTtbNP4lF7F/8CM1bHI0NvZnGc8JCqCWzBuzvEIzYlbX88S1mv5sGEXOZnvnnGZm5YBMGcTEW4HfyDU834vQcDNZ0/LEiCOfq0i+eLSzK5ZoGaeyv9b/jEj7YisxU/co+VDdZJbjXxWsysT+D1G1dTvwZmVZu+KTvjym1TELTj5OVgoYuvnsKbe3oBzwCsUs6863q2t49yAQZwF4YuxV9TXO/bYXknDAxZ5v0voHvt1nfWMpGz7x2S7ZXYI+5e1f0y4M30MEaKjMNHAk5I2s6oOE2nFqO6IoX8qx/B8LQqeRrbmdtmtLk+b2yq0W5r4hRkB9/MdbEd2ipgwKPuX+YHVXHXPWNdAbizmn9SPjkWWSpsVqqfWxjmMskkQ+T1zzaj+xdp3Quljestwgc9Ty4Sm2n2cL4lmcumlLPd9nK5E6jmOqcSZHnm7jFaqdJ4mILYEjJLYYpNKXFmaNkzpCGGrm1TGCiyPCEDOV1MZw85KYAJqYDEGaKxxkq80IzJUuqOKyGSGm8Eaj0NOLIv6p9HLDQxXnsP5+zS2OVxv8J8ZnXAKe+jxVzDoMy43163cjzTLrNUCa3TwyaceF+1Tow0PKJf5otEHFMTTXSfcbS+40tR21R0F698uoPzVkMpWjr9t8GeQE3AaGiXGyofae0T6RlIKahPAirBv0WOSWIWr+EYR8+6wOHeWGs84jVFqOhGw1Vz6dXt05jGdHAWE+6NICYsXOWFjOOdi12N/FCMqK4wnrnQn10e/4LHXkLTd0H7OvV0dVHyKXITjABSyCNkyKV7M9ODwMJtCFanYaEyW/blENWg2Spftx+vh/LTkBiobNsd0OBSGds73/kg0KNDEgX0/fQMqw5l3nDwwxnWiGm220wxUGKaDC3sobJDOmH2SE9/aciMn8U9SJRgYM4oWC5XLG9l0Hu1hqTxaOGjgAioEggl9IQVddxcFfaoDcU9eeekMx4xZlPr2mdrngu7LUyQnjVkWjApCTaKzToZCqzPbmVvKllltBKUGhIcXnWlUBVIz0bCRYAJ9w9wMygcSBAUFCIScaTp1oCvitWRh7OaBfHl9wR9e7+VHX03fa05WGgyUrxhG5W02RpprZSQmBxp6aw1+UBEcXNeVkEgcb08laTsNf5QCmNEz29DTvy+yejirPT+cdZSRmvCAoclAPYtpg3Q+3xJUrGNlqaRM+ylb8Y5El1X9/S9JoPda9A8vo4lWc5A/xF3VVRpVIRs0N800REOyux5/GJuZyYkZ+hYKsE/U0+/hy8EN4pu9EWjKQXNFQ8bg28DZthR9seUJ1p/ivt0oRslnSizRH1z2csrtq4vdcy2ECfL0IC4lIY7UtzFHdY99ZetGM6mXnAsgcYWmBtWKhH9sVY/rxPnQEHb3AoIw/N4i/P35up9MR9JCJMTLEkFYPL/W+aniWNyMGfy2FTCzEQ7a1SoeBvbyYuKI3mesdXS7XCaocVTIrl3tL6JEzrtts40dUrMJQ/NDldQM29GZisT2AfZ+GXNGIVAKB4Fl8bWjJUbMgOiAGMOHCsZRuxrYsbUC4yE1TdyMdUNGgNK9zm5NCaBRKjUWe2HvR8Tb2nEFO5xqNAiPrXimp5xqOxL6wKeq1zReXu6WgHKQrH74AuyJu/yUJyatTWqGV4okBcD45HXWBaWRt7Bnk3Ru/DlcwkQCgkUJjtCl1QAmh01K1OKIObs3jBM/myS4iO78mAViy05smTVIw7vMmLi+MCZoZlylMitg3vFHJKwLG17pI28rakIf2hxzIR1KTNcpcpIdeUSrkmQSr13uvmuuK1iFZi+OlGqiYQPvgK6071Rlh5ntd5ak8ZYu66zM+TwHk1ftH2uXe5hF5BEvkKkpB3rFN3BPNbZHeLch3hvNfArqXyWg1XvI8FOXFYp7t8Whf6kpl2dWyXFIDxrH363yPzvnM3kZOuG61al6+nIdxhd9NXbtbnqyWhNWZC95LPVZ7dU1k+BmhZ/X80mTH7VrCFf7FIzKqF2ejo8xBe/XJ3HGK0qGBBsZNdGvnxNktxpTmnND4BGVx8Gela7/p+9Y7Mtr/NNayOp32hnw4uXOqaKrDP3yWX6Q5v0o7zP9/sPrcbOO05sCtdjzxPJLkXuBiC6DbllgcVRHkg4MAvwls99GmT8Za+wxYa7mnKeY8J8/N8Ptemk1iWeY4McwfiAbApvgQ2StWOUKq7ac81APk9RqPQPQgi5X4CpPJrIt12o35odjIGYpx68FmZa3Whfd2ZSJXELTiKGH8gTrTvxOX/AVBLAwQUAAIACAAFJRpJKwvAbUoAAABrAAAAGwAAAHVuaXZlcnNhbC91bml2ZXJzYWwucG5nLnhtbLOxr8jNUShLLSrOzM+zVTLUM1Cyt+PlsikoSi3LTC1XqACKGekZQICSQiUqtzwzpSQDKGRgbowQzEjNTM8osVWyMDCFC+oDzQQAUEsBAgAAFAACAAgABCUaSRUOrShkBAAABxEAAB0AAAAAAAAAAQAAAAAAAAAAAHVuaXZlcnNhbC9jb21tb25fbWVzc2FnZXMubG5nUEsBAgAAFAACAAgABCUaSc0WweooAwAAhgwAACcAAAAAAAAAAQAAAAAAnwQAAHVuaXZlcnNhbC9mbGFzaF9wdWJsaXNoaW5nX3NldHRpbmdzLnhtbFBLAQIAABQAAgAIAAQlGkklUx7SsQIAAFcKAAAhAAAAAAAAAAEAAAAAAAwIAAB1bml2ZXJzYWwvZmxhc2hfc2tpbl9zZXR0aW5ncy54bWxQSwECAAAUAAIACAAEJRpJLE+2i/0CAACXCwAAJgAAAAAAAAABAAAAAAD8CgAAdW5pdmVyc2FsL2h0bWxfcHVibGlzaGluZ19zZXR0aW5ncy54bWxQSwECAAAUAAIACAAEJRpJx0RHA4EBAAADBgAAHwAAAAAAAAABAAAAAAA9DgAAdW5pdmVyc2FsL2h0bWxfc2tpbl9zZXR0aW5ncy5qc1BLAQIAABQAAgAIAAQlGkk9PC/RwQAAAOUBAAAaAAAAAAAAAAEAAAAAAPsPAAB1bml2ZXJzYWwvaTE4bl9wcmVzZXRzLnhtbFBLAQIAABQAAgAIAAQlGkmUE7MiaQAAAG4AAAAcAAAAAAAAAAEAAAAAAPQQAAB1bml2ZXJzYWwvbG9jYWxfc2V0dGluZ3MueG1sUEsBAgAAFAACAAgARJRXRyO0Tvv7AgAAsAgAABQAAAAAAAAAAQAAAAAAlxEAAHVuaXZlcnNhbC9wbGF5ZXIueG1sUEsBAgAAFAACAAgABCUaSTXb2a1oAQAA8wIAACkAAAAAAAAAAQAAAAAAxBQAAHVuaXZlcnNhbC9za2luX2N1c3RvbWl6YXRpb25fc2V0dGluZ3MueG1sUEsBAgAAFAACAAgABSUaSQj37reyCAAAYh0AABcAAAAAAAAAAAAAAAAAcxYAAHVuaXZlcnNhbC91bml2ZXJzYWwucG5nUEsBAgAAFAACAAgABSUaSSsLwG1KAAAAawAAABsAAAAAAAAAAQAAAAAAWh8AAHVuaXZlcnNhbC91bml2ZXJzYWwucG5nLnhtbFBLBQYAAAAACwALAEkDAADdHwAAAAA="/>
  <p:tag name="ISPRING_PRESENTATION_TITLE" val="新建 Microsoft PowerPoint 演示文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COMMONDATA" val="eyJoZGlkIjoiNDg0MWRiZTJiMDQ4NGE4ZDhkYTg1MmZiMjFjMjJhMjQifQ=="/>
  <p:tag name="KSO_WPP_MARK_KEY" val="6912d944-50db-4c91-99d5-b11f4c3572dc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A7AA9D"/>
      </a:accent3>
      <a:accent4>
        <a:srgbClr val="2192BC"/>
      </a:accent4>
      <a:accent5>
        <a:srgbClr val="354B5E"/>
      </a:accent5>
      <a:accent6>
        <a:srgbClr val="BFBFBF"/>
      </a:accent6>
      <a:hlink>
        <a:srgbClr val="D74B4B"/>
      </a:hlink>
      <a:folHlink>
        <a:srgbClr val="869FB7"/>
      </a:folHlink>
    </a:clrScheme>
    <a:fontScheme name="Constantia 标宋">
      <a:majorFont>
        <a:latin typeface="Constantia"/>
        <a:ea typeface="微软简标宋"/>
        <a:cs typeface=""/>
      </a:majorFont>
      <a:minorFont>
        <a:latin typeface="Constanti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75F77"/>
    </a:accent1>
    <a:accent2>
      <a:srgbClr val="D74B4B"/>
    </a:accent2>
    <a:accent3>
      <a:srgbClr val="A7AA9D"/>
    </a:accent3>
    <a:accent4>
      <a:srgbClr val="2192BC"/>
    </a:accent4>
    <a:accent5>
      <a:srgbClr val="354B5E"/>
    </a:accent5>
    <a:accent6>
      <a:srgbClr val="BFBFBF"/>
    </a:accent6>
    <a:hlink>
      <a:srgbClr val="D74B4B"/>
    </a:hlink>
    <a:folHlink>
      <a:srgbClr val="869FB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2946</Words>
  <Application>WPS 演示</Application>
  <PresentationFormat>宽屏</PresentationFormat>
  <Paragraphs>441</Paragraphs>
  <Slides>8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思源黑体</vt:lpstr>
      <vt:lpstr>黑体</vt:lpstr>
      <vt:lpstr>思源黑体 CN Medium</vt:lpstr>
      <vt:lpstr>思源黑体 CN Bold</vt:lpstr>
      <vt:lpstr>Times New Roman</vt:lpstr>
      <vt:lpstr>华文楷体</vt:lpstr>
      <vt:lpstr>Wingdings</vt:lpstr>
      <vt:lpstr>微软雅黑</vt:lpstr>
      <vt:lpstr>方正正黑简体</vt:lpstr>
      <vt:lpstr>Calibri</vt:lpstr>
      <vt:lpstr>Constantia</vt:lpstr>
      <vt:lpstr>Arial Unicode MS</vt:lpstr>
      <vt:lpstr>微软简标宋</vt:lpstr>
      <vt:lpstr>Arial Narrow</vt:lpstr>
      <vt:lpstr>第一PPT，www.1ppt.com</vt:lpstr>
      <vt:lpstr>TCLayout.ActiveDocument.1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进芯电子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进芯电子企业介绍</dc:title>
  <dc:creator>ADVANCECHIP</dc:creator>
  <cp:keywords>企业介绍</cp:keywords>
  <dc:description>企业介绍</dc:description>
  <cp:lastModifiedBy>你不知道的事1416970429</cp:lastModifiedBy>
  <cp:revision>865</cp:revision>
  <dcterms:created xsi:type="dcterms:W3CDTF">2016-09-05T14:08:00Z</dcterms:created>
  <dcterms:modified xsi:type="dcterms:W3CDTF">2026-06-09T03:19:37Z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52398C69BF96404C82C6B6FB7C79A558_13</vt:lpwstr>
  </property>
  <property fmtid="{D5CDD505-2E9C-101B-9397-08002B2CF9AE}" pid="3" name="KSOProductBuildVer">
    <vt:lpwstr>2052-12.1.0.22529</vt:lpwstr>
  </property>
</Properties>
</file>