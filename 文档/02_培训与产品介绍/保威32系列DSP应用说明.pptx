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8" r:id="rId4"/>
    <p:sldId id="286" r:id="rId5"/>
    <p:sldId id="291" r:id="rId7"/>
    <p:sldId id="279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26" r:id="rId29"/>
    <p:sldId id="318" r:id="rId30"/>
    <p:sldId id="319" r:id="rId31"/>
    <p:sldId id="320" r:id="rId32"/>
    <p:sldId id="321" r:id="rId33"/>
    <p:sldId id="322" r:id="rId34"/>
    <p:sldId id="323" r:id="rId35"/>
    <p:sldId id="271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80" userDrawn="1">
          <p15:clr>
            <a:srgbClr val="A4A3A4"/>
          </p15:clr>
        </p15:guide>
        <p15:guide id="2" pos="3825" userDrawn="1">
          <p15:clr>
            <a:srgbClr val="A4A3A4"/>
          </p15:clr>
        </p15:guide>
        <p15:guide id="3" orient="horz" pos="3944" userDrawn="1">
          <p15:clr>
            <a:srgbClr val="A4A3A4"/>
          </p15:clr>
        </p15:guide>
        <p15:guide id="4" orient="horz" pos="332" userDrawn="1">
          <p15:clr>
            <a:srgbClr val="A4A3A4"/>
          </p15:clr>
        </p15:guide>
        <p15:guide id="5" orient="horz" pos="828" userDrawn="1">
          <p15:clr>
            <a:srgbClr val="A4A3A4"/>
          </p15:clr>
        </p15:guide>
        <p15:guide id="6" pos="7449" userDrawn="1">
          <p15:clr>
            <a:srgbClr val="A4A3A4"/>
          </p15:clr>
        </p15:guide>
        <p15:guide id="7" pos="21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56A6"/>
    <a:srgbClr val="FBD37B"/>
    <a:srgbClr val="CC9643"/>
    <a:srgbClr val="809DAC"/>
    <a:srgbClr val="E3B2B8"/>
    <a:srgbClr val="535B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906" y="1146"/>
      </p:cViewPr>
      <p:guideLst>
        <p:guide orient="horz" pos="1980"/>
        <p:guide pos="3825"/>
        <p:guide orient="horz" pos="3944"/>
        <p:guide orient="horz" pos="332"/>
        <p:guide orient="horz" pos="828"/>
        <p:guide pos="7449"/>
        <p:guide pos="21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0" Type="http://schemas.openxmlformats.org/officeDocument/2006/relationships/commentAuthors" Target="commentAuthors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层 1"/>
          <p:cNvPicPr>
            <a:picLocks noChangeAspect="1"/>
          </p:cNvPicPr>
          <p:nvPr userDrawn="1"/>
        </p:nvPicPr>
        <p:blipFill>
          <a:blip r:embed="rId2"/>
          <a:srcRect t="22631"/>
          <a:stretch>
            <a:fillRect/>
          </a:stretch>
        </p:blipFill>
        <p:spPr>
          <a:xfrm>
            <a:off x="0" y="3486785"/>
            <a:ext cx="12192635" cy="33712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层 1"/>
          <p:cNvPicPr>
            <a:picLocks noChangeAspect="1"/>
          </p:cNvPicPr>
          <p:nvPr userDrawn="1"/>
        </p:nvPicPr>
        <p:blipFill>
          <a:blip r:embed="rId2"/>
          <a:srcRect t="22631" r="62901"/>
          <a:stretch>
            <a:fillRect/>
          </a:stretch>
        </p:blipFill>
        <p:spPr>
          <a:xfrm rot="16200000" flipH="1">
            <a:off x="6211570" y="877570"/>
            <a:ext cx="6853555" cy="51073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层 1"/>
          <p:cNvPicPr>
            <a:picLocks noChangeAspect="1"/>
          </p:cNvPicPr>
          <p:nvPr userDrawn="1"/>
        </p:nvPicPr>
        <p:blipFill>
          <a:blip r:embed="rId2"/>
          <a:srcRect t="22631" r="62901" b="16599"/>
          <a:stretch>
            <a:fillRect/>
          </a:stretch>
        </p:blipFill>
        <p:spPr>
          <a:xfrm rot="10800000" flipH="1">
            <a:off x="0" y="0"/>
            <a:ext cx="3642995" cy="2302510"/>
          </a:xfrm>
          <a:prstGeom prst="rect">
            <a:avLst/>
          </a:prstGeom>
        </p:spPr>
      </p:pic>
      <p:pic>
        <p:nvPicPr>
          <p:cNvPr id="2" name="图片 1" descr="图层 1"/>
          <p:cNvPicPr>
            <a:picLocks noChangeAspect="1"/>
          </p:cNvPicPr>
          <p:nvPr userDrawn="1"/>
        </p:nvPicPr>
        <p:blipFill>
          <a:blip r:embed="rId2"/>
          <a:srcRect t="22631" r="62901" b="16599"/>
          <a:stretch>
            <a:fillRect/>
          </a:stretch>
        </p:blipFill>
        <p:spPr>
          <a:xfrm flipH="1">
            <a:off x="9766935" y="5325110"/>
            <a:ext cx="2425065" cy="15328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wrap="square">
            <a:normAutofit/>
          </a:bodyPr>
          <a:lstStyle>
            <a:lvl1pPr algn="ctr">
              <a:defRPr sz="3200">
                <a:solidFill>
                  <a:schemeClr val="tx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.png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" Target="slide4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2" Type="http://schemas.openxmlformats.org/officeDocument/2006/relationships/notesSlide" Target="../notesSlides/notesSlide1.xml"/><Relationship Id="rId31" Type="http://schemas.openxmlformats.org/officeDocument/2006/relationships/slideLayout" Target="../slideLayouts/slideLayout5.xml"/><Relationship Id="rId30" Type="http://schemas.openxmlformats.org/officeDocument/2006/relationships/tags" Target="../tags/tag34.xml"/><Relationship Id="rId3" Type="http://schemas.openxmlformats.org/officeDocument/2006/relationships/tags" Target="../tags/tag17.xml"/><Relationship Id="rId29" Type="http://schemas.openxmlformats.org/officeDocument/2006/relationships/image" Target="../media/image2.png"/><Relationship Id="rId28" Type="http://schemas.openxmlformats.org/officeDocument/2006/relationships/slide" Target="slide31.xml"/><Relationship Id="rId27" Type="http://schemas.openxmlformats.org/officeDocument/2006/relationships/tags" Target="../tags/tag33.xml"/><Relationship Id="rId26" Type="http://schemas.openxmlformats.org/officeDocument/2006/relationships/slide" Target="slide13.xml"/><Relationship Id="rId25" Type="http://schemas.openxmlformats.org/officeDocument/2006/relationships/slide" Target="slide10.xml"/><Relationship Id="rId24" Type="http://schemas.openxmlformats.org/officeDocument/2006/relationships/slide" Target="slide7.xml"/><Relationship Id="rId23" Type="http://schemas.openxmlformats.org/officeDocument/2006/relationships/tags" Target="../tags/tag32.xml"/><Relationship Id="rId22" Type="http://schemas.openxmlformats.org/officeDocument/2006/relationships/slide" Target="slide27.xml"/><Relationship Id="rId21" Type="http://schemas.openxmlformats.org/officeDocument/2006/relationships/tags" Target="../tags/tag31.xml"/><Relationship Id="rId20" Type="http://schemas.openxmlformats.org/officeDocument/2006/relationships/slide" Target="slide21.xml"/><Relationship Id="rId2" Type="http://schemas.openxmlformats.org/officeDocument/2006/relationships/tags" Target="../tags/tag16.xml"/><Relationship Id="rId19" Type="http://schemas.openxmlformats.org/officeDocument/2006/relationships/slide" Target="slide16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slide" Target="slide24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" Target="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tags" Target="../tags/tag35.xml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tags" Target="../tags/tag36.xml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721224" y="4511192"/>
            <a:ext cx="2730500" cy="457200"/>
            <a:chOff x="5016500" y="4318000"/>
            <a:chExt cx="2730500" cy="457200"/>
          </a:xfrm>
          <a:solidFill>
            <a:srgbClr val="1C56A6"/>
          </a:solidFill>
        </p:grpSpPr>
        <p:sp>
          <p:nvSpPr>
            <p:cNvPr id="3" name="矩形: 圆角 2"/>
            <p:cNvSpPr/>
            <p:nvPr/>
          </p:nvSpPr>
          <p:spPr>
            <a:xfrm>
              <a:off x="5016500" y="4318000"/>
              <a:ext cx="2730500" cy="4572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1C56A6"/>
              </a:solidFill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891214" y="4377323"/>
              <a:ext cx="981075" cy="3371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spc="200" dirty="0">
                  <a:solidFill>
                    <a:srgbClr val="1C56A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2025.2</a:t>
              </a:r>
              <a:endParaRPr lang="en-US" altLang="zh-CN" sz="1600" spc="200" dirty="0">
                <a:solidFill>
                  <a:srgbClr val="1C56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75945" y="2259965"/>
            <a:ext cx="11527790" cy="10147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defRPr sz="7500">
                <a:solidFill>
                  <a:schemeClr val="accent1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pPr algn="dist"/>
            <a:r>
              <a:rPr lang="zh-CN" altLang="en-US" sz="6000" b="1">
                <a:sym typeface="+mn-ea"/>
              </a:rPr>
              <a:t>进芯</a:t>
            </a:r>
            <a:r>
              <a:rPr lang="en-US" altLang="zh-CN" sz="6000" b="1">
                <a:sym typeface="+mn-ea"/>
              </a:rPr>
              <a:t>32</a:t>
            </a:r>
            <a:r>
              <a:rPr lang="zh-CN" altLang="en-US" sz="6000" b="1">
                <a:sym typeface="+mn-ea"/>
              </a:rPr>
              <a:t>系列</a:t>
            </a:r>
            <a:r>
              <a:rPr lang="en-US" altLang="zh-CN" sz="6000" b="1">
                <a:sym typeface="+mn-ea"/>
              </a:rPr>
              <a:t>DSP</a:t>
            </a:r>
            <a:r>
              <a:rPr lang="zh-CN" altLang="en-US" sz="6000" b="1">
                <a:sym typeface="+mn-ea"/>
              </a:rPr>
              <a:t>芯片</a:t>
            </a:r>
            <a:r>
              <a:rPr lang="zh-CN" altLang="en-US" sz="6000" b="1">
                <a:sym typeface="+mn-ea"/>
              </a:rPr>
              <a:t>应用说明</a:t>
            </a:r>
            <a:endParaRPr lang="zh-CN" altLang="en-US" sz="6000" b="1">
              <a:sym typeface="+mn-ea"/>
            </a:endParaRPr>
          </a:p>
        </p:txBody>
      </p:sp>
      <p:pic>
        <p:nvPicPr>
          <p:cNvPr id="18" name="图片 17" descr="65f91e9ede8511ff8378a49e0fde4cc"/>
          <p:cNvPicPr>
            <a:picLocks noChangeAspect="1"/>
          </p:cNvPicPr>
          <p:nvPr/>
        </p:nvPicPr>
        <p:blipFill>
          <a:blip r:embed="rId1"/>
          <a:srcRect t="23916" b="22003"/>
          <a:stretch>
            <a:fillRect/>
          </a:stretch>
        </p:blipFill>
        <p:spPr>
          <a:xfrm>
            <a:off x="8897620" y="140335"/>
            <a:ext cx="3294380" cy="133286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2412068" y="3736494"/>
            <a:ext cx="7367865" cy="32194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</a:pPr>
            <a:endParaRPr lang="zh-CN" altLang="en-US" sz="1000" dirty="0">
              <a:solidFill>
                <a:srgbClr val="535B6C"/>
              </a:solidFill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>
            <p:custDataLst>
              <p:tags r:id="rId2"/>
            </p:custDataLst>
          </p:nvPr>
        </p:nvSpPr>
        <p:spPr>
          <a:xfrm>
            <a:off x="3517265" y="3423285"/>
            <a:ext cx="5546725" cy="82994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杭州保威智能科技有限公司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en-US" altLang="zh-CN" sz="1600" dirty="0">
                <a:solidFill>
                  <a:srgbClr val="A09FAD"/>
                </a:solidFill>
                <a:cs typeface="+mn-ea"/>
                <a:sym typeface="+mn-lt"/>
              </a:rPr>
              <a:t>HangZhou Bonway Intelligent Technology Co., Ltd</a:t>
            </a:r>
            <a:endParaRPr lang="en-US" altLang="zh-CN" sz="1600" dirty="0">
              <a:solidFill>
                <a:srgbClr val="A09FAD"/>
              </a:solidFill>
              <a:cs typeface="+mn-ea"/>
              <a:sym typeface="+mn-lt"/>
            </a:endParaRPr>
          </a:p>
          <a:p>
            <a:pPr algn="l"/>
            <a:endParaRPr lang="en-US" altLang="zh-CN" sz="1600" dirty="0">
              <a:solidFill>
                <a:srgbClr val="A09FAD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2548255" y="2336800"/>
            <a:ext cx="4642073" cy="1953047"/>
            <a:chOff x="10211" y="1414"/>
            <a:chExt cx="8175" cy="3439"/>
          </a:xfrm>
        </p:grpSpPr>
        <p:grpSp>
          <p:nvGrpSpPr>
            <p:cNvPr id="4" name="组合 3"/>
            <p:cNvGrpSpPr/>
            <p:nvPr/>
          </p:nvGrpSpPr>
          <p:grpSpPr>
            <a:xfrm rot="0">
              <a:off x="10211" y="1414"/>
              <a:ext cx="7884" cy="1852"/>
              <a:chOff x="3351" y="3407"/>
              <a:chExt cx="7884" cy="1852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3351" y="3543"/>
                <a:ext cx="1023" cy="1023"/>
                <a:chOff x="910275" y="2123864"/>
                <a:chExt cx="792088" cy="792088"/>
              </a:xfrm>
            </p:grpSpPr>
            <p:sp>
              <p:nvSpPr>
                <p:cNvPr id="11" name="椭圆 10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910275" y="2123864"/>
                  <a:ext cx="792088" cy="792088"/>
                </a:xfrm>
                <a:prstGeom prst="ellipse">
                  <a:avLst/>
                </a:prstGeom>
                <a:solidFill>
                  <a:srgbClr val="1C56A6"/>
                </a:solidFill>
                <a:ln w="9525">
                  <a:noFill/>
                </a:ln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000">
                    <a:solidFill>
                      <a:srgbClr val="2663A4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00" name="文本框 9"/>
                <p:cNvSpPr txBox="1"/>
                <p:nvPr>
                  <p:custDataLst>
                    <p:tags r:id="rId3"/>
                  </p:custDataLst>
                </p:nvPr>
              </p:nvSpPr>
              <p:spPr>
                <a:xfrm>
                  <a:off x="1001314" y="2310639"/>
                  <a:ext cx="610011" cy="41905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p>
                  <a:pPr marL="0" lvl="1" algn="ctr"/>
                  <a:r>
                    <a:rPr lang="en-US" altLang="zh-CN" sz="2000" dirty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01</a:t>
                  </a:r>
                  <a:endParaRPr lang="en-US" altLang="zh-CN" sz="2000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 rot="0">
                <a:off x="4899" y="3407"/>
                <a:ext cx="6336" cy="1852"/>
                <a:chOff x="3315584" y="3169020"/>
                <a:chExt cx="4023418" cy="1176218"/>
              </a:xfrm>
            </p:grpSpPr>
            <p:sp>
              <p:nvSpPr>
                <p:cNvPr id="14" name="矩形 13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3315584" y="3169020"/>
                  <a:ext cx="4023418" cy="45820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r>
                    <a:rPr lang="zh-CN" altLang="en-US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产品基本参数及</a:t>
                  </a:r>
                  <a:r>
                    <a:rPr lang="zh-CN" altLang="en-US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应用</a:t>
                  </a:r>
                  <a:endParaRPr lang="zh-CN" altLang="en-US" sz="2800" dirty="0">
                    <a:solidFill>
                      <a:srgbClr val="1C56A6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矩形 14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3315584" y="3692445"/>
                  <a:ext cx="3324681" cy="65279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pPr algn="l"/>
                  <a:r>
                    <a:rPr lang="en-US" altLang="zh-CN" sz="1600" dirty="0">
                      <a:solidFill>
                        <a:schemeClr val="tx1"/>
                      </a:solidFill>
                      <a:latin typeface="+mn-ea"/>
                      <a:cs typeface="+mn-ea"/>
                      <a:sym typeface="+mn-lt"/>
                    </a:rPr>
                    <a:t>Product Basic Parameters and Applications</a:t>
                  </a:r>
                  <a:endParaRPr lang="en-US" altLang="zh-CN" sz="1600" dirty="0">
                    <a:solidFill>
                      <a:schemeClr val="tx1"/>
                    </a:solidFill>
                    <a:latin typeface="+mn-ea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5" name="组合 4"/>
            <p:cNvGrpSpPr/>
            <p:nvPr/>
          </p:nvGrpSpPr>
          <p:grpSpPr>
            <a:xfrm rot="0">
              <a:off x="10211" y="3435"/>
              <a:ext cx="8175" cy="1418"/>
              <a:chOff x="3351" y="3407"/>
              <a:chExt cx="8175" cy="1419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3351" y="3603"/>
                <a:ext cx="1023" cy="1023"/>
                <a:chOff x="910275" y="2170651"/>
                <a:chExt cx="792088" cy="792088"/>
              </a:xfrm>
            </p:grpSpPr>
            <p:sp>
              <p:nvSpPr>
                <p:cNvPr id="7" name="椭圆 6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910275" y="2170651"/>
                  <a:ext cx="792088" cy="792088"/>
                </a:xfrm>
                <a:prstGeom prst="ellipse">
                  <a:avLst/>
                </a:prstGeom>
                <a:solidFill>
                  <a:srgbClr val="1C56A6"/>
                </a:solidFill>
                <a:ln w="9525">
                  <a:noFill/>
                </a:ln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000">
                    <a:solidFill>
                      <a:srgbClr val="2663A4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" name="文本框 9"/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1001314" y="2356520"/>
                  <a:ext cx="610011" cy="4193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p>
                  <a:pPr marL="0" lvl="1" algn="ctr"/>
                  <a:r>
                    <a:rPr lang="en-US" altLang="zh-CN" sz="2000" dirty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02</a:t>
                  </a:r>
                  <a:endParaRPr lang="en-US" altLang="zh-CN" sz="2000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 rot="0">
                <a:off x="4899" y="3407"/>
                <a:ext cx="6627" cy="1419"/>
                <a:chOff x="3315584" y="3169020"/>
                <a:chExt cx="4207709" cy="900902"/>
              </a:xfrm>
            </p:grpSpPr>
            <p:sp>
              <p:nvSpPr>
                <p:cNvPr id="10" name="矩形 9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3315584" y="3169020"/>
                  <a:ext cx="4207709" cy="58395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r>
                    <a:rPr lang="zh-CN" altLang="en-US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移植注意</a:t>
                  </a:r>
                  <a:r>
                    <a:rPr lang="zh-CN" altLang="en-US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事项</a:t>
                  </a:r>
                  <a:endParaRPr lang="zh-CN" altLang="en-US" sz="2800" dirty="0">
                    <a:solidFill>
                      <a:srgbClr val="1C56A6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矩形 15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3315584" y="3692698"/>
                  <a:ext cx="3434599" cy="37722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pPr algn="l"/>
                  <a:r>
                    <a:rPr lang="en-US" altLang="zh-CN" sz="1600" dirty="0">
                      <a:solidFill>
                        <a:schemeClr val="tx1"/>
                      </a:solidFill>
                      <a:latin typeface="+mn-ea"/>
                      <a:cs typeface="+mn-ea"/>
                      <a:sym typeface="+mn-lt"/>
                    </a:rPr>
                    <a:t>Transplantation Precautions</a:t>
                  </a:r>
                  <a:endParaRPr lang="en-US" altLang="zh-CN" sz="1600" dirty="0">
                    <a:solidFill>
                      <a:schemeClr val="tx1"/>
                    </a:solidFill>
                    <a:latin typeface="+mn-ea"/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3" name="文本框 2"/>
          <p:cNvSpPr txBox="1"/>
          <p:nvPr userDrawn="1"/>
        </p:nvSpPr>
        <p:spPr>
          <a:xfrm>
            <a:off x="191770" y="2008505"/>
            <a:ext cx="1290320" cy="260921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 algn="dist"/>
            <a:r>
              <a:rPr lang="zh-CN" altLang="en-US" sz="7200">
                <a:solidFill>
                  <a:srgbClr val="1C56A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7200">
              <a:solidFill>
                <a:srgbClr val="1C56A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" name="图片 31" descr="65f91e9ede8511ff8378a49e0fde4cc"/>
          <p:cNvPicPr>
            <a:picLocks noChangeAspect="1"/>
          </p:cNvPicPr>
          <p:nvPr/>
        </p:nvPicPr>
        <p:blipFill>
          <a:blip r:embed="rId10"/>
          <a:srcRect t="23916" b="22003"/>
          <a:stretch>
            <a:fillRect/>
          </a:stretch>
        </p:blipFill>
        <p:spPr>
          <a:xfrm>
            <a:off x="0" y="16510"/>
            <a:ext cx="2607310" cy="10547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13150" y="855415"/>
            <a:ext cx="10969200" cy="705600"/>
          </a:xfrm>
        </p:spPr>
        <p:txBody>
          <a:bodyPr wrap="square">
            <a:normAutofit/>
          </a:bodyPr>
          <a:lstStyle/>
          <a:p>
            <a:r>
              <a:rPr lang="zh-CN" altLang="en-US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产品目录</a:t>
            </a:r>
            <a:endParaRPr lang="zh-CN" altLang="en-US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3" name="燕尾形箭头 12"/>
          <p:cNvSpPr/>
          <p:nvPr>
            <p:custDataLst>
              <p:tags r:id="rId2"/>
            </p:custDataLst>
          </p:nvPr>
        </p:nvSpPr>
        <p:spPr>
          <a:xfrm>
            <a:off x="845465" y="3267710"/>
            <a:ext cx="1752600" cy="1035050"/>
          </a:xfrm>
          <a:prstGeom prst="notchedRightArrow">
            <a:avLst/>
          </a:prstGeom>
          <a:gradFill>
            <a:gsLst>
              <a:gs pos="16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63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44145" tIns="71755" rIns="71755" bIns="3619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zh-CN" sz="1400" b="1">
              <a:latin typeface="+mn-ea"/>
              <a:cs typeface="+mn-ea"/>
              <a:sym typeface="+mn-ea"/>
            </a:endParaRPr>
          </a:p>
        </p:txBody>
      </p:sp>
      <p:sp>
        <p:nvSpPr>
          <p:cNvPr id="14" name="燕尾形箭头 13"/>
          <p:cNvSpPr/>
          <p:nvPr>
            <p:custDataLst>
              <p:tags r:id="rId3"/>
            </p:custDataLst>
          </p:nvPr>
        </p:nvSpPr>
        <p:spPr>
          <a:xfrm>
            <a:off x="2566315" y="3267710"/>
            <a:ext cx="1752600" cy="1035050"/>
          </a:xfrm>
          <a:prstGeom prst="notchedRightArrow">
            <a:avLst/>
          </a:prstGeom>
          <a:gradFill>
            <a:gsLst>
              <a:gs pos="16000">
                <a:schemeClr val="accent4">
                  <a:lumMod val="60000"/>
                  <a:lumOff val="40000"/>
                </a:schemeClr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63500" dist="63500" dir="2700000" algn="tl" rotWithShape="0">
              <a:schemeClr val="accent4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44145" tIns="71755" rIns="71755" bIns="3619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zh-CN" sz="1400" b="1">
              <a:latin typeface="+mn-ea"/>
              <a:cs typeface="+mn-ea"/>
              <a:sym typeface="+mn-ea"/>
            </a:endParaRPr>
          </a:p>
        </p:txBody>
      </p:sp>
      <p:sp>
        <p:nvSpPr>
          <p:cNvPr id="73" name="燕尾形箭头 72"/>
          <p:cNvSpPr/>
          <p:nvPr>
            <p:custDataLst>
              <p:tags r:id="rId4"/>
            </p:custDataLst>
          </p:nvPr>
        </p:nvSpPr>
        <p:spPr>
          <a:xfrm>
            <a:off x="4275100" y="3267710"/>
            <a:ext cx="1752600" cy="1035050"/>
          </a:xfrm>
          <a:prstGeom prst="notchedRightArrow">
            <a:avLst/>
          </a:prstGeom>
          <a:gradFill>
            <a:gsLst>
              <a:gs pos="16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63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44145" tIns="71755" rIns="71755" bIns="3619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zh-CN" sz="1400" b="1" dirty="0">
              <a:latin typeface="+mn-ea"/>
              <a:cs typeface="+mn-ea"/>
              <a:sym typeface="+mn-ea"/>
            </a:endParaRPr>
          </a:p>
        </p:txBody>
      </p:sp>
      <p:sp>
        <p:nvSpPr>
          <p:cNvPr id="77" name="燕尾形箭头 76"/>
          <p:cNvSpPr/>
          <p:nvPr>
            <p:custDataLst>
              <p:tags r:id="rId5"/>
            </p:custDataLst>
          </p:nvPr>
        </p:nvSpPr>
        <p:spPr>
          <a:xfrm>
            <a:off x="5995950" y="3267710"/>
            <a:ext cx="1752600" cy="1035050"/>
          </a:xfrm>
          <a:prstGeom prst="notchedRightArrow">
            <a:avLst/>
          </a:prstGeom>
          <a:gradFill>
            <a:gsLst>
              <a:gs pos="16000">
                <a:schemeClr val="accent4">
                  <a:lumMod val="60000"/>
                  <a:lumOff val="40000"/>
                </a:schemeClr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63500" dist="63500" dir="2700000" algn="tl" rotWithShape="0">
              <a:schemeClr val="accent4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44145" tIns="71755" rIns="71755" bIns="3619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zh-CN" sz="1400" b="1">
              <a:latin typeface="+mn-ea"/>
              <a:cs typeface="+mn-ea"/>
              <a:sym typeface="+mn-ea"/>
            </a:endParaRPr>
          </a:p>
        </p:txBody>
      </p:sp>
      <p:sp>
        <p:nvSpPr>
          <p:cNvPr id="90" name="燕尾形箭头 89"/>
          <p:cNvSpPr/>
          <p:nvPr>
            <p:custDataLst>
              <p:tags r:id="rId6"/>
            </p:custDataLst>
          </p:nvPr>
        </p:nvSpPr>
        <p:spPr>
          <a:xfrm>
            <a:off x="7704735" y="3267710"/>
            <a:ext cx="1752600" cy="1035050"/>
          </a:xfrm>
          <a:prstGeom prst="notchedRightArrow">
            <a:avLst/>
          </a:prstGeom>
          <a:gradFill>
            <a:gsLst>
              <a:gs pos="16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63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44145" tIns="71755" rIns="71755" bIns="3619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zh-CN" sz="1400" b="1">
              <a:latin typeface="+mn-ea"/>
              <a:cs typeface="+mn-ea"/>
              <a:sym typeface="+mn-ea"/>
            </a:endParaRPr>
          </a:p>
        </p:txBody>
      </p:sp>
      <p:sp>
        <p:nvSpPr>
          <p:cNvPr id="94" name="燕尾形箭头 93"/>
          <p:cNvSpPr/>
          <p:nvPr>
            <p:custDataLst>
              <p:tags r:id="rId7"/>
            </p:custDataLst>
          </p:nvPr>
        </p:nvSpPr>
        <p:spPr>
          <a:xfrm>
            <a:off x="9425585" y="3267710"/>
            <a:ext cx="1752600" cy="1035050"/>
          </a:xfrm>
          <a:prstGeom prst="notchedRightArrow">
            <a:avLst/>
          </a:prstGeom>
          <a:gradFill>
            <a:gsLst>
              <a:gs pos="16000">
                <a:schemeClr val="accent4">
                  <a:lumMod val="60000"/>
                  <a:lumOff val="40000"/>
                </a:schemeClr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63500" dist="63500" dir="2700000" algn="tl" rotWithShape="0">
              <a:schemeClr val="accent4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44145" tIns="71755" rIns="71755" bIns="3619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zh-CN" sz="1400" b="1">
              <a:latin typeface="+mn-ea"/>
              <a:cs typeface="+mn-ea"/>
              <a:sym typeface="+mn-ea"/>
            </a:endParaRPr>
          </a:p>
        </p:txBody>
      </p:sp>
      <p:sp>
        <p:nvSpPr>
          <p:cNvPr id="21" name="矩形 20"/>
          <p:cNvSpPr/>
          <p:nvPr>
            <p:custDataLst>
              <p:tags r:id="rId8"/>
            </p:custDataLst>
          </p:nvPr>
        </p:nvSpPr>
        <p:spPr>
          <a:xfrm>
            <a:off x="1092200" y="1705610"/>
            <a:ext cx="2087880" cy="64262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1"/>
                </a:solidFill>
                <a:latin typeface="+mn-ea"/>
                <a:cs typeface="+mn-ea"/>
                <a:sym typeface="+mn-ea"/>
                <a:hlinkClick r:id="rId9" action="ppaction://hlinksldjump"/>
              </a:rPr>
              <a:t>ADP32F03X/03XB</a:t>
            </a:r>
            <a:endParaRPr lang="en-US" altLang="zh-CN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3" name="直接连接符 2"/>
          <p:cNvCxnSpPr/>
          <p:nvPr>
            <p:custDataLst>
              <p:tags r:id="rId10"/>
            </p:custDataLst>
          </p:nvPr>
        </p:nvCxnSpPr>
        <p:spPr>
          <a:xfrm>
            <a:off x="844830" y="2159000"/>
            <a:ext cx="0" cy="1367790"/>
          </a:xfrm>
          <a:prstGeom prst="line">
            <a:avLst/>
          </a:prstGeom>
          <a:ln w="3175">
            <a:solidFill>
              <a:schemeClr val="accent1"/>
            </a:solidFill>
            <a:headEnd type="oval" w="sm" len="sm"/>
            <a:tailEnd type="non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11"/>
            </p:custDataLst>
          </p:nvPr>
        </p:nvCxnSpPr>
        <p:spPr>
          <a:xfrm>
            <a:off x="2577110" y="4038600"/>
            <a:ext cx="0" cy="1367790"/>
          </a:xfrm>
          <a:prstGeom prst="line">
            <a:avLst/>
          </a:prstGeom>
          <a:ln w="3175">
            <a:solidFill>
              <a:schemeClr val="accent4"/>
            </a:solidFill>
            <a:headEnd type="none" w="sm" len="sm"/>
            <a:tailEnd type="oval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>
            <p:custDataLst>
              <p:tags r:id="rId12"/>
            </p:custDataLst>
          </p:nvPr>
        </p:nvCxnSpPr>
        <p:spPr>
          <a:xfrm>
            <a:off x="4278910" y="2166620"/>
            <a:ext cx="0" cy="1367790"/>
          </a:xfrm>
          <a:prstGeom prst="line">
            <a:avLst/>
          </a:prstGeom>
          <a:ln w="3175">
            <a:solidFill>
              <a:schemeClr val="accent1"/>
            </a:solidFill>
            <a:headEnd type="oval" w="sm" len="sm"/>
            <a:tailEnd type="non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矩形 26"/>
          <p:cNvSpPr/>
          <p:nvPr>
            <p:custDataLst>
              <p:tags r:id="rId13"/>
            </p:custDataLst>
          </p:nvPr>
        </p:nvSpPr>
        <p:spPr>
          <a:xfrm>
            <a:off x="6245505" y="4496435"/>
            <a:ext cx="1896110" cy="64262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chemeClr val="accent4"/>
                </a:solidFill>
                <a:latin typeface="+mn-ea"/>
                <a:cs typeface="+mn-ea"/>
                <a:sym typeface="+mn-ea"/>
                <a:hlinkClick r:id="rId14" action="ppaction://hlinksldjump"/>
              </a:rPr>
              <a:t>AVP32F069</a:t>
            </a:r>
            <a:endParaRPr lang="en-US" altLang="zh-CN" b="1">
              <a:solidFill>
                <a:schemeClr val="accent4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15"/>
            </p:custDataLst>
          </p:nvPr>
        </p:nvCxnSpPr>
        <p:spPr>
          <a:xfrm>
            <a:off x="5997855" y="4041775"/>
            <a:ext cx="0" cy="1367790"/>
          </a:xfrm>
          <a:prstGeom prst="line">
            <a:avLst/>
          </a:prstGeom>
          <a:ln w="3175">
            <a:solidFill>
              <a:schemeClr val="accent4"/>
            </a:solidFill>
            <a:headEnd type="none" w="sm" len="sm"/>
            <a:tailEnd type="oval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6"/>
            </p:custDataLst>
          </p:nvPr>
        </p:nvCxnSpPr>
        <p:spPr>
          <a:xfrm>
            <a:off x="7710450" y="2164080"/>
            <a:ext cx="0" cy="1367790"/>
          </a:xfrm>
          <a:prstGeom prst="line">
            <a:avLst/>
          </a:prstGeom>
          <a:ln w="3175">
            <a:solidFill>
              <a:schemeClr val="accent1"/>
            </a:solidFill>
            <a:headEnd type="oval" w="sm" len="sm"/>
            <a:tailEnd type="non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7"/>
            </p:custDataLst>
          </p:nvPr>
        </p:nvCxnSpPr>
        <p:spPr>
          <a:xfrm>
            <a:off x="9433840" y="4039235"/>
            <a:ext cx="0" cy="1367790"/>
          </a:xfrm>
          <a:prstGeom prst="line">
            <a:avLst/>
          </a:prstGeom>
          <a:ln w="3175">
            <a:solidFill>
              <a:schemeClr val="accent4"/>
            </a:solidFill>
            <a:headEnd type="none" w="sm" len="sm"/>
            <a:tailEnd type="oval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矩形 36"/>
          <p:cNvSpPr/>
          <p:nvPr>
            <p:custDataLst>
              <p:tags r:id="rId18"/>
            </p:custDataLst>
          </p:nvPr>
        </p:nvSpPr>
        <p:spPr>
          <a:xfrm>
            <a:off x="4530725" y="2092960"/>
            <a:ext cx="2169795" cy="64262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1"/>
                </a:solidFill>
                <a:latin typeface="+mn-ea"/>
                <a:cs typeface="+mn-ea"/>
                <a:sym typeface="+mn-ea"/>
                <a:hlinkClick r:id="rId19" action="ppaction://hlinksldjump"/>
              </a:rPr>
              <a:t>AVP32F335/335B</a:t>
            </a:r>
            <a:endParaRPr lang="en-US" altLang="zh-CN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1"/>
                </a:solidFill>
                <a:latin typeface="+mn-ea"/>
                <a:cs typeface="+mn-ea"/>
                <a:sym typeface="+mn-ea"/>
                <a:hlinkClick r:id="rId20" action="ppaction://hlinksldjump"/>
              </a:rPr>
              <a:t>AVP32F08</a:t>
            </a:r>
            <a:endParaRPr lang="en-US" altLang="zh-CN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0" name="矩形 39"/>
          <p:cNvSpPr/>
          <p:nvPr>
            <p:custDataLst>
              <p:tags r:id="rId21"/>
            </p:custDataLst>
          </p:nvPr>
        </p:nvSpPr>
        <p:spPr>
          <a:xfrm>
            <a:off x="7954924" y="1837690"/>
            <a:ext cx="1896110" cy="64262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1"/>
                </a:solidFill>
                <a:latin typeface="+mn-ea"/>
                <a:cs typeface="+mn-ea"/>
                <a:sym typeface="+mn-ea"/>
                <a:hlinkClick r:id="rId22" action="ppaction://hlinksldjump"/>
              </a:rPr>
              <a:t>AVP32F0049</a:t>
            </a:r>
            <a:endParaRPr lang="en-US" altLang="zh-CN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3" name="矩形 42"/>
          <p:cNvSpPr/>
          <p:nvPr>
            <p:custDataLst>
              <p:tags r:id="rId23"/>
            </p:custDataLst>
          </p:nvPr>
        </p:nvSpPr>
        <p:spPr>
          <a:xfrm>
            <a:off x="2799324" y="4766945"/>
            <a:ext cx="1896110" cy="64262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chemeClr val="accent4"/>
                </a:solidFill>
                <a:latin typeface="+mn-ea"/>
                <a:cs typeface="+mn-ea"/>
                <a:sym typeface="+mn-ea"/>
                <a:hlinkClick r:id="rId24" action="ppaction://hlinksldjump"/>
              </a:rPr>
              <a:t>ADP32F036</a:t>
            </a:r>
            <a:endParaRPr lang="en-US" altLang="zh-CN" b="1">
              <a:solidFill>
                <a:schemeClr val="accent4"/>
              </a:solidFill>
              <a:latin typeface="+mn-ea"/>
              <a:cs typeface="+mn-ea"/>
              <a:sym typeface="+mn-ea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chemeClr val="accent4"/>
                </a:solidFill>
                <a:latin typeface="+mn-ea"/>
                <a:cs typeface="+mn-ea"/>
                <a:sym typeface="+mn-ea"/>
                <a:hlinkClick r:id="rId25" action="ppaction://hlinksldjump"/>
              </a:rPr>
              <a:t>ADP32F1X</a:t>
            </a:r>
            <a:endParaRPr lang="en-US" altLang="zh-CN" b="1">
              <a:solidFill>
                <a:schemeClr val="accent4"/>
              </a:solidFill>
              <a:latin typeface="+mn-ea"/>
              <a:cs typeface="+mn-ea"/>
              <a:sym typeface="+mn-ea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chemeClr val="accent4"/>
                </a:solidFill>
                <a:latin typeface="+mn-ea"/>
                <a:cs typeface="+mn-ea"/>
                <a:sym typeface="+mn-ea"/>
                <a:hlinkClick r:id="rId26" action="ppaction://hlinksldjump"/>
              </a:rPr>
              <a:t>ADP32F08</a:t>
            </a:r>
            <a:endParaRPr lang="en-US" altLang="zh-CN" b="1">
              <a:solidFill>
                <a:schemeClr val="accent4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6" name="矩形 45"/>
          <p:cNvSpPr/>
          <p:nvPr>
            <p:custDataLst>
              <p:tags r:id="rId27"/>
            </p:custDataLst>
          </p:nvPr>
        </p:nvSpPr>
        <p:spPr>
          <a:xfrm>
            <a:off x="9691651" y="4496435"/>
            <a:ext cx="1896110" cy="64262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chemeClr val="accent4"/>
                </a:solidFill>
                <a:latin typeface="+mn-ea"/>
                <a:cs typeface="+mn-ea"/>
                <a:sym typeface="+mn-ea"/>
                <a:hlinkClick r:id="rId28" action="ppaction://hlinksldjump"/>
              </a:rPr>
              <a:t>AVP32F0039</a:t>
            </a:r>
            <a:endParaRPr lang="en-US" altLang="zh-CN" b="1">
              <a:solidFill>
                <a:schemeClr val="accent4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32" name="图片 31" descr="65f91e9ede8511ff8378a49e0fde4cc"/>
          <p:cNvPicPr>
            <a:picLocks noChangeAspect="1"/>
          </p:cNvPicPr>
          <p:nvPr/>
        </p:nvPicPr>
        <p:blipFill>
          <a:blip r:embed="rId29"/>
          <a:srcRect t="23916" b="22003"/>
          <a:stretch>
            <a:fillRect/>
          </a:stretch>
        </p:blipFill>
        <p:spPr>
          <a:xfrm>
            <a:off x="0" y="-4445"/>
            <a:ext cx="2607310" cy="1054735"/>
          </a:xfrm>
          <a:prstGeom prst="rect">
            <a:avLst/>
          </a:prstGeom>
        </p:spPr>
      </p:pic>
    </p:spTree>
    <p:custDataLst>
      <p:tags r:id="rId3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ADP32F03X/03XB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2141855" y="717550"/>
            <a:ext cx="39306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亮点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主频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60MHz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（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A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版本）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/100MHz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（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B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版本）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3.3V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单电源供电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64K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片载闪存（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16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位字）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10K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（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A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版本）片载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SARAM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（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16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位字）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/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cs typeface="+mn-ea"/>
                <a:sym typeface="+mn-lt"/>
              </a:rPr>
              <a:t>18K</a:t>
            </a:r>
            <a:r>
              <a:rPr lang="zh-CN" altLang="en-US" sz="1600" dirty="0">
                <a:cs typeface="+mn-ea"/>
                <a:sym typeface="+mn-lt"/>
              </a:rPr>
              <a:t>（</a:t>
            </a:r>
            <a:r>
              <a:rPr lang="en-US" altLang="zh-CN" sz="1600" dirty="0">
                <a:cs typeface="+mn-ea"/>
                <a:sym typeface="+mn-lt"/>
              </a:rPr>
              <a:t>B</a:t>
            </a:r>
            <a:r>
              <a:rPr lang="zh-CN" altLang="en-US" sz="1600" dirty="0">
                <a:cs typeface="+mn-ea"/>
                <a:sym typeface="+mn-lt"/>
              </a:rPr>
              <a:t>版本）片载</a:t>
            </a:r>
            <a:r>
              <a:rPr lang="en-US" altLang="zh-CN" sz="1600" dirty="0">
                <a:cs typeface="+mn-ea"/>
                <a:sym typeface="+mn-lt"/>
              </a:rPr>
              <a:t> SARAM</a:t>
            </a:r>
            <a:r>
              <a:rPr lang="zh-CN" altLang="en-US" sz="1600" dirty="0">
                <a:cs typeface="+mn-ea"/>
                <a:sym typeface="+mn-lt"/>
              </a:rPr>
              <a:t>（</a:t>
            </a:r>
            <a:r>
              <a:rPr lang="en-US" altLang="zh-CN" sz="1600" dirty="0">
                <a:cs typeface="+mn-ea"/>
                <a:sym typeface="+mn-lt"/>
              </a:rPr>
              <a:t>16 </a:t>
            </a:r>
            <a:r>
              <a:rPr lang="zh-CN" altLang="en-US" sz="1600" dirty="0">
                <a:cs typeface="+mn-ea"/>
                <a:sym typeface="+mn-lt"/>
              </a:rPr>
              <a:t>位字）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14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路增强型脉宽调制器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(ePWM)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7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路高分辨率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PWM (HRPWM)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增强型捕获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(eCAP)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增强型正交编码器脉冲（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eQEP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16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路模数转换器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(ADC)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片载温度传感器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3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个电压比较器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72505" y="717550"/>
            <a:ext cx="3892550" cy="4492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一个</a:t>
            </a:r>
            <a:r>
              <a:rPr lang="en-US" altLang="zh-CN" sz="1600" dirty="0">
                <a:cs typeface="+mn-ea"/>
                <a:sym typeface="+mn-lt"/>
              </a:rPr>
              <a:t> SCI(UART) </a:t>
            </a:r>
            <a:r>
              <a:rPr lang="zh-CN" altLang="en-US" sz="1600" dirty="0">
                <a:cs typeface="+mn-ea"/>
                <a:sym typeface="+mn-lt"/>
              </a:rPr>
              <a:t>模块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两个</a:t>
            </a:r>
            <a:r>
              <a:rPr lang="en-US" altLang="zh-CN" sz="1600" dirty="0">
                <a:cs typeface="+mn-ea"/>
                <a:sym typeface="+mn-lt"/>
              </a:rPr>
              <a:t> SPI </a:t>
            </a:r>
            <a:r>
              <a:rPr lang="zh-CN" altLang="en-US" sz="1600" dirty="0">
                <a:cs typeface="+mn-ea"/>
                <a:sym typeface="+mn-lt"/>
              </a:rPr>
              <a:t>模块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一个内部集成电路</a:t>
            </a:r>
            <a:r>
              <a:rPr lang="en-US" altLang="zh-CN" sz="1600" dirty="0">
                <a:cs typeface="+mn-ea"/>
                <a:sym typeface="+mn-lt"/>
              </a:rPr>
              <a:t>(I2C)</a:t>
            </a:r>
            <a:r>
              <a:rPr lang="zh-CN" altLang="en-US" sz="1600" dirty="0">
                <a:cs typeface="+mn-ea"/>
                <a:sym typeface="+mn-lt"/>
              </a:rPr>
              <a:t>总线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一个本地互连网络</a:t>
            </a:r>
            <a:r>
              <a:rPr lang="en-US" altLang="zh-CN" sz="1600" dirty="0">
                <a:cs typeface="+mn-ea"/>
                <a:sym typeface="+mn-lt"/>
              </a:rPr>
              <a:t>(LIN)</a:t>
            </a:r>
            <a:r>
              <a:rPr lang="zh-CN" altLang="en-US" sz="1600" dirty="0">
                <a:cs typeface="+mn-ea"/>
                <a:sym typeface="+mn-lt"/>
              </a:rPr>
              <a:t>总线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一个增强型控制器局域网络</a:t>
            </a:r>
            <a:r>
              <a:rPr lang="en-US" altLang="zh-CN" sz="1600" dirty="0">
                <a:cs typeface="+mn-ea"/>
                <a:sym typeface="+mn-lt"/>
              </a:rPr>
              <a:t>(eCAN)</a:t>
            </a:r>
            <a:r>
              <a:rPr lang="zh-CN" altLang="en-US" sz="1600" dirty="0">
                <a:cs typeface="+mn-ea"/>
                <a:sym typeface="+mn-lt"/>
              </a:rPr>
              <a:t>总线</a:t>
            </a:r>
            <a:endParaRPr lang="zh-CN" altLang="en-US" sz="16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控制律加速器</a:t>
            </a:r>
            <a:r>
              <a:rPr lang="en-US" altLang="zh-CN" sz="1600" dirty="0">
                <a:cs typeface="+mn-ea"/>
                <a:sym typeface="+mn-lt"/>
              </a:rPr>
              <a:t>(CLA)</a:t>
            </a:r>
            <a:r>
              <a:rPr lang="zh-CN" altLang="en-US" sz="1600" dirty="0">
                <a:cs typeface="+mn-ea"/>
                <a:sym typeface="+mn-lt"/>
              </a:rPr>
              <a:t>（</a:t>
            </a:r>
            <a:r>
              <a:rPr lang="en-US" altLang="zh-CN" sz="1600" dirty="0">
                <a:cs typeface="+mn-ea"/>
                <a:sym typeface="+mn-lt"/>
              </a:rPr>
              <a:t>034</a:t>
            </a:r>
            <a:r>
              <a:rPr lang="zh-CN" altLang="en-US" sz="1600" dirty="0">
                <a:cs typeface="+mn-ea"/>
                <a:sym typeface="+mn-lt"/>
              </a:rPr>
              <a:t>不支持</a:t>
            </a:r>
            <a:r>
              <a:rPr lang="en-US" altLang="zh-CN" sz="1600" dirty="0">
                <a:cs typeface="+mn-ea"/>
                <a:sym typeface="+mn-lt"/>
              </a:rPr>
              <a:t>/035</a:t>
            </a:r>
            <a:r>
              <a:rPr lang="zh-CN" altLang="en-US" sz="1600" dirty="0">
                <a:cs typeface="+mn-ea"/>
                <a:sym typeface="+mn-lt"/>
              </a:rPr>
              <a:t>支持）</a:t>
            </a:r>
            <a:endParaRPr lang="en-US" altLang="zh-CN" sz="16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封装选项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: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56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引脚超小四方扁平无引脚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(VQFN)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封装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64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引脚薄型四方扁平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(LQFP)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封装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80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引脚薄型四方扁平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(LQFP)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封装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48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引脚薄型四方扁平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(LQFP)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封装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endParaRPr lang="zh-CN" altLang="en-US" sz="16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5055" y="1054735"/>
            <a:ext cx="2066925" cy="18859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9990" y="3007995"/>
            <a:ext cx="1837690" cy="17945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ADP32F03X/03XB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43915" y="1617980"/>
            <a:ext cx="39306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产品优势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低成本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全面兼容替换（软硬件）开发成本低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原厂可支持</a:t>
            </a:r>
            <a:r>
              <a:rPr lang="en-US" altLang="zh-CN" sz="1600" dirty="0">
                <a:sym typeface="+mn-ea"/>
              </a:rPr>
              <a:t>BLDC</a:t>
            </a:r>
            <a:r>
              <a:rPr lang="zh-CN" altLang="en-US" sz="1600" dirty="0">
                <a:sym typeface="+mn-ea"/>
              </a:rPr>
              <a:t>方案（压缩机）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ym typeface="+mn-ea"/>
              </a:rPr>
              <a:t>03XB</a:t>
            </a:r>
            <a:r>
              <a:rPr lang="zh-CN" altLang="en-US" sz="1600" dirty="0">
                <a:sym typeface="+mn-ea"/>
              </a:rPr>
              <a:t>系列对比</a:t>
            </a:r>
            <a:r>
              <a:rPr lang="en-US" altLang="zh-CN" sz="1600" dirty="0">
                <a:sym typeface="+mn-ea"/>
              </a:rPr>
              <a:t>TI</a:t>
            </a:r>
            <a:r>
              <a:rPr lang="zh-CN" altLang="en-US" sz="1600" dirty="0">
                <a:sym typeface="+mn-ea"/>
              </a:rPr>
              <a:t>的</a:t>
            </a:r>
            <a:r>
              <a:rPr lang="en-US" altLang="zh-CN" sz="1600" dirty="0">
                <a:sym typeface="+mn-ea"/>
              </a:rPr>
              <a:t>2803X</a:t>
            </a:r>
            <a:r>
              <a:rPr lang="zh-CN" altLang="en-US" sz="1600" dirty="0">
                <a:sym typeface="+mn-ea"/>
              </a:rPr>
              <a:t>有性能优势，主频和</a:t>
            </a:r>
            <a:r>
              <a:rPr lang="en-US" altLang="zh-CN" sz="1600" dirty="0">
                <a:sym typeface="+mn-ea"/>
              </a:rPr>
              <a:t>RAM</a:t>
            </a:r>
            <a:r>
              <a:rPr lang="zh-CN" altLang="en-US" sz="1600" dirty="0">
                <a:sym typeface="+mn-ea"/>
              </a:rPr>
              <a:t>提高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907280" y="1617980"/>
            <a:ext cx="5374005" cy="2276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相关应用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: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微型逆变器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门机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驱动控制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车载（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OBC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）和无线充电器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    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电焊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机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DC/DC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转换器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伺服驱动功率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级模块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交流输入无刷直流电机驱动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直</a:t>
            </a:r>
            <a:r>
              <a:rPr lang="zh-CN" altLang="en-US" sz="1600" dirty="0">
                <a:cs typeface="+mn-ea"/>
                <a:sym typeface="+mn-lt"/>
              </a:rPr>
              <a:t>流输入无刷直流电机驱动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交流充电桩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直</a:t>
            </a:r>
            <a:r>
              <a:rPr lang="zh-CN" altLang="en-US" sz="1600" dirty="0">
                <a:cs typeface="+mn-ea"/>
                <a:sym typeface="+mn-lt"/>
              </a:rPr>
              <a:t>流充电桩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三相不间断电源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商户网络和服务器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PSU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ADP32F03X/03XB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43915" y="1054735"/>
            <a:ext cx="89344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移植注意事项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• </a:t>
            </a:r>
            <a:r>
              <a:rPr lang="zh-CN" altLang="en-US" dirty="0">
                <a:cs typeface="+mn-ea"/>
                <a:sym typeface="+mn-lt"/>
              </a:rPr>
              <a:t>硬件</a:t>
            </a:r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ym typeface="+mn-ea"/>
              </a:rPr>
              <a:t>1.</a:t>
            </a:r>
            <a:r>
              <a:rPr lang="en-US" altLang="zh-CN" sz="1600" dirty="0">
                <a:sym typeface="+mn-ea"/>
              </a:rPr>
              <a:t>03X</a:t>
            </a:r>
            <a:r>
              <a:rPr lang="zh-CN" altLang="en-US" sz="1600" dirty="0">
                <a:sym typeface="+mn-ea"/>
              </a:rPr>
              <a:t>系列</a:t>
            </a:r>
            <a:r>
              <a:rPr lang="en-US" altLang="zh-CN" sz="1600" dirty="0">
                <a:sym typeface="+mn-ea"/>
              </a:rPr>
              <a:t>Pin2Pin</a:t>
            </a:r>
            <a:r>
              <a:rPr lang="zh-CN" altLang="en-US" sz="1600" dirty="0">
                <a:sym typeface="+mn-ea"/>
              </a:rPr>
              <a:t>替代硬件都无需更换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19015" y="1054735"/>
            <a:ext cx="6158865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endParaRPr lang="en-US" altLang="zh-CN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• </a:t>
            </a:r>
            <a:r>
              <a:rPr lang="zh-CN" altLang="en-US" dirty="0">
                <a:cs typeface="+mn-ea"/>
                <a:sym typeface="+mn-lt"/>
              </a:rPr>
              <a:t>软件</a:t>
            </a:r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ym typeface="+mn-ea"/>
              </a:rPr>
              <a:t>1.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如果客户需要在线烧写的，需要更换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lib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文件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cs typeface="+mn-ea"/>
                <a:sym typeface="+mn-lt"/>
              </a:rPr>
              <a:t>2.</a:t>
            </a:r>
            <a:r>
              <a:rPr lang="en-US" altLang="zh-CN" sz="1600" dirty="0">
                <a:sym typeface="+mn-ea"/>
              </a:rPr>
              <a:t>03X</a:t>
            </a:r>
            <a:r>
              <a:rPr lang="zh-CN" altLang="en-US" sz="1600" dirty="0">
                <a:sym typeface="+mn-ea"/>
              </a:rPr>
              <a:t>的</a:t>
            </a:r>
            <a:r>
              <a:rPr lang="en-US" altLang="zh-CN" sz="1600" dirty="0">
                <a:sym typeface="+mn-ea"/>
              </a:rPr>
              <a:t>HRPWM</a:t>
            </a:r>
            <a:r>
              <a:rPr lang="zh-CN" altLang="en-US" sz="1600" dirty="0">
                <a:sym typeface="+mn-ea"/>
              </a:rPr>
              <a:t>模块不可用，存在寄存器溢出</a:t>
            </a:r>
            <a:r>
              <a:rPr lang="zh-CN" altLang="en-US" sz="1600" dirty="0">
                <a:sym typeface="+mn-ea"/>
              </a:rPr>
              <a:t>的问题</a:t>
            </a:r>
            <a:r>
              <a:rPr lang="en-US" altLang="zh-CN" sz="1600" dirty="0">
                <a:sym typeface="+mn-ea"/>
              </a:rPr>
              <a:t>/03XB</a:t>
            </a:r>
            <a:r>
              <a:rPr lang="zh-CN" altLang="en-US" sz="1600" dirty="0">
                <a:sym typeface="+mn-ea"/>
              </a:rPr>
              <a:t>可用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cs typeface="+mn-ea"/>
                <a:sym typeface="+mn-lt"/>
              </a:rPr>
              <a:t>3.</a:t>
            </a:r>
            <a:r>
              <a:rPr lang="en-US" altLang="zh-CN" sz="1600" dirty="0">
                <a:sym typeface="+mn-ea"/>
              </a:rPr>
              <a:t>03XB</a:t>
            </a:r>
            <a:r>
              <a:rPr lang="zh-CN" altLang="en-US" sz="1600" dirty="0">
                <a:sym typeface="+mn-ea"/>
              </a:rPr>
              <a:t>的</a:t>
            </a:r>
            <a:r>
              <a:rPr lang="en-US" altLang="zh-CN" sz="1600" dirty="0">
                <a:sym typeface="+mn-ea"/>
              </a:rPr>
              <a:t>GPIO0/GPIO1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不可配置为输入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引脚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4.Device_cal()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出厂失调校准可能无法确保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 ADC 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失调在客户系统的所有工作条件下都符合规范要求。请在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Device_cal()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完成并配置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ADC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后执行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AdcOffsetSelfCal()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函数。随着温度漂移，请定期执行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AdcOffsetSelfCal()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函数。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ADP32F03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6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2141855" y="717550"/>
            <a:ext cx="39306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亮点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主频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100MHz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控制律加速器</a:t>
            </a:r>
            <a:r>
              <a:rPr lang="en-US" altLang="zh-CN" sz="1600" dirty="0">
                <a:cs typeface="+mn-ea"/>
                <a:sym typeface="+mn-lt"/>
              </a:rPr>
              <a:t>(CLA)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3.3-5V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单电源供电，内核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1.2V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64K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片载闪存（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16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位字）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cs typeface="+mn-ea"/>
                <a:sym typeface="+mn-lt"/>
              </a:rPr>
              <a:t>18K</a:t>
            </a:r>
            <a:r>
              <a:rPr lang="zh-CN" altLang="en-US" sz="1600" dirty="0">
                <a:cs typeface="+mn-ea"/>
                <a:sym typeface="+mn-lt"/>
              </a:rPr>
              <a:t>片载</a:t>
            </a:r>
            <a:r>
              <a:rPr lang="en-US" altLang="zh-CN" sz="1600" dirty="0">
                <a:cs typeface="+mn-ea"/>
                <a:sym typeface="+mn-lt"/>
              </a:rPr>
              <a:t> SARAM</a:t>
            </a:r>
            <a:r>
              <a:rPr lang="zh-CN" altLang="en-US" sz="1600" dirty="0">
                <a:cs typeface="+mn-ea"/>
                <a:sym typeface="+mn-lt"/>
              </a:rPr>
              <a:t>（</a:t>
            </a:r>
            <a:r>
              <a:rPr lang="en-US" altLang="zh-CN" sz="1600" dirty="0">
                <a:cs typeface="+mn-ea"/>
                <a:sym typeface="+mn-lt"/>
              </a:rPr>
              <a:t>16 </a:t>
            </a:r>
            <a:r>
              <a:rPr lang="zh-CN" altLang="en-US" sz="1600" dirty="0">
                <a:cs typeface="+mn-ea"/>
                <a:sym typeface="+mn-lt"/>
              </a:rPr>
              <a:t>位字）</a:t>
            </a:r>
            <a:endParaRPr lang="zh-CN" altLang="en-US" sz="16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cs typeface="+mn-ea"/>
                <a:sym typeface="+mn-lt"/>
              </a:rPr>
              <a:t>8KBootROM</a:t>
            </a:r>
            <a:r>
              <a:rPr lang="zh-CN" altLang="en-US" sz="1600" dirty="0">
                <a:cs typeface="+mn-ea"/>
                <a:sym typeface="+mn-lt"/>
              </a:rPr>
              <a:t>（</a:t>
            </a:r>
            <a:r>
              <a:rPr lang="en-US" altLang="zh-CN" sz="1600" dirty="0">
                <a:cs typeface="+mn-ea"/>
                <a:sym typeface="+mn-lt"/>
              </a:rPr>
              <a:t>16</a:t>
            </a:r>
            <a:r>
              <a:rPr lang="zh-CN" altLang="en-US" sz="1600" dirty="0">
                <a:cs typeface="+mn-ea"/>
                <a:sym typeface="+mn-lt"/>
              </a:rPr>
              <a:t>位</a:t>
            </a:r>
            <a:r>
              <a:rPr lang="zh-CN" altLang="en-US" sz="1600" dirty="0">
                <a:cs typeface="+mn-ea"/>
                <a:sym typeface="+mn-lt"/>
              </a:rPr>
              <a:t>字）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10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路增强型脉宽调制器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(ePWM)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5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路高分辨率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PWM (HRPWM)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2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个捕获单元（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CAP1/HRCAP1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15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路模数转换器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(ADC)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片载温度传感器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3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个电压比较器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72505" y="717550"/>
            <a:ext cx="3892550" cy="4492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600" dirty="0">
                <a:cs typeface="+mn-ea"/>
                <a:sym typeface="+mn-lt"/>
              </a:rPr>
              <a:t>1 </a:t>
            </a:r>
            <a:r>
              <a:rPr lang="zh-CN" altLang="en-US" sz="1600" dirty="0">
                <a:cs typeface="+mn-ea"/>
                <a:sym typeface="+mn-lt"/>
              </a:rPr>
              <a:t>个</a:t>
            </a:r>
            <a:r>
              <a:rPr lang="en-US" altLang="zh-CN" sz="1600" dirty="0">
                <a:cs typeface="+mn-ea"/>
                <a:sym typeface="+mn-lt"/>
              </a:rPr>
              <a:t> OP</a:t>
            </a:r>
            <a:r>
              <a:rPr lang="zh-CN" altLang="en-US" sz="1600" dirty="0">
                <a:cs typeface="+mn-ea"/>
                <a:sym typeface="+mn-lt"/>
              </a:rPr>
              <a:t>，可用于母线电流检测</a:t>
            </a:r>
            <a:r>
              <a:rPr lang="zh-CN" altLang="en-US" sz="1600" dirty="0">
                <a:cs typeface="+mn-ea"/>
                <a:sym typeface="+mn-lt"/>
              </a:rPr>
              <a:t>放大</a:t>
            </a:r>
            <a:endParaRPr lang="zh-CN" altLang="en-US" sz="16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cs typeface="+mn-ea"/>
                <a:sym typeface="+mn-lt"/>
              </a:rPr>
              <a:t>3 </a:t>
            </a:r>
            <a:r>
              <a:rPr lang="zh-CN" altLang="en-US" sz="1600" dirty="0">
                <a:cs typeface="+mn-ea"/>
                <a:sym typeface="+mn-lt"/>
              </a:rPr>
              <a:t>个</a:t>
            </a:r>
            <a:r>
              <a:rPr lang="en-US" altLang="zh-CN" sz="1600" dirty="0">
                <a:cs typeface="+mn-ea"/>
                <a:sym typeface="+mn-lt"/>
              </a:rPr>
              <a:t> PGA</a:t>
            </a:r>
            <a:r>
              <a:rPr lang="zh-CN" altLang="en-US" sz="1600" dirty="0">
                <a:cs typeface="+mn-ea"/>
                <a:sym typeface="+mn-lt"/>
              </a:rPr>
              <a:t>，可用于相电</a:t>
            </a:r>
            <a:r>
              <a:rPr lang="zh-CN" altLang="en-US" sz="1600" dirty="0">
                <a:cs typeface="+mn-ea"/>
                <a:sym typeface="+mn-lt"/>
              </a:rPr>
              <a:t>流检测放大</a:t>
            </a:r>
            <a:endParaRPr lang="zh-CN" altLang="en-US" sz="16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CAN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、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SPI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、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SCI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、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LIN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、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IIC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通道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CANFD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封装选项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: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LQFP48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封装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QFN48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封装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QFN56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封装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LQFP32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封装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QFN28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封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装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TSSOP20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封装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7745" y="1183640"/>
            <a:ext cx="1981200" cy="18954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ADP32F03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6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43915" y="1617980"/>
            <a:ext cx="39306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产品优势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低成本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主频高，</a:t>
            </a:r>
            <a:r>
              <a:rPr lang="zh-CN" altLang="en-US" sz="1600" dirty="0">
                <a:sym typeface="+mn-ea"/>
              </a:rPr>
              <a:t>功耗低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有一路</a:t>
            </a:r>
            <a:r>
              <a:rPr lang="en-US" altLang="zh-CN" sz="1600" dirty="0">
                <a:sym typeface="+mn-ea"/>
              </a:rPr>
              <a:t>CANFD</a:t>
            </a:r>
            <a:endParaRPr lang="en-US" altLang="zh-CN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全面兼容替换（软硬件）开发成本低</a:t>
            </a:r>
            <a:endParaRPr lang="en-US" altLang="zh-CN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907280" y="1617980"/>
            <a:ext cx="5374005" cy="1783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相关应用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: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微型逆变器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变频器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充电桩模块电源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     	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通信电源系统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DC/DC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转换器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定日镜控制器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双向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ACDC	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伺服电机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ADP32F03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6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43915" y="1054735"/>
            <a:ext cx="89344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移植注意事项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ym typeface="+mn-ea"/>
              </a:rPr>
              <a:t>1.</a:t>
            </a:r>
            <a:r>
              <a:rPr lang="en-US" altLang="zh-CN" sz="1600" dirty="0">
                <a:sym typeface="+mn-ea"/>
              </a:rPr>
              <a:t>ADP32F036</a:t>
            </a:r>
            <a:r>
              <a:rPr lang="zh-CN" altLang="en-US" sz="1600" dirty="0">
                <a:sym typeface="+mn-ea"/>
              </a:rPr>
              <a:t>是进芯根据客户需求所开发</a:t>
            </a:r>
            <a:r>
              <a:rPr lang="zh-CN" altLang="en-US" sz="1600" dirty="0">
                <a:sym typeface="+mn-ea"/>
              </a:rPr>
              <a:t>产品，不适用替代</a:t>
            </a:r>
            <a:r>
              <a:rPr lang="en-US" altLang="zh-CN" sz="1600" dirty="0">
                <a:sym typeface="+mn-ea"/>
              </a:rPr>
              <a:t>Ti</a:t>
            </a:r>
            <a:r>
              <a:rPr lang="zh-CN" altLang="en-US" sz="1600" dirty="0">
                <a:sym typeface="+mn-ea"/>
              </a:rPr>
              <a:t>系列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666105" y="1054735"/>
            <a:ext cx="6158865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endParaRPr lang="en-US" altLang="zh-CN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ADP32F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1X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2141855" y="717550"/>
            <a:ext cx="39306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亮点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主频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150MHz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cs typeface="+mn-ea"/>
                <a:sym typeface="+mn-lt"/>
              </a:rPr>
              <a:t>I/O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电压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3.3V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，内核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1.8V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128K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片载闪存（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16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位字）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cs typeface="+mn-ea"/>
                <a:sym typeface="+mn-lt"/>
              </a:rPr>
              <a:t>18K</a:t>
            </a:r>
            <a:r>
              <a:rPr lang="zh-CN" altLang="en-US" sz="1600" dirty="0">
                <a:cs typeface="+mn-ea"/>
                <a:sym typeface="+mn-lt"/>
              </a:rPr>
              <a:t>片载</a:t>
            </a:r>
            <a:r>
              <a:rPr lang="en-US" altLang="zh-CN" sz="1600" dirty="0">
                <a:cs typeface="+mn-ea"/>
                <a:sym typeface="+mn-lt"/>
              </a:rPr>
              <a:t> SARAM</a:t>
            </a:r>
            <a:r>
              <a:rPr lang="zh-CN" altLang="en-US" sz="1600" dirty="0">
                <a:cs typeface="+mn-ea"/>
                <a:sym typeface="+mn-lt"/>
              </a:rPr>
              <a:t>（</a:t>
            </a:r>
            <a:r>
              <a:rPr lang="en-US" altLang="zh-CN" sz="1600" dirty="0">
                <a:cs typeface="+mn-ea"/>
                <a:sym typeface="+mn-lt"/>
              </a:rPr>
              <a:t>16 </a:t>
            </a:r>
            <a:r>
              <a:rPr lang="zh-CN" altLang="en-US" sz="1600" dirty="0">
                <a:cs typeface="+mn-ea"/>
                <a:sym typeface="+mn-lt"/>
              </a:rPr>
              <a:t>位字）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16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路增强型脉宽调制器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(ePWM)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3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个数值比较器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3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个捕获单元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个正交编码电路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16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路模数转换器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(ADC)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外部存储扩展接口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72505" y="717550"/>
            <a:ext cx="3892550" cy="28917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两个</a:t>
            </a:r>
            <a:r>
              <a:rPr lang="en-US" altLang="zh-CN" sz="1600" dirty="0">
                <a:cs typeface="+mn-ea"/>
                <a:sym typeface="+mn-lt"/>
              </a:rPr>
              <a:t> SCI(UART) </a:t>
            </a:r>
            <a:r>
              <a:rPr lang="zh-CN" altLang="en-US" sz="1600" dirty="0">
                <a:cs typeface="+mn-ea"/>
                <a:sym typeface="+mn-lt"/>
              </a:rPr>
              <a:t>模块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一个</a:t>
            </a:r>
            <a:r>
              <a:rPr lang="en-US" altLang="zh-CN" sz="1600" dirty="0">
                <a:cs typeface="+mn-ea"/>
                <a:sym typeface="+mn-lt"/>
              </a:rPr>
              <a:t> SPI </a:t>
            </a:r>
            <a:r>
              <a:rPr lang="zh-CN" altLang="en-US" sz="1600" dirty="0">
                <a:cs typeface="+mn-ea"/>
                <a:sym typeface="+mn-lt"/>
              </a:rPr>
              <a:t>模块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一个增强型控制器局域网络</a:t>
            </a:r>
            <a:r>
              <a:rPr lang="en-US" altLang="zh-CN" sz="1600" dirty="0">
                <a:cs typeface="+mn-ea"/>
                <a:sym typeface="+mn-lt"/>
              </a:rPr>
              <a:t>(eCAN)</a:t>
            </a:r>
            <a:r>
              <a:rPr lang="zh-CN" altLang="en-US" sz="1600" dirty="0">
                <a:cs typeface="+mn-ea"/>
                <a:sym typeface="+mn-lt"/>
              </a:rPr>
              <a:t>总线</a:t>
            </a:r>
            <a:endParaRPr lang="zh-CN" altLang="en-US" sz="16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多通道缓冲串行端口</a:t>
            </a:r>
            <a:r>
              <a:rPr lang="en-US" altLang="zh-CN" sz="1600" dirty="0">
                <a:cs typeface="+mn-ea"/>
                <a:sym typeface="+mn-lt"/>
              </a:rPr>
              <a:t>(McBSP)</a:t>
            </a:r>
            <a:endParaRPr lang="en-US" altLang="zh-CN" sz="16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封装选项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: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cs typeface="+mn-ea"/>
                <a:sym typeface="+mn-lt"/>
              </a:rPr>
              <a:t>BGA 179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（带外部存储器接口）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en-US" altLang="zh-CN" sz="1600"/>
              <a:t>LQFP 176</a:t>
            </a:r>
            <a:r>
              <a:rPr lang="zh-CN" altLang="en-US" sz="1600"/>
              <a:t>（带外部存储器接口）</a:t>
            </a:r>
            <a:endParaRPr lang="zh-CN" altLang="en-US" sz="1600"/>
          </a:p>
          <a:p>
            <a:r>
              <a:rPr lang="en-US" altLang="zh-CN" sz="1600"/>
              <a:t>LQFP 128</a:t>
            </a:r>
            <a:r>
              <a:rPr lang="zh-CN" altLang="en-US" sz="1600"/>
              <a:t>（</a:t>
            </a:r>
            <a:r>
              <a:rPr lang="zh-CN" altLang="en-US" sz="1600"/>
              <a:t>无外部存储器接口）</a:t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2970" y="1054735"/>
            <a:ext cx="2190750" cy="2019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9170" y="3147695"/>
            <a:ext cx="203835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ADP32F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1X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43915" y="1617980"/>
            <a:ext cx="39306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产品优势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低成本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主频高，</a:t>
            </a:r>
            <a:r>
              <a:rPr lang="zh-CN" altLang="en-US" sz="1600" dirty="0">
                <a:sym typeface="+mn-ea"/>
              </a:rPr>
              <a:t>功耗低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包含</a:t>
            </a:r>
            <a:r>
              <a:rPr lang="zh-CN" altLang="en-US" sz="1600" dirty="0">
                <a:cs typeface="+mn-ea"/>
                <a:sym typeface="+mn-lt"/>
              </a:rPr>
              <a:t>外部存储扩展接口，超过</a:t>
            </a:r>
            <a:r>
              <a:rPr lang="en-US" altLang="zh-CN" sz="1600" dirty="0">
                <a:cs typeface="+mn-ea"/>
                <a:sym typeface="+mn-lt"/>
              </a:rPr>
              <a:t> 1M x 16 </a:t>
            </a:r>
            <a:r>
              <a:rPr lang="zh-CN" altLang="en-US" sz="1600" dirty="0">
                <a:cs typeface="+mn-ea"/>
                <a:sym typeface="+mn-lt"/>
              </a:rPr>
              <a:t>位的可扩展空间</a:t>
            </a:r>
            <a:endParaRPr lang="zh-CN" altLang="en-US" sz="16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包含多通道缓冲串行端口</a:t>
            </a:r>
            <a:endParaRPr lang="zh-CN" altLang="en-US" sz="16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全面兼容替换（软硬件）开发成本低</a:t>
            </a:r>
            <a:endParaRPr lang="en-US" altLang="zh-CN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907280" y="1617980"/>
            <a:ext cx="5374005" cy="1537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相关应用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: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应用于工业智能控制，物联网无线接入，变频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电机驱动，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通用型信号处理等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领域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ADP32F0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1X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43915" y="1054735"/>
            <a:ext cx="89344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移植注意事项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• </a:t>
            </a:r>
            <a:r>
              <a:rPr lang="zh-CN" altLang="en-US" dirty="0">
                <a:cs typeface="+mn-ea"/>
                <a:sym typeface="+mn-lt"/>
              </a:rPr>
              <a:t>硬件</a:t>
            </a:r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ym typeface="+mn-ea"/>
              </a:rPr>
              <a:t>1.</a:t>
            </a:r>
            <a:r>
              <a:rPr lang="zh-CN" altLang="en-US" sz="1600" dirty="0">
                <a:sym typeface="+mn-ea"/>
              </a:rPr>
              <a:t>硬件完全兼容，</a:t>
            </a:r>
            <a:r>
              <a:rPr lang="zh-CN" altLang="en-US" sz="1600" dirty="0">
                <a:sym typeface="+mn-ea"/>
              </a:rPr>
              <a:t>无需更改</a:t>
            </a:r>
            <a:endParaRPr lang="zh-CN" altLang="en-US" sz="1600" dirty="0">
              <a:sym typeface="+mn-ea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666105" y="1054735"/>
            <a:ext cx="6158865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endParaRPr lang="en-US" altLang="zh-CN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• </a:t>
            </a:r>
            <a:r>
              <a:rPr lang="zh-CN" altLang="en-US" dirty="0">
                <a:cs typeface="+mn-ea"/>
                <a:sym typeface="+mn-lt"/>
              </a:rPr>
              <a:t>软件</a:t>
            </a:r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ym typeface="+mn-ea"/>
              </a:rPr>
              <a:t>1.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L1/L0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存储扇区不可混用，</a:t>
            </a:r>
            <a:r>
              <a:rPr lang="zh-CN" altLang="en-US" sz="1600" dirty="0">
                <a:sym typeface="+mn-ea"/>
              </a:rPr>
              <a:t>即程序和数据分开存放，否则会出现变量无法赋值计算失败等现象。</a:t>
            </a:r>
            <a:r>
              <a:rPr lang="en-US" altLang="zh-CN" sz="1600" dirty="0">
                <a:sym typeface="+mn-ea"/>
              </a:rPr>
              <a:t>L0 </a:t>
            </a:r>
            <a:r>
              <a:rPr lang="zh-CN" altLang="en-US" sz="1600" dirty="0">
                <a:sym typeface="+mn-ea"/>
              </a:rPr>
              <a:t>和</a:t>
            </a:r>
            <a:r>
              <a:rPr lang="en-US" altLang="zh-CN" sz="1600" dirty="0">
                <a:sym typeface="+mn-ea"/>
              </a:rPr>
              <a:t> L1</a:t>
            </a:r>
            <a:r>
              <a:rPr lang="zh-CN" altLang="en-US" sz="1600" dirty="0">
                <a:sym typeface="+mn-ea"/>
              </a:rPr>
              <a:t>：</a:t>
            </a:r>
            <a:r>
              <a:rPr lang="en-US" altLang="zh-CN" sz="1600" dirty="0">
                <a:sym typeface="+mn-ea"/>
              </a:rPr>
              <a:t>2 </a:t>
            </a:r>
            <a:r>
              <a:rPr lang="zh-CN" altLang="en-US" sz="1600" dirty="0">
                <a:sym typeface="+mn-ea"/>
              </a:rPr>
              <a:t>块</a:t>
            </a:r>
            <a:r>
              <a:rPr lang="en-US" altLang="zh-CN" sz="1600" dirty="0">
                <a:sym typeface="+mn-ea"/>
              </a:rPr>
              <a:t> 4Kx16 </a:t>
            </a:r>
            <a:r>
              <a:rPr lang="zh-CN" altLang="en-US" sz="1600" dirty="0">
                <a:sym typeface="+mn-ea"/>
              </a:rPr>
              <a:t>位独立寻址</a:t>
            </a:r>
            <a:r>
              <a:rPr lang="en-US" altLang="zh-CN" sz="1600" dirty="0">
                <a:sym typeface="+mn-ea"/>
              </a:rPr>
              <a:t> SARAM</a:t>
            </a:r>
            <a:endParaRPr lang="en-US" altLang="zh-CN" sz="1600" dirty="0"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ADP32F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08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2141855" y="717550"/>
            <a:ext cx="39306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亮点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主频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100MHz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cs typeface="+mn-ea"/>
                <a:sym typeface="+mn-lt"/>
              </a:rPr>
              <a:t>I/O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电压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3.3V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，内核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1.5V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64K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片载闪存（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16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位字）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cs typeface="+mn-ea"/>
                <a:sym typeface="+mn-lt"/>
              </a:rPr>
              <a:t>18K</a:t>
            </a:r>
            <a:r>
              <a:rPr lang="zh-CN" altLang="en-US" sz="1600" dirty="0">
                <a:cs typeface="+mn-ea"/>
                <a:sym typeface="+mn-lt"/>
              </a:rPr>
              <a:t>片载</a:t>
            </a:r>
            <a:r>
              <a:rPr lang="en-US" altLang="zh-CN" sz="1600" dirty="0">
                <a:cs typeface="+mn-ea"/>
                <a:sym typeface="+mn-lt"/>
              </a:rPr>
              <a:t> SARAM</a:t>
            </a:r>
            <a:r>
              <a:rPr lang="zh-CN" altLang="en-US" sz="1600" dirty="0">
                <a:cs typeface="+mn-ea"/>
                <a:sym typeface="+mn-lt"/>
              </a:rPr>
              <a:t>（</a:t>
            </a:r>
            <a:r>
              <a:rPr lang="en-US" altLang="zh-CN" sz="1600" dirty="0">
                <a:cs typeface="+mn-ea"/>
                <a:sym typeface="+mn-lt"/>
              </a:rPr>
              <a:t>16 </a:t>
            </a:r>
            <a:r>
              <a:rPr lang="zh-CN" altLang="en-US" sz="1600" dirty="0">
                <a:cs typeface="+mn-ea"/>
                <a:sym typeface="+mn-lt"/>
              </a:rPr>
              <a:t>位字）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16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路增强型脉宽调制器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(ePWM)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cs typeface="+mn-ea"/>
                <a:sym typeface="+mn-lt"/>
              </a:rPr>
              <a:t>6</a:t>
            </a:r>
            <a:r>
              <a:rPr lang="zh-CN" altLang="en-US" sz="1600" dirty="0">
                <a:cs typeface="+mn-ea"/>
                <a:sym typeface="+mn-lt"/>
              </a:rPr>
              <a:t>路高分辨率</a:t>
            </a:r>
            <a:r>
              <a:rPr lang="en-US" altLang="zh-CN" sz="1600" dirty="0">
                <a:cs typeface="+mn-ea"/>
                <a:sym typeface="+mn-lt"/>
              </a:rPr>
              <a:t> PWM (HRPWM)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4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个捕获单元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2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个正交编码电路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16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路模数转换器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(ADC)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72505" y="717550"/>
            <a:ext cx="389255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两个</a:t>
            </a:r>
            <a:r>
              <a:rPr lang="en-US" altLang="zh-CN" sz="1600" dirty="0">
                <a:cs typeface="+mn-ea"/>
                <a:sym typeface="+mn-lt"/>
              </a:rPr>
              <a:t> SCI(UART) </a:t>
            </a:r>
            <a:r>
              <a:rPr lang="zh-CN" altLang="en-US" sz="1600" dirty="0">
                <a:cs typeface="+mn-ea"/>
                <a:sym typeface="+mn-lt"/>
              </a:rPr>
              <a:t>模块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四个</a:t>
            </a:r>
            <a:r>
              <a:rPr lang="en-US" altLang="zh-CN" sz="1600" dirty="0">
                <a:cs typeface="+mn-ea"/>
                <a:sym typeface="+mn-lt"/>
              </a:rPr>
              <a:t> SPI </a:t>
            </a:r>
            <a:r>
              <a:rPr lang="zh-CN" altLang="en-US" sz="1600" dirty="0">
                <a:cs typeface="+mn-ea"/>
                <a:sym typeface="+mn-lt"/>
              </a:rPr>
              <a:t>模块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两个增强型控制器局域网络</a:t>
            </a:r>
            <a:r>
              <a:rPr lang="en-US" altLang="zh-CN" sz="1600" dirty="0">
                <a:cs typeface="+mn-ea"/>
                <a:sym typeface="+mn-lt"/>
              </a:rPr>
              <a:t>(eCAN)</a:t>
            </a:r>
            <a:r>
              <a:rPr lang="zh-CN" altLang="en-US" sz="1600" dirty="0">
                <a:cs typeface="+mn-ea"/>
                <a:sym typeface="+mn-lt"/>
              </a:rPr>
              <a:t>总线</a:t>
            </a:r>
            <a:endParaRPr lang="zh-CN" altLang="en-US" sz="16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一个内部集成电路</a:t>
            </a:r>
            <a:r>
              <a:rPr lang="en-US" altLang="zh-CN" sz="1600" dirty="0">
                <a:cs typeface="+mn-ea"/>
                <a:sym typeface="+mn-lt"/>
              </a:rPr>
              <a:t>(I2C)</a:t>
            </a:r>
            <a:r>
              <a:rPr lang="zh-CN" altLang="en-US" sz="1600" dirty="0">
                <a:cs typeface="+mn-ea"/>
                <a:sym typeface="+mn-lt"/>
              </a:rPr>
              <a:t>总线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封装选项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: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/>
              <a:t>100 </a:t>
            </a:r>
            <a:r>
              <a:rPr lang="zh-CN" altLang="en-US" sz="1600"/>
              <a:t>引脚</a:t>
            </a:r>
            <a:r>
              <a:rPr lang="en-US" altLang="zh-CN" sz="1600"/>
              <a:t> </a:t>
            </a:r>
            <a:r>
              <a:rPr lang="zh-CN" altLang="en-US" sz="1600"/>
              <a:t>薄型四方扁平（</a:t>
            </a:r>
            <a:r>
              <a:rPr lang="en-US" altLang="zh-CN" sz="1600"/>
              <a:t>LQFP)</a:t>
            </a:r>
            <a:r>
              <a:rPr lang="zh-CN" altLang="en-US" sz="1600"/>
              <a:t>封</a:t>
            </a:r>
            <a:r>
              <a:rPr lang="zh-CN" altLang="en-US" sz="1600"/>
              <a:t>装</a:t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0120" y="1240790"/>
            <a:ext cx="2076450" cy="18764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ADP32F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08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43915" y="1617980"/>
            <a:ext cx="39306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产品优势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低成本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功耗低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通信外设通道</a:t>
            </a:r>
            <a:r>
              <a:rPr lang="zh-CN" altLang="en-US" sz="1600" dirty="0">
                <a:sym typeface="+mn-ea"/>
              </a:rPr>
              <a:t>较多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全面兼容替换（软硬件）开发成本低</a:t>
            </a:r>
            <a:endParaRPr lang="en-US" altLang="zh-CN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907280" y="1617980"/>
            <a:ext cx="5374005" cy="1537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相关应用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: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应用于工业智能控制，物联网无线接入，变频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电机驱动，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通用型信号处理等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领域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ADP32F0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8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43915" y="1054735"/>
            <a:ext cx="89344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移植注意事项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• </a:t>
            </a:r>
            <a:r>
              <a:rPr lang="zh-CN" altLang="en-US" dirty="0">
                <a:cs typeface="+mn-ea"/>
                <a:sym typeface="+mn-lt"/>
              </a:rPr>
              <a:t>硬件</a:t>
            </a:r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ym typeface="+mn-ea"/>
              </a:rPr>
              <a:t>1.</a:t>
            </a:r>
            <a:r>
              <a:rPr lang="zh-CN" altLang="en-US" sz="1600" dirty="0">
                <a:sym typeface="+mn-ea"/>
              </a:rPr>
              <a:t>硬件完全兼容，</a:t>
            </a:r>
            <a:r>
              <a:rPr lang="zh-CN" altLang="en-US" sz="1600" dirty="0">
                <a:sym typeface="+mn-ea"/>
              </a:rPr>
              <a:t>无需更改</a:t>
            </a:r>
            <a:endParaRPr lang="zh-CN" altLang="en-US" sz="1600" dirty="0">
              <a:sym typeface="+mn-ea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666105" y="1054735"/>
            <a:ext cx="6158865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endParaRPr lang="en-US" altLang="zh-CN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• </a:t>
            </a:r>
            <a:r>
              <a:rPr lang="zh-CN" altLang="en-US" dirty="0">
                <a:cs typeface="+mn-ea"/>
                <a:sym typeface="+mn-lt"/>
              </a:rPr>
              <a:t>软件</a:t>
            </a:r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ym typeface="+mn-ea"/>
              </a:rPr>
              <a:t>1.</a:t>
            </a:r>
            <a:r>
              <a:rPr lang="en-US" altLang="zh-CN" sz="1600" dirty="0">
                <a:sym typeface="+mn-ea"/>
              </a:rPr>
              <a:t>ADP32F08</a:t>
            </a:r>
            <a:r>
              <a:rPr lang="zh-CN" altLang="en-US" sz="1600" dirty="0">
                <a:sym typeface="+mn-ea"/>
              </a:rPr>
              <a:t>开发需要替换</a:t>
            </a:r>
            <a:r>
              <a:rPr lang="en-US" altLang="zh-CN" sz="1600" dirty="0">
                <a:sym typeface="+mn-ea"/>
              </a:rPr>
              <a:t>API</a:t>
            </a:r>
            <a:r>
              <a:rPr lang="zh-CN" altLang="en-US" sz="1600" dirty="0">
                <a:sym typeface="+mn-ea"/>
              </a:rPr>
              <a:t>文件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en-US" altLang="zh-CN" sz="1600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305"/>
          <a:stretch>
            <a:fillRect/>
          </a:stretch>
        </p:blipFill>
        <p:spPr>
          <a:xfrm>
            <a:off x="5843270" y="2414270"/>
            <a:ext cx="3741420" cy="16097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AVP32F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335/335B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2141855" y="717550"/>
            <a:ext cx="39306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亮点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主频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150MHz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cs typeface="+mn-ea"/>
                <a:sym typeface="+mn-lt"/>
              </a:rPr>
              <a:t>I/O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电压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3.3V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，内核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1.8V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转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1.5V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256K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片载闪存（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16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位字）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cs typeface="+mn-ea"/>
                <a:sym typeface="+mn-lt"/>
              </a:rPr>
              <a:t>34K</a:t>
            </a:r>
            <a:r>
              <a:rPr lang="zh-CN" altLang="en-US" sz="1600" dirty="0">
                <a:cs typeface="+mn-ea"/>
                <a:sym typeface="+mn-lt"/>
              </a:rPr>
              <a:t>片载</a:t>
            </a:r>
            <a:r>
              <a:rPr lang="en-US" altLang="zh-CN" sz="1600" dirty="0">
                <a:cs typeface="+mn-ea"/>
                <a:sym typeface="+mn-lt"/>
              </a:rPr>
              <a:t> SARAM</a:t>
            </a:r>
            <a:r>
              <a:rPr lang="zh-CN" altLang="en-US" sz="1600" dirty="0">
                <a:cs typeface="+mn-ea"/>
                <a:sym typeface="+mn-lt"/>
              </a:rPr>
              <a:t>（</a:t>
            </a:r>
            <a:r>
              <a:rPr lang="en-US" altLang="zh-CN" sz="1600" dirty="0">
                <a:cs typeface="+mn-ea"/>
                <a:sym typeface="+mn-lt"/>
              </a:rPr>
              <a:t>16 </a:t>
            </a:r>
            <a:r>
              <a:rPr lang="zh-CN" altLang="en-US" sz="1600" dirty="0">
                <a:cs typeface="+mn-ea"/>
                <a:sym typeface="+mn-lt"/>
              </a:rPr>
              <a:t>位字）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18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路增强型脉宽调制器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(ePWM)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cs typeface="+mn-ea"/>
                <a:sym typeface="+mn-lt"/>
              </a:rPr>
              <a:t>6</a:t>
            </a:r>
            <a:r>
              <a:rPr lang="zh-CN" altLang="en-US" sz="1600" dirty="0">
                <a:cs typeface="+mn-ea"/>
                <a:sym typeface="+mn-lt"/>
              </a:rPr>
              <a:t>路高分辨率</a:t>
            </a:r>
            <a:r>
              <a:rPr lang="en-US" altLang="zh-CN" sz="1600" dirty="0">
                <a:cs typeface="+mn-ea"/>
                <a:sym typeface="+mn-lt"/>
              </a:rPr>
              <a:t> PWM (HRPWM)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6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个捕获单元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2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个正交编码电路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16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路模数转换器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(ADC)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72505" y="717550"/>
            <a:ext cx="389255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三个</a:t>
            </a:r>
            <a:r>
              <a:rPr lang="en-US" altLang="zh-CN" sz="1600" dirty="0">
                <a:cs typeface="+mn-ea"/>
                <a:sym typeface="+mn-lt"/>
              </a:rPr>
              <a:t> SCI(UART) </a:t>
            </a:r>
            <a:r>
              <a:rPr lang="zh-CN" altLang="en-US" sz="1600" dirty="0">
                <a:cs typeface="+mn-ea"/>
                <a:sym typeface="+mn-lt"/>
              </a:rPr>
              <a:t>模块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一个</a:t>
            </a:r>
            <a:r>
              <a:rPr lang="en-US" altLang="zh-CN" sz="1600" dirty="0">
                <a:cs typeface="+mn-ea"/>
                <a:sym typeface="+mn-lt"/>
              </a:rPr>
              <a:t> SPI </a:t>
            </a:r>
            <a:r>
              <a:rPr lang="zh-CN" altLang="en-US" sz="1600" dirty="0">
                <a:cs typeface="+mn-ea"/>
                <a:sym typeface="+mn-lt"/>
              </a:rPr>
              <a:t>模块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两个增强型控制器局域网络</a:t>
            </a:r>
            <a:r>
              <a:rPr lang="en-US" altLang="zh-CN" sz="1600" dirty="0">
                <a:cs typeface="+mn-ea"/>
                <a:sym typeface="+mn-lt"/>
              </a:rPr>
              <a:t>(eCAN)</a:t>
            </a:r>
            <a:r>
              <a:rPr lang="zh-CN" altLang="en-US" sz="1600" dirty="0">
                <a:cs typeface="+mn-ea"/>
                <a:sym typeface="+mn-lt"/>
              </a:rPr>
              <a:t>总线</a:t>
            </a:r>
            <a:endParaRPr lang="zh-CN" altLang="en-US" sz="16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一个内部集成电路</a:t>
            </a:r>
            <a:r>
              <a:rPr lang="en-US" altLang="zh-CN" sz="1600" dirty="0">
                <a:cs typeface="+mn-ea"/>
                <a:sym typeface="+mn-lt"/>
              </a:rPr>
              <a:t>(I2C)</a:t>
            </a:r>
            <a:r>
              <a:rPr lang="zh-CN" altLang="en-US" sz="1600" dirty="0">
                <a:cs typeface="+mn-ea"/>
                <a:sym typeface="+mn-lt"/>
              </a:rPr>
              <a:t>总线</a:t>
            </a:r>
            <a:endParaRPr lang="zh-CN" altLang="en-US" sz="16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两个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McBSP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模块（可配置为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SPI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封装选项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: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/>
              <a:t>LQFP 176</a:t>
            </a:r>
            <a:endParaRPr lang="en-US" altLang="zh-CN" sz="1600"/>
          </a:p>
          <a:p>
            <a:pPr algn="l">
              <a:lnSpc>
                <a:spcPct val="150000"/>
              </a:lnSpc>
            </a:pPr>
            <a:r>
              <a:rPr lang="en-US" altLang="zh-CN" sz="1600"/>
              <a:t>FBGA 176</a:t>
            </a:r>
            <a:endParaRPr lang="en-US" altLang="zh-CN" sz="160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r="52715"/>
          <a:stretch>
            <a:fillRect/>
          </a:stretch>
        </p:blipFill>
        <p:spPr>
          <a:xfrm>
            <a:off x="9683115" y="1054735"/>
            <a:ext cx="2410460" cy="20859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AVP32F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335/335B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43915" y="1617980"/>
            <a:ext cx="39306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产品优势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低成本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主频高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内存</a:t>
            </a:r>
            <a:r>
              <a:rPr lang="zh-CN" altLang="en-US" sz="1600" dirty="0">
                <a:sym typeface="+mn-ea"/>
              </a:rPr>
              <a:t>较大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功耗低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907280" y="1617980"/>
            <a:ext cx="537400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相关应用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: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工业交流变频驱动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不间断电源和服务器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电源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整车控制器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工业伺服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控制器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电信设备电源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车载电源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计算机数控加工机床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太阳能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逆变器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新能源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电驱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AVP32F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335/335B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43915" y="1054735"/>
            <a:ext cx="89344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移植注意事项（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A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版本）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• </a:t>
            </a:r>
            <a:r>
              <a:rPr lang="zh-CN" altLang="en-US" dirty="0">
                <a:cs typeface="+mn-ea"/>
                <a:sym typeface="+mn-lt"/>
              </a:rPr>
              <a:t>硬件</a:t>
            </a:r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ym typeface="+mn-ea"/>
              </a:rPr>
              <a:t>1.</a:t>
            </a:r>
            <a:r>
              <a:rPr lang="en-US" altLang="zh-CN" sz="1600" dirty="0">
                <a:sym typeface="+mn-ea"/>
              </a:rPr>
              <a:t>ADCREFP[PIN56]</a:t>
            </a:r>
            <a:r>
              <a:rPr lang="zh-CN" altLang="en-US" sz="1600" dirty="0">
                <a:sym typeface="+mn-ea"/>
              </a:rPr>
              <a:t>和</a:t>
            </a:r>
            <a:r>
              <a:rPr lang="en-US" altLang="zh-CN" sz="1600" dirty="0">
                <a:sym typeface="+mn-ea"/>
              </a:rPr>
              <a:t>ADCREFM[PIN55]</a:t>
            </a:r>
            <a:r>
              <a:rPr lang="zh-CN" altLang="en-US" sz="1600" dirty="0">
                <a:sym typeface="+mn-ea"/>
              </a:rPr>
              <a:t>之间</a:t>
            </a:r>
            <a:r>
              <a:rPr lang="zh-CN" altLang="en-US" sz="1600" dirty="0">
                <a:sym typeface="+mn-ea"/>
              </a:rPr>
              <a:t>电容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改为</a:t>
            </a:r>
            <a:r>
              <a:rPr lang="en-US" altLang="zh-CN" sz="1600" dirty="0">
                <a:sym typeface="+mn-ea"/>
              </a:rPr>
              <a:t>10uF</a:t>
            </a:r>
            <a:endParaRPr lang="en-US" altLang="zh-CN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en-US" altLang="zh-CN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666105" y="1054735"/>
            <a:ext cx="6158865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endParaRPr lang="en-US" altLang="zh-CN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ym typeface="+mn-ea"/>
              </a:rPr>
              <a:t>2.</a:t>
            </a:r>
            <a:r>
              <a:rPr lang="en-US" altLang="zh-CN" sz="1600" dirty="0">
                <a:sym typeface="+mn-ea"/>
              </a:rPr>
              <a:t>TEST1 </a:t>
            </a:r>
            <a:r>
              <a:rPr lang="zh-CN" altLang="en-US" sz="1600" dirty="0">
                <a:sym typeface="+mn-ea"/>
              </a:rPr>
              <a:t>为芯片内核</a:t>
            </a:r>
            <a:r>
              <a:rPr lang="en-US" altLang="zh-CN" sz="1600" dirty="0">
                <a:sym typeface="+mn-ea"/>
              </a:rPr>
              <a:t> 1.65V </a:t>
            </a:r>
            <a:r>
              <a:rPr lang="zh-CN" altLang="en-US" sz="1600" dirty="0">
                <a:sym typeface="+mn-ea"/>
              </a:rPr>
              <a:t>供电的输出引脚，</a:t>
            </a:r>
            <a:r>
              <a:rPr lang="en-US" altLang="zh-CN" sz="1600" dirty="0">
                <a:sym typeface="+mn-ea"/>
              </a:rPr>
              <a:t>TEST2 </a:t>
            </a:r>
            <a:r>
              <a:rPr lang="zh-CN" altLang="en-US" sz="1600" dirty="0">
                <a:sym typeface="+mn-ea"/>
              </a:rPr>
              <a:t>为内核供电地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ym typeface="+mn-ea"/>
              </a:rPr>
              <a:t>TEST1 </a:t>
            </a:r>
            <a:r>
              <a:rPr lang="zh-CN" altLang="en-US" sz="1600" dirty="0">
                <a:sym typeface="+mn-ea"/>
              </a:rPr>
              <a:t>与</a:t>
            </a:r>
            <a:r>
              <a:rPr lang="en-US" altLang="zh-CN" sz="1600" dirty="0">
                <a:sym typeface="+mn-ea"/>
              </a:rPr>
              <a:t> TEST2 </a:t>
            </a:r>
            <a:r>
              <a:rPr lang="zh-CN" altLang="en-US" sz="1600" dirty="0">
                <a:sym typeface="+mn-ea"/>
              </a:rPr>
              <a:t>之间建议接</a:t>
            </a:r>
            <a:r>
              <a:rPr lang="en-US" altLang="zh-CN" sz="1600" dirty="0">
                <a:sym typeface="+mn-ea"/>
              </a:rPr>
              <a:t> 1uF</a:t>
            </a:r>
            <a:r>
              <a:rPr lang="zh-CN" altLang="en-US" sz="1600" dirty="0">
                <a:sym typeface="+mn-ea"/>
              </a:rPr>
              <a:t>电容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ym typeface="+mn-ea"/>
              </a:rPr>
              <a:t>3.</a:t>
            </a:r>
            <a:r>
              <a:rPr lang="en-US" altLang="zh-CN" sz="1600" dirty="0">
                <a:sym typeface="+mn-ea"/>
              </a:rPr>
              <a:t>335A</a:t>
            </a:r>
            <a:r>
              <a:rPr lang="zh-CN" altLang="en-US" sz="1600" dirty="0">
                <a:sym typeface="+mn-ea"/>
              </a:rPr>
              <a:t>版本复位电路对地电容需要</a:t>
            </a:r>
            <a:r>
              <a:rPr lang="en-US" altLang="zh-CN" sz="1600" dirty="0">
                <a:sym typeface="+mn-ea"/>
              </a:rPr>
              <a:t>10uF</a:t>
            </a:r>
            <a:r>
              <a:rPr lang="zh-CN" altLang="en-US" sz="1600" dirty="0">
                <a:sym typeface="+mn-ea"/>
              </a:rPr>
              <a:t>保证上电时间，否则芯片可能无法正常启动</a:t>
            </a:r>
            <a:endParaRPr lang="zh-CN" altLang="en-US" sz="1600" dirty="0"/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en-US" altLang="zh-CN" sz="1600" dirty="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clrChange>
              <a:clrFrom>
                <a:srgbClr val="CDDEC2">
                  <a:alpha val="100000"/>
                </a:srgbClr>
              </a:clrFrom>
              <a:clrTo>
                <a:srgbClr val="CDDEC2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3915" y="2769870"/>
            <a:ext cx="4800600" cy="25908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clrChange>
              <a:clrFrom>
                <a:srgbClr val="CDDEC2">
                  <a:alpha val="100000"/>
                </a:srgbClr>
              </a:clrFrom>
              <a:clrTo>
                <a:srgbClr val="CDDEC2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14365" y="3429000"/>
            <a:ext cx="4257675" cy="22288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AVP32F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335/335B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43915" y="1054735"/>
            <a:ext cx="89344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移植注意事项（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B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版本）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• </a:t>
            </a:r>
            <a:r>
              <a:rPr lang="zh-CN" altLang="en-US" dirty="0">
                <a:cs typeface="+mn-ea"/>
                <a:sym typeface="+mn-lt"/>
              </a:rPr>
              <a:t>硬件</a:t>
            </a:r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ym typeface="+mn-ea"/>
              </a:rPr>
              <a:t>1.</a:t>
            </a:r>
            <a:r>
              <a:rPr lang="en-US" altLang="zh-CN" sz="1600" dirty="0">
                <a:sym typeface="+mn-ea"/>
              </a:rPr>
              <a:t>ADCREFP[PIN56]</a:t>
            </a:r>
            <a:r>
              <a:rPr lang="zh-CN" altLang="en-US" sz="1600" dirty="0">
                <a:sym typeface="+mn-ea"/>
              </a:rPr>
              <a:t>和</a:t>
            </a:r>
            <a:r>
              <a:rPr lang="en-US" altLang="zh-CN" sz="1600" dirty="0">
                <a:sym typeface="+mn-ea"/>
              </a:rPr>
              <a:t>ADCREFM[PIN55]</a:t>
            </a:r>
            <a:r>
              <a:rPr lang="zh-CN" altLang="en-US" sz="1600" dirty="0">
                <a:sym typeface="+mn-ea"/>
              </a:rPr>
              <a:t>之间</a:t>
            </a:r>
            <a:r>
              <a:rPr lang="zh-CN" altLang="en-US" sz="1600" dirty="0">
                <a:sym typeface="+mn-ea"/>
              </a:rPr>
              <a:t>电容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改为</a:t>
            </a:r>
            <a:r>
              <a:rPr lang="en-US" altLang="zh-CN" sz="1600" dirty="0">
                <a:sym typeface="+mn-ea"/>
              </a:rPr>
              <a:t>10uF</a:t>
            </a:r>
            <a:r>
              <a:rPr lang="zh-CN" altLang="en-US" sz="1600" dirty="0">
                <a:sym typeface="+mn-ea"/>
              </a:rPr>
              <a:t>，电阻改为</a:t>
            </a:r>
            <a:r>
              <a:rPr lang="en-US" altLang="zh-CN" sz="1600" dirty="0">
                <a:sym typeface="+mn-ea"/>
              </a:rPr>
              <a:t>12K</a:t>
            </a:r>
            <a:r>
              <a:rPr lang="en-US" altLang="zh-CN" sz="1600" dirty="0">
                <a:sym typeface="+mn-ea"/>
              </a:rPr>
              <a:t>Ω</a:t>
            </a:r>
            <a:endParaRPr lang="en-US" altLang="zh-CN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en-US" altLang="zh-CN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666105" y="1054735"/>
            <a:ext cx="6158865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endParaRPr lang="en-US" altLang="zh-CN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ym typeface="+mn-ea"/>
              </a:rPr>
              <a:t>2.</a:t>
            </a:r>
            <a:r>
              <a:rPr lang="en-US" altLang="zh-CN" sz="1600" dirty="0">
                <a:sym typeface="+mn-ea"/>
              </a:rPr>
              <a:t>TEST1 </a:t>
            </a:r>
            <a:r>
              <a:rPr lang="zh-CN" altLang="en-US" sz="1600" dirty="0">
                <a:sym typeface="+mn-ea"/>
              </a:rPr>
              <a:t>为芯片内核</a:t>
            </a:r>
            <a:r>
              <a:rPr lang="en-US" altLang="zh-CN" sz="1600" dirty="0">
                <a:sym typeface="+mn-ea"/>
              </a:rPr>
              <a:t> 1.65V </a:t>
            </a:r>
            <a:r>
              <a:rPr lang="zh-CN" altLang="en-US" sz="1600" dirty="0">
                <a:sym typeface="+mn-ea"/>
              </a:rPr>
              <a:t>供电的输出引脚，</a:t>
            </a:r>
            <a:r>
              <a:rPr lang="en-US" altLang="zh-CN" sz="1600" dirty="0">
                <a:sym typeface="+mn-ea"/>
              </a:rPr>
              <a:t>TEST2 </a:t>
            </a:r>
            <a:r>
              <a:rPr lang="zh-CN" altLang="en-US" sz="1600" dirty="0">
                <a:sym typeface="+mn-ea"/>
              </a:rPr>
              <a:t>为内核供电地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ym typeface="+mn-ea"/>
              </a:rPr>
              <a:t>TEST1 </a:t>
            </a:r>
            <a:r>
              <a:rPr lang="zh-CN" altLang="en-US" sz="1600" dirty="0">
                <a:sym typeface="+mn-ea"/>
              </a:rPr>
              <a:t>与</a:t>
            </a:r>
            <a:r>
              <a:rPr lang="en-US" altLang="zh-CN" sz="1600" dirty="0">
                <a:sym typeface="+mn-ea"/>
              </a:rPr>
              <a:t> TEST2 </a:t>
            </a:r>
            <a:r>
              <a:rPr lang="zh-CN" altLang="en-US" sz="1600" dirty="0">
                <a:sym typeface="+mn-ea"/>
              </a:rPr>
              <a:t>之间建议</a:t>
            </a:r>
            <a:r>
              <a:rPr lang="zh-CN" altLang="en-US" sz="1600" dirty="0">
                <a:sym typeface="+mn-ea"/>
              </a:rPr>
              <a:t>悬空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ym typeface="+mn-ea"/>
              </a:rPr>
              <a:t>3.</a:t>
            </a:r>
            <a:r>
              <a:rPr lang="zh-CN" altLang="en-US" sz="1600" dirty="0">
                <a:sym typeface="+mn-ea"/>
              </a:rPr>
              <a:t>因</a:t>
            </a:r>
            <a:r>
              <a:rPr lang="en-US" altLang="zh-CN" sz="1600" dirty="0">
                <a:sym typeface="+mn-ea"/>
              </a:rPr>
              <a:t>ADC</a:t>
            </a:r>
            <a:r>
              <a:rPr lang="zh-CN" altLang="en-US" sz="1600" dirty="0">
                <a:sym typeface="+mn-ea"/>
              </a:rPr>
              <a:t>采保电容增大，输入通道的</a:t>
            </a:r>
            <a:r>
              <a:rPr lang="en-US" altLang="zh-CN" sz="1600" dirty="0">
                <a:sym typeface="+mn-ea"/>
              </a:rPr>
              <a:t>RC</a:t>
            </a:r>
            <a:r>
              <a:rPr lang="zh-CN" altLang="en-US" sz="1600" dirty="0">
                <a:sym typeface="+mn-ea"/>
              </a:rPr>
              <a:t>阻抗匹配需要结合电路进行调整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en-US" altLang="zh-CN" sz="1600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clrChange>
              <a:clrFrom>
                <a:srgbClr val="CDDEC2">
                  <a:alpha val="100000"/>
                </a:srgbClr>
              </a:clrFrom>
              <a:clrTo>
                <a:srgbClr val="CDDEC2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3915" y="2839085"/>
            <a:ext cx="4716145" cy="25126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clrChange>
              <a:clrFrom>
                <a:srgbClr val="CDDEC2">
                  <a:alpha val="100000"/>
                </a:srgbClr>
              </a:clrFrom>
              <a:clrTo>
                <a:srgbClr val="CDDEC2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82310" y="3434080"/>
            <a:ext cx="3733800" cy="21907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AVP32F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335/335B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43915" y="1054735"/>
            <a:ext cx="89344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移植注意事项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• </a:t>
            </a:r>
            <a:r>
              <a:rPr lang="zh-CN" altLang="en-US" dirty="0">
                <a:cs typeface="+mn-ea"/>
                <a:sym typeface="+mn-lt"/>
              </a:rPr>
              <a:t>软件</a:t>
            </a:r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ym typeface="+mn-ea"/>
              </a:rPr>
              <a:t>1.</a:t>
            </a:r>
            <a:r>
              <a:rPr lang="zh-CN" altLang="en-US" sz="1600" dirty="0">
                <a:sym typeface="+mn-ea"/>
              </a:rPr>
              <a:t>烧录时将</a:t>
            </a:r>
            <a:r>
              <a:rPr lang="zh-CN" altLang="en-US" sz="1600" dirty="0">
                <a:sym typeface="+mn-ea"/>
              </a:rPr>
              <a:t>频率降到</a:t>
            </a:r>
            <a:r>
              <a:rPr lang="en-US" altLang="zh-CN" sz="1600" dirty="0">
                <a:sym typeface="+mn-ea"/>
              </a:rPr>
              <a:t>45-60M</a:t>
            </a:r>
            <a:endParaRPr lang="en-US" altLang="zh-CN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ym typeface="+mn-ea"/>
              </a:rPr>
              <a:t>2.</a:t>
            </a:r>
            <a:r>
              <a:rPr lang="zh-CN" altLang="en-US" sz="1600" dirty="0">
                <a:sym typeface="+mn-ea"/>
              </a:rPr>
              <a:t>在进行</a:t>
            </a:r>
            <a:r>
              <a:rPr lang="en-US" altLang="zh-CN" sz="1600" dirty="0">
                <a:sym typeface="+mn-ea"/>
              </a:rPr>
              <a:t> FLASH </a:t>
            </a:r>
            <a:r>
              <a:rPr lang="zh-CN" altLang="en-US" sz="1600" dirty="0">
                <a:sym typeface="+mn-ea"/>
              </a:rPr>
              <a:t>擦除、编程时，需将</a:t>
            </a:r>
            <a:r>
              <a:rPr lang="en-US" altLang="zh-CN" sz="1600" dirty="0">
                <a:sym typeface="+mn-ea"/>
              </a:rPr>
              <a:t> CCS </a:t>
            </a:r>
            <a:r>
              <a:rPr lang="zh-CN" altLang="en-US" sz="1600" dirty="0">
                <a:sym typeface="+mn-ea"/>
              </a:rPr>
              <a:t>中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ym typeface="+mn-ea"/>
              </a:rPr>
              <a:t> TI </a:t>
            </a:r>
            <a:r>
              <a:rPr lang="zh-CN" altLang="en-US" sz="1600" dirty="0">
                <a:sym typeface="+mn-ea"/>
              </a:rPr>
              <a:t>提供的</a:t>
            </a:r>
            <a:r>
              <a:rPr lang="en-US" altLang="zh-CN" sz="1600" dirty="0">
                <a:sym typeface="+mn-ea"/>
              </a:rPr>
              <a:t> API </a:t>
            </a:r>
            <a:r>
              <a:rPr lang="zh-CN" altLang="en-US" sz="1600" dirty="0">
                <a:sym typeface="+mn-ea"/>
              </a:rPr>
              <a:t>文件替换为我司提供的</a:t>
            </a:r>
            <a:r>
              <a:rPr lang="en-US" altLang="zh-CN" sz="1600" dirty="0">
                <a:sym typeface="+mn-ea"/>
              </a:rPr>
              <a:t> API </a:t>
            </a:r>
            <a:r>
              <a:rPr lang="zh-CN" altLang="en-US" sz="1600" dirty="0">
                <a:sym typeface="+mn-ea"/>
              </a:rPr>
              <a:t>文件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666105" y="1054735"/>
            <a:ext cx="6158865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endParaRPr lang="en-US" altLang="zh-CN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ym typeface="+mn-ea"/>
              </a:rPr>
              <a:t>3.</a:t>
            </a:r>
            <a:r>
              <a:rPr lang="zh-CN" altLang="en-US" sz="1600" dirty="0">
                <a:sym typeface="+mn-ea"/>
              </a:rPr>
              <a:t>为保证</a:t>
            </a:r>
            <a:r>
              <a:rPr lang="en-US" altLang="zh-CN" sz="1600" dirty="0">
                <a:sym typeface="+mn-ea"/>
              </a:rPr>
              <a:t> PLL </a:t>
            </a:r>
            <a:r>
              <a:rPr lang="zh-CN" altLang="en-US" sz="1600" dirty="0">
                <a:sym typeface="+mn-ea"/>
              </a:rPr>
              <a:t>倍频系数成功写入，建议关闭</a:t>
            </a:r>
            <a:r>
              <a:rPr lang="en-US" altLang="zh-CN" sz="1600" dirty="0">
                <a:sym typeface="+mn-ea"/>
              </a:rPr>
              <a:t> MCKOFF </a:t>
            </a:r>
            <a:r>
              <a:rPr lang="zh-CN" altLang="en-US" sz="1600" dirty="0">
                <a:sym typeface="+mn-ea"/>
              </a:rPr>
              <a:t>检测（</a:t>
            </a:r>
            <a:r>
              <a:rPr lang="en-US" altLang="zh-CN" sz="1600" dirty="0">
                <a:sym typeface="+mn-ea"/>
              </a:rPr>
              <a:t>A</a:t>
            </a:r>
            <a:r>
              <a:rPr lang="zh-CN" altLang="en-US" sz="1600" dirty="0">
                <a:sym typeface="+mn-ea"/>
              </a:rPr>
              <a:t>版本）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ym typeface="+mn-ea"/>
              </a:rPr>
              <a:t>4.ADC </a:t>
            </a:r>
            <a:r>
              <a:rPr lang="zh-CN" altLang="en-US" sz="1600" dirty="0">
                <a:sym typeface="+mn-ea"/>
              </a:rPr>
              <a:t>模块需要独立配置内核供电使能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ym typeface="+mn-ea"/>
              </a:rPr>
              <a:t>5.</a:t>
            </a:r>
            <a:r>
              <a:rPr lang="zh-CN" altLang="en-US" sz="1600" dirty="0">
                <a:sym typeface="+mn-ea"/>
              </a:rPr>
              <a:t>其余</a:t>
            </a:r>
            <a:r>
              <a:rPr lang="en-US" altLang="zh-CN" sz="1600" dirty="0">
                <a:sym typeface="+mn-ea"/>
              </a:rPr>
              <a:t>ADC</a:t>
            </a:r>
            <a:r>
              <a:rPr lang="zh-CN" altLang="en-US" sz="1600" dirty="0">
                <a:sym typeface="+mn-ea"/>
              </a:rPr>
              <a:t>模块差异请参考移植</a:t>
            </a:r>
            <a:r>
              <a:rPr lang="zh-CN" altLang="en-US" sz="1600" dirty="0">
                <a:sym typeface="+mn-ea"/>
              </a:rPr>
              <a:t>文档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en-US" altLang="zh-CN" sz="1600" dirty="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15" y="3153410"/>
            <a:ext cx="2562225" cy="8858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clrChange>
              <a:clrFrom>
                <a:srgbClr val="CDDEC2">
                  <a:alpha val="100000"/>
                </a:srgbClr>
              </a:clrFrom>
              <a:clrTo>
                <a:srgbClr val="CDDEC2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66105" y="2686050"/>
            <a:ext cx="5743575" cy="4953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clrChange>
              <a:clrFrom>
                <a:srgbClr val="CDDEC2">
                  <a:alpha val="100000"/>
                </a:srgbClr>
              </a:clrFrom>
              <a:clrTo>
                <a:srgbClr val="CDDEC2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66105" y="3195320"/>
            <a:ext cx="5400675" cy="4667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6105" y="4197985"/>
            <a:ext cx="2686050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AVP32F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08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2141855" y="717550"/>
            <a:ext cx="39306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亮点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主频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150MHz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cs typeface="+mn-ea"/>
                <a:sym typeface="+mn-lt"/>
              </a:rPr>
              <a:t>I/O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电压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3.3V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，内核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1.8V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转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1.5V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256K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片载闪存（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16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位字）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cs typeface="+mn-ea"/>
                <a:sym typeface="+mn-lt"/>
              </a:rPr>
              <a:t>34K</a:t>
            </a:r>
            <a:r>
              <a:rPr lang="zh-CN" altLang="en-US" sz="1600" dirty="0">
                <a:cs typeface="+mn-ea"/>
                <a:sym typeface="+mn-lt"/>
              </a:rPr>
              <a:t>片载</a:t>
            </a:r>
            <a:r>
              <a:rPr lang="en-US" altLang="zh-CN" sz="1600" dirty="0">
                <a:cs typeface="+mn-ea"/>
                <a:sym typeface="+mn-lt"/>
              </a:rPr>
              <a:t> SARAM</a:t>
            </a:r>
            <a:r>
              <a:rPr lang="zh-CN" altLang="en-US" sz="1600" dirty="0">
                <a:cs typeface="+mn-ea"/>
                <a:sym typeface="+mn-lt"/>
              </a:rPr>
              <a:t>（</a:t>
            </a:r>
            <a:r>
              <a:rPr lang="en-US" altLang="zh-CN" sz="1600" dirty="0">
                <a:cs typeface="+mn-ea"/>
                <a:sym typeface="+mn-lt"/>
              </a:rPr>
              <a:t>16 </a:t>
            </a:r>
            <a:r>
              <a:rPr lang="zh-CN" altLang="en-US" sz="1600" dirty="0">
                <a:cs typeface="+mn-ea"/>
                <a:sym typeface="+mn-lt"/>
              </a:rPr>
              <a:t>位字）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16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路增强型脉宽调制器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(ePWM)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cs typeface="+mn-ea"/>
                <a:sym typeface="+mn-lt"/>
              </a:rPr>
              <a:t>6</a:t>
            </a:r>
            <a:r>
              <a:rPr lang="zh-CN" altLang="en-US" sz="1600" dirty="0">
                <a:cs typeface="+mn-ea"/>
                <a:sym typeface="+mn-lt"/>
              </a:rPr>
              <a:t>路高分辨率</a:t>
            </a:r>
            <a:r>
              <a:rPr lang="en-US" altLang="zh-CN" sz="1600" dirty="0">
                <a:cs typeface="+mn-ea"/>
                <a:sym typeface="+mn-lt"/>
              </a:rPr>
              <a:t> PWM (HRPWM)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6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个捕获单元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2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个正交编码电路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16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路模数转换器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(ADC)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72505" y="717550"/>
            <a:ext cx="389255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两个</a:t>
            </a:r>
            <a:r>
              <a:rPr lang="en-US" altLang="zh-CN" sz="1600" dirty="0">
                <a:cs typeface="+mn-ea"/>
                <a:sym typeface="+mn-lt"/>
              </a:rPr>
              <a:t> SCI(UART) </a:t>
            </a:r>
            <a:r>
              <a:rPr lang="zh-CN" altLang="en-US" sz="1600" dirty="0">
                <a:cs typeface="+mn-ea"/>
                <a:sym typeface="+mn-lt"/>
              </a:rPr>
              <a:t>模块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一个</a:t>
            </a:r>
            <a:r>
              <a:rPr lang="en-US" altLang="zh-CN" sz="1600" dirty="0">
                <a:cs typeface="+mn-ea"/>
                <a:sym typeface="+mn-lt"/>
              </a:rPr>
              <a:t> SPI </a:t>
            </a:r>
            <a:r>
              <a:rPr lang="zh-CN" altLang="en-US" sz="1600" dirty="0">
                <a:cs typeface="+mn-ea"/>
                <a:sym typeface="+mn-lt"/>
              </a:rPr>
              <a:t>模块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两个增强型控制器局域网络</a:t>
            </a:r>
            <a:r>
              <a:rPr lang="en-US" altLang="zh-CN" sz="1600" dirty="0">
                <a:cs typeface="+mn-ea"/>
                <a:sym typeface="+mn-lt"/>
              </a:rPr>
              <a:t>(eCAN)</a:t>
            </a:r>
            <a:r>
              <a:rPr lang="zh-CN" altLang="en-US" sz="1600" dirty="0">
                <a:cs typeface="+mn-ea"/>
                <a:sym typeface="+mn-lt"/>
              </a:rPr>
              <a:t>总线</a:t>
            </a:r>
            <a:endParaRPr lang="zh-CN" altLang="en-US" sz="16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一个内部集成电路</a:t>
            </a:r>
            <a:r>
              <a:rPr lang="en-US" altLang="zh-CN" sz="1600" dirty="0">
                <a:cs typeface="+mn-ea"/>
                <a:sym typeface="+mn-lt"/>
              </a:rPr>
              <a:t>(I2C)</a:t>
            </a:r>
            <a:r>
              <a:rPr lang="zh-CN" altLang="en-US" sz="1600" dirty="0">
                <a:cs typeface="+mn-ea"/>
                <a:sym typeface="+mn-lt"/>
              </a:rPr>
              <a:t>总线</a:t>
            </a:r>
            <a:endParaRPr lang="zh-CN" altLang="en-US" sz="16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两个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McBSP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模块（可配置为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SPI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封装选项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: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/>
              <a:t>LQFP 100</a:t>
            </a:r>
            <a:endParaRPr lang="en-US" altLang="zh-CN" sz="1600"/>
          </a:p>
          <a:p>
            <a:pPr algn="l">
              <a:lnSpc>
                <a:spcPct val="150000"/>
              </a:lnSpc>
            </a:pPr>
            <a:endParaRPr lang="en-US" altLang="zh-CN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3615" y="1163955"/>
            <a:ext cx="2028825" cy="19335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AVP32F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08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43915" y="1617980"/>
            <a:ext cx="39306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产品优势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低成本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主频高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内存</a:t>
            </a:r>
            <a:r>
              <a:rPr lang="zh-CN" altLang="en-US" sz="1600" dirty="0">
                <a:sym typeface="+mn-ea"/>
              </a:rPr>
              <a:t>较大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功耗低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907280" y="1617980"/>
            <a:ext cx="537400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相关应用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: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工业交流变频驱动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不间断电源和服务器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电源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整车控制器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工业伺服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控制器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电信设备电源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车载电源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计算机数控加工机床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太阳能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逆变器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新能源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电驱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AVP32F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08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43915" y="1054735"/>
            <a:ext cx="89344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移植注意事项</a:t>
            </a:r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ym typeface="+mn-ea"/>
              </a:rPr>
              <a:t>1.</a:t>
            </a:r>
            <a:r>
              <a:rPr lang="en-US" altLang="zh-CN" sz="1600" dirty="0">
                <a:sym typeface="+mn-ea"/>
              </a:rPr>
              <a:t>AVP32F08</a:t>
            </a:r>
            <a:r>
              <a:rPr lang="zh-CN" altLang="en-US" sz="1600" dirty="0">
                <a:sym typeface="+mn-ea"/>
              </a:rPr>
              <a:t>是</a:t>
            </a:r>
            <a:r>
              <a:rPr lang="en-US" altLang="zh-CN" sz="1600" dirty="0">
                <a:sym typeface="+mn-ea"/>
              </a:rPr>
              <a:t>AVP32F335 CUTDOWN</a:t>
            </a:r>
            <a:r>
              <a:rPr lang="zh-CN" altLang="en-US" sz="1600" dirty="0">
                <a:sym typeface="+mn-ea"/>
              </a:rPr>
              <a:t>版本不适用替代</a:t>
            </a:r>
            <a:r>
              <a:rPr lang="en-US" altLang="zh-CN" sz="1600" dirty="0">
                <a:sym typeface="+mn-ea"/>
              </a:rPr>
              <a:t>Ti</a:t>
            </a:r>
            <a:r>
              <a:rPr lang="zh-CN" altLang="en-US" sz="1600" dirty="0">
                <a:sym typeface="+mn-ea"/>
              </a:rPr>
              <a:t>系列</a:t>
            </a:r>
            <a:endParaRPr lang="zh-CN" altLang="en-US" sz="1600" dirty="0"/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ym typeface="+mn-ea"/>
              </a:rPr>
              <a:t>2.</a:t>
            </a:r>
            <a:r>
              <a:rPr lang="en-US" altLang="zh-CN" sz="1600" dirty="0">
                <a:sym typeface="+mn-ea"/>
              </a:rPr>
              <a:t>AVP32F08</a:t>
            </a:r>
            <a:r>
              <a:rPr lang="zh-CN" altLang="en-US" sz="1600" dirty="0">
                <a:sym typeface="+mn-ea"/>
              </a:rPr>
              <a:t>烧录需替换</a:t>
            </a:r>
            <a:r>
              <a:rPr lang="en-US" altLang="zh-CN" sz="1600" dirty="0">
                <a:sym typeface="+mn-ea"/>
              </a:rPr>
              <a:t>AVP32F335</a:t>
            </a:r>
            <a:r>
              <a:rPr lang="zh-CN" altLang="en-US" sz="1600" dirty="0">
                <a:sym typeface="+mn-ea"/>
              </a:rPr>
              <a:t>的</a:t>
            </a:r>
            <a:r>
              <a:rPr lang="en-US" altLang="zh-CN" sz="1600" dirty="0">
                <a:sym typeface="+mn-ea"/>
              </a:rPr>
              <a:t>API</a:t>
            </a:r>
            <a:r>
              <a:rPr lang="zh-CN" altLang="en-US" sz="1600" dirty="0">
                <a:sym typeface="+mn-ea"/>
              </a:rPr>
              <a:t>文件</a:t>
            </a:r>
            <a:endParaRPr lang="en-US" altLang="zh-CN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AVP32F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069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2141855" y="717550"/>
            <a:ext cx="39306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亮点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主频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90MHz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3.3V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单电源供电，无需电源上电排序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128K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片载闪存（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16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位字）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cs typeface="+mn-ea"/>
                <a:sym typeface="+mn-lt"/>
              </a:rPr>
              <a:t>50K</a:t>
            </a:r>
            <a:r>
              <a:rPr lang="zh-CN" altLang="en-US" sz="1600" dirty="0">
                <a:cs typeface="+mn-ea"/>
                <a:sym typeface="+mn-lt"/>
              </a:rPr>
              <a:t>片载</a:t>
            </a:r>
            <a:r>
              <a:rPr lang="en-US" altLang="zh-CN" sz="1600" dirty="0">
                <a:cs typeface="+mn-ea"/>
                <a:sym typeface="+mn-lt"/>
              </a:rPr>
              <a:t> SARAM</a:t>
            </a:r>
            <a:r>
              <a:rPr lang="zh-CN" altLang="en-US" sz="1600" dirty="0">
                <a:cs typeface="+mn-ea"/>
                <a:sym typeface="+mn-lt"/>
              </a:rPr>
              <a:t>（</a:t>
            </a:r>
            <a:r>
              <a:rPr lang="en-US" altLang="zh-CN" sz="1600" dirty="0">
                <a:cs typeface="+mn-ea"/>
                <a:sym typeface="+mn-lt"/>
              </a:rPr>
              <a:t>16 </a:t>
            </a:r>
            <a:r>
              <a:rPr lang="zh-CN" altLang="en-US" sz="1600" dirty="0">
                <a:cs typeface="+mn-ea"/>
                <a:sym typeface="+mn-lt"/>
              </a:rPr>
              <a:t>位字）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16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路增强型脉宽调制器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(ePWM)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cs typeface="+mn-ea"/>
                <a:sym typeface="+mn-lt"/>
              </a:rPr>
              <a:t>8</a:t>
            </a:r>
            <a:r>
              <a:rPr lang="zh-CN" altLang="en-US" sz="1600" dirty="0">
                <a:cs typeface="+mn-ea"/>
                <a:sym typeface="+mn-lt"/>
              </a:rPr>
              <a:t>路高分辨率</a:t>
            </a:r>
            <a:r>
              <a:rPr lang="en-US" altLang="zh-CN" sz="1600" dirty="0">
                <a:cs typeface="+mn-ea"/>
                <a:sym typeface="+mn-lt"/>
              </a:rPr>
              <a:t> PWM (HRPWM)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16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路模数转换器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(ADC)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3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个输入增强型捕获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(eCAP)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模块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4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个高分辨率捕获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(HRCAP)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模块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2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个增强型正交编码器脉冲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(eQEP)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模块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72505" y="717550"/>
            <a:ext cx="3892550" cy="3507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两个</a:t>
            </a:r>
            <a:r>
              <a:rPr lang="en-US" altLang="zh-CN" sz="1600" dirty="0">
                <a:cs typeface="+mn-ea"/>
                <a:sym typeface="+mn-lt"/>
              </a:rPr>
              <a:t> SCI(UART) </a:t>
            </a:r>
            <a:r>
              <a:rPr lang="zh-CN" altLang="en-US" sz="1600" dirty="0">
                <a:cs typeface="+mn-ea"/>
                <a:sym typeface="+mn-lt"/>
              </a:rPr>
              <a:t>模块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两个</a:t>
            </a:r>
            <a:r>
              <a:rPr lang="en-US" altLang="zh-CN" sz="1600" dirty="0">
                <a:cs typeface="+mn-ea"/>
                <a:sym typeface="+mn-lt"/>
              </a:rPr>
              <a:t> SPI </a:t>
            </a:r>
            <a:r>
              <a:rPr lang="zh-CN" altLang="en-US" sz="1600" dirty="0">
                <a:cs typeface="+mn-ea"/>
                <a:sym typeface="+mn-lt"/>
              </a:rPr>
              <a:t>模块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一个增强型控制器局域网络</a:t>
            </a:r>
            <a:r>
              <a:rPr lang="en-US" altLang="zh-CN" sz="1600" dirty="0">
                <a:cs typeface="+mn-ea"/>
                <a:sym typeface="+mn-lt"/>
              </a:rPr>
              <a:t>(eCAN)</a:t>
            </a:r>
            <a:r>
              <a:rPr lang="zh-CN" altLang="en-US" sz="1600" dirty="0">
                <a:cs typeface="+mn-ea"/>
                <a:sym typeface="+mn-lt"/>
              </a:rPr>
              <a:t>总线</a:t>
            </a:r>
            <a:endParaRPr lang="zh-CN" altLang="en-US" sz="16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一个内部集成电路</a:t>
            </a:r>
            <a:r>
              <a:rPr lang="en-US" altLang="zh-CN" sz="1600" dirty="0">
                <a:cs typeface="+mn-ea"/>
                <a:sym typeface="+mn-lt"/>
              </a:rPr>
              <a:t>(I2C)</a:t>
            </a:r>
            <a:r>
              <a:rPr lang="zh-CN" altLang="en-US" sz="1600" dirty="0">
                <a:cs typeface="+mn-ea"/>
                <a:sym typeface="+mn-lt"/>
              </a:rPr>
              <a:t>总线</a:t>
            </a:r>
            <a:endParaRPr lang="zh-CN" altLang="en-US" sz="16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一个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McBSP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模块（可配置为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SPI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可编程控制环路加速器（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CLA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封装选项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: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/>
              <a:t>LQFP 100</a:t>
            </a:r>
            <a:endParaRPr lang="en-US" altLang="zh-CN" sz="1600"/>
          </a:p>
          <a:p>
            <a:pPr algn="l">
              <a:lnSpc>
                <a:spcPct val="150000"/>
              </a:lnSpc>
            </a:pPr>
            <a:r>
              <a:rPr lang="en-US" altLang="zh-CN" sz="1600"/>
              <a:t>LQFP 80</a:t>
            </a:r>
            <a:endParaRPr lang="en-US" altLang="zh-CN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9170" y="1054735"/>
            <a:ext cx="2038350" cy="19431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AVP32F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069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43915" y="1617980"/>
            <a:ext cx="39306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产品优势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低成本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内存</a:t>
            </a:r>
            <a:r>
              <a:rPr lang="zh-CN" altLang="en-US" sz="1600" dirty="0">
                <a:sym typeface="+mn-ea"/>
              </a:rPr>
              <a:t>大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功耗低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具有</a:t>
            </a:r>
            <a:r>
              <a:rPr lang="en-US" altLang="zh-CN" sz="1600" dirty="0">
                <a:sym typeface="+mn-ea"/>
              </a:rPr>
              <a:t>CLA</a:t>
            </a:r>
            <a:r>
              <a:rPr lang="zh-CN" altLang="en-US" sz="1600" dirty="0">
                <a:sym typeface="+mn-ea"/>
              </a:rPr>
              <a:t>，运算</a:t>
            </a:r>
            <a:r>
              <a:rPr lang="zh-CN" altLang="en-US" sz="1600" dirty="0">
                <a:sym typeface="+mn-ea"/>
              </a:rPr>
              <a:t>效率高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907280" y="1617980"/>
            <a:ext cx="605218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相关应用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: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空调室外机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伺服驱动器功率级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模块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微型逆变器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交流驱动器功率级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模块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车辆无线充电模块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电梯门自动启闭装置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驱动控制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能量存储电源转换模块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逆变器和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电机控制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交流输入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BLDC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电机驱动器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车载充电器（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OBC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）和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无线充电器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电动汽车充电站电源模块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三相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UPS</a:t>
            </a:r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AVP32F0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69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43915" y="1054735"/>
            <a:ext cx="89344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移植注意事项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• </a:t>
            </a:r>
            <a:r>
              <a:rPr lang="zh-CN" altLang="en-US" dirty="0">
                <a:cs typeface="+mn-ea"/>
                <a:sym typeface="+mn-lt"/>
              </a:rPr>
              <a:t>硬件</a:t>
            </a:r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ym typeface="+mn-ea"/>
              </a:rPr>
              <a:t>1.</a:t>
            </a:r>
            <a:r>
              <a:rPr lang="zh-CN" altLang="en-US" sz="1600" dirty="0">
                <a:sym typeface="+mn-ea"/>
              </a:rPr>
              <a:t>硬件方面完全兼容，</a:t>
            </a:r>
            <a:r>
              <a:rPr lang="zh-CN" altLang="en-US" sz="1600" dirty="0">
                <a:sym typeface="+mn-ea"/>
              </a:rPr>
              <a:t>无需更改</a:t>
            </a:r>
            <a:endParaRPr lang="zh-CN" altLang="en-US" sz="1600" dirty="0">
              <a:sym typeface="+mn-ea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980180" y="1054735"/>
            <a:ext cx="6158865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endParaRPr lang="en-US" altLang="zh-CN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• </a:t>
            </a:r>
            <a:r>
              <a:rPr lang="zh-CN" altLang="en-US" dirty="0">
                <a:cs typeface="+mn-ea"/>
                <a:sym typeface="+mn-lt"/>
              </a:rPr>
              <a:t>软件</a:t>
            </a:r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ym typeface="+mn-ea"/>
              </a:rPr>
              <a:t>1.</a:t>
            </a:r>
            <a:r>
              <a:rPr lang="zh-CN" altLang="en-US" sz="1600" dirty="0">
                <a:sym typeface="+mn-ea"/>
              </a:rPr>
              <a:t>比较器</a:t>
            </a:r>
            <a:r>
              <a:rPr lang="en-US" altLang="zh-CN" sz="1600" dirty="0">
                <a:sym typeface="+mn-ea"/>
              </a:rPr>
              <a:t> 2 </a:t>
            </a:r>
            <a:r>
              <a:rPr lang="zh-CN" altLang="en-US" sz="1600" dirty="0">
                <a:sym typeface="+mn-ea"/>
              </a:rPr>
              <a:t>和比较器</a:t>
            </a:r>
            <a:r>
              <a:rPr lang="en-US" altLang="zh-CN" sz="1600" dirty="0">
                <a:sym typeface="+mn-ea"/>
              </a:rPr>
              <a:t> 3 </a:t>
            </a:r>
            <a:r>
              <a:rPr lang="zh-CN" altLang="en-US" sz="1600" dirty="0">
                <a:sym typeface="+mn-ea"/>
              </a:rPr>
              <a:t>的使能内部连接错，需要注意</a:t>
            </a:r>
            <a:r>
              <a:rPr lang="en-US" altLang="zh-CN" sz="1600" dirty="0">
                <a:sym typeface="+mn-ea"/>
              </a:rPr>
              <a:t>CMPDACEN </a:t>
            </a:r>
            <a:r>
              <a:rPr lang="zh-CN" altLang="en-US" sz="1600" dirty="0">
                <a:sym typeface="+mn-ea"/>
              </a:rPr>
              <a:t>控制位的</a:t>
            </a:r>
            <a:r>
              <a:rPr lang="zh-CN" altLang="en-US" sz="1600" dirty="0">
                <a:sym typeface="+mn-ea"/>
              </a:rPr>
              <a:t>配置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ym typeface="+mn-ea"/>
              </a:rPr>
              <a:t>2.</a:t>
            </a:r>
            <a:r>
              <a:rPr lang="zh-CN" altLang="en-US" sz="1600" dirty="0">
                <a:sym typeface="+mn-ea"/>
              </a:rPr>
              <a:t>应用程序中引用含函数体库文件，通过程序代码对</a:t>
            </a:r>
            <a:r>
              <a:rPr lang="en-US" altLang="zh-CN" sz="1600" dirty="0">
                <a:sym typeface="+mn-ea"/>
              </a:rPr>
              <a:t> Flash </a:t>
            </a:r>
            <a:r>
              <a:rPr lang="zh-CN" altLang="en-US" sz="1600" dirty="0">
                <a:sym typeface="+mn-ea"/>
              </a:rPr>
              <a:t>操作，需要对</a:t>
            </a:r>
            <a:r>
              <a:rPr lang="en-US" altLang="zh-CN" sz="1600" dirty="0">
                <a:sym typeface="+mn-ea"/>
              </a:rPr>
              <a:t>Flash2806x_API_V100_FLASH.lib</a:t>
            </a:r>
            <a:r>
              <a:rPr lang="zh-CN" altLang="en-US" sz="1600" dirty="0">
                <a:sym typeface="+mn-ea"/>
              </a:rPr>
              <a:t>文件进行替换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ym typeface="+mn-ea"/>
              </a:rPr>
              <a:t>3.</a:t>
            </a:r>
            <a:r>
              <a:rPr lang="zh-CN" altLang="en-US" sz="1600" dirty="0">
                <a:sym typeface="+mn-ea"/>
              </a:rPr>
              <a:t>系统使用内部振荡器时运行，不要调用</a:t>
            </a:r>
            <a:r>
              <a:rPr lang="en-US" altLang="zh-CN" sz="1600" dirty="0">
                <a:sym typeface="+mn-ea"/>
              </a:rPr>
              <a:t> Osc1Comp </a:t>
            </a:r>
            <a:r>
              <a:rPr lang="zh-CN" altLang="en-US" sz="1600" dirty="0">
                <a:sym typeface="+mn-ea"/>
              </a:rPr>
              <a:t>和</a:t>
            </a:r>
            <a:r>
              <a:rPr lang="en-US" altLang="zh-CN" sz="1600" dirty="0">
                <a:sym typeface="+mn-ea"/>
              </a:rPr>
              <a:t> Osc2Comp </a:t>
            </a:r>
            <a:r>
              <a:rPr lang="zh-CN" altLang="en-US" sz="1600" dirty="0">
                <a:sym typeface="+mn-ea"/>
              </a:rPr>
              <a:t>的振荡器补偿函数。</a:t>
            </a:r>
            <a:r>
              <a:rPr lang="en-US" altLang="zh-CN" sz="1600" dirty="0">
                <a:sym typeface="+mn-ea"/>
              </a:rPr>
              <a:t> </a:t>
            </a:r>
            <a:r>
              <a:rPr lang="zh-CN" altLang="en-US" sz="1600" dirty="0">
                <a:sym typeface="+mn-ea"/>
              </a:rPr>
              <a:t>未调用补偿时，振荡器高温下有</a:t>
            </a:r>
            <a:r>
              <a:rPr lang="en-US" altLang="en-US" sz="1600" dirty="0">
                <a:sym typeface="+mn-ea"/>
              </a:rPr>
              <a:t>±</a:t>
            </a:r>
            <a:r>
              <a:rPr lang="en-US" altLang="zh-CN" sz="1600" dirty="0">
                <a:sym typeface="+mn-ea"/>
              </a:rPr>
              <a:t>3%</a:t>
            </a:r>
            <a:r>
              <a:rPr lang="zh-CN" altLang="en-US" sz="1600" dirty="0">
                <a:sym typeface="+mn-ea"/>
              </a:rPr>
              <a:t>左右的误差；调用补偿，误差加剧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en-US" altLang="zh-CN" sz="1600" dirty="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clrChange>
              <a:clrFrom>
                <a:srgbClr val="CFE8CC">
                  <a:alpha val="100000"/>
                </a:srgbClr>
              </a:clrFrom>
              <a:clrTo>
                <a:srgbClr val="CFE8CC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80180" y="2717165"/>
            <a:ext cx="7286625" cy="7797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AVP32F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0049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2141855" y="717550"/>
            <a:ext cx="39306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亮点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主频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 120MHz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1.1V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内核、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3.3V I/O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设计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128K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片载闪存（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16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位字）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50K</a:t>
            </a:r>
            <a:r>
              <a:rPr lang="zh-CN" altLang="en-US" sz="1400" dirty="0">
                <a:cs typeface="+mn-ea"/>
                <a:sym typeface="+mn-lt"/>
              </a:rPr>
              <a:t>片载</a:t>
            </a:r>
            <a:r>
              <a:rPr lang="en-US" altLang="zh-CN" sz="1400" dirty="0">
                <a:cs typeface="+mn-ea"/>
                <a:sym typeface="+mn-lt"/>
              </a:rPr>
              <a:t> SARAM</a:t>
            </a:r>
            <a:r>
              <a:rPr lang="zh-CN" altLang="en-US" sz="1400" dirty="0">
                <a:cs typeface="+mn-ea"/>
                <a:sym typeface="+mn-lt"/>
              </a:rPr>
              <a:t>（</a:t>
            </a:r>
            <a:r>
              <a:rPr lang="en-US" altLang="zh-CN" sz="1400" dirty="0">
                <a:cs typeface="+mn-ea"/>
                <a:sym typeface="+mn-lt"/>
              </a:rPr>
              <a:t>16 </a:t>
            </a:r>
            <a:r>
              <a:rPr lang="zh-CN" altLang="en-US" sz="1400" dirty="0">
                <a:cs typeface="+mn-ea"/>
                <a:sym typeface="+mn-lt"/>
              </a:rPr>
              <a:t>位字）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16 </a:t>
            </a:r>
            <a:r>
              <a:rPr lang="zh-CN" altLang="en-US" sz="1400" dirty="0">
                <a:cs typeface="+mn-ea"/>
                <a:sym typeface="+mn-lt"/>
              </a:rPr>
              <a:t>个具有高分辨率功能的</a:t>
            </a:r>
            <a:r>
              <a:rPr lang="en-US" altLang="zh-CN" sz="1400" dirty="0">
                <a:cs typeface="+mn-ea"/>
                <a:sym typeface="+mn-lt"/>
              </a:rPr>
              <a:t> ePWM </a:t>
            </a:r>
            <a:r>
              <a:rPr lang="zh-CN" altLang="en-US" sz="1400" dirty="0">
                <a:cs typeface="+mn-ea"/>
                <a:sym typeface="+mn-lt"/>
              </a:rPr>
              <a:t>通道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7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个输入增强型捕获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(eCAP)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模块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2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个高分辨率捕获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(HRCAP)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模块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2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个增强型正交编码器脉冲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(eQEP)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模块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4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条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 Σ-Δ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滤波器模块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 (SDFM)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输入通道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个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12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位模数转换器（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ADC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）</a:t>
            </a:r>
            <a:r>
              <a:rPr lang="zh-CN" altLang="en-US" sz="1400" dirty="0">
                <a:latin typeface="+mn-ea"/>
                <a:cs typeface="+mn-ea"/>
                <a:sym typeface="+mn-lt"/>
              </a:rPr>
              <a:t>多达</a:t>
            </a:r>
            <a:r>
              <a:rPr lang="en-US" altLang="zh-CN" sz="1400" dirty="0">
                <a:latin typeface="+mn-ea"/>
                <a:cs typeface="+mn-ea"/>
                <a:sym typeface="+mn-lt"/>
              </a:rPr>
              <a:t> 21 </a:t>
            </a:r>
            <a:r>
              <a:rPr lang="zh-CN" altLang="en-US" sz="1400" dirty="0">
                <a:latin typeface="+mn-ea"/>
                <a:cs typeface="+mn-ea"/>
                <a:sym typeface="+mn-lt"/>
              </a:rPr>
              <a:t>个外部通道</a:t>
            </a:r>
            <a:endParaRPr lang="zh-CN" altLang="en-US" sz="1400" dirty="0">
              <a:latin typeface="+mn-ea"/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latin typeface="+mn-ea"/>
                <a:cs typeface="+mn-ea"/>
                <a:sym typeface="+mn-lt"/>
              </a:rPr>
              <a:t>7</a:t>
            </a:r>
            <a:r>
              <a:rPr lang="zh-CN" altLang="en-US" sz="1400" dirty="0">
                <a:latin typeface="+mn-ea"/>
                <a:cs typeface="+mn-ea"/>
                <a:sym typeface="+mn-lt"/>
              </a:rPr>
              <a:t>个带</a:t>
            </a:r>
            <a:r>
              <a:rPr lang="en-US" altLang="zh-CN" sz="1400" dirty="0">
                <a:latin typeface="+mn-ea"/>
                <a:cs typeface="+mn-ea"/>
                <a:sym typeface="+mn-lt"/>
              </a:rPr>
              <a:t> 12 </a:t>
            </a:r>
            <a:r>
              <a:rPr lang="zh-CN" altLang="en-US" sz="1400" dirty="0">
                <a:latin typeface="+mn-ea"/>
                <a:cs typeface="+mn-ea"/>
                <a:sym typeface="+mn-lt"/>
              </a:rPr>
              <a:t>位参考数模转换器</a:t>
            </a:r>
            <a:r>
              <a:rPr lang="en-US" altLang="zh-CN" sz="1400" dirty="0">
                <a:latin typeface="+mn-ea"/>
                <a:cs typeface="+mn-ea"/>
                <a:sym typeface="+mn-lt"/>
              </a:rPr>
              <a:t> (DAC) </a:t>
            </a:r>
            <a:r>
              <a:rPr lang="zh-CN" altLang="en-US" sz="1400" dirty="0">
                <a:latin typeface="+mn-ea"/>
                <a:cs typeface="+mn-ea"/>
                <a:sym typeface="+mn-lt"/>
              </a:rPr>
              <a:t>的窗口比较器</a:t>
            </a:r>
            <a:r>
              <a:rPr lang="en-US" altLang="zh-CN" sz="1400" dirty="0">
                <a:latin typeface="+mn-ea"/>
                <a:cs typeface="+mn-ea"/>
                <a:sym typeface="+mn-lt"/>
              </a:rPr>
              <a:t>(CMPSS)</a:t>
            </a:r>
            <a:endParaRPr lang="en-US" altLang="zh-CN" sz="1400" dirty="0">
              <a:latin typeface="+mn-ea"/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olidFill>
                <a:schemeClr val="tx1"/>
              </a:solidFill>
              <a:latin typeface="+mn-ea"/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olidFill>
                <a:schemeClr val="tx1"/>
              </a:solidFill>
              <a:latin typeface="+mn-ea"/>
              <a:cs typeface="+mn-ea"/>
              <a:sym typeface="+mn-lt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72505" y="717550"/>
            <a:ext cx="436880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2</a:t>
            </a:r>
            <a:r>
              <a:rPr lang="zh-CN" altLang="en-US" sz="1400" dirty="0">
                <a:cs typeface="+mn-ea"/>
                <a:sym typeface="+mn-lt"/>
              </a:rPr>
              <a:t>个</a:t>
            </a:r>
            <a:r>
              <a:rPr lang="en-US" altLang="zh-CN" sz="1400" dirty="0">
                <a:cs typeface="+mn-ea"/>
                <a:sym typeface="+mn-lt"/>
              </a:rPr>
              <a:t> 12 </a:t>
            </a:r>
            <a:r>
              <a:rPr lang="zh-CN" altLang="en-US" sz="1400" dirty="0">
                <a:cs typeface="+mn-ea"/>
                <a:sym typeface="+mn-lt"/>
              </a:rPr>
              <a:t>位缓冲</a:t>
            </a:r>
            <a:r>
              <a:rPr lang="en-US" altLang="zh-CN" sz="1400" dirty="0">
                <a:cs typeface="+mn-ea"/>
                <a:sym typeface="+mn-lt"/>
              </a:rPr>
              <a:t> DAC</a:t>
            </a:r>
            <a:r>
              <a:rPr lang="zh-CN" altLang="en-US" sz="1400" dirty="0">
                <a:cs typeface="+mn-ea"/>
                <a:sym typeface="+mn-lt"/>
              </a:rPr>
              <a:t>输出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7</a:t>
            </a:r>
            <a:r>
              <a:rPr lang="zh-CN" altLang="en-US" sz="1400" dirty="0">
                <a:cs typeface="+mn-ea"/>
                <a:sym typeface="+mn-lt"/>
              </a:rPr>
              <a:t>个可编程增益放大器</a:t>
            </a:r>
            <a:r>
              <a:rPr lang="en-US" altLang="zh-CN" sz="1400" dirty="0">
                <a:cs typeface="+mn-ea"/>
                <a:sym typeface="+mn-lt"/>
              </a:rPr>
              <a:t> (PGA)</a:t>
            </a:r>
            <a:endParaRPr lang="en-US" altLang="zh-CN" sz="14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2</a:t>
            </a:r>
            <a:r>
              <a:rPr lang="zh-CN" altLang="en-US" sz="1400" dirty="0">
                <a:cs typeface="+mn-ea"/>
                <a:sym typeface="+mn-lt"/>
              </a:rPr>
              <a:t>个</a:t>
            </a:r>
            <a:r>
              <a:rPr lang="en-US" altLang="zh-CN" sz="1400" dirty="0">
                <a:cs typeface="+mn-ea"/>
                <a:sym typeface="+mn-lt"/>
              </a:rPr>
              <a:t> SCI(UART) </a:t>
            </a:r>
            <a:r>
              <a:rPr lang="zh-CN" altLang="en-US" sz="1400" dirty="0">
                <a:cs typeface="+mn-ea"/>
                <a:sym typeface="+mn-lt"/>
              </a:rPr>
              <a:t>模块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2</a:t>
            </a:r>
            <a:r>
              <a:rPr lang="zh-CN" altLang="en-US" sz="1400" dirty="0">
                <a:cs typeface="+mn-ea"/>
                <a:sym typeface="+mn-lt"/>
              </a:rPr>
              <a:t>个</a:t>
            </a:r>
            <a:r>
              <a:rPr lang="en-US" altLang="zh-CN" sz="1400" dirty="0">
                <a:cs typeface="+mn-ea"/>
                <a:sym typeface="+mn-lt"/>
              </a:rPr>
              <a:t> SPI </a:t>
            </a:r>
            <a:r>
              <a:rPr lang="zh-CN" altLang="en-US" sz="1400" dirty="0">
                <a:cs typeface="+mn-ea"/>
                <a:sym typeface="+mn-lt"/>
              </a:rPr>
              <a:t>模块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2</a:t>
            </a:r>
            <a:r>
              <a:rPr lang="zh-CN" altLang="en-US" sz="1400" dirty="0">
                <a:cs typeface="+mn-ea"/>
                <a:sym typeface="+mn-lt"/>
              </a:rPr>
              <a:t>个增强型控制器局域网络</a:t>
            </a:r>
            <a:r>
              <a:rPr lang="en-US" altLang="zh-CN" sz="1400" dirty="0">
                <a:cs typeface="+mn-ea"/>
                <a:sym typeface="+mn-lt"/>
              </a:rPr>
              <a:t>(eCAN)</a:t>
            </a:r>
            <a:r>
              <a:rPr lang="zh-CN" altLang="en-US" sz="1400" dirty="0">
                <a:cs typeface="+mn-ea"/>
                <a:sym typeface="+mn-lt"/>
              </a:rPr>
              <a:t>总线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1</a:t>
            </a:r>
            <a:r>
              <a:rPr lang="zh-CN" altLang="en-US" sz="1400" dirty="0">
                <a:cs typeface="+mn-ea"/>
                <a:sym typeface="+mn-lt"/>
              </a:rPr>
              <a:t>个内部集成电路</a:t>
            </a:r>
            <a:r>
              <a:rPr lang="en-US" altLang="zh-CN" sz="1400" dirty="0">
                <a:cs typeface="+mn-ea"/>
                <a:sym typeface="+mn-lt"/>
              </a:rPr>
              <a:t>(I2C)</a:t>
            </a:r>
            <a:r>
              <a:rPr lang="zh-CN" altLang="en-US" sz="1400" dirty="0">
                <a:cs typeface="+mn-ea"/>
                <a:sym typeface="+mn-lt"/>
              </a:rPr>
              <a:t>总线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个电源管理总线（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PMBus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）接口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个与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 UART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兼容的本地互连网络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 (LIN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）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个带发送器和接收器的快速串行接口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 (FSI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）</a:t>
            </a:r>
            <a:endParaRPr lang="en-US" altLang="zh-CN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控制环路加速器（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CLA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）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可配置逻辑块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 (CLB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）</a:t>
            </a:r>
            <a:endParaRPr lang="en-US" altLang="zh-CN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封装选项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: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/>
              <a:t>LQFP 100</a:t>
            </a:r>
            <a:endParaRPr lang="en-US" altLang="zh-CN" sz="1400"/>
          </a:p>
          <a:p>
            <a:pPr algn="l">
              <a:lnSpc>
                <a:spcPct val="150000"/>
              </a:lnSpc>
            </a:pPr>
            <a:r>
              <a:rPr lang="en-US" altLang="zh-CN" sz="1400"/>
              <a:t>LQFP 64</a:t>
            </a:r>
            <a:endParaRPr lang="en-US" altLang="zh-CN" sz="1400"/>
          </a:p>
          <a:p>
            <a:pPr algn="l">
              <a:lnSpc>
                <a:spcPct val="150000"/>
              </a:lnSpc>
            </a:pPr>
            <a:r>
              <a:rPr lang="en-US" altLang="zh-CN" sz="1400"/>
              <a:t>VQFN 56 </a:t>
            </a:r>
            <a:endParaRPr lang="en-US" altLang="zh-CN" sz="14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4090" y="1054735"/>
            <a:ext cx="2047875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AVP32F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0049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43915" y="1617980"/>
            <a:ext cx="39306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产品优势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低成本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内存</a:t>
            </a:r>
            <a:r>
              <a:rPr lang="zh-CN" altLang="en-US" sz="1600" dirty="0">
                <a:sym typeface="+mn-ea"/>
              </a:rPr>
              <a:t>大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功耗低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通信方面支持多种</a:t>
            </a:r>
            <a:r>
              <a:rPr lang="zh-CN" altLang="en-US" sz="1600" dirty="0">
                <a:sym typeface="+mn-ea"/>
              </a:rPr>
              <a:t>通信协议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具有</a:t>
            </a:r>
            <a:r>
              <a:rPr lang="en-US" altLang="zh-CN" sz="1600" dirty="0">
                <a:sym typeface="+mn-ea"/>
              </a:rPr>
              <a:t>CLA</a:t>
            </a:r>
            <a:r>
              <a:rPr lang="zh-CN" altLang="en-US" sz="1600" dirty="0">
                <a:sym typeface="+mn-ea"/>
              </a:rPr>
              <a:t>模块，运算</a:t>
            </a:r>
            <a:r>
              <a:rPr lang="zh-CN" altLang="en-US" sz="1600" dirty="0">
                <a:sym typeface="+mn-ea"/>
              </a:rPr>
              <a:t>效率高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具有</a:t>
            </a:r>
            <a:r>
              <a:rPr lang="en-US" altLang="zh-CN" sz="1600" dirty="0">
                <a:sym typeface="+mn-ea"/>
              </a:rPr>
              <a:t>CLB</a:t>
            </a:r>
            <a:r>
              <a:rPr lang="zh-CN" altLang="en-US" sz="1600" dirty="0">
                <a:sym typeface="+mn-ea"/>
              </a:rPr>
              <a:t>模块，可处理</a:t>
            </a:r>
            <a:r>
              <a:rPr lang="en-US" altLang="zh-CN" sz="1600" dirty="0">
                <a:sym typeface="+mn-ea"/>
              </a:rPr>
              <a:t>ePWM</a:t>
            </a:r>
            <a:r>
              <a:rPr lang="zh-CN" altLang="en-US" sz="1600" dirty="0">
                <a:sym typeface="+mn-ea"/>
              </a:rPr>
              <a:t>、</a:t>
            </a:r>
            <a:r>
              <a:rPr lang="en-US" altLang="zh-CN" sz="1600" dirty="0">
                <a:sym typeface="+mn-ea"/>
              </a:rPr>
              <a:t>XBAR</a:t>
            </a:r>
            <a:r>
              <a:rPr lang="zh-CN" altLang="en-US" sz="1600" dirty="0">
                <a:sym typeface="+mn-ea"/>
              </a:rPr>
              <a:t>等外设信号，</a:t>
            </a:r>
            <a:r>
              <a:rPr lang="zh-CN" altLang="en-US" sz="1600" dirty="0">
                <a:sym typeface="+mn-ea"/>
              </a:rPr>
              <a:t>可代替</a:t>
            </a:r>
            <a:r>
              <a:rPr lang="en-US" altLang="zh-CN" sz="1600" dirty="0">
                <a:sym typeface="+mn-ea"/>
              </a:rPr>
              <a:t>CPLD/FPGA</a:t>
            </a:r>
            <a:r>
              <a:rPr lang="zh-CN" altLang="en-US" sz="1600" dirty="0">
                <a:sym typeface="+mn-ea"/>
              </a:rPr>
              <a:t>，实现复杂的数字逻辑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907280" y="1617980"/>
            <a:ext cx="6052185" cy="1783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相关应用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: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伺服电机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	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空调压缩机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开关电源（如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LLC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、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PFC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）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光伏逆变器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太阳能逆变器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电池管理系统（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BMS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车身控制模块（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BCM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）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车载充电器（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OBC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AVP32F0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049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43915" y="1054735"/>
            <a:ext cx="89344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移植注意事项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• </a:t>
            </a:r>
            <a:r>
              <a:rPr lang="zh-CN" altLang="en-US" dirty="0">
                <a:cs typeface="+mn-ea"/>
                <a:sym typeface="+mn-lt"/>
              </a:rPr>
              <a:t>硬件</a:t>
            </a:r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ym typeface="+mn-ea"/>
              </a:rPr>
              <a:t>1.</a:t>
            </a:r>
            <a:r>
              <a:rPr lang="zh-CN" altLang="en-US" sz="1600" dirty="0">
                <a:sym typeface="+mn-ea"/>
              </a:rPr>
              <a:t>在芯片供电及上、下电时序</a:t>
            </a:r>
            <a:r>
              <a:rPr lang="zh-CN" altLang="en-US" sz="1600" dirty="0">
                <a:sym typeface="+mn-ea"/>
              </a:rPr>
              <a:t>方面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与</a:t>
            </a:r>
            <a:r>
              <a:rPr lang="en-US" altLang="zh-CN" sz="1600" dirty="0">
                <a:sym typeface="+mn-ea"/>
              </a:rPr>
              <a:t>F28004x</a:t>
            </a:r>
            <a:r>
              <a:rPr lang="zh-CN" altLang="en-US" sz="1600" dirty="0">
                <a:sym typeface="+mn-ea"/>
              </a:rPr>
              <a:t>类似，</a:t>
            </a:r>
            <a:r>
              <a:rPr lang="en-US" altLang="zh-CN" sz="1600" dirty="0">
                <a:sym typeface="+mn-ea"/>
              </a:rPr>
              <a:t>AVP32F004x</a:t>
            </a:r>
            <a:r>
              <a:rPr lang="zh-CN" altLang="en-US" sz="1600" dirty="0">
                <a:sym typeface="+mn-ea"/>
              </a:rPr>
              <a:t>同样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支持板级</a:t>
            </a:r>
            <a:r>
              <a:rPr lang="en-US" altLang="zh-CN" sz="1600" dirty="0">
                <a:sym typeface="+mn-ea"/>
              </a:rPr>
              <a:t>3.3V</a:t>
            </a:r>
            <a:r>
              <a:rPr lang="zh-CN" altLang="en-US" sz="1600" dirty="0">
                <a:sym typeface="+mn-ea"/>
              </a:rPr>
              <a:t>单电源供电方式。设计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上做到供电方式兼容，内部</a:t>
            </a:r>
            <a:r>
              <a:rPr lang="en-US" altLang="zh-CN" sz="1600" dirty="0">
                <a:sym typeface="+mn-ea"/>
              </a:rPr>
              <a:t>LDO</a:t>
            </a:r>
            <a:r>
              <a:rPr lang="zh-CN" altLang="en-US" sz="1600" dirty="0">
                <a:sym typeface="+mn-ea"/>
              </a:rPr>
              <a:t>已经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调整为</a:t>
            </a:r>
            <a:r>
              <a:rPr lang="en-US" altLang="zh-CN" sz="1600" dirty="0">
                <a:sym typeface="+mn-ea"/>
              </a:rPr>
              <a:t>3.3V</a:t>
            </a:r>
            <a:r>
              <a:rPr lang="zh-CN" altLang="en-US" sz="1600" dirty="0">
                <a:sym typeface="+mn-ea"/>
              </a:rPr>
              <a:t>转</a:t>
            </a:r>
            <a:r>
              <a:rPr lang="en-US" altLang="zh-CN" sz="1600" dirty="0">
                <a:sym typeface="+mn-ea"/>
              </a:rPr>
              <a:t>1.1V</a:t>
            </a:r>
            <a:r>
              <a:rPr lang="zh-CN" altLang="en-US" sz="1600" dirty="0">
                <a:sym typeface="+mn-ea"/>
              </a:rPr>
              <a:t>，如果采用双电源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供电模式，建议内核的供电调整为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ym typeface="+mn-ea"/>
              </a:rPr>
              <a:t>1.1V</a:t>
            </a:r>
            <a:r>
              <a:rPr lang="zh-CN" altLang="en-US" sz="1600" dirty="0">
                <a:sym typeface="+mn-ea"/>
              </a:rPr>
              <a:t>供电。</a:t>
            </a:r>
            <a:endParaRPr lang="zh-CN" altLang="en-US" sz="1600" dirty="0">
              <a:sym typeface="+mn-ea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97120" y="1054735"/>
            <a:ext cx="6158865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endParaRPr lang="en-US" altLang="zh-CN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• </a:t>
            </a:r>
            <a:r>
              <a:rPr lang="zh-CN" altLang="en-US" dirty="0">
                <a:cs typeface="+mn-ea"/>
                <a:sym typeface="+mn-lt"/>
              </a:rPr>
              <a:t>软件</a:t>
            </a:r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ym typeface="+mn-ea"/>
              </a:rPr>
              <a:t>1.</a:t>
            </a:r>
            <a:r>
              <a:rPr lang="zh-CN" altLang="en-US" sz="1600" dirty="0">
                <a:sym typeface="+mn-ea"/>
              </a:rPr>
              <a:t>请勿在</a:t>
            </a:r>
            <a:r>
              <a:rPr lang="en-US" altLang="zh-CN" sz="1600" dirty="0">
                <a:sym typeface="+mn-ea"/>
              </a:rPr>
              <a:t>FLASH</a:t>
            </a:r>
            <a:r>
              <a:rPr lang="zh-CN" altLang="en-US" sz="1600" dirty="0">
                <a:sym typeface="+mn-ea"/>
              </a:rPr>
              <a:t>某一个</a:t>
            </a:r>
            <a:r>
              <a:rPr lang="en-US" altLang="zh-CN" sz="1600" dirty="0">
                <a:sym typeface="+mn-ea"/>
              </a:rPr>
              <a:t>BANK</a:t>
            </a:r>
            <a:r>
              <a:rPr lang="zh-CN" altLang="en-US" sz="1600" dirty="0">
                <a:sym typeface="+mn-ea"/>
              </a:rPr>
              <a:t>里运行</a:t>
            </a:r>
            <a:r>
              <a:rPr lang="en-US" altLang="zh-CN" sz="1600" dirty="0">
                <a:sym typeface="+mn-ea"/>
              </a:rPr>
              <a:t>FLASH</a:t>
            </a:r>
            <a:r>
              <a:rPr lang="zh-CN" altLang="en-US" sz="1600" dirty="0">
                <a:sym typeface="+mn-ea"/>
              </a:rPr>
              <a:t>擦除编程本</a:t>
            </a:r>
            <a:r>
              <a:rPr lang="en-US" altLang="zh-CN" sz="1600" dirty="0">
                <a:sym typeface="+mn-ea"/>
              </a:rPr>
              <a:t>BANK</a:t>
            </a:r>
            <a:r>
              <a:rPr lang="zh-CN" altLang="en-US" sz="1600" dirty="0">
                <a:sym typeface="+mn-ea"/>
              </a:rPr>
              <a:t>和另外一个</a:t>
            </a:r>
            <a:r>
              <a:rPr lang="en-US" altLang="zh-CN" sz="1600" dirty="0">
                <a:sym typeface="+mn-ea"/>
              </a:rPr>
              <a:t>BANK</a:t>
            </a:r>
            <a:r>
              <a:rPr lang="zh-CN" altLang="en-US" sz="1600" dirty="0">
                <a:sym typeface="+mn-ea"/>
              </a:rPr>
              <a:t>的代码，如有此类使用请将</a:t>
            </a:r>
            <a:r>
              <a:rPr lang="en-US" altLang="zh-CN" sz="1600" dirty="0">
                <a:sym typeface="+mn-ea"/>
              </a:rPr>
              <a:t>FLASH API</a:t>
            </a:r>
            <a:r>
              <a:rPr lang="zh-CN" altLang="en-US" sz="1600" dirty="0">
                <a:sym typeface="+mn-ea"/>
              </a:rPr>
              <a:t>搬移到</a:t>
            </a:r>
            <a:r>
              <a:rPr lang="en-US" altLang="zh-CN" sz="1600" dirty="0">
                <a:sym typeface="+mn-ea"/>
              </a:rPr>
              <a:t>RAM</a:t>
            </a:r>
            <a:r>
              <a:rPr lang="zh-CN" altLang="en-US" sz="1600" dirty="0">
                <a:sym typeface="+mn-ea"/>
              </a:rPr>
              <a:t>中运行，搬移只需改动</a:t>
            </a:r>
            <a:r>
              <a:rPr lang="en-US" altLang="zh-CN" sz="1600" dirty="0">
                <a:sym typeface="+mn-ea"/>
              </a:rPr>
              <a:t>CMD</a:t>
            </a:r>
            <a:r>
              <a:rPr lang="zh-CN" altLang="en-US" sz="1600" dirty="0">
                <a:sym typeface="+mn-ea"/>
              </a:rPr>
              <a:t>文件，具体改动如下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en-US" altLang="zh-CN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en-US" altLang="zh-CN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ym typeface="+mn-ea"/>
              </a:rPr>
              <a:t>3.TZ</a:t>
            </a:r>
            <a:r>
              <a:rPr lang="zh-CN" altLang="en-US" sz="1600" dirty="0">
                <a:sym typeface="+mn-ea"/>
              </a:rPr>
              <a:t>触发输入有效至</a:t>
            </a:r>
            <a:r>
              <a:rPr lang="en-US" altLang="zh-CN" sz="1600" dirty="0">
                <a:sym typeface="+mn-ea"/>
              </a:rPr>
              <a:t> PWM </a:t>
            </a:r>
            <a:r>
              <a:rPr lang="zh-CN" altLang="en-US" sz="1600" dirty="0">
                <a:sym typeface="+mn-ea"/>
              </a:rPr>
              <a:t>高阻抗</a:t>
            </a:r>
            <a:r>
              <a:rPr lang="en-US" altLang="zh-CN" sz="1600" dirty="0">
                <a:sym typeface="+mn-ea"/>
              </a:rPr>
              <a:t> (Hi-Z) </a:t>
            </a:r>
            <a:r>
              <a:rPr lang="zh-CN" altLang="en-US" sz="1600" dirty="0">
                <a:sym typeface="+mn-ea"/>
              </a:rPr>
              <a:t>的时间</a:t>
            </a:r>
            <a:r>
              <a:rPr lang="en-US" altLang="zh-CN" sz="1600" dirty="0">
                <a:sym typeface="+mn-ea"/>
              </a:rPr>
              <a:t>td</a:t>
            </a:r>
            <a:r>
              <a:rPr lang="zh-CN" altLang="en-US" sz="1600" dirty="0">
                <a:sym typeface="+mn-ea"/>
              </a:rPr>
              <a:t>，</a:t>
            </a:r>
            <a:r>
              <a:rPr lang="en-US" altLang="zh-CN" sz="1600" dirty="0">
                <a:sym typeface="+mn-ea"/>
              </a:rPr>
              <a:t>TI</a:t>
            </a:r>
            <a:r>
              <a:rPr lang="zh-CN" altLang="en-US" sz="1600" dirty="0">
                <a:sym typeface="+mn-ea"/>
              </a:rPr>
              <a:t>为</a:t>
            </a:r>
            <a:r>
              <a:rPr lang="en-US" altLang="zh-CN" sz="1600" dirty="0">
                <a:sym typeface="+mn-ea"/>
              </a:rPr>
              <a:t>25nS</a:t>
            </a:r>
            <a:r>
              <a:rPr lang="zh-CN" altLang="en-US" sz="1600" dirty="0">
                <a:sym typeface="+mn-ea"/>
              </a:rPr>
              <a:t>，进芯为</a:t>
            </a:r>
            <a:r>
              <a:rPr lang="en-US" altLang="zh-CN" sz="1600" dirty="0">
                <a:sym typeface="+mn-ea"/>
              </a:rPr>
              <a:t>35nS</a:t>
            </a:r>
            <a:endParaRPr lang="en-US" altLang="zh-CN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en-US" altLang="zh-CN" sz="1600" dirty="0">
              <a:sym typeface="+mn-ea"/>
            </a:endParaRPr>
          </a:p>
        </p:txBody>
      </p:sp>
      <p:pic>
        <p:nvPicPr>
          <p:cNvPr id="44723408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148" y="3049905"/>
            <a:ext cx="4472305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AVP32F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0039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2141855" y="717550"/>
            <a:ext cx="39306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亮点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主频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 120MHz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3.3V I/O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设计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192K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片载闪存（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16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位字）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34.5K</a:t>
            </a:r>
            <a:r>
              <a:rPr lang="zh-CN" altLang="en-US" sz="1400" dirty="0">
                <a:cs typeface="+mn-ea"/>
                <a:sym typeface="+mn-lt"/>
              </a:rPr>
              <a:t>片载</a:t>
            </a:r>
            <a:r>
              <a:rPr lang="en-US" altLang="zh-CN" sz="1400" dirty="0">
                <a:cs typeface="+mn-ea"/>
                <a:sym typeface="+mn-lt"/>
              </a:rPr>
              <a:t> SARAM</a:t>
            </a:r>
            <a:r>
              <a:rPr lang="zh-CN" altLang="en-US" sz="1400" dirty="0">
                <a:cs typeface="+mn-ea"/>
                <a:sym typeface="+mn-lt"/>
              </a:rPr>
              <a:t>（</a:t>
            </a:r>
            <a:r>
              <a:rPr lang="en-US" altLang="zh-CN" sz="1400" dirty="0">
                <a:cs typeface="+mn-ea"/>
                <a:sym typeface="+mn-lt"/>
              </a:rPr>
              <a:t>16 </a:t>
            </a:r>
            <a:r>
              <a:rPr lang="zh-CN" altLang="en-US" sz="1400" dirty="0">
                <a:cs typeface="+mn-ea"/>
                <a:sym typeface="+mn-lt"/>
              </a:rPr>
              <a:t>位字）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16 </a:t>
            </a:r>
            <a:r>
              <a:rPr lang="zh-CN" altLang="en-US" sz="1400" dirty="0">
                <a:cs typeface="+mn-ea"/>
                <a:sym typeface="+mn-lt"/>
              </a:rPr>
              <a:t>个具有高分辨率功能的</a:t>
            </a:r>
            <a:r>
              <a:rPr lang="en-US" altLang="zh-CN" sz="1400" dirty="0">
                <a:cs typeface="+mn-ea"/>
                <a:sym typeface="+mn-lt"/>
              </a:rPr>
              <a:t> ePWM </a:t>
            </a:r>
            <a:r>
              <a:rPr lang="zh-CN" altLang="en-US" sz="1400" dirty="0">
                <a:cs typeface="+mn-ea"/>
                <a:sym typeface="+mn-lt"/>
              </a:rPr>
              <a:t>通道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个输入增强型捕获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(eCAP)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模块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个高分辨率捕获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(HRCAP)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模块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2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个增强型正交编码器脉冲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(eQEP)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模块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8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条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 Σ-Δ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滤波器模块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 (SDFM)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输入通道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个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12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位模数转换器（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ADC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）</a:t>
            </a:r>
            <a:r>
              <a:rPr lang="zh-CN" altLang="en-US" sz="1400" dirty="0">
                <a:latin typeface="+mn-ea"/>
                <a:cs typeface="+mn-ea"/>
                <a:sym typeface="+mn-lt"/>
              </a:rPr>
              <a:t>多达</a:t>
            </a:r>
            <a:r>
              <a:rPr lang="en-US" altLang="zh-CN" sz="1400" dirty="0">
                <a:latin typeface="+mn-ea"/>
                <a:cs typeface="+mn-ea"/>
                <a:sym typeface="+mn-lt"/>
              </a:rPr>
              <a:t> 23</a:t>
            </a:r>
            <a:r>
              <a:rPr lang="zh-CN" altLang="en-US" sz="1400" dirty="0">
                <a:latin typeface="+mn-ea"/>
                <a:cs typeface="+mn-ea"/>
                <a:sym typeface="+mn-lt"/>
              </a:rPr>
              <a:t>个外部通道（包括两个</a:t>
            </a:r>
            <a:r>
              <a:rPr lang="en-US" altLang="zh-CN" sz="1400" dirty="0">
                <a:latin typeface="+mn-ea"/>
                <a:cs typeface="+mn-ea"/>
                <a:sym typeface="+mn-lt"/>
              </a:rPr>
              <a:t>gpdac </a:t>
            </a:r>
            <a:r>
              <a:rPr lang="zh-CN" altLang="en-US" sz="1400" dirty="0">
                <a:latin typeface="+mn-ea"/>
                <a:cs typeface="+mn-ea"/>
                <a:sym typeface="+mn-lt"/>
              </a:rPr>
              <a:t>输出）</a:t>
            </a:r>
            <a:endParaRPr lang="zh-CN" altLang="en-US" sz="1400" dirty="0">
              <a:latin typeface="+mn-ea"/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latin typeface="+mn-ea"/>
                <a:cs typeface="+mn-ea"/>
                <a:sym typeface="+mn-lt"/>
              </a:rPr>
              <a:t>4</a:t>
            </a:r>
            <a:r>
              <a:rPr lang="zh-CN" altLang="en-US" sz="1400" dirty="0">
                <a:latin typeface="+mn-ea"/>
                <a:cs typeface="+mn-ea"/>
                <a:sym typeface="+mn-lt"/>
              </a:rPr>
              <a:t>个带</a:t>
            </a:r>
            <a:r>
              <a:rPr lang="en-US" altLang="zh-CN" sz="1400" dirty="0">
                <a:latin typeface="+mn-ea"/>
                <a:cs typeface="+mn-ea"/>
                <a:sym typeface="+mn-lt"/>
              </a:rPr>
              <a:t> 12 </a:t>
            </a:r>
            <a:r>
              <a:rPr lang="zh-CN" altLang="en-US" sz="1400" dirty="0">
                <a:latin typeface="+mn-ea"/>
                <a:cs typeface="+mn-ea"/>
                <a:sym typeface="+mn-lt"/>
              </a:rPr>
              <a:t>位参考数模转换器</a:t>
            </a:r>
            <a:r>
              <a:rPr lang="en-US" altLang="zh-CN" sz="1400" dirty="0">
                <a:latin typeface="+mn-ea"/>
                <a:cs typeface="+mn-ea"/>
                <a:sym typeface="+mn-lt"/>
              </a:rPr>
              <a:t> (DAC) </a:t>
            </a:r>
            <a:r>
              <a:rPr lang="zh-CN" altLang="en-US" sz="1400" dirty="0">
                <a:latin typeface="+mn-ea"/>
                <a:cs typeface="+mn-ea"/>
                <a:sym typeface="+mn-lt"/>
              </a:rPr>
              <a:t>的窗口比较器</a:t>
            </a:r>
            <a:r>
              <a:rPr lang="en-US" altLang="zh-CN" sz="1400" dirty="0">
                <a:latin typeface="+mn-ea"/>
                <a:cs typeface="+mn-ea"/>
                <a:sym typeface="+mn-lt"/>
              </a:rPr>
              <a:t>(CMPSS)</a:t>
            </a:r>
            <a:endParaRPr lang="en-US" altLang="zh-CN" sz="1400" dirty="0">
              <a:latin typeface="+mn-ea"/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olidFill>
                <a:schemeClr val="tx1"/>
              </a:solidFill>
              <a:latin typeface="+mn-ea"/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olidFill>
                <a:schemeClr val="tx1"/>
              </a:solidFill>
              <a:latin typeface="+mn-ea"/>
              <a:cs typeface="+mn-ea"/>
              <a:sym typeface="+mn-lt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72505" y="717550"/>
            <a:ext cx="436880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200" dirty="0">
                <a:cs typeface="+mn-ea"/>
                <a:sym typeface="+mn-lt"/>
              </a:rPr>
              <a:t>2</a:t>
            </a:r>
            <a:r>
              <a:rPr lang="zh-CN" altLang="en-US" sz="1200" dirty="0">
                <a:cs typeface="+mn-ea"/>
                <a:sym typeface="+mn-lt"/>
              </a:rPr>
              <a:t>个</a:t>
            </a:r>
            <a:r>
              <a:rPr lang="en-US" altLang="zh-CN" sz="1200" dirty="0">
                <a:cs typeface="+mn-ea"/>
                <a:sym typeface="+mn-lt"/>
              </a:rPr>
              <a:t> 12 </a:t>
            </a:r>
            <a:r>
              <a:rPr lang="zh-CN" altLang="en-US" sz="1200" dirty="0">
                <a:cs typeface="+mn-ea"/>
                <a:sym typeface="+mn-lt"/>
              </a:rPr>
              <a:t>位缓冲</a:t>
            </a:r>
            <a:r>
              <a:rPr lang="en-US" altLang="zh-CN" sz="1200" dirty="0">
                <a:cs typeface="+mn-ea"/>
                <a:sym typeface="+mn-lt"/>
              </a:rPr>
              <a:t> DAC</a:t>
            </a:r>
            <a:r>
              <a:rPr lang="zh-CN" altLang="en-US" sz="1200" dirty="0">
                <a:cs typeface="+mn-ea"/>
                <a:sym typeface="+mn-lt"/>
              </a:rPr>
              <a:t>输出</a:t>
            </a:r>
            <a:endParaRPr lang="zh-CN" altLang="en-US" sz="12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cs typeface="+mn-ea"/>
                <a:sym typeface="+mn-lt"/>
              </a:rPr>
              <a:t>2</a:t>
            </a:r>
            <a:r>
              <a:rPr lang="zh-CN" altLang="en-US" sz="1200" dirty="0">
                <a:cs typeface="+mn-ea"/>
                <a:sym typeface="+mn-lt"/>
              </a:rPr>
              <a:t>个</a:t>
            </a:r>
            <a:r>
              <a:rPr lang="en-US" altLang="zh-CN" sz="1200" dirty="0">
                <a:cs typeface="+mn-ea"/>
                <a:sym typeface="+mn-lt"/>
              </a:rPr>
              <a:t> SCI(UART) </a:t>
            </a:r>
            <a:r>
              <a:rPr lang="zh-CN" altLang="en-US" sz="1200" dirty="0">
                <a:cs typeface="+mn-ea"/>
                <a:sym typeface="+mn-lt"/>
              </a:rPr>
              <a:t>模块</a:t>
            </a:r>
            <a:endParaRPr lang="zh-CN" altLang="en-US" sz="12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cs typeface="+mn-ea"/>
                <a:sym typeface="+mn-lt"/>
              </a:rPr>
              <a:t>2</a:t>
            </a:r>
            <a:r>
              <a:rPr lang="zh-CN" altLang="en-US" sz="1200" dirty="0">
                <a:cs typeface="+mn-ea"/>
                <a:sym typeface="+mn-lt"/>
              </a:rPr>
              <a:t>个</a:t>
            </a:r>
            <a:r>
              <a:rPr lang="en-US" altLang="zh-CN" sz="1200" dirty="0">
                <a:cs typeface="+mn-ea"/>
                <a:sym typeface="+mn-lt"/>
              </a:rPr>
              <a:t> SPI </a:t>
            </a:r>
            <a:r>
              <a:rPr lang="zh-CN" altLang="en-US" sz="1200" dirty="0">
                <a:cs typeface="+mn-ea"/>
                <a:sym typeface="+mn-lt"/>
              </a:rPr>
              <a:t>模块</a:t>
            </a:r>
            <a:endParaRPr lang="zh-CN" altLang="en-US" sz="12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cs typeface="+mn-ea"/>
                <a:sym typeface="+mn-lt"/>
              </a:rPr>
              <a:t>1</a:t>
            </a:r>
            <a:r>
              <a:rPr lang="zh-CN" altLang="en-US" sz="1200" dirty="0">
                <a:cs typeface="+mn-ea"/>
                <a:sym typeface="+mn-lt"/>
              </a:rPr>
              <a:t>个控制器局域网</a:t>
            </a:r>
            <a:r>
              <a:rPr lang="en-US" altLang="zh-CN" sz="1200" dirty="0">
                <a:cs typeface="+mn-ea"/>
                <a:sym typeface="+mn-lt"/>
              </a:rPr>
              <a:t> (CAN/DCAN) </a:t>
            </a:r>
            <a:r>
              <a:rPr lang="zh-CN" altLang="en-US" sz="1200" dirty="0">
                <a:cs typeface="+mn-ea"/>
                <a:sym typeface="+mn-lt"/>
              </a:rPr>
              <a:t>总线端口</a:t>
            </a:r>
            <a:endParaRPr lang="zh-CN" altLang="en-US" sz="12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cs typeface="+mn-ea"/>
                <a:sym typeface="+mn-lt"/>
              </a:rPr>
              <a:t>1</a:t>
            </a:r>
            <a:r>
              <a:rPr lang="zh-CN" altLang="en-US" sz="1200" dirty="0">
                <a:cs typeface="+mn-ea"/>
                <a:sym typeface="+mn-lt"/>
              </a:rPr>
              <a:t>个具有灵活数据速率的控制器局域网（</a:t>
            </a:r>
            <a:r>
              <a:rPr lang="en-US" altLang="zh-CN" sz="1200" dirty="0">
                <a:cs typeface="+mn-ea"/>
                <a:sym typeface="+mn-lt"/>
              </a:rPr>
              <a:t>CANFD/MCAN</a:t>
            </a:r>
            <a:r>
              <a:rPr lang="zh-CN" altLang="en-US" sz="1200" dirty="0">
                <a:cs typeface="+mn-ea"/>
                <a:sym typeface="+mn-lt"/>
              </a:rPr>
              <a:t>）总线端口</a:t>
            </a:r>
            <a:endParaRPr lang="zh-CN" altLang="en-US" sz="12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cs typeface="+mn-ea"/>
                <a:sym typeface="+mn-lt"/>
              </a:rPr>
              <a:t>2</a:t>
            </a:r>
            <a:r>
              <a:rPr lang="zh-CN" altLang="en-US" sz="1200" dirty="0">
                <a:cs typeface="+mn-ea"/>
                <a:sym typeface="+mn-lt"/>
              </a:rPr>
              <a:t>个内部集成电路</a:t>
            </a:r>
            <a:r>
              <a:rPr lang="en-US" altLang="zh-CN" sz="1200" dirty="0">
                <a:cs typeface="+mn-ea"/>
                <a:sym typeface="+mn-lt"/>
              </a:rPr>
              <a:t>(I2C)</a:t>
            </a:r>
            <a:r>
              <a:rPr lang="zh-CN" altLang="en-US" sz="1200" dirty="0">
                <a:cs typeface="+mn-ea"/>
                <a:sym typeface="+mn-lt"/>
              </a:rPr>
              <a:t>总线</a:t>
            </a:r>
            <a:endParaRPr lang="zh-CN" altLang="en-US" sz="12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solidFill>
                  <a:schemeClr val="tx1"/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cs typeface="+mn-ea"/>
                <a:sym typeface="+mn-lt"/>
              </a:rPr>
              <a:t>个电源管理总线（</a:t>
            </a:r>
            <a:r>
              <a:rPr lang="en-US" altLang="zh-CN" sz="1200" dirty="0">
                <a:solidFill>
                  <a:schemeClr val="tx1"/>
                </a:solidFill>
                <a:cs typeface="+mn-ea"/>
                <a:sym typeface="+mn-lt"/>
              </a:rPr>
              <a:t>PMBus</a:t>
            </a:r>
            <a:r>
              <a:rPr lang="zh-CN" altLang="en-US" sz="1200" dirty="0">
                <a:solidFill>
                  <a:schemeClr val="tx1"/>
                </a:solidFill>
                <a:cs typeface="+mn-ea"/>
                <a:sym typeface="+mn-lt"/>
              </a:rPr>
              <a:t>）接口</a:t>
            </a:r>
            <a:endParaRPr lang="zh-CN" altLang="en-US" sz="12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solidFill>
                  <a:schemeClr val="tx1"/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/>
                </a:solidFill>
                <a:cs typeface="+mn-ea"/>
                <a:sym typeface="+mn-lt"/>
              </a:rPr>
              <a:t>个与</a:t>
            </a:r>
            <a:r>
              <a:rPr lang="en-US" altLang="zh-CN" sz="1200" dirty="0">
                <a:solidFill>
                  <a:schemeClr val="tx1"/>
                </a:solidFill>
                <a:cs typeface="+mn-ea"/>
                <a:sym typeface="+mn-lt"/>
              </a:rPr>
              <a:t> UART</a:t>
            </a:r>
            <a:r>
              <a:rPr lang="zh-CN" altLang="en-US" sz="1200" dirty="0">
                <a:solidFill>
                  <a:schemeClr val="tx1"/>
                </a:solidFill>
                <a:cs typeface="+mn-ea"/>
                <a:sym typeface="+mn-lt"/>
              </a:rPr>
              <a:t>兼容的本地互连网络</a:t>
            </a:r>
            <a:r>
              <a:rPr lang="en-US" altLang="zh-CN" sz="1200" dirty="0">
                <a:solidFill>
                  <a:schemeClr val="tx1"/>
                </a:solidFill>
                <a:cs typeface="+mn-ea"/>
                <a:sym typeface="+mn-lt"/>
              </a:rPr>
              <a:t> (LIN</a:t>
            </a:r>
            <a:r>
              <a:rPr lang="zh-CN" altLang="en-US" sz="1200" dirty="0">
                <a:solidFill>
                  <a:schemeClr val="tx1"/>
                </a:solidFill>
                <a:cs typeface="+mn-ea"/>
                <a:sym typeface="+mn-lt"/>
              </a:rPr>
              <a:t>）</a:t>
            </a:r>
            <a:endParaRPr lang="zh-CN" altLang="en-US" sz="12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solidFill>
                  <a:schemeClr val="tx1"/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cs typeface="+mn-ea"/>
                <a:sym typeface="+mn-lt"/>
              </a:rPr>
              <a:t>个带发送器和接收器的快速串行接口</a:t>
            </a:r>
            <a:r>
              <a:rPr lang="en-US" altLang="zh-CN" sz="1200" dirty="0">
                <a:solidFill>
                  <a:schemeClr val="tx1"/>
                </a:solidFill>
                <a:cs typeface="+mn-ea"/>
                <a:sym typeface="+mn-lt"/>
              </a:rPr>
              <a:t> (FSI</a:t>
            </a:r>
            <a:r>
              <a:rPr lang="zh-CN" altLang="en-US" sz="1200" dirty="0">
                <a:solidFill>
                  <a:schemeClr val="tx1"/>
                </a:solidFill>
                <a:cs typeface="+mn-ea"/>
                <a:sym typeface="+mn-lt"/>
              </a:rPr>
              <a:t>）</a:t>
            </a:r>
            <a:endParaRPr lang="en-US" altLang="zh-CN" sz="12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cs typeface="+mn-ea"/>
                <a:sym typeface="+mn-lt"/>
              </a:rPr>
              <a:t>控制环路加速器（</a:t>
            </a:r>
            <a:r>
              <a:rPr lang="en-US" altLang="zh-CN" sz="1200" dirty="0">
                <a:solidFill>
                  <a:schemeClr val="tx1"/>
                </a:solidFill>
                <a:cs typeface="+mn-ea"/>
                <a:sym typeface="+mn-lt"/>
              </a:rPr>
              <a:t>CLA)</a:t>
            </a:r>
            <a:endParaRPr lang="zh-CN" altLang="en-US" sz="12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cs typeface="+mn-ea"/>
                <a:sym typeface="+mn-lt"/>
              </a:rPr>
              <a:t>可配置逻辑块</a:t>
            </a:r>
            <a:r>
              <a:rPr lang="en-US" altLang="zh-CN" sz="1200" dirty="0">
                <a:solidFill>
                  <a:schemeClr val="tx1"/>
                </a:solidFill>
                <a:cs typeface="+mn-ea"/>
                <a:sym typeface="+mn-lt"/>
              </a:rPr>
              <a:t> (CLB)</a:t>
            </a:r>
            <a:endParaRPr lang="zh-CN" altLang="en-US" sz="12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cs typeface="+mn-ea"/>
                <a:sym typeface="+mn-lt"/>
              </a:rPr>
              <a:t>主机接口控制器</a:t>
            </a:r>
            <a:r>
              <a:rPr lang="en-US" altLang="zh-CN" sz="1200" dirty="0">
                <a:solidFill>
                  <a:schemeClr val="tx1"/>
                </a:solidFill>
                <a:cs typeface="+mn-ea"/>
                <a:sym typeface="+mn-lt"/>
              </a:rPr>
              <a:t> (HIC)</a:t>
            </a:r>
            <a:endParaRPr lang="zh-CN" altLang="en-US" sz="12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cs typeface="+mn-ea"/>
                <a:sym typeface="+mn-lt"/>
              </a:rPr>
              <a:t>后台</a:t>
            </a:r>
            <a:r>
              <a:rPr lang="en-US" altLang="zh-CN" sz="1200" dirty="0">
                <a:solidFill>
                  <a:schemeClr val="tx1"/>
                </a:solidFill>
                <a:cs typeface="+mn-ea"/>
                <a:sym typeface="+mn-lt"/>
              </a:rPr>
              <a:t>CRC (BGCRC)</a:t>
            </a:r>
            <a:endParaRPr lang="en-US" altLang="zh-CN" sz="12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cs typeface="+mn-ea"/>
                <a:sym typeface="+mn-lt"/>
              </a:rPr>
              <a:t>高级加密标准</a:t>
            </a:r>
            <a:r>
              <a:rPr lang="en-US" altLang="zh-CN" sz="1200" dirty="0">
                <a:solidFill>
                  <a:schemeClr val="tx1"/>
                </a:solidFill>
                <a:cs typeface="+mn-ea"/>
                <a:sym typeface="+mn-lt"/>
              </a:rPr>
              <a:t> (AES) </a:t>
            </a:r>
            <a:r>
              <a:rPr lang="zh-CN" altLang="en-US" sz="1200" dirty="0">
                <a:solidFill>
                  <a:schemeClr val="tx1"/>
                </a:solidFill>
                <a:cs typeface="+mn-ea"/>
                <a:sym typeface="+mn-lt"/>
              </a:rPr>
              <a:t>加速器</a:t>
            </a:r>
            <a:endParaRPr lang="zh-CN" altLang="en-US" sz="12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cs typeface="+mn-ea"/>
                <a:sym typeface="+mn-lt"/>
              </a:rPr>
              <a:t>实时固件更新</a:t>
            </a:r>
            <a:r>
              <a:rPr lang="en-US" altLang="zh-CN" sz="1200" dirty="0">
                <a:solidFill>
                  <a:schemeClr val="tx1"/>
                </a:solidFill>
                <a:cs typeface="+mn-ea"/>
                <a:sym typeface="+mn-lt"/>
              </a:rPr>
              <a:t> (LFU)</a:t>
            </a:r>
            <a:endParaRPr lang="en-US" altLang="zh-CN" sz="12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封装选项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: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/>
              <a:t>LQFP 100	LQFP 80	LQFP 64	LQFP 48</a:t>
            </a:r>
            <a:endParaRPr lang="en-US" altLang="zh-CN" sz="1400"/>
          </a:p>
          <a:p>
            <a:pPr algn="l">
              <a:lnSpc>
                <a:spcPct val="150000"/>
              </a:lnSpc>
            </a:pPr>
            <a:endParaRPr lang="en-US" altLang="zh-CN" sz="14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9170" y="2447925"/>
            <a:ext cx="2038350" cy="19621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AVP32F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0039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43915" y="1617980"/>
            <a:ext cx="39306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产品优势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低成本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ym typeface="+mn-ea"/>
              </a:rPr>
              <a:t>内存</a:t>
            </a:r>
            <a:r>
              <a:rPr lang="zh-CN" altLang="en-US" sz="1400" dirty="0">
                <a:sym typeface="+mn-ea"/>
              </a:rPr>
              <a:t>大</a:t>
            </a:r>
            <a:endParaRPr lang="zh-CN" altLang="en-US" sz="14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ym typeface="+mn-ea"/>
              </a:rPr>
              <a:t>功耗低</a:t>
            </a:r>
            <a:endParaRPr lang="zh-CN" altLang="en-US" sz="14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ym typeface="+mn-ea"/>
              </a:rPr>
              <a:t>通信方面支持多种通信协议</a:t>
            </a:r>
            <a:r>
              <a:rPr lang="en-US" altLang="zh-CN" sz="1400" dirty="0">
                <a:sym typeface="+mn-ea"/>
              </a:rPr>
              <a:t>,</a:t>
            </a:r>
            <a:r>
              <a:rPr lang="zh-CN" altLang="en-US" sz="1400" dirty="0">
                <a:sym typeface="+mn-ea"/>
              </a:rPr>
              <a:t>支持</a:t>
            </a:r>
            <a:r>
              <a:rPr lang="en-US" altLang="zh-CN" sz="1400" dirty="0">
                <a:sym typeface="+mn-ea"/>
              </a:rPr>
              <a:t>CANFD</a:t>
            </a:r>
            <a:endParaRPr lang="zh-CN" altLang="en-US" sz="14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ym typeface="+mn-ea"/>
              </a:rPr>
              <a:t>具有</a:t>
            </a:r>
            <a:r>
              <a:rPr lang="en-US" altLang="zh-CN" sz="1400" dirty="0">
                <a:sym typeface="+mn-ea"/>
              </a:rPr>
              <a:t>CLA</a:t>
            </a:r>
            <a:r>
              <a:rPr lang="zh-CN" altLang="en-US" sz="1400" dirty="0">
                <a:sym typeface="+mn-ea"/>
              </a:rPr>
              <a:t>模块，运算</a:t>
            </a:r>
            <a:r>
              <a:rPr lang="zh-CN" altLang="en-US" sz="1400" dirty="0">
                <a:sym typeface="+mn-ea"/>
              </a:rPr>
              <a:t>效率高</a:t>
            </a:r>
            <a:endParaRPr lang="zh-CN" altLang="en-US" sz="14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ym typeface="+mn-ea"/>
              </a:rPr>
              <a:t>具有</a:t>
            </a:r>
            <a:r>
              <a:rPr lang="en-US" altLang="zh-CN" sz="1400" dirty="0">
                <a:sym typeface="+mn-ea"/>
              </a:rPr>
              <a:t>CLB</a:t>
            </a:r>
            <a:r>
              <a:rPr lang="zh-CN" altLang="en-US" sz="1400" dirty="0">
                <a:sym typeface="+mn-ea"/>
              </a:rPr>
              <a:t>模块，可处理</a:t>
            </a:r>
            <a:r>
              <a:rPr lang="en-US" altLang="zh-CN" sz="1400" dirty="0">
                <a:sym typeface="+mn-ea"/>
              </a:rPr>
              <a:t>ePWM</a:t>
            </a:r>
            <a:r>
              <a:rPr lang="zh-CN" altLang="en-US" sz="1400" dirty="0">
                <a:sym typeface="+mn-ea"/>
              </a:rPr>
              <a:t>、</a:t>
            </a:r>
            <a:r>
              <a:rPr lang="en-US" altLang="zh-CN" sz="1400" dirty="0">
                <a:sym typeface="+mn-ea"/>
              </a:rPr>
              <a:t>XBAR</a:t>
            </a:r>
            <a:r>
              <a:rPr lang="zh-CN" altLang="en-US" sz="1400" dirty="0">
                <a:sym typeface="+mn-ea"/>
              </a:rPr>
              <a:t>等外设信号，可代替</a:t>
            </a:r>
            <a:r>
              <a:rPr lang="en-US" altLang="zh-CN" sz="1400" dirty="0">
                <a:sym typeface="+mn-ea"/>
              </a:rPr>
              <a:t>CPLD/FPGA</a:t>
            </a:r>
            <a:r>
              <a:rPr lang="zh-CN" altLang="en-US" sz="1400" dirty="0">
                <a:sym typeface="+mn-ea"/>
              </a:rPr>
              <a:t>，实现复杂的数字逻辑</a:t>
            </a:r>
            <a:endParaRPr lang="zh-CN" altLang="en-US" sz="1400" dirty="0"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ym typeface="+mn-ea"/>
              </a:rPr>
              <a:t>在安全性和运算方面有提升</a:t>
            </a:r>
            <a:endParaRPr lang="zh-CN" altLang="en-US" sz="14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400" dirty="0">
              <a:sym typeface="+mn-ea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907280" y="1617980"/>
            <a:ext cx="6052185" cy="1783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相关应用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: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伺服电机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	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空调压缩机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开关电源（如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LLC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、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PFC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）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光伏逆变器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太阳能逆变器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电池管理系统（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BMS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车身控制模块（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BCM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）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	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车载充电器（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OBC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）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  <a:p>
            <a:endParaRPr lang="en-US" altLang="zh-CN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520699" y="19558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AVP32F0</a:t>
              </a:r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039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43915" y="1054735"/>
            <a:ext cx="8934450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•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移植注意事项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• </a:t>
            </a:r>
            <a:r>
              <a:rPr lang="zh-CN" altLang="en-US" dirty="0">
                <a:cs typeface="+mn-ea"/>
                <a:sym typeface="+mn-lt"/>
              </a:rPr>
              <a:t>硬件</a:t>
            </a:r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ym typeface="+mn-ea"/>
              </a:rPr>
              <a:t>1.</a:t>
            </a:r>
            <a:r>
              <a:rPr lang="zh-CN" altLang="en-US" sz="1600" dirty="0">
                <a:sym typeface="+mn-ea"/>
              </a:rPr>
              <a:t>硬件完全</a:t>
            </a:r>
            <a:r>
              <a:rPr lang="zh-CN" altLang="en-US" sz="1600" dirty="0">
                <a:sym typeface="+mn-ea"/>
              </a:rPr>
              <a:t>兼容</a:t>
            </a:r>
            <a:endParaRPr lang="zh-CN" altLang="en-US" sz="1600" dirty="0">
              <a:sym typeface="+mn-ea"/>
            </a:endParaRPr>
          </a:p>
        </p:txBody>
      </p: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97120" y="1054735"/>
            <a:ext cx="6158865" cy="457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endParaRPr lang="en-US" altLang="zh-CN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• </a:t>
            </a:r>
            <a:r>
              <a:rPr lang="zh-CN" altLang="en-US" dirty="0">
                <a:cs typeface="+mn-ea"/>
                <a:sym typeface="+mn-lt"/>
              </a:rPr>
              <a:t>软件</a:t>
            </a:r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ym typeface="+mn-ea"/>
              </a:rPr>
              <a:t>1.</a:t>
            </a:r>
            <a:r>
              <a:rPr lang="zh-CN" altLang="en-US" sz="1600" dirty="0">
                <a:sym typeface="+mn-ea"/>
              </a:rPr>
              <a:t>软件完全</a:t>
            </a:r>
            <a:r>
              <a:rPr lang="zh-CN" altLang="en-US" sz="1600" dirty="0">
                <a:sym typeface="+mn-ea"/>
              </a:rPr>
              <a:t>兼容</a:t>
            </a: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en-US" altLang="zh-CN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en-US" altLang="zh-CN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ym typeface="+mn-ea"/>
            </a:endParaRPr>
          </a:p>
          <a:p>
            <a:pPr algn="l">
              <a:lnSpc>
                <a:spcPct val="150000"/>
              </a:lnSpc>
            </a:pPr>
            <a:endParaRPr lang="en-US" altLang="zh-CN" sz="1600" dirty="0"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730749" y="4496587"/>
            <a:ext cx="2730500" cy="457200"/>
            <a:chOff x="5016500" y="4318000"/>
            <a:chExt cx="2730500" cy="457200"/>
          </a:xfrm>
        </p:grpSpPr>
        <p:sp>
          <p:nvSpPr>
            <p:cNvPr id="3" name="矩形: 圆角 2"/>
            <p:cNvSpPr/>
            <p:nvPr/>
          </p:nvSpPr>
          <p:spPr>
            <a:xfrm>
              <a:off x="5016500" y="4318000"/>
              <a:ext cx="2730500" cy="4572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1C56A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1C56A6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775961" y="4377323"/>
              <a:ext cx="12115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spc="200" dirty="0">
                  <a:solidFill>
                    <a:srgbClr val="1C56A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 2025.02</a:t>
              </a:r>
              <a:endParaRPr lang="en-US" altLang="zh-CN" sz="1600" spc="200" dirty="0">
                <a:solidFill>
                  <a:srgbClr val="1C56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3175794" y="2321108"/>
            <a:ext cx="5841682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defRPr sz="7500">
                <a:solidFill>
                  <a:schemeClr val="accent1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pPr algn="dist"/>
            <a:r>
              <a:rPr lang="zh-CN" altLang="en-US" sz="6000" dirty="0">
                <a:solidFill>
                  <a:srgbClr val="1C56A6"/>
                </a:solidFill>
                <a:effectLst/>
                <a:latin typeface="+mn-lt"/>
                <a:ea typeface="+mn-ea"/>
                <a:cs typeface="+mn-ea"/>
                <a:sym typeface="+mn-lt"/>
              </a:rPr>
              <a:t>谢谢您的观看</a:t>
            </a:r>
            <a:endParaRPr lang="zh-CN" altLang="en-US" sz="6000" dirty="0">
              <a:solidFill>
                <a:srgbClr val="1C56A6"/>
              </a:solidFill>
              <a:effectLst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412068" y="3736494"/>
            <a:ext cx="7367865" cy="526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00" dirty="0">
                <a:solidFill>
                  <a:srgbClr val="535B6C"/>
                </a:solidFill>
                <a:cs typeface="+mn-ea"/>
                <a:sym typeface="+mn-lt"/>
              </a:rPr>
              <a:t>Dream what you want to dream; go where you want to go; be what you want to be, because you have only one life and one chance to do all the things you want to do.</a:t>
            </a:r>
            <a:endParaRPr lang="zh-CN" altLang="en-US" sz="1000" dirty="0">
              <a:solidFill>
                <a:srgbClr val="535B6C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6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7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8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9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0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1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2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3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4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8_5*a*1"/>
  <p:tag name="KSO_WM_TEMPLATE_CATEGORY" val="diagram"/>
  <p:tag name="KSO_WM_TEMPLATE_INDEX" val="20231068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30"/>
  <p:tag name="KSO_WM_UNIT_TYPE" val="a"/>
  <p:tag name="KSO_WM_UNIT_INDEX" val="1"/>
  <p:tag name="KSO_WM_DIAGRAM_GROUP_CODE" val="m1-1"/>
  <p:tag name="KSO_WM_UNIT_PRESET_TEXT" val="单击此处添加标题"/>
  <p:tag name="KSO_WM_UNIT_TEXT_TYPE" val="1"/>
</p:tagLst>
</file>

<file path=ppt/tags/tag1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68_5*m_h_i*1_1_1"/>
  <p:tag name="KSO_WM_TEMPLATE_CATEGORY" val="diagram"/>
  <p:tag name="KSO_WM_TEMPLATE_INDEX" val="20231068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SUBTYPE" val="d"/>
  <p:tag name="KSO_WM_UNIT_TYPE" val="m_h_i"/>
  <p:tag name="KSO_WM_UNIT_INDEX" val="1_1_1"/>
  <p:tag name="KSO_WM_DIAGRAM_MAX_ITEMCNT" val="6"/>
  <p:tag name="KSO_WM_DIAGRAM_MIN_ITEMCNT" val="2"/>
  <p:tag name="KSO_WM_DIAGRAM_VIRTUALLY_FRAME" val="{&quot;height&quot;:315.4,&quot;left&quot;:66.52204388956389,&quot;top&quot;:134.3,&quot;width&quot;:845.9000854492188}"/>
  <p:tag name="KSO_WM_DIAGRAM_COLOR_MATCH_VALUE" val="{&quot;shape&quot;:{&quot;fill&quot;:{&quot;gradient&quot;:[{&quot;brightness&quot;:0.4000000059604645,&quot;colorType&quot;:1,&quot;foreColorIndex&quot;:5,&quot;pos&quot;:0.1599999964237213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</p:tagLst>
</file>

<file path=ppt/tags/tag1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68_5*m_h_i*1_2_1"/>
  <p:tag name="KSO_WM_TEMPLATE_CATEGORY" val="diagram"/>
  <p:tag name="KSO_WM_TEMPLATE_INDEX" val="20231068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SUBTYPE" val="d"/>
  <p:tag name="KSO_WM_UNIT_TYPE" val="m_h_i"/>
  <p:tag name="KSO_WM_UNIT_INDEX" val="1_2_1"/>
  <p:tag name="KSO_WM_DIAGRAM_MAX_ITEMCNT" val="6"/>
  <p:tag name="KSO_WM_DIAGRAM_MIN_ITEMCNT" val="2"/>
  <p:tag name="KSO_WM_DIAGRAM_VIRTUALLY_FRAME" val="{&quot;height&quot;:315.4,&quot;left&quot;:66.52204388956389,&quot;top&quot;:134.3,&quot;width&quot;:845.9000854492188}"/>
  <p:tag name="KSO_WM_DIAGRAM_COLOR_MATCH_VALUE" val="{&quot;shape&quot;:{&quot;fill&quot;:{&quot;gradient&quot;:[{&quot;brightness&quot;:0.4000000059604645,&quot;colorType&quot;:1,&quot;foreColorIndex&quot;:8,&quot;pos&quot;:0.1599999964237213,&quot;transparency&quot;:0},{&quot;brightness&quot;:0,&quot;colorType&quot;:1,&quot;foreColorIndex&quot;:8,&quot;pos&quot;:1,&quot;transparency&quot;:0}],&quot;type&quot;:3},&quot;glow&quot;:{&quot;colorType&quot;:0},&quot;line&quot;:{&quot;type&quot;:0},&quot;shadow&quot;:{&quot;brightness&quot;:0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</p:tagLst>
</file>

<file path=ppt/tags/tag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68_5*m_h_i*1_3_1"/>
  <p:tag name="KSO_WM_TEMPLATE_CATEGORY" val="diagram"/>
  <p:tag name="KSO_WM_TEMPLATE_INDEX" val="20231068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SUBTYPE" val="d"/>
  <p:tag name="KSO_WM_UNIT_TYPE" val="m_h_i"/>
  <p:tag name="KSO_WM_UNIT_INDEX" val="1_3_1"/>
  <p:tag name="KSO_WM_DIAGRAM_MAX_ITEMCNT" val="6"/>
  <p:tag name="KSO_WM_DIAGRAM_MIN_ITEMCNT" val="2"/>
  <p:tag name="KSO_WM_DIAGRAM_VIRTUALLY_FRAME" val="{&quot;height&quot;:315.4,&quot;left&quot;:66.52204388956389,&quot;top&quot;:134.3,&quot;width&quot;:845.9000854492188}"/>
  <p:tag name="KSO_WM_DIAGRAM_COLOR_MATCH_VALUE" val="{&quot;shape&quot;:{&quot;fill&quot;:{&quot;gradient&quot;:[{&quot;brightness&quot;:0.4000000059604645,&quot;colorType&quot;:1,&quot;foreColorIndex&quot;:5,&quot;pos&quot;:0.1599999964237213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68_5*m_h_i*1_4_1"/>
  <p:tag name="KSO_WM_TEMPLATE_CATEGORY" val="diagram"/>
  <p:tag name="KSO_WM_TEMPLATE_INDEX" val="20231068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SUBTYPE" val="d"/>
  <p:tag name="KSO_WM_UNIT_TYPE" val="m_h_i"/>
  <p:tag name="KSO_WM_UNIT_INDEX" val="1_4_1"/>
  <p:tag name="KSO_WM_DIAGRAM_MAX_ITEMCNT" val="6"/>
  <p:tag name="KSO_WM_DIAGRAM_MIN_ITEMCNT" val="2"/>
  <p:tag name="KSO_WM_DIAGRAM_VIRTUALLY_FRAME" val="{&quot;height&quot;:315.4,&quot;left&quot;:66.52204388956389,&quot;top&quot;:134.3,&quot;width&quot;:845.9000854492188}"/>
  <p:tag name="KSO_WM_DIAGRAM_COLOR_MATCH_VALUE" val="{&quot;shape&quot;:{&quot;fill&quot;:{&quot;gradient&quot;:[{&quot;brightness&quot;:0.4000000059604645,&quot;colorType&quot;:1,&quot;foreColorIndex&quot;:8,&quot;pos&quot;:0.1599999964237213,&quot;transparency&quot;:0},{&quot;brightness&quot;:0,&quot;colorType&quot;:1,&quot;foreColorIndex&quot;:8,&quot;pos&quot;:1,&quot;transparency&quot;:0}],&quot;type&quot;:3},&quot;glow&quot;:{&quot;colorType&quot;:0},&quot;line&quot;:{&quot;type&quot;:0},&quot;shadow&quot;:{&quot;brightness&quot;:0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</p:tagLst>
</file>

<file path=ppt/tags/tag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68_5*m_h_i*1_5_1"/>
  <p:tag name="KSO_WM_TEMPLATE_CATEGORY" val="diagram"/>
  <p:tag name="KSO_WM_TEMPLATE_INDEX" val="20231068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SUBTYPE" val="d"/>
  <p:tag name="KSO_WM_UNIT_TYPE" val="m_h_i"/>
  <p:tag name="KSO_WM_UNIT_INDEX" val="1_5_1"/>
  <p:tag name="KSO_WM_DIAGRAM_MAX_ITEMCNT" val="6"/>
  <p:tag name="KSO_WM_DIAGRAM_MIN_ITEMCNT" val="2"/>
  <p:tag name="KSO_WM_DIAGRAM_VIRTUALLY_FRAME" val="{&quot;height&quot;:315.4,&quot;left&quot;:66.52204388956389,&quot;top&quot;:134.3,&quot;width&quot;:845.9000854492188}"/>
  <p:tag name="KSO_WM_DIAGRAM_COLOR_MATCH_VALUE" val="{&quot;shape&quot;:{&quot;fill&quot;:{&quot;gradient&quot;:[{&quot;brightness&quot;:0.4000000059604645,&quot;colorType&quot;:1,&quot;foreColorIndex&quot;:5,&quot;pos&quot;:0.1599999964237213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</p:tagLst>
</file>

<file path=ppt/tags/tag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68_5*m_h_i*1_6_1"/>
  <p:tag name="KSO_WM_TEMPLATE_CATEGORY" val="diagram"/>
  <p:tag name="KSO_WM_TEMPLATE_INDEX" val="20231068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SUBTYPE" val="d"/>
  <p:tag name="KSO_WM_UNIT_TYPE" val="m_h_i"/>
  <p:tag name="KSO_WM_UNIT_INDEX" val="1_6_1"/>
  <p:tag name="KSO_WM_DIAGRAM_MAX_ITEMCNT" val="6"/>
  <p:tag name="KSO_WM_DIAGRAM_MIN_ITEMCNT" val="2"/>
  <p:tag name="KSO_WM_DIAGRAM_VIRTUALLY_FRAME" val="{&quot;height&quot;:315.4,&quot;left&quot;:66.52204388956389,&quot;top&quot;:134.3,&quot;width&quot;:845.9000854492188}"/>
  <p:tag name="KSO_WM_DIAGRAM_COLOR_MATCH_VALUE" val="{&quot;shape&quot;:{&quot;fill&quot;:{&quot;gradient&quot;:[{&quot;brightness&quot;:0.4000000059604645,&quot;colorType&quot;:1,&quot;foreColorIndex&quot;:8,&quot;pos&quot;:0.1599999964237213,&quot;transparency&quot;:0},{&quot;brightness&quot;:0,&quot;colorType&quot;:1,&quot;foreColorIndex&quot;:8,&quot;pos&quot;:1,&quot;transparency&quot;:0}],&quot;type&quot;:3},&quot;glow&quot;:{&quot;colorType&quot;:0},&quot;line&quot;:{&quot;type&quot;:0},&quot;shadow&quot;:{&quot;brightness&quot;:0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</p:tagLst>
</file>

<file path=ppt/tags/tag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1068_5*m_h_a*1_1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15.4,&quot;left&quot;:66.52204388956389,&quot;top&quot;:134.3,&quot;width&quot;:845.90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添加标题"/>
  <p:tag name="KSO_WM_UNIT_TEXT_TYPE" val="1"/>
</p:tagLst>
</file>

<file path=ppt/tags/tag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68_5*m_h_i*1_1_2"/>
  <p:tag name="KSO_WM_TEMPLATE_CATEGORY" val="diagram"/>
  <p:tag name="KSO_WM_TEMPLATE_INDEX" val="20231068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1_1_2"/>
  <p:tag name="KSO_WM_DIAGRAM_MAX_ITEMCNT" val="6"/>
  <p:tag name="KSO_WM_DIAGRAM_MIN_ITEMCNT" val="2"/>
  <p:tag name="KSO_WM_DIAGRAM_VIRTUALLY_FRAME" val="{&quot;height&quot;:315.4,&quot;left&quot;:66.52204388956389,&quot;top&quot;:134.3,&quot;width&quot;:845.90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</p:tagLst>
</file>

<file path=ppt/tags/tag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68_5*m_h_i*1_2_2"/>
  <p:tag name="KSO_WM_TEMPLATE_CATEGORY" val="diagram"/>
  <p:tag name="KSO_WM_TEMPLATE_INDEX" val="20231068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1_2_2"/>
  <p:tag name="KSO_WM_DIAGRAM_MAX_ITEMCNT" val="6"/>
  <p:tag name="KSO_WM_DIAGRAM_MIN_ITEMCNT" val="2"/>
  <p:tag name="KSO_WM_DIAGRAM_VIRTUALLY_FRAME" val="{&quot;height&quot;:315.4,&quot;left&quot;:66.52204388956389,&quot;top&quot;:134.3,&quot;width&quot;:845.90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8"/>
</p:tagLst>
</file>

<file path=ppt/tags/tag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68_5*m_h_i*1_3_2"/>
  <p:tag name="KSO_WM_TEMPLATE_CATEGORY" val="diagram"/>
  <p:tag name="KSO_WM_TEMPLATE_INDEX" val="20231068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1_3_2"/>
  <p:tag name="KSO_WM_DIAGRAM_MAX_ITEMCNT" val="6"/>
  <p:tag name="KSO_WM_DIAGRAM_MIN_ITEMCNT" val="2"/>
  <p:tag name="KSO_WM_DIAGRAM_VIRTUALLY_FRAME" val="{&quot;height&quot;:315.4,&quot;left&quot;:66.52204388956389,&quot;top&quot;:134.3,&quot;width&quot;:845.90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1068_5*m_h_a*1_4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15.4,&quot;left&quot;:66.52204388956389,&quot;top&quot;:134.3,&quot;width&quot;:845.90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添加标题"/>
  <p:tag name="KSO_WM_UNIT_TEXT_TYPE" val="1"/>
</p:tagLst>
</file>

<file path=ppt/tags/tag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68_5*m_h_i*1_4_2"/>
  <p:tag name="KSO_WM_TEMPLATE_CATEGORY" val="diagram"/>
  <p:tag name="KSO_WM_TEMPLATE_INDEX" val="20231068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1_4_2"/>
  <p:tag name="KSO_WM_DIAGRAM_MAX_ITEMCNT" val="6"/>
  <p:tag name="KSO_WM_DIAGRAM_MIN_ITEMCNT" val="2"/>
  <p:tag name="KSO_WM_DIAGRAM_VIRTUALLY_FRAME" val="{&quot;height&quot;:315.4,&quot;left&quot;:66.52204388956389,&quot;top&quot;:134.3,&quot;width&quot;:845.90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8"/>
</p:tagLst>
</file>

<file path=ppt/tags/tag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68_5*m_h_i*1_5_2"/>
  <p:tag name="KSO_WM_TEMPLATE_CATEGORY" val="diagram"/>
  <p:tag name="KSO_WM_TEMPLATE_INDEX" val="20231068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1_5_2"/>
  <p:tag name="KSO_WM_DIAGRAM_MAX_ITEMCNT" val="6"/>
  <p:tag name="KSO_WM_DIAGRAM_MIN_ITEMCNT" val="2"/>
  <p:tag name="KSO_WM_DIAGRAM_VIRTUALLY_FRAME" val="{&quot;height&quot;:315.4,&quot;left&quot;:66.52204388956389,&quot;top&quot;:134.3,&quot;width&quot;:845.90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</p:tagLst>
</file>

<file path=ppt/tags/tag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68_5*m_h_i*1_6_2"/>
  <p:tag name="KSO_WM_TEMPLATE_CATEGORY" val="diagram"/>
  <p:tag name="KSO_WM_TEMPLATE_INDEX" val="20231068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1_6_2"/>
  <p:tag name="KSO_WM_DIAGRAM_MAX_ITEMCNT" val="6"/>
  <p:tag name="KSO_WM_DIAGRAM_MIN_ITEMCNT" val="2"/>
  <p:tag name="KSO_WM_DIAGRAM_VIRTUALLY_FRAME" val="{&quot;height&quot;:315.4,&quot;left&quot;:66.52204388956389,&quot;top&quot;:134.3,&quot;width&quot;:845.90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8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1068_5*m_h_a*1_3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15.4,&quot;left&quot;:66.52204388956389,&quot;top&quot;:134.3,&quot;width&quot;:845.90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6"/>
  <p:tag name="KSO_WM_UNIT_TEXT_FILL_FORE_SCHEMECOLOR_INDEX" val="1"/>
  <p:tag name="KSO_WM_UNIT_TEXT_FILL_TYPE" val="1"/>
  <p:tag name="KSO_WM_UNIT_PRESET_TEXT" val="添加标题"/>
  <p:tag name="KSO_WM_UNIT_TEXT_TYPE" val="1"/>
</p:tagLst>
</file>

<file path=ppt/tags/tag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1068_5*m_h_a*1_5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15.4,&quot;left&quot;:66.52204388956389,&quot;top&quot;:134.3,&quot;width&quot;:845.90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添加标题"/>
  <p:tag name="KSO_WM_UNIT_TEXT_TYPE" val="1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1068_5*m_h_a*1_2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15.4,&quot;left&quot;:66.52204388956389,&quot;top&quot;:134.3,&quot;width&quot;:845.90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添加标题"/>
  <p:tag name="KSO_WM_UNIT_TEXT_TYPE" val="1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6_1"/>
  <p:tag name="KSO_WM_UNIT_ID" val="diagram20231068_5*m_h_a*1_6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15.4,&quot;left&quot;:66.52204388956389,&quot;top&quot;:134.3,&quot;width&quot;:845.90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添加标题"/>
  <p:tag name="KSO_WM_UNIT_TEXT_TYPE" val="1"/>
</p:tagLst>
</file>

<file path=ppt/tags/tag34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8"/>
  <p:tag name="KSO_WM_SPECIAL_SOURCE" val="bdnull"/>
  <p:tag name="KSO_WM_SLIDE_ID" val="diagram20231068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SLIDE_LAYOUT" val="a_m"/>
  <p:tag name="KSO_WM_SLIDE_LAYOUT_CNT" val="1_1"/>
  <p:tag name="KSO_WM_SLIDE_TYPE" val="text"/>
  <p:tag name="KSO_WM_SLIDE_SUBTYPE" val="diag"/>
  <p:tag name="KSO_WM_SLIDE_SIZE" val="845.9*279.7"/>
  <p:tag name="KSO_WM_SLIDE_POSITION" val="66.522*170"/>
  <p:tag name="KSO_WM_DIAGRAM_GROUP_CODE" val="m1-1"/>
  <p:tag name="KSO_WM_SLIDE_DIAGTYPE" val="m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u1eyvzsk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  <a:extLst>
      <a:ext uri="{D81B5157-A7B6-4480-A006-42BB1BC3E7BB}">
        <wpsdc:hlinkScheme xmlns:wpsdc="http://www.wps.cn/officeDocument/2017/drawingmlCustomData" underline="false"/>
      </a:ext>
    </a:extLst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6321</Words>
  <Application>WPS 演示</Application>
  <PresentationFormat>宽屏</PresentationFormat>
  <Paragraphs>602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Arial</vt:lpstr>
      <vt:lpstr>宋体</vt:lpstr>
      <vt:lpstr>Wingdings</vt:lpstr>
      <vt:lpstr>微软雅黑</vt:lpstr>
      <vt:lpstr>DIN-BlackItalic</vt:lpstr>
      <vt:lpstr>Segoe Print</vt:lpstr>
      <vt:lpstr>Segoe UI</vt:lpstr>
      <vt:lpstr>Arial Unicode MS</vt:lpstr>
      <vt:lpstr>Calibri</vt:lpstr>
      <vt:lpstr>Office 主题​​</vt:lpstr>
      <vt:lpstr>PowerPoint 演示文稿</vt:lpstr>
      <vt:lpstr>PowerPoint 演示文稿</vt:lpstr>
      <vt:lpstr>产品目录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Sheng xia</dc:creator>
  <cp:lastModifiedBy>WPS_1609236828</cp:lastModifiedBy>
  <cp:revision>43</cp:revision>
  <dcterms:created xsi:type="dcterms:W3CDTF">2020-11-18T12:01:00Z</dcterms:created>
  <dcterms:modified xsi:type="dcterms:W3CDTF">2025-02-27T08:19:04Z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KSOTemplateUUID">
    <vt:lpwstr>v1.0_mb_nExWx4yflLJo75D2YYg1Fg==</vt:lpwstr>
  </property>
  <property fmtid="{D5CDD505-2E9C-101B-9397-08002B2CF9AE}" pid="4" name="ICV">
    <vt:lpwstr>8C824742F8974133B87F24A2ADFF1D46_12</vt:lpwstr>
  </property>
</Properties>
</file>