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3"/>
    <p:sldId id="257" r:id="rId4"/>
    <p:sldId id="263" r:id="rId5"/>
    <p:sldId id="286" r:id="rId6"/>
    <p:sldId id="287" r:id="rId7"/>
    <p:sldId id="264" r:id="rId8"/>
    <p:sldId id="325" r:id="rId9"/>
    <p:sldId id="288" r:id="rId10"/>
    <p:sldId id="342" r:id="rId11"/>
    <p:sldId id="344" r:id="rId12"/>
    <p:sldId id="343" r:id="rId13"/>
    <p:sldId id="306" r:id="rId14"/>
    <p:sldId id="265" r:id="rId15"/>
    <p:sldId id="305" r:id="rId16"/>
    <p:sldId id="307" r:id="rId17"/>
    <p:sldId id="341" r:id="rId18"/>
    <p:sldId id="262" r:id="rId19"/>
    <p:sldId id="273" r:id="rId20"/>
    <p:sldId id="282" r:id="rId21"/>
    <p:sldId id="327" r:id="rId22"/>
    <p:sldId id="283" r:id="rId23"/>
    <p:sldId id="326" r:id="rId24"/>
    <p:sldId id="328" r:id="rId25"/>
    <p:sldId id="321" r:id="rId26"/>
    <p:sldId id="284" r:id="rId27"/>
    <p:sldId id="285" r:id="rId29"/>
    <p:sldId id="303" r:id="rId30"/>
    <p:sldId id="308" r:id="rId31"/>
    <p:sldId id="309" r:id="rId32"/>
    <p:sldId id="329" r:id="rId33"/>
    <p:sldId id="330" r:id="rId34"/>
    <p:sldId id="331" r:id="rId35"/>
    <p:sldId id="332" r:id="rId36"/>
    <p:sldId id="333" r:id="rId37"/>
    <p:sldId id="334" r:id="rId38"/>
    <p:sldId id="335" r:id="rId39"/>
    <p:sldId id="337" r:id="rId40"/>
    <p:sldId id="336" r:id="rId41"/>
    <p:sldId id="338" r:id="rId42"/>
    <p:sldId id="339" r:id="rId43"/>
    <p:sldId id="340" r:id="rId44"/>
    <p:sldId id="323" r:id="rId45"/>
  </p:sldIdLst>
  <p:sldSz cx="12192000" cy="6858000"/>
  <p:notesSz cx="6858000" cy="9144000"/>
  <p:custDataLst>
    <p:tags r:id="rId4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gs" Target="tags/tag22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tags" Target="../tags/tag6.xml"/><Relationship Id="rId2" Type="http://schemas.openxmlformats.org/officeDocument/2006/relationships/image" Target="../media/image10.png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tags" Target="../tags/tag9.xml"/><Relationship Id="rId2" Type="http://schemas.openxmlformats.org/officeDocument/2006/relationships/image" Target="../media/image13.png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tags" Target="../tags/tag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tags" Target="../tags/tag11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tags" Target="../tags/tag13.xml"/><Relationship Id="rId2" Type="http://schemas.openxmlformats.org/officeDocument/2006/relationships/image" Target="../media/image18.png"/><Relationship Id="rId1" Type="http://schemas.openxmlformats.org/officeDocument/2006/relationships/tags" Target="../tags/tag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tags" Target="../tags/tag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tags" Target="../tags/tag15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tags" Target="../tags/tag17.xml"/><Relationship Id="rId2" Type="http://schemas.openxmlformats.org/officeDocument/2006/relationships/image" Target="../media/image26.png"/><Relationship Id="rId1" Type="http://schemas.openxmlformats.org/officeDocument/2006/relationships/tags" Target="../tags/tag16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1.png"/><Relationship Id="rId7" Type="http://schemas.openxmlformats.org/officeDocument/2006/relationships/tags" Target="../tags/tag21.xml"/><Relationship Id="rId6" Type="http://schemas.openxmlformats.org/officeDocument/2006/relationships/image" Target="../media/image30.png"/><Relationship Id="rId5" Type="http://schemas.openxmlformats.org/officeDocument/2006/relationships/tags" Target="../tags/tag20.xml"/><Relationship Id="rId4" Type="http://schemas.openxmlformats.org/officeDocument/2006/relationships/image" Target="../media/image29.png"/><Relationship Id="rId3" Type="http://schemas.openxmlformats.org/officeDocument/2006/relationships/tags" Target="../tags/tag19.xml"/><Relationship Id="rId2" Type="http://schemas.openxmlformats.org/officeDocument/2006/relationships/image" Target="../media/image28.png"/><Relationship Id="rId1" Type="http://schemas.openxmlformats.org/officeDocument/2006/relationships/tags" Target="../tags/tag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32</a:t>
            </a:r>
            <a:r>
              <a:rPr lang="zh-CN" altLang="en-US"/>
              <a:t>系列</a:t>
            </a:r>
            <a:r>
              <a:rPr lang="en-US" altLang="zh-CN"/>
              <a:t>DSP</a:t>
            </a:r>
            <a:r>
              <a:rPr lang="zh-CN" altLang="en-US"/>
              <a:t>应用及要点培训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AVP32F335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产品优势：</a:t>
            </a:r>
            <a:endParaRPr lang="zh-CN" altLang="en-US" dirty="0"/>
          </a:p>
          <a:p>
            <a:r>
              <a:rPr lang="en-US" altLang="zh-CN" dirty="0"/>
              <a:t>PIN to PIN</a:t>
            </a:r>
            <a:endParaRPr lang="en-US" altLang="zh-CN" dirty="0"/>
          </a:p>
          <a:p>
            <a:r>
              <a:rPr lang="zh-CN" altLang="en-US" dirty="0"/>
              <a:t>低功耗</a:t>
            </a:r>
            <a:endParaRPr lang="zh-CN" altLang="en-US" dirty="0"/>
          </a:p>
          <a:p>
            <a:r>
              <a:rPr lang="zh-CN" altLang="en-US" dirty="0"/>
              <a:t>性价比高</a:t>
            </a:r>
            <a:endParaRPr lang="zh-CN" altLang="en-US" dirty="0"/>
          </a:p>
          <a:p>
            <a:r>
              <a:rPr lang="zh-CN" altLang="en-US" dirty="0"/>
              <a:t>售前售后技术支持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52715"/>
          <a:stretch>
            <a:fillRect/>
          </a:stretch>
        </p:blipFill>
        <p:spPr>
          <a:xfrm>
            <a:off x="5345430" y="1242695"/>
            <a:ext cx="5053330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AVP32F335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市场应用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42670" y="2871470"/>
            <a:ext cx="10501630" cy="19469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AVP32F335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20472"/>
            <a:ext cx="10515600" cy="4603750"/>
          </a:xfrm>
        </p:spPr>
        <p:txBody>
          <a:bodyPr>
            <a:normAutofit fontScale="97500" lnSpcReduction="20000"/>
          </a:bodyPr>
          <a:lstStyle/>
          <a:p>
            <a:pPr marL="0" indent="0">
              <a:buNone/>
            </a:pPr>
            <a:r>
              <a:rPr lang="zh-CN" altLang="en-US" dirty="0"/>
              <a:t>客户需求：</a:t>
            </a:r>
            <a:r>
              <a:rPr lang="en-US" altLang="zh-CN" dirty="0"/>
              <a:t>FLASH</a:t>
            </a:r>
            <a:r>
              <a:rPr lang="zh-CN" altLang="en-US" dirty="0"/>
              <a:t>（</a:t>
            </a:r>
            <a:r>
              <a:rPr lang="en-US" altLang="zh-CN" dirty="0"/>
              <a:t>256k*16</a:t>
            </a:r>
            <a:r>
              <a:rPr lang="zh-CN" altLang="en-US" dirty="0"/>
              <a:t>）</a:t>
            </a:r>
            <a:r>
              <a:rPr lang="en-US" altLang="zh-CN" dirty="0"/>
              <a:t>/</a:t>
            </a:r>
            <a:r>
              <a:rPr lang="zh-CN" altLang="en-US" dirty="0"/>
              <a:t>（</a:t>
            </a:r>
            <a:r>
              <a:rPr lang="en-US" altLang="zh-CN" dirty="0"/>
              <a:t>512K*8</a:t>
            </a:r>
            <a:r>
              <a:rPr lang="zh-CN" altLang="en-US" dirty="0"/>
              <a:t>）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SARAM</a:t>
            </a:r>
            <a:r>
              <a:rPr lang="zh-CN" altLang="en-US" dirty="0"/>
              <a:t>：</a:t>
            </a:r>
            <a:r>
              <a:rPr lang="en-US" altLang="zh-CN" dirty="0"/>
              <a:t>34K*16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FPU:</a:t>
            </a:r>
            <a:r>
              <a:rPr lang="zh-CN" altLang="en-US" dirty="0"/>
              <a:t>浮点运算单元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DMA</a:t>
            </a:r>
            <a:r>
              <a:rPr lang="zh-CN" altLang="en-US" dirty="0"/>
              <a:t>：直接存储器访问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EPWM/HRPWM</a:t>
            </a:r>
            <a:r>
              <a:rPr lang="zh-CN" altLang="en-US" dirty="0"/>
              <a:t>：增强型</a:t>
            </a:r>
            <a:r>
              <a:rPr lang="en-US" altLang="zh-CN" dirty="0"/>
              <a:t>/</a:t>
            </a:r>
            <a:r>
              <a:rPr lang="zh-CN" altLang="en-US" dirty="0"/>
              <a:t>高分辨</a:t>
            </a:r>
            <a:r>
              <a:rPr lang="en-US" altLang="zh-CN" dirty="0"/>
              <a:t>PWM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ADC</a:t>
            </a:r>
            <a:r>
              <a:rPr lang="zh-CN" altLang="en-US" dirty="0"/>
              <a:t>：模数转换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SCI</a:t>
            </a:r>
            <a:r>
              <a:rPr lang="zh-CN" altLang="en-US" dirty="0"/>
              <a:t>：串行通信接口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 err="1">
                <a:sym typeface="+mn-ea"/>
              </a:rPr>
              <a:t>McBSP</a:t>
            </a:r>
            <a:r>
              <a:rPr lang="zh-CN" altLang="en-US" dirty="0">
                <a:sym typeface="+mn-ea"/>
              </a:rPr>
              <a:t>：多通道缓冲串口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SPI</a:t>
            </a:r>
            <a:r>
              <a:rPr lang="zh-CN" altLang="en-US" dirty="0"/>
              <a:t>：串行接口技术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CAN</a:t>
            </a:r>
            <a:r>
              <a:rPr lang="zh-CN" altLang="en-US" dirty="0"/>
              <a:t>：局域网通讯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AVP32F335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ym typeface="+mn-ea"/>
              </a:rPr>
              <a:t>DMA</a:t>
            </a:r>
            <a:r>
              <a:rPr lang="zh-CN" altLang="en-US" dirty="0">
                <a:sym typeface="+mn-ea"/>
              </a:rPr>
              <a:t>：直接存储器访问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zh-CN" altLang="en-US" dirty="0"/>
              <a:t>节约</a:t>
            </a:r>
            <a:r>
              <a:rPr lang="en-US" altLang="zh-CN" dirty="0"/>
              <a:t>DSP</a:t>
            </a:r>
            <a:r>
              <a:rPr lang="zh-CN" altLang="en-US" dirty="0"/>
              <a:t>资源，提高</a:t>
            </a:r>
            <a:r>
              <a:rPr lang="en-US" altLang="zh-CN" dirty="0"/>
              <a:t>DSP</a:t>
            </a:r>
            <a:r>
              <a:rPr lang="zh-CN" altLang="en-US" dirty="0"/>
              <a:t>处理效率和能力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16025" y="3098800"/>
            <a:ext cx="6571615" cy="33381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AVP32F335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注意事项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4250" y="1847850"/>
            <a:ext cx="6961505" cy="4279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ADC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与</a:t>
            </a:r>
            <a:r>
              <a:rPr lang="en-US" altLang="zh-CN"/>
              <a:t> F28335 </a:t>
            </a:r>
            <a:r>
              <a:rPr lang="zh-CN" altLang="en-US"/>
              <a:t>不同，</a:t>
            </a:r>
            <a:r>
              <a:rPr lang="en-US" altLang="zh-CN"/>
              <a:t>AVP32F335A</a:t>
            </a:r>
            <a:r>
              <a:rPr lang="zh-CN" altLang="en-US"/>
              <a:t>版本</a:t>
            </a:r>
            <a:r>
              <a:rPr lang="en-US" altLang="zh-CN"/>
              <a:t> </a:t>
            </a:r>
            <a:r>
              <a:rPr lang="zh-CN" altLang="en-US"/>
              <a:t>的</a:t>
            </a:r>
            <a:r>
              <a:rPr lang="en-US" altLang="zh-CN"/>
              <a:t> ADC </a:t>
            </a:r>
            <a:r>
              <a:rPr lang="zh-CN" altLang="en-US"/>
              <a:t>模块需要独立配置内核供电使能，参考配置语句及添加位置示例如下。</a:t>
            </a:r>
            <a:r>
              <a:rPr lang="en-US" altLang="zh-CN"/>
              <a:t>AVP32F335B</a:t>
            </a:r>
            <a:r>
              <a:rPr lang="zh-CN" altLang="en-US"/>
              <a:t>版本的</a:t>
            </a:r>
            <a:r>
              <a:rPr lang="en-US" altLang="zh-CN"/>
              <a:t>ADC</a:t>
            </a:r>
            <a:r>
              <a:rPr lang="zh-CN" altLang="en-US"/>
              <a:t>初始化代码不需要对</a:t>
            </a:r>
            <a:r>
              <a:rPr lang="en-US" altLang="zh-CN"/>
              <a:t>LDO</a:t>
            </a:r>
            <a:r>
              <a:rPr lang="zh-CN" altLang="en-US"/>
              <a:t>进行使能操作。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045" y="3269615"/>
            <a:ext cx="7670165" cy="30156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ADC</a:t>
            </a:r>
            <a:r>
              <a:rPr lang="zh-CN" altLang="en-US">
                <a:sym typeface="+mn-ea"/>
              </a:rPr>
              <a:t>：模数转换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16899" y="2230266"/>
            <a:ext cx="8905875" cy="43516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06755" y="1882775"/>
            <a:ext cx="39154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模拟电压信号通过转换电阻进入</a:t>
            </a:r>
            <a:r>
              <a:rPr lang="en-US" altLang="zh-CN" dirty="0"/>
              <a:t>DSP</a:t>
            </a:r>
            <a:r>
              <a:rPr lang="zh-CN" altLang="en-US" dirty="0"/>
              <a:t>内部，随着采样开关打开，采保电容充电，</a:t>
            </a:r>
            <a:r>
              <a:rPr lang="en-US" altLang="zh-CN" dirty="0"/>
              <a:t> DSP</a:t>
            </a:r>
            <a:r>
              <a:rPr lang="zh-CN" altLang="en-US" dirty="0"/>
              <a:t>处理采保电容电压计算出对应数据；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335B ADC</a:t>
            </a:r>
            <a:r>
              <a:rPr lang="zh-CN" altLang="en-US"/>
              <a:t>采保电容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AVP32F335B</a:t>
            </a:r>
            <a:r>
              <a:rPr lang="zh-CN" altLang="en-US"/>
              <a:t>版本的</a:t>
            </a:r>
            <a:r>
              <a:rPr lang="en-US" altLang="zh-CN"/>
              <a:t>ADC</a:t>
            </a:r>
            <a:r>
              <a:rPr lang="zh-CN" altLang="en-US"/>
              <a:t>采保电容增大，</a:t>
            </a:r>
            <a:r>
              <a:rPr lang="en-US" altLang="zh-CN"/>
              <a:t>ADC</a:t>
            </a:r>
            <a:r>
              <a:rPr lang="zh-CN" altLang="en-US"/>
              <a:t>通道端口</a:t>
            </a:r>
            <a:r>
              <a:rPr lang="en-US" altLang="zh-CN"/>
              <a:t>RC</a:t>
            </a:r>
            <a:r>
              <a:rPr lang="zh-CN" altLang="en-US"/>
              <a:t>及</a:t>
            </a:r>
            <a:r>
              <a:rPr lang="en-US" altLang="zh-CN"/>
              <a:t>ACQ_ps</a:t>
            </a:r>
            <a:r>
              <a:rPr lang="zh-CN" altLang="en-US"/>
              <a:t>需要匹配。建议适当增大程序内采样窗口。</a:t>
            </a:r>
            <a:r>
              <a:rPr lang="en-US" altLang="zh-CN"/>
              <a:t>RC</a:t>
            </a:r>
            <a:r>
              <a:rPr lang="zh-CN" altLang="en-US"/>
              <a:t>推荐电路如下。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1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1535" y="3073400"/>
            <a:ext cx="4720590" cy="282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847975"/>
            <a:ext cx="501015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335A/B ADC</a:t>
            </a:r>
            <a:r>
              <a:rPr lang="zh-CN" altLang="en-US"/>
              <a:t>基准</a:t>
            </a:r>
            <a:r>
              <a:rPr lang="zh-CN" altLang="en-US"/>
              <a:t>电路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335A/B</a:t>
            </a:r>
            <a:r>
              <a:rPr lang="zh-CN" altLang="en-US"/>
              <a:t>版本的</a:t>
            </a:r>
            <a:r>
              <a:rPr lang="en-US" altLang="zh-CN"/>
              <a:t> ADCREFP </a:t>
            </a:r>
            <a:r>
              <a:rPr lang="zh-CN" altLang="en-US"/>
              <a:t>和</a:t>
            </a:r>
            <a:r>
              <a:rPr lang="en-US" altLang="zh-CN"/>
              <a:t> ADCREFM </a:t>
            </a:r>
            <a:r>
              <a:rPr lang="zh-CN" altLang="en-US"/>
              <a:t>引脚的外接电容如下图所示，容值为</a:t>
            </a:r>
            <a:r>
              <a:rPr lang="en-US" altLang="zh-CN"/>
              <a:t> 10</a:t>
            </a:r>
            <a:r>
              <a:rPr lang="en-US" altLang="en-US"/>
              <a:t>µ</a:t>
            </a:r>
            <a:r>
              <a:rPr lang="en-US" altLang="zh-CN"/>
              <a:t>f</a:t>
            </a:r>
            <a:r>
              <a:rPr lang="zh-CN" altLang="en-US"/>
              <a:t>，外接电阻为</a:t>
            </a:r>
            <a:r>
              <a:rPr lang="en-US" altLang="zh-CN"/>
              <a:t>22kΩ</a:t>
            </a:r>
            <a:r>
              <a:rPr lang="zh-CN" altLang="en-US"/>
              <a:t>，如下图所示。</a:t>
            </a:r>
            <a:r>
              <a:rPr lang="en-US" altLang="zh-CN"/>
              <a:t>F28335</a:t>
            </a:r>
            <a:r>
              <a:rPr lang="zh-CN" altLang="en-US"/>
              <a:t>的电容值为</a:t>
            </a:r>
            <a:r>
              <a:rPr lang="en-US" altLang="zh-CN"/>
              <a:t>2.2</a:t>
            </a:r>
            <a:r>
              <a:rPr lang="en-US" altLang="en-US"/>
              <a:t>µ</a:t>
            </a:r>
            <a:r>
              <a:rPr lang="en-US" altLang="zh-CN"/>
              <a:t>f</a:t>
            </a:r>
            <a:r>
              <a:rPr lang="zh-CN" altLang="en-US"/>
              <a:t>，电阻为</a:t>
            </a:r>
            <a:r>
              <a:rPr lang="en-US" altLang="zh-CN"/>
              <a:t>22kΩ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955" y="3284855"/>
            <a:ext cx="5768975" cy="27870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335 ADC </a:t>
            </a:r>
            <a:r>
              <a:rPr lang="zh-CN" altLang="en-US"/>
              <a:t>速度差异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AVP32F335 A/B</a:t>
            </a:r>
            <a:r>
              <a:rPr lang="zh-CN" altLang="en-US"/>
              <a:t>版本的</a:t>
            </a:r>
            <a:r>
              <a:rPr lang="en-US" altLang="zh-CN"/>
              <a:t>ADC</a:t>
            </a:r>
            <a:r>
              <a:rPr lang="zh-CN" altLang="en-US"/>
              <a:t>时钟主频建议</a:t>
            </a:r>
            <a:r>
              <a:rPr lang="en-US" altLang="zh-CN"/>
              <a:t>≤12.5MHz</a:t>
            </a:r>
            <a:r>
              <a:rPr lang="zh-CN" altLang="en-US"/>
              <a:t>，采样率</a:t>
            </a:r>
            <a:r>
              <a:rPr lang="en-US" altLang="zh-CN"/>
              <a:t> 3.75MSPS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TMS320F28335</a:t>
            </a:r>
            <a:r>
              <a:rPr lang="zh-CN" altLang="en-US"/>
              <a:t>的</a:t>
            </a:r>
            <a:r>
              <a:rPr lang="en-US" altLang="zh-CN"/>
              <a:t>ADC</a:t>
            </a:r>
            <a:r>
              <a:rPr lang="zh-CN" altLang="en-US"/>
              <a:t>时钟主频</a:t>
            </a:r>
            <a:r>
              <a:rPr lang="en-US" altLang="zh-CN"/>
              <a:t>25MHz</a:t>
            </a:r>
            <a:r>
              <a:rPr lang="zh-CN" altLang="en-US"/>
              <a:t>，采样率</a:t>
            </a:r>
            <a:r>
              <a:rPr lang="en-US" altLang="zh-CN"/>
              <a:t> 12.5MSPS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AVP32F335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注意事项</a:t>
            </a:r>
            <a:endParaRPr lang="zh-CN" altLang="en-US" dirty="0"/>
          </a:p>
          <a:p>
            <a:r>
              <a:rPr lang="en-US" altLang="zh-CN" dirty="0"/>
              <a:t>1.</a:t>
            </a:r>
            <a:r>
              <a:rPr lang="zh-CN" altLang="en-US" dirty="0"/>
              <a:t>切记</a:t>
            </a:r>
            <a:r>
              <a:rPr lang="en-US" altLang="zh-CN" dirty="0"/>
              <a:t>AB</a:t>
            </a:r>
            <a:r>
              <a:rPr lang="zh-CN" altLang="en-US" dirty="0"/>
              <a:t>版本差异</a:t>
            </a:r>
            <a:endParaRPr lang="zh-CN" altLang="en-US" dirty="0"/>
          </a:p>
          <a:p>
            <a:r>
              <a:rPr lang="en-US" altLang="zh-CN" dirty="0"/>
              <a:t>2.</a:t>
            </a:r>
            <a:r>
              <a:rPr lang="zh-CN" altLang="en-US" dirty="0"/>
              <a:t>烧录频率</a:t>
            </a:r>
            <a:r>
              <a:rPr lang="en-US" altLang="zh-CN" dirty="0"/>
              <a:t>45-60M</a:t>
            </a:r>
            <a:endParaRPr lang="en-US" altLang="zh-CN" dirty="0"/>
          </a:p>
          <a:p>
            <a:r>
              <a:rPr lang="en-US" altLang="zh-CN" dirty="0"/>
              <a:t>3.ADC</a:t>
            </a:r>
            <a:r>
              <a:rPr lang="zh-CN" altLang="en-US" dirty="0"/>
              <a:t>如果出现采集不稳，可建议客户更改</a:t>
            </a:r>
            <a:r>
              <a:rPr lang="en-US" altLang="zh-CN" dirty="0"/>
              <a:t>RC</a:t>
            </a:r>
            <a:endParaRPr lang="en-US" altLang="zh-CN" dirty="0"/>
          </a:p>
          <a:p>
            <a:r>
              <a:rPr lang="en-US" altLang="zh-CN" dirty="0"/>
              <a:t>4.API</a:t>
            </a:r>
            <a:r>
              <a:rPr lang="zh-CN" altLang="en-US" dirty="0"/>
              <a:t>文件替换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AVP32F335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注意事项（硬件）</a:t>
            </a:r>
            <a:endParaRPr lang="zh-CN" altLang="en-US" dirty="0"/>
          </a:p>
          <a:p>
            <a:r>
              <a:rPr lang="en-US" altLang="zh-CN" dirty="0"/>
              <a:t>335A</a:t>
            </a:r>
            <a:r>
              <a:rPr lang="zh-CN" altLang="en-US" dirty="0"/>
              <a:t>版本需要短接电容，</a:t>
            </a:r>
            <a:r>
              <a:rPr lang="en-US" altLang="zh-CN" dirty="0"/>
              <a:t>B</a:t>
            </a:r>
            <a:r>
              <a:rPr lang="zh-CN" altLang="en-US" dirty="0"/>
              <a:t>版本悬空既可。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52240" y="3079115"/>
            <a:ext cx="7000875" cy="21621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7220" y="3437255"/>
            <a:ext cx="2952750" cy="15811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AVP32F335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270" y="1691005"/>
            <a:ext cx="10515600" cy="4351338"/>
          </a:xfrm>
        </p:spPr>
        <p:txBody>
          <a:bodyPr/>
          <a:lstStyle/>
          <a:p>
            <a:r>
              <a:rPr lang="en-US" altLang="zh-CN" dirty="0"/>
              <a:t>335A</a:t>
            </a:r>
            <a:r>
              <a:rPr lang="zh-CN" altLang="en-US" dirty="0"/>
              <a:t>版本复位电路</a:t>
            </a:r>
            <a:endParaRPr lang="zh-CN" altLang="en-US" dirty="0"/>
          </a:p>
          <a:p>
            <a:r>
              <a:rPr lang="zh-CN" altLang="en-US" dirty="0"/>
              <a:t>对地电容需要</a:t>
            </a:r>
            <a:r>
              <a:rPr lang="en-US" altLang="zh-CN" dirty="0"/>
              <a:t>10uF</a:t>
            </a:r>
            <a:r>
              <a:rPr lang="zh-CN" altLang="en-US" dirty="0"/>
              <a:t>保证</a:t>
            </a:r>
            <a:endParaRPr lang="zh-CN" altLang="en-US" dirty="0"/>
          </a:p>
          <a:p>
            <a:r>
              <a:rPr lang="zh-CN" altLang="en-US" dirty="0"/>
              <a:t>上电时间，否则芯片可能</a:t>
            </a:r>
            <a:endParaRPr lang="zh-CN" altLang="en-US" dirty="0"/>
          </a:p>
          <a:p>
            <a:r>
              <a:rPr lang="zh-CN" altLang="en-US" dirty="0"/>
              <a:t>无法正常启动</a:t>
            </a:r>
            <a:endParaRPr lang="zh-CN" altLang="en-US" dirty="0"/>
          </a:p>
          <a:p>
            <a:r>
              <a:rPr lang="en-US" altLang="zh-CN" dirty="0"/>
              <a:t>335B</a:t>
            </a:r>
            <a:r>
              <a:rPr lang="zh-CN" altLang="en-US" dirty="0"/>
              <a:t>版本复位电路可兼容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F28335</a:t>
            </a:r>
            <a:r>
              <a:rPr lang="zh-CN" altLang="en-US" dirty="0"/>
              <a:t>的设计，</a:t>
            </a:r>
            <a:r>
              <a:rPr lang="en-US" altLang="zh-CN" dirty="0"/>
              <a:t>RC</a:t>
            </a:r>
            <a:r>
              <a:rPr lang="zh-CN" altLang="en-US" dirty="0"/>
              <a:t>电路电阻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为</a:t>
            </a:r>
            <a:r>
              <a:rPr lang="en-US" altLang="zh-CN" dirty="0"/>
              <a:t>2.2kΩ</a:t>
            </a:r>
            <a:r>
              <a:rPr lang="zh-CN" altLang="en-US" dirty="0"/>
              <a:t>，电容为</a:t>
            </a:r>
            <a:r>
              <a:rPr lang="en-US" altLang="zh-CN" dirty="0"/>
              <a:t>100nf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281295" y="776605"/>
            <a:ext cx="6667500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AVP32F335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270" y="1826895"/>
            <a:ext cx="10515600" cy="4351338"/>
          </a:xfrm>
        </p:spPr>
        <p:txBody>
          <a:bodyPr/>
          <a:lstStyle/>
          <a:p>
            <a:r>
              <a:rPr lang="en-US" altLang="zh-CN"/>
              <a:t>335A</a:t>
            </a:r>
            <a:r>
              <a:rPr lang="zh-CN" altLang="en-US"/>
              <a:t>版本</a:t>
            </a:r>
            <a:r>
              <a:rPr lang="en-US" altLang="zh-CN"/>
              <a:t>PLL</a:t>
            </a:r>
            <a:r>
              <a:rPr lang="zh-CN" altLang="en-US"/>
              <a:t>锁相环需要配置初始状态。</a:t>
            </a:r>
            <a:r>
              <a:rPr lang="en-US" altLang="zh-CN">
                <a:solidFill>
                  <a:srgbClr val="FF0000"/>
                </a:solidFill>
              </a:rPr>
              <a:t>B</a:t>
            </a:r>
            <a:r>
              <a:rPr lang="zh-CN" altLang="en-US">
                <a:solidFill>
                  <a:srgbClr val="FF0000"/>
                </a:solidFill>
              </a:rPr>
              <a:t>版本</a:t>
            </a:r>
            <a:r>
              <a:rPr lang="en-US" altLang="zh-CN">
                <a:solidFill>
                  <a:srgbClr val="FF0000"/>
                </a:solidFill>
              </a:rPr>
              <a:t>MCKOFF </a:t>
            </a:r>
            <a:r>
              <a:rPr lang="zh-CN" altLang="en-US">
                <a:solidFill>
                  <a:srgbClr val="FF0000"/>
                </a:solidFill>
              </a:rPr>
              <a:t>检测与</a:t>
            </a:r>
            <a:r>
              <a:rPr lang="en-US" altLang="zh-CN">
                <a:solidFill>
                  <a:srgbClr val="FF0000"/>
                </a:solidFill>
              </a:rPr>
              <a:t>F28335</a:t>
            </a:r>
            <a:r>
              <a:rPr lang="zh-CN" altLang="en-US">
                <a:solidFill>
                  <a:srgbClr val="FF0000"/>
                </a:solidFill>
              </a:rPr>
              <a:t>兼容，无需改动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200" y="2778125"/>
            <a:ext cx="3455035" cy="38182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72100" y="2537460"/>
            <a:ext cx="4568190" cy="35267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335B</a:t>
            </a:r>
            <a:r>
              <a:rPr lang="en-US" altLang="zh-CN"/>
              <a:t>in0/Bin1</a:t>
            </a:r>
            <a:r>
              <a:rPr lang="zh-CN" altLang="en-US"/>
              <a:t>上电时序</a:t>
            </a:r>
            <a:r>
              <a:rPr lang="zh-CN" altLang="en-US"/>
              <a:t>差异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Bin1</a:t>
            </a:r>
            <a:r>
              <a:rPr lang="zh-CN" altLang="en-US"/>
              <a:t>版本，则上电时序跟</a:t>
            </a:r>
            <a:r>
              <a:rPr lang="en-US" altLang="zh-CN"/>
              <a:t>ti</a:t>
            </a:r>
            <a:r>
              <a:rPr lang="zh-CN" altLang="en-US"/>
              <a:t>一样，</a:t>
            </a:r>
            <a:r>
              <a:rPr lang="en-US" altLang="zh-CN"/>
              <a:t>1.8v</a:t>
            </a:r>
            <a:r>
              <a:rPr lang="zh-CN" altLang="en-US"/>
              <a:t>先上或者同时上。</a:t>
            </a:r>
            <a:r>
              <a:rPr lang="en-US" altLang="zh-CN"/>
              <a:t>Bin0</a:t>
            </a:r>
            <a:r>
              <a:rPr lang="zh-CN" altLang="en-US"/>
              <a:t>版本要求</a:t>
            </a:r>
            <a:r>
              <a:rPr lang="en-US" altLang="zh-CN"/>
              <a:t>3.3v</a:t>
            </a:r>
            <a:r>
              <a:rPr lang="zh-CN" altLang="en-US"/>
              <a:t>先上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0270" y="2759710"/>
            <a:ext cx="4978400" cy="34175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ADP32F03X/ADP32F03XB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市场应用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7210" y="2643505"/>
            <a:ext cx="11453495" cy="25165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ADP32F03X/ADP32F03XB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产品优势</a:t>
            </a:r>
            <a:endParaRPr lang="zh-CN" altLang="en-US" dirty="0"/>
          </a:p>
          <a:p>
            <a:r>
              <a:rPr lang="zh-CN" altLang="en-US" dirty="0"/>
              <a:t>价格优势</a:t>
            </a:r>
            <a:endParaRPr lang="zh-CN" altLang="en-US" dirty="0"/>
          </a:p>
          <a:p>
            <a:r>
              <a:rPr lang="zh-CN" altLang="en-US" dirty="0"/>
              <a:t>全面兼容替换（软硬件）开发成本低</a:t>
            </a:r>
            <a:endParaRPr lang="zh-CN" altLang="en-US" dirty="0"/>
          </a:p>
          <a:p>
            <a:r>
              <a:rPr lang="zh-CN" altLang="en-US" dirty="0"/>
              <a:t>技术支持</a:t>
            </a:r>
            <a:endParaRPr lang="zh-CN" altLang="en-US" dirty="0"/>
          </a:p>
          <a:p>
            <a:r>
              <a:rPr lang="zh-CN" altLang="en-US" dirty="0"/>
              <a:t>原厂可支持</a:t>
            </a:r>
            <a:r>
              <a:rPr lang="en-US" altLang="zh-CN" dirty="0"/>
              <a:t>BLDC</a:t>
            </a:r>
            <a:r>
              <a:rPr lang="zh-CN" altLang="en-US" dirty="0"/>
              <a:t>方案（压缩机）</a:t>
            </a:r>
            <a:endParaRPr lang="zh-CN" altLang="en-US" dirty="0"/>
          </a:p>
          <a:p>
            <a:r>
              <a:rPr lang="en-US" altLang="zh-CN" dirty="0"/>
              <a:t>03XB</a:t>
            </a:r>
            <a:r>
              <a:rPr lang="zh-CN" altLang="en-US" dirty="0"/>
              <a:t>系列较于</a:t>
            </a:r>
            <a:r>
              <a:rPr lang="en-US" altLang="zh-CN" dirty="0"/>
              <a:t>ti2803X</a:t>
            </a:r>
            <a:r>
              <a:rPr lang="zh-CN" altLang="en-US" dirty="0"/>
              <a:t>有性能优势，主频</a:t>
            </a:r>
            <a:r>
              <a:rPr lang="en-US" altLang="zh-CN" dirty="0"/>
              <a:t>RAM</a:t>
            </a:r>
            <a:r>
              <a:rPr lang="zh-CN" altLang="en-US" dirty="0"/>
              <a:t>提</a:t>
            </a:r>
            <a:r>
              <a:rPr lang="zh-CN" altLang="en-US" dirty="0"/>
              <a:t>高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52615" y="174625"/>
            <a:ext cx="5239385" cy="39903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ADP32F03X/ADP32F03XB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两者区别：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200" y="4233545"/>
            <a:ext cx="8820150" cy="2390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18845" y="2407920"/>
            <a:ext cx="8229600" cy="20421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143000" y="3566795"/>
            <a:ext cx="7886700" cy="23812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43000" y="4211955"/>
            <a:ext cx="7886700" cy="23812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90295" y="6311900"/>
            <a:ext cx="8001000" cy="23812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23620" y="5616575"/>
            <a:ext cx="8067675" cy="23812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148445" y="3436620"/>
            <a:ext cx="2038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60M</a:t>
            </a:r>
            <a:endParaRPr lang="en-US" altLang="zh-CN" dirty="0"/>
          </a:p>
        </p:txBody>
      </p:sp>
      <p:sp>
        <p:nvSpPr>
          <p:cNvPr id="11" name="文本框 10"/>
          <p:cNvSpPr txBox="1"/>
          <p:nvPr/>
        </p:nvSpPr>
        <p:spPr>
          <a:xfrm>
            <a:off x="9148445" y="5550535"/>
            <a:ext cx="2038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100M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ADP32F03X/ADP32F03XB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TEST2 </a:t>
            </a:r>
            <a:r>
              <a:rPr lang="zh-CN" altLang="en-US"/>
              <a:t>为芯片内核供电的输出引脚，在</a:t>
            </a:r>
            <a:r>
              <a:rPr lang="en-US" altLang="zh-CN"/>
              <a:t>F2803X</a:t>
            </a:r>
            <a:r>
              <a:rPr lang="zh-CN" altLang="en-US"/>
              <a:t>芯片中，该引脚建议悬空。在进芯的</a:t>
            </a:r>
            <a:r>
              <a:rPr lang="en-US" altLang="zh-CN"/>
              <a:t>03X A</a:t>
            </a:r>
            <a:r>
              <a:rPr lang="zh-CN" altLang="en-US"/>
              <a:t>版本中，芯片受到外部较大干扰影响其功能时，可以在外部增加电容，增大抗干扰能力。</a:t>
            </a:r>
            <a:r>
              <a:rPr lang="en-US" altLang="zh-CN"/>
              <a:t>03X B</a:t>
            </a:r>
            <a:r>
              <a:rPr lang="zh-CN" altLang="en-US"/>
              <a:t>版本芯片已将电容连接至芯片内部，该引脚必须悬空处理。</a:t>
            </a:r>
            <a:r>
              <a:rPr lang="en-US" altLang="zh-CN"/>
              <a:t>A</a:t>
            </a:r>
            <a:r>
              <a:rPr lang="zh-CN" altLang="en-US"/>
              <a:t>版本参考电路如下：</a:t>
            </a:r>
            <a:endParaRPr lang="zh-CN" altLang="en-US"/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CDDEC2">
                  <a:alpha val="100000"/>
                </a:srgbClr>
              </a:clrFrom>
              <a:clrTo>
                <a:srgbClr val="CDDEC2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66135" y="3551555"/>
            <a:ext cx="4708525" cy="26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ADP32F03X/ADP32F03XB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客户需求：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CLA</a:t>
            </a:r>
            <a:r>
              <a:rPr lang="zh-CN" altLang="en-US" dirty="0"/>
              <a:t>：控制律加速单元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EPWM/HRPWM</a:t>
            </a:r>
            <a:r>
              <a:rPr lang="zh-CN" altLang="en-US" dirty="0"/>
              <a:t>：增强型</a:t>
            </a:r>
            <a:r>
              <a:rPr lang="en-US" altLang="zh-CN" dirty="0"/>
              <a:t>/</a:t>
            </a:r>
            <a:r>
              <a:rPr lang="zh-CN" altLang="en-US" dirty="0"/>
              <a:t>高分辨</a:t>
            </a:r>
            <a:r>
              <a:rPr lang="en-US" altLang="zh-CN" dirty="0"/>
              <a:t>PWM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ADC</a:t>
            </a:r>
            <a:r>
              <a:rPr lang="zh-CN" altLang="en-US" dirty="0"/>
              <a:t>：模数转换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SCI</a:t>
            </a:r>
            <a:r>
              <a:rPr lang="zh-CN" altLang="en-US" dirty="0"/>
              <a:t>：串行通信接口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SPI</a:t>
            </a:r>
            <a:r>
              <a:rPr lang="zh-CN" altLang="en-US" dirty="0"/>
              <a:t>：串行接口技术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CAN</a:t>
            </a:r>
            <a:r>
              <a:rPr lang="zh-CN" altLang="en-US" dirty="0"/>
              <a:t>：局域网通讯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OSC</a:t>
            </a:r>
            <a:r>
              <a:rPr lang="zh-CN" altLang="en-US" dirty="0"/>
              <a:t>：内部晶体振荡器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035/035B</a:t>
            </a:r>
            <a:r>
              <a:rPr lang="zh-CN" altLang="en-US"/>
              <a:t>的</a:t>
            </a:r>
            <a:r>
              <a:rPr lang="en-US" altLang="zh-CN"/>
              <a:t>ADC</a:t>
            </a:r>
            <a:r>
              <a:rPr lang="zh-CN" altLang="en-US"/>
              <a:t>模块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035 ADC</a:t>
            </a:r>
            <a:r>
              <a:rPr lang="zh-CN" altLang="en-US"/>
              <a:t>时钟不能</a:t>
            </a:r>
            <a:r>
              <a:rPr lang="en-US" altLang="zh-CN"/>
              <a:t>2</a:t>
            </a:r>
            <a:r>
              <a:rPr lang="zh-CN" altLang="en-US"/>
              <a:t>分频，禁用采样重叠必须开启，开启方法</a:t>
            </a:r>
            <a:r>
              <a:rPr lang="zh-CN" altLang="en-US"/>
              <a:t>如下：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035B</a:t>
            </a:r>
            <a:r>
              <a:rPr lang="zh-CN" altLang="en-US">
                <a:solidFill>
                  <a:schemeClr val="tx1"/>
                </a:solidFill>
              </a:rPr>
              <a:t>在主频</a:t>
            </a:r>
            <a:r>
              <a:rPr lang="en-US" altLang="zh-CN">
                <a:solidFill>
                  <a:schemeClr val="tx1"/>
                </a:solidFill>
              </a:rPr>
              <a:t>100M</a:t>
            </a:r>
            <a:r>
              <a:rPr lang="zh-CN" altLang="en-US">
                <a:solidFill>
                  <a:schemeClr val="tx1"/>
                </a:solidFill>
              </a:rPr>
              <a:t>时，</a:t>
            </a:r>
            <a:r>
              <a:rPr lang="en-US" altLang="zh-CN">
                <a:solidFill>
                  <a:schemeClr val="tx1"/>
                </a:solidFill>
              </a:rPr>
              <a:t>ADC</a:t>
            </a:r>
            <a:r>
              <a:rPr lang="zh-CN" altLang="en-US">
                <a:solidFill>
                  <a:schemeClr val="tx1"/>
                </a:solidFill>
              </a:rPr>
              <a:t>时钟需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分频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-228600">
              <a:buFont typeface="Arial" panose="020B0604020202020204" pitchFamily="34" charset="0"/>
              <a:buChar char="•"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2836545"/>
            <a:ext cx="9382760" cy="16751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随机存取存储器（</a:t>
            </a:r>
            <a:r>
              <a:rPr lang="en-US" altLang="zh-CN"/>
              <a:t>RAM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ADP32F03XB </a:t>
            </a:r>
            <a:r>
              <a:rPr lang="zh-CN" altLang="en-US"/>
              <a:t>器件相较于</a:t>
            </a:r>
            <a:r>
              <a:rPr lang="en-US" altLang="zh-CN"/>
              <a:t>ADP32F03XA</a:t>
            </a:r>
            <a:r>
              <a:rPr lang="zh-CN" altLang="en-US"/>
              <a:t>和</a:t>
            </a:r>
            <a:r>
              <a:rPr lang="en-US" altLang="zh-CN"/>
              <a:t>TMS320F2803X</a:t>
            </a:r>
            <a:r>
              <a:rPr lang="zh-CN" altLang="en-US"/>
              <a:t>新增</a:t>
            </a:r>
            <a:r>
              <a:rPr lang="en-US" altLang="zh-CN"/>
              <a:t> 8K x 16 </a:t>
            </a:r>
            <a:r>
              <a:rPr lang="zh-CN" altLang="en-US"/>
              <a:t>字的</a:t>
            </a:r>
            <a:r>
              <a:rPr lang="en-US" altLang="zh-CN"/>
              <a:t> L4 RAM </a:t>
            </a:r>
            <a:r>
              <a:rPr lang="zh-CN" altLang="en-US"/>
              <a:t>区，地址范围为</a:t>
            </a:r>
            <a:r>
              <a:rPr lang="en-US" altLang="zh-CN"/>
              <a:t> 0x00A000 - 0x00BFFF</a:t>
            </a:r>
            <a:r>
              <a:rPr lang="zh-CN" altLang="en-US"/>
              <a:t>。</a:t>
            </a:r>
            <a:r>
              <a:rPr lang="en-US" altLang="zh-CN"/>
              <a:t> </a:t>
            </a:r>
            <a:endParaRPr lang="en-US" altLang="zh-CN"/>
          </a:p>
          <a:p>
            <a:r>
              <a:rPr lang="zh-CN" altLang="en-US"/>
              <a:t>新增</a:t>
            </a:r>
            <a:r>
              <a:rPr lang="en-US" altLang="zh-CN"/>
              <a:t> RAM </a:t>
            </a:r>
            <a:r>
              <a:rPr lang="zh-CN" altLang="en-US"/>
              <a:t>需要替换我司的</a:t>
            </a:r>
            <a:r>
              <a:rPr lang="en-US" altLang="zh-CN"/>
              <a:t> f2803XB.gel </a:t>
            </a:r>
            <a:r>
              <a:rPr lang="zh-CN" altLang="en-US"/>
              <a:t>文件</a:t>
            </a:r>
            <a:r>
              <a:rPr lang="en-US" altLang="zh-CN"/>
              <a:t> </a:t>
            </a:r>
            <a:r>
              <a:rPr lang="zh-CN" altLang="en-US"/>
              <a:t>，或者用</a:t>
            </a:r>
            <a:r>
              <a:rPr lang="en-US" altLang="zh-CN"/>
              <a:t> </a:t>
            </a:r>
            <a:r>
              <a:rPr lang="zh-CN" altLang="en-US"/>
              <a:t>户直接在</a:t>
            </a:r>
            <a:r>
              <a:rPr lang="en-US" altLang="zh-CN"/>
              <a:t> F2803x </a:t>
            </a:r>
            <a:r>
              <a:rPr lang="zh-CN" altLang="en-US"/>
              <a:t>的</a:t>
            </a:r>
            <a:r>
              <a:rPr lang="en-US" altLang="zh-CN"/>
              <a:t> f28035.gel </a:t>
            </a:r>
            <a:r>
              <a:rPr lang="zh-CN" altLang="en-US"/>
              <a:t>中新增</a:t>
            </a:r>
            <a:r>
              <a:rPr lang="en-US" altLang="zh-CN"/>
              <a:t>GEL_MapAdd(0xA000,1,0x2000,1,1)</a:t>
            </a:r>
            <a:r>
              <a:rPr lang="zh-CN" altLang="en-US"/>
              <a:t>。新增代码如下：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990" y="4100830"/>
            <a:ext cx="4906010" cy="19107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840" y="4177665"/>
            <a:ext cx="4429125" cy="19989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02280" y="3164840"/>
            <a:ext cx="6605270" cy="35896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CLA </a:t>
            </a:r>
            <a:r>
              <a:rPr lang="zh-CN" altLang="en-US"/>
              <a:t>控制律加速单元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9775" y="1600200"/>
            <a:ext cx="11096625" cy="2242820"/>
          </a:xfrm>
        </p:spPr>
        <p:txBody>
          <a:bodyPr/>
          <a:lstStyle/>
          <a:p>
            <a:r>
              <a:rPr lang="zh-CN" altLang="en-US"/>
              <a:t>CLA，即Control Law Accelerator，是一个32位浮点数计算加速器，可以理解为一个专门为浮点数运算而优化的CPU。其可以独立于CPU进行运算操作，并可以同时访问到ePWM，eCAP，eQEP，ADC result以及Comparator寄存器。相当于两个CPU并行工作，从而减少了主CPU的运算负担。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ADP32F03X/ADP32F03XB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注意事项：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1.03X</a:t>
            </a:r>
            <a:r>
              <a:rPr lang="zh-CN" altLang="en-US" dirty="0"/>
              <a:t>系列</a:t>
            </a:r>
            <a:r>
              <a:rPr lang="en-US" altLang="zh-CN" dirty="0"/>
              <a:t>Pin2Pin</a:t>
            </a:r>
            <a:r>
              <a:rPr lang="zh-CN" altLang="en-US" dirty="0"/>
              <a:t>替代软硬件都无需更换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tips</a:t>
            </a:r>
            <a:r>
              <a:rPr lang="zh-CN" altLang="en-US" sz="1800" dirty="0">
                <a:solidFill>
                  <a:srgbClr val="FF0000"/>
                </a:solidFill>
              </a:rPr>
              <a:t>：如果客户需要在线烧写的，仅需要更换</a:t>
            </a:r>
            <a:r>
              <a:rPr lang="en-US" altLang="zh-CN" sz="1800" dirty="0">
                <a:solidFill>
                  <a:srgbClr val="FF0000"/>
                </a:solidFill>
              </a:rPr>
              <a:t>lib</a:t>
            </a:r>
            <a:r>
              <a:rPr lang="zh-CN" altLang="en-US" sz="1800" dirty="0">
                <a:solidFill>
                  <a:srgbClr val="FF0000"/>
                </a:solidFill>
              </a:rPr>
              <a:t>文件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2.100M</a:t>
            </a:r>
            <a:r>
              <a:rPr lang="zh-CN" altLang="en-US" dirty="0"/>
              <a:t>需要对外设进行重新配置；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3.03X</a:t>
            </a:r>
            <a:r>
              <a:rPr lang="zh-CN" altLang="en-US" dirty="0"/>
              <a:t>系列</a:t>
            </a:r>
            <a:r>
              <a:rPr lang="en-US" altLang="zh-CN" dirty="0"/>
              <a:t>OSC</a:t>
            </a:r>
            <a:r>
              <a:rPr lang="zh-CN" altLang="en-US" dirty="0"/>
              <a:t>高低温不可用，没有做</a:t>
            </a:r>
            <a:r>
              <a:rPr lang="en-US" altLang="zh-CN" dirty="0"/>
              <a:t>3</a:t>
            </a:r>
            <a:r>
              <a:rPr lang="zh-CN" altLang="en-US" dirty="0"/>
              <a:t>温修调</a:t>
            </a:r>
            <a:r>
              <a:rPr lang="en-US" altLang="zh-CN" dirty="0"/>
              <a:t>/03XB</a:t>
            </a:r>
            <a:r>
              <a:rPr lang="zh-CN" altLang="en-US" dirty="0"/>
              <a:t>目前送样版本不可用，之后批量可以用；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4.03XHRPWM</a:t>
            </a:r>
            <a:r>
              <a:rPr lang="zh-CN" altLang="en-US" dirty="0"/>
              <a:t>不可用，寄存器溢出问题</a:t>
            </a:r>
            <a:r>
              <a:rPr lang="en-US" altLang="zh-CN" dirty="0"/>
              <a:t>/03XB</a:t>
            </a:r>
            <a:r>
              <a:rPr lang="zh-CN" altLang="en-US" dirty="0"/>
              <a:t>可用；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5.03XBGPIO0/GPIO1</a:t>
            </a:r>
            <a:r>
              <a:rPr lang="zh-CN" altLang="en-US" dirty="0">
                <a:solidFill>
                  <a:srgbClr val="FF0000"/>
                </a:solidFill>
              </a:rPr>
              <a:t>不可配置输入</a:t>
            </a:r>
            <a:r>
              <a:rPr lang="zh-CN" altLang="en-US" dirty="0"/>
              <a:t>；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ADP32F10/ADP32F12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5000" lnSpcReduction="10000"/>
          </a:bodyPr>
          <a:lstStyle/>
          <a:p>
            <a:r>
              <a:rPr lang="zh-CN" altLang="en-US" dirty="0"/>
              <a:t>主频</a:t>
            </a:r>
            <a:r>
              <a:rPr lang="en-US" altLang="zh-CN" dirty="0"/>
              <a:t>150M</a:t>
            </a:r>
            <a:endParaRPr lang="en-US" altLang="zh-CN" dirty="0"/>
          </a:p>
          <a:p>
            <a:r>
              <a:rPr lang="en-US" altLang="zh-CN" dirty="0"/>
              <a:t>Pin2Pin</a:t>
            </a:r>
            <a:endParaRPr lang="en-US" altLang="zh-CN" dirty="0"/>
          </a:p>
          <a:p>
            <a:r>
              <a:rPr lang="en-US" altLang="zh-CN" dirty="0"/>
              <a:t>128K*16Flash 18K*16RAM</a:t>
            </a:r>
            <a:endParaRPr lang="en-US" altLang="zh-CN" dirty="0"/>
          </a:p>
          <a:p>
            <a:r>
              <a:rPr lang="en-US" altLang="zh-CN" dirty="0" err="1"/>
              <a:t>BootRoom</a:t>
            </a:r>
            <a:r>
              <a:rPr lang="en-US" altLang="zh-CN" dirty="0"/>
              <a:t>*4K</a:t>
            </a:r>
            <a:endParaRPr lang="en-US" altLang="zh-CN" dirty="0"/>
          </a:p>
          <a:p>
            <a:r>
              <a:rPr lang="en-US" altLang="zh-CN" dirty="0"/>
              <a:t>PWM*16</a:t>
            </a:r>
            <a:endParaRPr lang="en-US" altLang="zh-CN" dirty="0"/>
          </a:p>
          <a:p>
            <a:r>
              <a:rPr lang="zh-CN" altLang="en-US" dirty="0"/>
              <a:t>无</a:t>
            </a:r>
            <a:r>
              <a:rPr lang="en-US" altLang="zh-CN" dirty="0"/>
              <a:t>IIC</a:t>
            </a:r>
            <a:endParaRPr lang="en-US" altLang="zh-CN" dirty="0"/>
          </a:p>
          <a:p>
            <a:r>
              <a:rPr lang="en-US" altLang="zh-CN" dirty="0"/>
              <a:t>ADC*16</a:t>
            </a:r>
            <a:endParaRPr lang="en-US" altLang="zh-CN" dirty="0"/>
          </a:p>
          <a:p>
            <a:r>
              <a:rPr lang="en-US" altLang="zh-CN" dirty="0"/>
              <a:t>SCI*2</a:t>
            </a:r>
            <a:endParaRPr lang="en-US" altLang="zh-CN" dirty="0"/>
          </a:p>
          <a:p>
            <a:r>
              <a:rPr lang="en-US" altLang="zh-CN" dirty="0"/>
              <a:t>SPI*1</a:t>
            </a:r>
            <a:endParaRPr lang="en-US" altLang="zh-CN" dirty="0"/>
          </a:p>
          <a:p>
            <a:r>
              <a:rPr lang="en-US" altLang="zh-CN" dirty="0"/>
              <a:t>CAN*1</a:t>
            </a:r>
            <a:endParaRPr lang="en-US" altLang="zh-CN" dirty="0"/>
          </a:p>
          <a:p>
            <a:r>
              <a:rPr lang="en-US" altLang="zh-CN" dirty="0"/>
              <a:t>LQFP176 BGA179</a:t>
            </a:r>
            <a:endParaRPr lang="en-US" altLang="zh-CN" dirty="0"/>
          </a:p>
          <a:p>
            <a:r>
              <a:rPr lang="zh-CN" altLang="en-US" dirty="0"/>
              <a:t>主要替代</a:t>
            </a:r>
            <a:r>
              <a:rPr lang="en-US" altLang="zh-CN" dirty="0"/>
              <a:t>Ti2812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58960" y="169545"/>
            <a:ext cx="2535555" cy="2129790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641731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6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主频</a:t>
            </a:r>
            <a:r>
              <a:rPr lang="en-US" altLang="zh-CN" dirty="0"/>
              <a:t>150M</a:t>
            </a:r>
            <a:endParaRPr lang="en-US" altLang="zh-CN" dirty="0"/>
          </a:p>
          <a:p>
            <a:r>
              <a:rPr lang="en-US" altLang="zh-CN" dirty="0"/>
              <a:t>Pin2Pin</a:t>
            </a:r>
            <a:endParaRPr lang="en-US" altLang="zh-CN" dirty="0"/>
          </a:p>
          <a:p>
            <a:r>
              <a:rPr lang="en-US" altLang="zh-CN" dirty="0"/>
              <a:t>128K*16Flash 18K*16RAM</a:t>
            </a:r>
            <a:endParaRPr lang="en-US" altLang="zh-CN" dirty="0"/>
          </a:p>
          <a:p>
            <a:r>
              <a:rPr lang="en-US" altLang="zh-CN" dirty="0" err="1"/>
              <a:t>BootRoom</a:t>
            </a:r>
            <a:r>
              <a:rPr lang="en-US" altLang="zh-CN" dirty="0"/>
              <a:t>*4K</a:t>
            </a:r>
            <a:endParaRPr lang="en-US" altLang="zh-CN" dirty="0"/>
          </a:p>
          <a:p>
            <a:r>
              <a:rPr lang="en-US" altLang="zh-CN" dirty="0"/>
              <a:t>PWM*16</a:t>
            </a:r>
            <a:endParaRPr lang="en-US" altLang="zh-CN" dirty="0"/>
          </a:p>
          <a:p>
            <a:r>
              <a:rPr lang="zh-CN" altLang="en-US" dirty="0"/>
              <a:t>无</a:t>
            </a:r>
            <a:r>
              <a:rPr lang="en-US" altLang="zh-CN" dirty="0"/>
              <a:t>IIC</a:t>
            </a:r>
            <a:endParaRPr lang="en-US" altLang="zh-CN" dirty="0"/>
          </a:p>
          <a:p>
            <a:r>
              <a:rPr lang="en-US" altLang="zh-CN" dirty="0"/>
              <a:t>ADC*16</a:t>
            </a:r>
            <a:endParaRPr lang="en-US" altLang="zh-CN" dirty="0"/>
          </a:p>
          <a:p>
            <a:r>
              <a:rPr lang="en-US" altLang="zh-CN" dirty="0"/>
              <a:t>SCI*2</a:t>
            </a:r>
            <a:endParaRPr lang="en-US" altLang="zh-CN" dirty="0"/>
          </a:p>
          <a:p>
            <a:r>
              <a:rPr lang="en-US" altLang="zh-CN" dirty="0"/>
              <a:t>SPI*1</a:t>
            </a:r>
            <a:endParaRPr lang="en-US" altLang="zh-CN" dirty="0"/>
          </a:p>
          <a:p>
            <a:r>
              <a:rPr lang="en-US" altLang="zh-CN" dirty="0"/>
              <a:t>CAN*1</a:t>
            </a:r>
            <a:endParaRPr lang="en-US" altLang="zh-CN" dirty="0"/>
          </a:p>
          <a:p>
            <a:r>
              <a:rPr lang="en-US" altLang="zh-CN" dirty="0"/>
              <a:t>LQFP128</a:t>
            </a:r>
            <a:endParaRPr lang="en-US" altLang="zh-CN" dirty="0"/>
          </a:p>
          <a:p>
            <a:r>
              <a:rPr lang="zh-CN" altLang="en-US" dirty="0"/>
              <a:t>主要替代</a:t>
            </a:r>
            <a:r>
              <a:rPr lang="en-US" altLang="zh-CN" dirty="0"/>
              <a:t>Ti2810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ADP32F10/ADP32F12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注意事项：</a:t>
            </a:r>
            <a:endParaRPr lang="zh-CN" altLang="en-US" dirty="0"/>
          </a:p>
          <a:p>
            <a:r>
              <a:rPr lang="en-US" altLang="zh-CN" dirty="0">
                <a:solidFill>
                  <a:srgbClr val="FF0000"/>
                </a:solidFill>
              </a:rPr>
              <a:t>L1/L0</a:t>
            </a:r>
            <a:r>
              <a:rPr lang="zh-CN" altLang="en-US" dirty="0">
                <a:solidFill>
                  <a:srgbClr val="FF0000"/>
                </a:solidFill>
              </a:rPr>
              <a:t>存储扇区不可混用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即程序和数据分开存放，否则会出现变量无法赋值计算失败等现象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4685" y="3933825"/>
            <a:ext cx="6734175" cy="6381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029325" y="3507105"/>
            <a:ext cx="6162675" cy="298069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ADP32F08/AVP32F08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577205" cy="4351655"/>
          </a:xfrm>
        </p:spPr>
        <p:txBody>
          <a:bodyPr/>
          <a:lstStyle/>
          <a:p>
            <a:r>
              <a:rPr lang="en-US" altLang="zh-CN" dirty="0"/>
              <a:t>ADP32F08</a:t>
            </a:r>
            <a:r>
              <a:rPr lang="zh-CN" altLang="en-US" dirty="0"/>
              <a:t>替代</a:t>
            </a:r>
            <a:r>
              <a:rPr lang="en-US" altLang="zh-CN" dirty="0"/>
              <a:t>ti2808/2802</a:t>
            </a:r>
            <a:endParaRPr lang="en-US" altLang="zh-CN" dirty="0"/>
          </a:p>
          <a:p>
            <a:r>
              <a:rPr lang="en-US" altLang="zh-CN" dirty="0"/>
              <a:t>AVP32F08</a:t>
            </a:r>
            <a:r>
              <a:rPr lang="zh-CN" altLang="en-US" dirty="0"/>
              <a:t>是</a:t>
            </a:r>
            <a:r>
              <a:rPr lang="en-US" altLang="zh-CN" dirty="0"/>
              <a:t>AVP32F335 CUTDOWN</a:t>
            </a:r>
            <a:r>
              <a:rPr lang="zh-CN" altLang="en-US" dirty="0"/>
              <a:t>版本不适用替代</a:t>
            </a:r>
            <a:r>
              <a:rPr lang="en-US" altLang="zh-CN" dirty="0"/>
              <a:t>Ti</a:t>
            </a:r>
            <a:r>
              <a:rPr lang="zh-CN" altLang="en-US" dirty="0"/>
              <a:t>系列</a:t>
            </a:r>
            <a:endParaRPr lang="zh-CN" altLang="en-US" dirty="0"/>
          </a:p>
          <a:p>
            <a:r>
              <a:rPr lang="en-US" altLang="zh-CN" dirty="0"/>
              <a:t>ADP32F08</a:t>
            </a:r>
            <a:r>
              <a:rPr lang="zh-CN" altLang="en-US" dirty="0"/>
              <a:t>开发需要替换</a:t>
            </a:r>
            <a:r>
              <a:rPr lang="en-US" altLang="zh-CN" dirty="0"/>
              <a:t>API</a:t>
            </a:r>
            <a:r>
              <a:rPr lang="zh-CN" altLang="en-US" dirty="0"/>
              <a:t>文件；</a:t>
            </a:r>
            <a:r>
              <a:rPr lang="en-US" altLang="zh-CN" dirty="0"/>
              <a:t>AVP32F08</a:t>
            </a:r>
            <a:r>
              <a:rPr lang="zh-CN" altLang="en-US" dirty="0"/>
              <a:t>需替换</a:t>
            </a:r>
            <a:r>
              <a:rPr lang="en-US" altLang="zh-CN" dirty="0"/>
              <a:t>335API</a:t>
            </a:r>
            <a:r>
              <a:rPr lang="zh-CN" altLang="en-US" dirty="0"/>
              <a:t>文件；</a:t>
            </a:r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97420" y="0"/>
            <a:ext cx="3517900" cy="32962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289165" y="3429000"/>
            <a:ext cx="3638550" cy="33267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38200" y="4161790"/>
            <a:ext cx="3752850" cy="16097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80415" y="5203825"/>
            <a:ext cx="4682490" cy="15525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ADP32F08/AVP32F08</a:t>
            </a:r>
            <a:endParaRPr lang="en-US" altLang="zh-CN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216025" y="1612900"/>
            <a:ext cx="2656840" cy="4845050"/>
          </a:xfrm>
        </p:spPr>
        <p:txBody>
          <a:bodyPr>
            <a:normAutofit fontScale="77500" lnSpcReduction="10000"/>
          </a:bodyPr>
          <a:lstStyle/>
          <a:p>
            <a:r>
              <a:rPr lang="en-US" altLang="zh-CN" dirty="0"/>
              <a:t>ADP32F08 100M</a:t>
            </a:r>
            <a:endParaRPr lang="en-US" altLang="zh-CN" dirty="0"/>
          </a:p>
          <a:p>
            <a:r>
              <a:rPr lang="en-US" altLang="zh-CN" dirty="0"/>
              <a:t>Flash 64K*16</a:t>
            </a:r>
            <a:endParaRPr lang="en-US" altLang="zh-CN" dirty="0"/>
          </a:p>
          <a:p>
            <a:r>
              <a:rPr lang="en-US" altLang="zh-CN" dirty="0"/>
              <a:t>RAM 18K*16</a:t>
            </a:r>
            <a:endParaRPr lang="en-US" altLang="zh-CN" dirty="0"/>
          </a:p>
          <a:p>
            <a:r>
              <a:rPr lang="en-US" altLang="zh-CN" dirty="0"/>
              <a:t>ADC*16</a:t>
            </a:r>
            <a:endParaRPr lang="en-US" altLang="zh-CN" dirty="0"/>
          </a:p>
          <a:p>
            <a:r>
              <a:rPr lang="en-US" altLang="zh-CN" dirty="0" err="1"/>
              <a:t>BootRom</a:t>
            </a:r>
            <a:r>
              <a:rPr lang="en-US" altLang="zh-CN" dirty="0"/>
              <a:t>*4K</a:t>
            </a:r>
            <a:endParaRPr lang="en-US" altLang="zh-CN" dirty="0"/>
          </a:p>
          <a:p>
            <a:r>
              <a:rPr lang="en-US" altLang="zh-CN" dirty="0"/>
              <a:t>EPWM*16+6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编码器</a:t>
            </a:r>
            <a:r>
              <a:rPr lang="en-US" altLang="zh-CN" dirty="0">
                <a:sym typeface="+mn-ea"/>
              </a:rPr>
              <a:t>*2</a:t>
            </a:r>
            <a:endParaRPr lang="en-US" altLang="zh-CN" dirty="0"/>
          </a:p>
          <a:p>
            <a:r>
              <a:rPr lang="en-US" altLang="zh-CN" dirty="0"/>
              <a:t>IIC*1</a:t>
            </a:r>
            <a:endParaRPr lang="en-US" altLang="zh-CN" dirty="0"/>
          </a:p>
          <a:p>
            <a:r>
              <a:rPr lang="en-US" altLang="zh-CN" dirty="0"/>
              <a:t>SCI*2</a:t>
            </a:r>
            <a:endParaRPr lang="en-US" altLang="zh-CN" dirty="0"/>
          </a:p>
          <a:p>
            <a:r>
              <a:rPr lang="en-US" altLang="zh-CN" dirty="0"/>
              <a:t>SPI*4</a:t>
            </a:r>
            <a:endParaRPr lang="en-US" altLang="zh-CN" dirty="0"/>
          </a:p>
          <a:p>
            <a:r>
              <a:rPr lang="en-US" altLang="zh-CN" dirty="0"/>
              <a:t>CAN*2</a:t>
            </a:r>
            <a:endParaRPr lang="en-US" altLang="zh-CN" dirty="0"/>
          </a:p>
          <a:p>
            <a:r>
              <a:rPr lang="en-US" altLang="zh-CN" dirty="0"/>
              <a:t>LQFP100</a:t>
            </a:r>
            <a:endParaRPr lang="en-US" altLang="zh-CN" dirty="0"/>
          </a:p>
        </p:txBody>
      </p:sp>
      <p:sp>
        <p:nvSpPr>
          <p:cNvPr id="7" name="内容占位符 5"/>
          <p:cNvSpPr/>
          <p:nvPr/>
        </p:nvSpPr>
        <p:spPr>
          <a:xfrm>
            <a:off x="6729730" y="1612900"/>
            <a:ext cx="4197985" cy="5245735"/>
          </a:xfrm>
          <a:prstGeom prst="rect">
            <a:avLst/>
          </a:prstGeom>
        </p:spPr>
        <p:txBody>
          <a:bodyPr vert="horz" lIns="91440" tIns="45720" rIns="91440" bIns="45720" rtlCol="0">
            <a:normAutofit fontScale="57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AVP32F08 150M</a:t>
            </a:r>
            <a:endParaRPr lang="en-US" altLang="zh-CN" dirty="0"/>
          </a:p>
          <a:p>
            <a:r>
              <a:rPr lang="en-US" altLang="zh-CN" dirty="0"/>
              <a:t>FPU</a:t>
            </a:r>
            <a:endParaRPr lang="en-US" altLang="zh-CN" dirty="0"/>
          </a:p>
          <a:p>
            <a:r>
              <a:rPr lang="en-US" altLang="zh-CN" dirty="0"/>
              <a:t>DMA</a:t>
            </a:r>
            <a:endParaRPr lang="en-US" altLang="zh-CN" dirty="0"/>
          </a:p>
          <a:p>
            <a:r>
              <a:rPr lang="en-US" altLang="zh-CN" dirty="0"/>
              <a:t>Flash 256K*16</a:t>
            </a:r>
            <a:endParaRPr lang="en-US" altLang="zh-CN" dirty="0"/>
          </a:p>
          <a:p>
            <a:r>
              <a:rPr lang="en-US" altLang="zh-CN" dirty="0"/>
              <a:t>RAM 34K*16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ADC*16</a:t>
            </a:r>
            <a:endParaRPr lang="en-US" altLang="zh-CN" dirty="0"/>
          </a:p>
          <a:p>
            <a:r>
              <a:rPr lang="en-US" altLang="zh-CN" dirty="0" err="1"/>
              <a:t>BootRom</a:t>
            </a:r>
            <a:r>
              <a:rPr lang="en-US" altLang="zh-CN" dirty="0"/>
              <a:t>*8K</a:t>
            </a:r>
            <a:endParaRPr lang="en-US" altLang="zh-CN" dirty="0"/>
          </a:p>
          <a:p>
            <a:r>
              <a:rPr lang="en-US" altLang="zh-CN" dirty="0"/>
              <a:t>EPWM 12+6</a:t>
            </a:r>
            <a:endParaRPr lang="en-US" altLang="zh-CN" dirty="0"/>
          </a:p>
          <a:p>
            <a:r>
              <a:rPr lang="zh-CN" altLang="en-US" dirty="0"/>
              <a:t>编码器</a:t>
            </a:r>
            <a:r>
              <a:rPr lang="en-US" altLang="zh-CN" dirty="0"/>
              <a:t>*2</a:t>
            </a:r>
            <a:endParaRPr lang="en-US" altLang="zh-CN" dirty="0"/>
          </a:p>
          <a:p>
            <a:r>
              <a:rPr lang="en-US" altLang="zh-CN" dirty="0"/>
              <a:t>IIC*1</a:t>
            </a:r>
            <a:endParaRPr lang="en-US" altLang="zh-CN" dirty="0"/>
          </a:p>
          <a:p>
            <a:r>
              <a:rPr lang="en-US" altLang="zh-CN" dirty="0"/>
              <a:t>SCI*2</a:t>
            </a:r>
            <a:endParaRPr lang="en-US" altLang="zh-CN" dirty="0"/>
          </a:p>
          <a:p>
            <a:r>
              <a:rPr lang="en-US" altLang="zh-CN" dirty="0"/>
              <a:t>SPI*1</a:t>
            </a:r>
            <a:endParaRPr lang="en-US" altLang="zh-CN" dirty="0"/>
          </a:p>
          <a:p>
            <a:r>
              <a:rPr lang="en-US" altLang="zh-CN" dirty="0"/>
              <a:t>CAN*2</a:t>
            </a:r>
            <a:endParaRPr lang="en-US" altLang="zh-CN" dirty="0"/>
          </a:p>
          <a:p>
            <a:r>
              <a:rPr lang="en-US" altLang="zh-CN" dirty="0" err="1"/>
              <a:t>McBSP</a:t>
            </a:r>
            <a:r>
              <a:rPr lang="en-US" altLang="zh-CN" dirty="0"/>
              <a:t>*2</a:t>
            </a:r>
            <a:endParaRPr lang="en-US" altLang="zh-CN" dirty="0"/>
          </a:p>
          <a:p>
            <a:r>
              <a:rPr lang="en-US" altLang="zh-CN" dirty="0"/>
              <a:t>LQFP100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AVP32F069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AVP32F069</a:t>
            </a:r>
            <a:r>
              <a:rPr lang="zh-CN" altLang="en-US"/>
              <a:t>替代</a:t>
            </a:r>
            <a:r>
              <a:rPr lang="en-US" altLang="zh-CN"/>
              <a:t>TI28069</a:t>
            </a:r>
            <a:endParaRPr lang="en-US" altLang="zh-CN"/>
          </a:p>
          <a:p>
            <a:r>
              <a:rPr lang="en-US" altLang="zh-CN" dirty="0">
                <a:sym typeface="+mn-ea"/>
              </a:rPr>
              <a:t>AVP32F069</a:t>
            </a:r>
            <a:r>
              <a:rPr lang="zh-CN" altLang="en-US" dirty="0">
                <a:sym typeface="+mn-ea"/>
              </a:rPr>
              <a:t>开发需要替换</a:t>
            </a:r>
            <a:r>
              <a:rPr lang="en-US" altLang="zh-CN" dirty="0">
                <a:sym typeface="+mn-ea"/>
              </a:rPr>
              <a:t>API</a:t>
            </a:r>
            <a:r>
              <a:rPr lang="zh-CN" altLang="en-US" dirty="0">
                <a:sym typeface="+mn-ea"/>
              </a:rPr>
              <a:t>文件</a:t>
            </a:r>
            <a:endParaRPr lang="zh-CN" altLang="en-US" dirty="0">
              <a:sym typeface="+mn-ea"/>
            </a:endParaRPr>
          </a:p>
          <a:p>
            <a:r>
              <a:rPr lang="zh-CN" altLang="en-US"/>
              <a:t>比较器</a:t>
            </a:r>
            <a:r>
              <a:rPr lang="en-US" altLang="zh-CN"/>
              <a:t> 2 </a:t>
            </a:r>
            <a:r>
              <a:rPr lang="zh-CN" altLang="en-US"/>
              <a:t>和比较器</a:t>
            </a:r>
            <a:r>
              <a:rPr lang="en-US" altLang="zh-CN"/>
              <a:t> 3 </a:t>
            </a:r>
            <a:r>
              <a:rPr lang="zh-CN" altLang="en-US"/>
              <a:t>的使能内部连接错</a:t>
            </a:r>
            <a:endParaRPr lang="zh-CN" altLang="en-US"/>
          </a:p>
          <a:p>
            <a:r>
              <a:rPr lang="zh-CN" altLang="en-US"/>
              <a:t>内部振荡器（</a:t>
            </a:r>
            <a:r>
              <a:rPr lang="en-US" altLang="zh-CN"/>
              <a:t>INTOSC</a:t>
            </a:r>
            <a:r>
              <a:rPr lang="zh-CN" altLang="en-US"/>
              <a:t>）的精度及修调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2085" y="1825625"/>
            <a:ext cx="3103245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069 Flash API </a:t>
            </a:r>
            <a:r>
              <a:rPr lang="zh-CN" altLang="en-US"/>
              <a:t>库文件的修改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zh-CN" altLang="en-US" sz="1600"/>
              <a:t>描述：</a:t>
            </a:r>
            <a:r>
              <a:rPr lang="en-US" altLang="zh-CN" sz="1600"/>
              <a:t>AVP32F069 </a:t>
            </a:r>
            <a:r>
              <a:rPr lang="zh-CN" altLang="en-US" sz="1600"/>
              <a:t>采用了国内先进</a:t>
            </a:r>
            <a:r>
              <a:rPr lang="en-US" altLang="zh-CN" sz="1600"/>
              <a:t> eFlash </a:t>
            </a:r>
            <a:r>
              <a:rPr lang="zh-CN" altLang="en-US" sz="1600"/>
              <a:t>工艺，提升了</a:t>
            </a:r>
            <a:r>
              <a:rPr lang="en-US" altLang="zh-CN" sz="1600"/>
              <a:t> Flash </a:t>
            </a:r>
            <a:r>
              <a:rPr lang="zh-CN" altLang="en-US" sz="1600"/>
              <a:t>的访问和操作性能。对</a:t>
            </a:r>
            <a:r>
              <a:rPr lang="en-US" altLang="zh-CN" sz="1600"/>
              <a:t> Flash </a:t>
            </a:r>
            <a:r>
              <a:rPr lang="zh-CN" altLang="en-US" sz="1600"/>
              <a:t>进行</a:t>
            </a:r>
            <a:r>
              <a:rPr lang="en-US" altLang="zh-CN" sz="1600"/>
              <a:t> Erase </a:t>
            </a:r>
            <a:r>
              <a:rPr lang="zh-CN" altLang="en-US" sz="1600"/>
              <a:t>和</a:t>
            </a:r>
            <a:r>
              <a:rPr lang="en-US" altLang="zh-CN" sz="1600"/>
              <a:t> Program </a:t>
            </a:r>
            <a:r>
              <a:rPr lang="zh-CN" altLang="en-US" sz="1600"/>
              <a:t>操作，具有更短的操作时间。</a:t>
            </a:r>
            <a:r>
              <a:rPr lang="en-US" altLang="zh-CN" sz="1600"/>
              <a:t>AVP32F069 </a:t>
            </a:r>
            <a:r>
              <a:rPr lang="zh-CN" altLang="en-US" sz="1600"/>
              <a:t>为在调试、生产过程中的擦除烧录，或在产品运行过程中的在线烧录功能，提供了两种库文件。一种是符号库文件（</a:t>
            </a:r>
            <a:r>
              <a:rPr lang="en-US" altLang="zh-CN" sz="1600"/>
              <a:t>2806x_BootROM_API_TABLE_Symbols.lib</a:t>
            </a:r>
            <a:r>
              <a:rPr lang="zh-CN" altLang="en-US" sz="1600"/>
              <a:t>、</a:t>
            </a:r>
            <a:r>
              <a:rPr lang="en-US" altLang="zh-CN" sz="1600"/>
              <a:t>2806x_BootROM_API_TABLE_Symbols_fpu32.lib</a:t>
            </a:r>
            <a:r>
              <a:rPr lang="zh-CN" altLang="en-US" sz="1600"/>
              <a:t>），库仅提供</a:t>
            </a:r>
            <a:r>
              <a:rPr lang="en-US" altLang="zh-CN" sz="1600"/>
              <a:t> flash API </a:t>
            </a:r>
            <a:r>
              <a:rPr lang="zh-CN" altLang="en-US" sz="1600"/>
              <a:t>函数的重定位，函数体在芯片的</a:t>
            </a:r>
            <a:r>
              <a:rPr lang="en-US" altLang="zh-CN" sz="1600"/>
              <a:t> Boot ROM </a:t>
            </a:r>
            <a:r>
              <a:rPr lang="zh-CN" altLang="en-US" sz="1600"/>
              <a:t>区域。进芯</a:t>
            </a:r>
            <a:r>
              <a:rPr lang="en-US" altLang="zh-CN" sz="1600"/>
              <a:t> AVP32F069 </a:t>
            </a:r>
            <a:r>
              <a:rPr lang="zh-CN" altLang="en-US" sz="1600"/>
              <a:t>出厂已对函数体做了修改。另一种是包含函数体的库文件（</a:t>
            </a:r>
            <a:r>
              <a:rPr lang="en-US" altLang="zh-CN" sz="1600"/>
              <a:t>Flash2806x_API_V100.lib</a:t>
            </a:r>
            <a:r>
              <a:rPr lang="zh-CN" altLang="en-US" sz="1600"/>
              <a:t>、</a:t>
            </a:r>
            <a:r>
              <a:rPr lang="en-US" altLang="zh-CN" sz="1600"/>
              <a:t>Flash2806x_API_wFPU_Library.lib</a:t>
            </a:r>
            <a:r>
              <a:rPr lang="zh-CN" altLang="en-US" sz="1600"/>
              <a:t>），此库文件在应用程序工程中引用，并需要从</a:t>
            </a:r>
            <a:r>
              <a:rPr lang="en-US" altLang="zh-CN" sz="1600"/>
              <a:t>Flash </a:t>
            </a:r>
            <a:r>
              <a:rPr lang="zh-CN" altLang="en-US" sz="1600"/>
              <a:t>存储中复制到</a:t>
            </a:r>
            <a:r>
              <a:rPr lang="en-US" altLang="zh-CN" sz="1600"/>
              <a:t> RAM </a:t>
            </a:r>
            <a:r>
              <a:rPr lang="zh-CN" altLang="en-US" sz="1600"/>
              <a:t>中才能有效执行。附件提供此库文件链接。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Flash API </a:t>
            </a:r>
            <a:r>
              <a:rPr lang="zh-CN" altLang="en-US" sz="1600"/>
              <a:t>的应用有以下三种情况，只有第</a:t>
            </a:r>
            <a:r>
              <a:rPr lang="en-US" altLang="zh-CN" sz="1600"/>
              <a:t> 3 </a:t>
            </a:r>
            <a:r>
              <a:rPr lang="zh-CN" altLang="en-US" sz="1600"/>
              <a:t>中情况下，才需要对文件进行替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换。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情况</a:t>
            </a:r>
            <a:r>
              <a:rPr lang="en-US" altLang="zh-CN" sz="1600"/>
              <a:t> 1</a:t>
            </a:r>
            <a:r>
              <a:rPr lang="zh-CN" altLang="en-US" sz="1600"/>
              <a:t>：利用编辑环境（</a:t>
            </a:r>
            <a:r>
              <a:rPr lang="en-US" altLang="zh-CN" sz="1600"/>
              <a:t>CCS</a:t>
            </a:r>
            <a:r>
              <a:rPr lang="zh-CN" altLang="en-US" sz="1600"/>
              <a:t>）和通用烧录工具（</a:t>
            </a:r>
            <a:r>
              <a:rPr lang="en-US" altLang="zh-CN" sz="1600"/>
              <a:t>C2Prog</a:t>
            </a:r>
            <a:r>
              <a:rPr lang="zh-CN" altLang="en-US" sz="1600"/>
              <a:t>、</a:t>
            </a:r>
            <a:r>
              <a:rPr lang="en-US" altLang="zh-CN" sz="1600"/>
              <a:t>Uniflash </a:t>
            </a:r>
            <a:r>
              <a:rPr lang="zh-CN" altLang="en-US" sz="1600"/>
              <a:t>等）对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 sz="1600"/>
              <a:t>AVP32F069 </a:t>
            </a:r>
            <a:r>
              <a:rPr lang="zh-CN" altLang="en-US" sz="1600"/>
              <a:t>进行擦除、烧录等操作。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情况</a:t>
            </a:r>
            <a:r>
              <a:rPr lang="en-US" altLang="zh-CN" sz="1600"/>
              <a:t> 2</a:t>
            </a:r>
            <a:r>
              <a:rPr lang="zh-CN" altLang="en-US" sz="1600"/>
              <a:t>：应用程序中引用符号库文件，通过程序代码对</a:t>
            </a:r>
            <a:r>
              <a:rPr lang="en-US" altLang="zh-CN" sz="1600"/>
              <a:t> Flash </a:t>
            </a:r>
            <a:r>
              <a:rPr lang="zh-CN" altLang="en-US" sz="1600"/>
              <a:t>操作。</a:t>
            </a:r>
            <a:endParaRPr lang="zh-CN" altLang="en-US" sz="1600"/>
          </a:p>
          <a:p>
            <a:pPr marL="0" indent="0">
              <a:buNone/>
            </a:pPr>
            <a:r>
              <a:rPr lang="zh-CN" altLang="en-US" sz="1600"/>
              <a:t>情况</a:t>
            </a:r>
            <a:r>
              <a:rPr lang="en-US" altLang="zh-CN" sz="1600"/>
              <a:t> 3</a:t>
            </a:r>
            <a:r>
              <a:rPr lang="zh-CN" altLang="en-US" sz="1600"/>
              <a:t>：应用程序中引用含函数体库文件，通过程序代码对</a:t>
            </a:r>
            <a:r>
              <a:rPr lang="en-US" altLang="zh-CN" sz="1600"/>
              <a:t> Flash </a:t>
            </a:r>
            <a:r>
              <a:rPr lang="zh-CN" altLang="en-US" sz="1600"/>
              <a:t>操作</a:t>
            </a:r>
            <a:r>
              <a:rPr lang="zh-CN" altLang="en-US" sz="1600" b="1"/>
              <a:t>。</a:t>
            </a:r>
            <a:endParaRPr lang="zh-CN" altLang="en-US" sz="1600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069</a:t>
            </a:r>
            <a:r>
              <a:rPr lang="zh-CN" altLang="en-US"/>
              <a:t>比较器</a:t>
            </a:r>
            <a:r>
              <a:rPr lang="en-US" altLang="zh-CN"/>
              <a:t> 2 </a:t>
            </a:r>
            <a:r>
              <a:rPr lang="zh-CN" altLang="en-US"/>
              <a:t>和比较器</a:t>
            </a:r>
            <a:r>
              <a:rPr lang="en-US" altLang="zh-CN"/>
              <a:t> 3 </a:t>
            </a:r>
            <a:r>
              <a:rPr lang="zh-CN" altLang="en-US"/>
              <a:t>的使能内部连接错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1600"/>
              <a:t>问题描述：下图是一个比较器的框图，其中比较器</a:t>
            </a:r>
            <a:r>
              <a:rPr lang="en-US" altLang="zh-CN" sz="1600"/>
              <a:t> 2 </a:t>
            </a:r>
            <a:r>
              <a:rPr lang="zh-CN" altLang="en-US" sz="1600"/>
              <a:t>的</a:t>
            </a:r>
            <a:r>
              <a:rPr lang="en-US" altLang="zh-CN" sz="1600"/>
              <a:t> CMPDACEN </a:t>
            </a:r>
            <a:r>
              <a:rPr lang="zh-CN" altLang="en-US" sz="1600"/>
              <a:t>控制位被连接到比较器</a:t>
            </a:r>
            <a:r>
              <a:rPr lang="en-US" altLang="zh-CN" sz="1600"/>
              <a:t> 3</a:t>
            </a:r>
            <a:r>
              <a:rPr lang="zh-CN" altLang="en-US" sz="1600"/>
              <a:t>，来控制比较器</a:t>
            </a:r>
            <a:r>
              <a:rPr lang="en-US" altLang="zh-CN" sz="1600"/>
              <a:t> 3 </a:t>
            </a:r>
            <a:r>
              <a:rPr lang="zh-CN" altLang="en-US" sz="1600"/>
              <a:t>的使能；相反，比较器</a:t>
            </a:r>
            <a:r>
              <a:rPr lang="en-US" altLang="zh-CN" sz="1600"/>
              <a:t> 3 </a:t>
            </a:r>
            <a:r>
              <a:rPr lang="zh-CN" altLang="en-US" sz="1600"/>
              <a:t>的</a:t>
            </a:r>
            <a:r>
              <a:rPr lang="en-US" altLang="zh-CN" sz="1600"/>
              <a:t> CMPDACEN </a:t>
            </a:r>
            <a:r>
              <a:rPr lang="zh-CN" altLang="en-US" sz="1600"/>
              <a:t>控制比较器</a:t>
            </a:r>
            <a:r>
              <a:rPr lang="en-US" altLang="zh-CN" sz="1600"/>
              <a:t> 2</a:t>
            </a:r>
            <a:r>
              <a:rPr lang="zh-CN" altLang="en-US" sz="1600"/>
              <a:t>的使能。</a:t>
            </a:r>
            <a:endParaRPr lang="zh-CN" altLang="en-US" sz="1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845435"/>
            <a:ext cx="5128895" cy="27959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110" y="2844800"/>
            <a:ext cx="5699760" cy="24733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069</a:t>
            </a:r>
            <a:r>
              <a:rPr lang="zh-CN" altLang="en-US"/>
              <a:t>内部振荡器（</a:t>
            </a:r>
            <a:r>
              <a:rPr lang="en-US" altLang="zh-CN"/>
              <a:t>INTOSC</a:t>
            </a:r>
            <a:r>
              <a:rPr lang="zh-CN" altLang="en-US"/>
              <a:t>）的精度及修调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系统使用内部振荡器时运行，不要调用</a:t>
            </a:r>
            <a:r>
              <a:rPr lang="en-US" altLang="zh-CN"/>
              <a:t> Osc1Comp </a:t>
            </a:r>
            <a:r>
              <a:rPr lang="zh-CN" altLang="en-US"/>
              <a:t>和</a:t>
            </a:r>
            <a:r>
              <a:rPr lang="en-US" altLang="zh-CN"/>
              <a:t> Osc2Comp </a:t>
            </a:r>
            <a:r>
              <a:rPr lang="zh-CN" altLang="en-US"/>
              <a:t>的振荡器补偿函数。</a:t>
            </a:r>
            <a:endParaRPr lang="zh-CN" altLang="en-US"/>
          </a:p>
          <a:p>
            <a:r>
              <a:rPr lang="zh-CN" altLang="en-US"/>
              <a:t>未调用补偿时，振荡器高温下有</a:t>
            </a:r>
            <a:r>
              <a:rPr lang="en-US" altLang="en-US"/>
              <a:t>±</a:t>
            </a:r>
            <a:r>
              <a:rPr lang="en-US" altLang="zh-CN"/>
              <a:t>3%</a:t>
            </a:r>
            <a:r>
              <a:rPr lang="zh-CN" altLang="en-US"/>
              <a:t>左右的误差；调用补偿，误差加剧。</a:t>
            </a: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AVP32F035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浮点</a:t>
            </a:r>
            <a:r>
              <a:rPr lang="en-US" altLang="zh-CN"/>
              <a:t>035</a:t>
            </a:r>
            <a:r>
              <a:rPr lang="zh-CN" altLang="en-US"/>
              <a:t>内核是</a:t>
            </a:r>
            <a:r>
              <a:rPr lang="en-US" altLang="zh-CN"/>
              <a:t>069</a:t>
            </a:r>
            <a:r>
              <a:rPr lang="zh-CN" altLang="en-US"/>
              <a:t>（即也有</a:t>
            </a:r>
            <a:r>
              <a:rPr lang="en-US" altLang="zh-CN"/>
              <a:t>069</a:t>
            </a:r>
            <a:r>
              <a:rPr lang="zh-CN" altLang="en-US"/>
              <a:t>本身的</a:t>
            </a:r>
            <a:r>
              <a:rPr lang="zh-CN" altLang="en-US"/>
              <a:t>问题）</a:t>
            </a:r>
            <a:endParaRPr lang="en-US" altLang="zh-CN"/>
          </a:p>
          <a:p>
            <a:r>
              <a:rPr lang="zh-CN" altLang="en-US"/>
              <a:t>主频高达</a:t>
            </a:r>
            <a:r>
              <a:rPr lang="en-US" altLang="zh-CN"/>
              <a:t>120M</a:t>
            </a:r>
            <a:endParaRPr lang="en-US" altLang="zh-CN"/>
          </a:p>
          <a:p>
            <a:r>
              <a:rPr lang="en-US" altLang="zh-CN"/>
              <a:t>80PIN</a:t>
            </a:r>
            <a:r>
              <a:rPr lang="zh-CN" altLang="en-US"/>
              <a:t>封装用于替换</a:t>
            </a:r>
            <a:r>
              <a:rPr lang="en-US" altLang="zh-CN"/>
              <a:t>035/035B FLASH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不够的情况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135" y="2470150"/>
            <a:ext cx="3566795" cy="306197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AVP32F0049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器件资源差异性对比</a:t>
            </a:r>
            <a:endParaRPr lang="zh-CN" altLang="en-US"/>
          </a:p>
          <a:p>
            <a:r>
              <a:rPr lang="zh-CN" altLang="en-US"/>
              <a:t>芯片供电及上、下电时序</a:t>
            </a:r>
            <a:endParaRPr lang="zh-CN" altLang="en-US"/>
          </a:p>
          <a:p>
            <a:r>
              <a:rPr lang="en-US" altLang="zh-CN"/>
              <a:t>TZ</a:t>
            </a:r>
            <a:r>
              <a:rPr lang="zh-CN" altLang="en-US"/>
              <a:t>关断时间差异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960" y="1825625"/>
            <a:ext cx="3103880" cy="272923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0049</a:t>
            </a:r>
            <a:r>
              <a:rPr lang="zh-CN" altLang="en-US"/>
              <a:t>器件资源差异</a:t>
            </a:r>
            <a:r>
              <a:rPr lang="zh-CN" altLang="en-US"/>
              <a:t>对比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91005"/>
            <a:ext cx="8608695" cy="29438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芯片供电及上、下电时序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与</a:t>
            </a:r>
            <a:r>
              <a:rPr lang="en-US" altLang="zh-CN"/>
              <a:t>F28004x</a:t>
            </a:r>
            <a:r>
              <a:rPr lang="zh-CN" altLang="en-US"/>
              <a:t>类似，</a:t>
            </a:r>
            <a:r>
              <a:rPr lang="en-US" altLang="zh-CN"/>
              <a:t>AVP32F004x</a:t>
            </a:r>
            <a:r>
              <a:rPr lang="zh-CN" altLang="en-US"/>
              <a:t>同样支持板级</a:t>
            </a:r>
            <a:r>
              <a:rPr lang="en-US" altLang="zh-CN"/>
              <a:t>3.3V</a:t>
            </a:r>
            <a:r>
              <a:rPr lang="zh-CN" altLang="en-US"/>
              <a:t>单电源供电方式。设计上做到供电方式兼容，内部</a:t>
            </a:r>
            <a:r>
              <a:rPr lang="en-US" altLang="zh-CN"/>
              <a:t>LDO</a:t>
            </a:r>
            <a:r>
              <a:rPr lang="zh-CN" altLang="en-US"/>
              <a:t>已经调整为</a:t>
            </a:r>
            <a:r>
              <a:rPr lang="en-US" altLang="zh-CN"/>
              <a:t>3.3V</a:t>
            </a:r>
            <a:r>
              <a:rPr lang="zh-CN" altLang="en-US"/>
              <a:t>转</a:t>
            </a:r>
            <a:r>
              <a:rPr lang="en-US" altLang="zh-CN"/>
              <a:t>1.1V</a:t>
            </a:r>
            <a:r>
              <a:rPr lang="zh-CN" altLang="en-US"/>
              <a:t>，如果采用双电源供电模式，建议内核的供电调整为</a:t>
            </a:r>
            <a:r>
              <a:rPr lang="en-US" altLang="zh-CN"/>
              <a:t>1.1V</a:t>
            </a:r>
            <a:r>
              <a:rPr lang="zh-CN" altLang="en-US"/>
              <a:t>供电。</a:t>
            </a:r>
            <a:endParaRPr lang="zh-CN" altLang="en-US"/>
          </a:p>
          <a:p>
            <a:r>
              <a:rPr lang="zh-CN" altLang="en-US"/>
              <a:t>器件的上、下电时序由芯片内部匹配，与原</a:t>
            </a:r>
            <a:r>
              <a:rPr lang="en-US" altLang="zh-CN"/>
              <a:t>F28004x</a:t>
            </a:r>
            <a:r>
              <a:rPr lang="zh-CN" altLang="en-US"/>
              <a:t>产品设计保持兼容，用户不需要做其它调整。</a:t>
            </a:r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0049</a:t>
            </a:r>
            <a:r>
              <a:rPr lang="en-US" altLang="zh-CN">
                <a:sym typeface="+mn-ea"/>
              </a:rPr>
              <a:t>TZ</a:t>
            </a:r>
            <a:r>
              <a:rPr lang="zh-CN" altLang="en-US">
                <a:sym typeface="+mn-ea"/>
              </a:rPr>
              <a:t>关断时间差异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TZ</a:t>
            </a:r>
            <a:r>
              <a:rPr lang="zh-CN" altLang="en-US"/>
              <a:t>触发输入有效至</a:t>
            </a:r>
            <a:r>
              <a:rPr lang="en-US" altLang="zh-CN"/>
              <a:t> PWM </a:t>
            </a:r>
            <a:r>
              <a:rPr lang="zh-CN" altLang="en-US"/>
              <a:t>高阻抗</a:t>
            </a:r>
            <a:r>
              <a:rPr lang="en-US" altLang="zh-CN"/>
              <a:t> (Hi-Z) </a:t>
            </a:r>
            <a:r>
              <a:rPr lang="zh-CN" altLang="en-US"/>
              <a:t>的时间</a:t>
            </a:r>
            <a:r>
              <a:rPr lang="en-US" altLang="zh-CN"/>
              <a:t>td</a:t>
            </a:r>
            <a:r>
              <a:rPr lang="zh-CN" altLang="en-US"/>
              <a:t>，竞品为</a:t>
            </a:r>
            <a:r>
              <a:rPr lang="en-US" altLang="zh-CN"/>
              <a:t>25nS</a:t>
            </a:r>
            <a:r>
              <a:rPr lang="zh-CN" altLang="en-US"/>
              <a:t>，我司为</a:t>
            </a:r>
            <a:r>
              <a:rPr lang="en-US" altLang="zh-CN"/>
              <a:t>35nS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985" y="3105785"/>
            <a:ext cx="7320280" cy="240601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AVP32F0039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器件资源差异性对比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芯片供电及上、下电时序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25625"/>
            <a:ext cx="3633470" cy="304863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0039</a:t>
            </a:r>
            <a:r>
              <a:rPr lang="zh-CN" altLang="en-US">
                <a:sym typeface="+mn-ea"/>
              </a:rPr>
              <a:t>器件资源差异对比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91005"/>
            <a:ext cx="1040003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芯片供电及上、下电时序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与</a:t>
            </a:r>
            <a:r>
              <a:rPr lang="en-US" altLang="zh-CN"/>
              <a:t>F28003x</a:t>
            </a:r>
            <a:r>
              <a:rPr lang="zh-CN" altLang="en-US"/>
              <a:t>类似，</a:t>
            </a:r>
            <a:r>
              <a:rPr lang="en-US" altLang="zh-CN"/>
              <a:t>AVP32F003x</a:t>
            </a:r>
            <a:r>
              <a:rPr lang="zh-CN" altLang="en-US"/>
              <a:t>同样支持板级</a:t>
            </a:r>
            <a:r>
              <a:rPr lang="en-US" altLang="zh-CN"/>
              <a:t>3.3V</a:t>
            </a:r>
            <a:r>
              <a:rPr lang="zh-CN" altLang="en-US"/>
              <a:t>单电源供电方式。设计上做到供电方式兼容，内部</a:t>
            </a:r>
            <a:r>
              <a:rPr lang="en-US" altLang="zh-CN"/>
              <a:t>LDO</a:t>
            </a:r>
            <a:r>
              <a:rPr lang="zh-CN" altLang="en-US"/>
              <a:t>已经调整为</a:t>
            </a:r>
            <a:r>
              <a:rPr lang="en-US" altLang="zh-CN"/>
              <a:t>3.3V</a:t>
            </a:r>
            <a:r>
              <a:rPr lang="zh-CN" altLang="en-US"/>
              <a:t>转</a:t>
            </a:r>
            <a:r>
              <a:rPr lang="en-US" altLang="zh-CN"/>
              <a:t>1.1V</a:t>
            </a:r>
            <a:r>
              <a:rPr lang="zh-CN" altLang="en-US"/>
              <a:t>，如果采用双电源供电模式，建议内核的供电调整为</a:t>
            </a:r>
            <a:r>
              <a:rPr lang="en-US" altLang="zh-CN"/>
              <a:t>1.1V</a:t>
            </a:r>
            <a:r>
              <a:rPr lang="zh-CN" altLang="en-US"/>
              <a:t>供电。</a:t>
            </a:r>
            <a:endParaRPr lang="zh-CN" altLang="en-US"/>
          </a:p>
          <a:p>
            <a:r>
              <a:rPr lang="zh-CN" altLang="en-US"/>
              <a:t>器件的上、下电时序由芯片内部匹配，与原</a:t>
            </a:r>
            <a:r>
              <a:rPr lang="en-US" altLang="zh-CN"/>
              <a:t>F28003x</a:t>
            </a:r>
            <a:r>
              <a:rPr lang="zh-CN" altLang="en-US"/>
              <a:t>产品设计保持兼容，用户不需要做其它调整。</a:t>
            </a:r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80001" y="73890"/>
            <a:ext cx="1579418" cy="7758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客户反馈问题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" name="直接箭头连接符 5"/>
          <p:cNvCxnSpPr>
            <a:stCxn id="4" idx="2"/>
          </p:cNvCxnSpPr>
          <p:nvPr/>
        </p:nvCxnSpPr>
        <p:spPr>
          <a:xfrm>
            <a:off x="5869710" y="849745"/>
            <a:ext cx="4618" cy="544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080001" y="1394691"/>
            <a:ext cx="1579418" cy="7758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是否个例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9" name="连接符: 肘形 8"/>
          <p:cNvCxnSpPr>
            <a:stCxn id="7" idx="1"/>
          </p:cNvCxnSpPr>
          <p:nvPr/>
        </p:nvCxnSpPr>
        <p:spPr>
          <a:xfrm rot="10800000" flipV="1">
            <a:off x="3371275" y="1782618"/>
            <a:ext cx="1708727" cy="387927"/>
          </a:xfrm>
          <a:prstGeom prst="bentConnector3">
            <a:avLst>
              <a:gd name="adj1" fmla="val 997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/>
          <p:cNvCxnSpPr>
            <a:stCxn id="7" idx="3"/>
          </p:cNvCxnSpPr>
          <p:nvPr/>
        </p:nvCxnSpPr>
        <p:spPr>
          <a:xfrm>
            <a:off x="6659419" y="1782619"/>
            <a:ext cx="1616364" cy="387927"/>
          </a:xfrm>
          <a:prstGeom prst="bentConnector3">
            <a:avLst>
              <a:gd name="adj1" fmla="val 1002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544296" y="1422338"/>
            <a:ext cx="36945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是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6742551" y="1422338"/>
            <a:ext cx="36945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否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7486074" y="2170545"/>
            <a:ext cx="1579418" cy="7758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根据替换注意事项排查一下客户是否按要求更改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581566" y="2184398"/>
            <a:ext cx="1579418" cy="7758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配合客户做交叉测试，定位问题是否跟随芯片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8275783" y="2960253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7486074" y="3556000"/>
            <a:ext cx="1579418" cy="7758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烧录对应功能</a:t>
            </a:r>
            <a:r>
              <a:rPr lang="en-US" altLang="zh-CN" sz="1400" dirty="0">
                <a:solidFill>
                  <a:schemeClr val="tx1"/>
                </a:solidFill>
              </a:rPr>
              <a:t>demo</a:t>
            </a:r>
            <a:r>
              <a:rPr lang="zh-CN" altLang="en-US" sz="1400" dirty="0">
                <a:solidFill>
                  <a:schemeClr val="tx1"/>
                </a:solidFill>
              </a:rPr>
              <a:t>排除软件配置问题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080001" y="5985164"/>
            <a:ext cx="1579418" cy="7758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整理测试情况反馈给</a:t>
            </a:r>
            <a:r>
              <a:rPr lang="en-US" altLang="zh-CN" sz="1400" dirty="0">
                <a:solidFill>
                  <a:schemeClr val="tx1"/>
                </a:solidFill>
              </a:rPr>
              <a:t>FAE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3371275" y="2974109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581566" y="4932219"/>
            <a:ext cx="1579418" cy="7758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配合客户仿真程序，调查问题复现情况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>
            <a:off x="8275783" y="4331855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7486074" y="4927602"/>
            <a:ext cx="1579418" cy="7758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配合客户仿真程序，调查问题复现情况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连接符: 肘形 7"/>
          <p:cNvCxnSpPr>
            <a:stCxn id="3" idx="1"/>
            <a:endCxn id="28" idx="0"/>
          </p:cNvCxnSpPr>
          <p:nvPr/>
        </p:nvCxnSpPr>
        <p:spPr>
          <a:xfrm rot="10800000" flipV="1">
            <a:off x="5869710" y="5315530"/>
            <a:ext cx="1616364" cy="6696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581566" y="3569853"/>
            <a:ext cx="1579418" cy="7758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确认芯片外围电路配置，锁定问题外设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3371275" y="4345708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30" idx="3"/>
          </p:cNvCxnSpPr>
          <p:nvPr/>
        </p:nvCxnSpPr>
        <p:spPr>
          <a:xfrm flipV="1">
            <a:off x="4160984" y="5315530"/>
            <a:ext cx="1708725" cy="46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05509" y="432120"/>
            <a:ext cx="3840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切记让客户保留问题现场，请勿自行拆卸破坏应用环境。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COMMONDATA" val="eyJoZGlkIjoiMjNmMmIxYjBkYmU0NzhmZjg5ZjJiYTAyOTgzNWQzNDQ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4289</Words>
  <Application>WPS 演示</Application>
  <PresentationFormat>宽屏</PresentationFormat>
  <Paragraphs>347</Paragraphs>
  <Slides>42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9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32系列DSP应用及要点培训</vt:lpstr>
      <vt:lpstr>AVP32F335</vt:lpstr>
      <vt:lpstr>AVP32F335</vt:lpstr>
      <vt:lpstr>AVP32F335</vt:lpstr>
      <vt:lpstr>AVP32F335</vt:lpstr>
      <vt:lpstr>AVP32F335</vt:lpstr>
      <vt:lpstr>PowerPoint 演示文稿</vt:lpstr>
      <vt:lpstr>ADC：模数转换</vt:lpstr>
      <vt:lpstr>PowerPoint 演示文稿</vt:lpstr>
      <vt:lpstr>PowerPoint 演示文稿</vt:lpstr>
      <vt:lpstr>PowerPoint 演示文稿</vt:lpstr>
      <vt:lpstr>AVP32F335</vt:lpstr>
      <vt:lpstr>AVP32F335</vt:lpstr>
      <vt:lpstr>AVP32F335</vt:lpstr>
      <vt:lpstr>AVP32F335</vt:lpstr>
      <vt:lpstr>PowerPoint 演示文稿</vt:lpstr>
      <vt:lpstr>ADP32F03X/ADP32F03XB</vt:lpstr>
      <vt:lpstr>ADP32F03X/ADP32F03XB</vt:lpstr>
      <vt:lpstr>ADP32F03X/ADP32F03XB</vt:lpstr>
      <vt:lpstr>PowerPoint 演示文稿</vt:lpstr>
      <vt:lpstr>ADP32F03X/ADP32F03XB</vt:lpstr>
      <vt:lpstr>PowerPoint 演示文稿</vt:lpstr>
      <vt:lpstr>PowerPoint 演示文稿</vt:lpstr>
      <vt:lpstr>CLA 控制律加速单元</vt:lpstr>
      <vt:lpstr>ADP32F03X/ADP32F03XB</vt:lpstr>
      <vt:lpstr>ADP32F10/ADP32F12</vt:lpstr>
      <vt:lpstr>ADP32F10/ADP32F12</vt:lpstr>
      <vt:lpstr>ADP32F08/AVP32F08</vt:lpstr>
      <vt:lpstr>ADP32F08/AVP32F08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32系列DSP应用及要点培训</dc:title>
  <dc:creator>xx xx</dc:creator>
  <cp:lastModifiedBy>权</cp:lastModifiedBy>
  <cp:revision>153</cp:revision>
  <dcterms:created xsi:type="dcterms:W3CDTF">2023-10-10T01:05:00Z</dcterms:created>
  <dcterms:modified xsi:type="dcterms:W3CDTF">2026-04-21T07:25:31Z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83374D32A3E8475FB2784BBA8E692994_12</vt:lpwstr>
  </property>
  <property fmtid="{D5CDD505-2E9C-101B-9397-08002B2CF9AE}" pid="3" name="KSOProductBuildVer">
    <vt:lpwstr>2052-12.1.0.25225</vt:lpwstr>
  </property>
</Properties>
</file>