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56"/>
  </p:handoutMasterIdLst>
  <p:sldIdLst>
    <p:sldId id="1050" r:id="rId3"/>
    <p:sldId id="1038" r:id="rId5"/>
    <p:sldId id="1051" r:id="rId6"/>
    <p:sldId id="1052" r:id="rId7"/>
    <p:sldId id="1053" r:id="rId8"/>
    <p:sldId id="1054" r:id="rId9"/>
    <p:sldId id="1055" r:id="rId10"/>
    <p:sldId id="1056" r:id="rId11"/>
    <p:sldId id="1057" r:id="rId12"/>
    <p:sldId id="1058" r:id="rId13"/>
    <p:sldId id="1059" r:id="rId14"/>
    <p:sldId id="1039" r:id="rId15"/>
    <p:sldId id="1041" r:id="rId16"/>
    <p:sldId id="1040" r:id="rId17"/>
    <p:sldId id="1042" r:id="rId18"/>
    <p:sldId id="1043" r:id="rId19"/>
    <p:sldId id="1045" r:id="rId20"/>
    <p:sldId id="1046" r:id="rId21"/>
    <p:sldId id="531" r:id="rId22"/>
    <p:sldId id="558" r:id="rId23"/>
    <p:sldId id="948" r:id="rId24"/>
    <p:sldId id="560" r:id="rId25"/>
    <p:sldId id="542" r:id="rId26"/>
    <p:sldId id="1021" r:id="rId27"/>
    <p:sldId id="1022" r:id="rId28"/>
    <p:sldId id="556" r:id="rId29"/>
    <p:sldId id="1023" r:id="rId30"/>
    <p:sldId id="987" r:id="rId31"/>
    <p:sldId id="555" r:id="rId32"/>
    <p:sldId id="557" r:id="rId33"/>
    <p:sldId id="954" r:id="rId34"/>
    <p:sldId id="1044" r:id="rId35"/>
    <p:sldId id="882" r:id="rId36"/>
    <p:sldId id="883" r:id="rId37"/>
    <p:sldId id="885" r:id="rId38"/>
    <p:sldId id="884" r:id="rId39"/>
    <p:sldId id="1030" r:id="rId40"/>
    <p:sldId id="1065" r:id="rId41"/>
    <p:sldId id="1066" r:id="rId42"/>
    <p:sldId id="1031" r:id="rId43"/>
    <p:sldId id="1032" r:id="rId44"/>
    <p:sldId id="1027" r:id="rId45"/>
    <p:sldId id="999" r:id="rId46"/>
    <p:sldId id="982" r:id="rId47"/>
    <p:sldId id="996" r:id="rId48"/>
    <p:sldId id="997" r:id="rId49"/>
    <p:sldId id="1028" r:id="rId50"/>
    <p:sldId id="1060" r:id="rId51"/>
    <p:sldId id="1061" r:id="rId52"/>
    <p:sldId id="1062" r:id="rId53"/>
    <p:sldId id="1063" r:id="rId54"/>
    <p:sldId id="1064" r:id="rId55"/>
  </p:sldIdLst>
  <p:sldSz cx="12192000" cy="6858000"/>
  <p:notesSz cx="6858000" cy="9144000"/>
  <p:custDataLst>
    <p:tags r:id="rId6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7" userDrawn="1">
          <p15:clr>
            <a:srgbClr val="A4A3A4"/>
          </p15:clr>
        </p15:guide>
        <p15:guide id="2" pos="384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ebron James" initials="LJ" lastIdx="1" clrIdx="0"/>
  <p:cmAuthor id="7" name="赵传东" initials="赵传东" lastIdx="1" clrIdx="4"/>
  <p:cmAuthor id="1" name="Administrator" initials="A" lastIdx="1" clrIdx="0"/>
  <p:cmAuthor id="2" name="未知用户1" initials="未" lastIdx="1" clrIdx="1"/>
  <p:cmAuthor id="3" name="章元军" initials="章" lastIdx="1" clrIdx="2"/>
  <p:cmAuthor id="4" name="00827" initials="0" lastIdx="1" clrIdx="3"/>
  <p:cmAuthor id="6" name="传东 赵" initials="传东" lastIdx="4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5F77"/>
    <a:srgbClr val="39CEFF"/>
    <a:srgbClr val="DFE4EC"/>
    <a:srgbClr val="F7F8F9"/>
    <a:srgbClr val="E5E9EF"/>
    <a:srgbClr val="1F74AD"/>
    <a:srgbClr val="00B0F0"/>
    <a:srgbClr val="0070C0"/>
    <a:srgbClr val="D8DFEF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31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291" y="45"/>
      </p:cViewPr>
      <p:guideLst>
        <p:guide orient="horz" pos="2147"/>
        <p:guide pos="384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1" Type="http://schemas.openxmlformats.org/officeDocument/2006/relationships/tags" Target="tags/tag245.xml"/><Relationship Id="rId60" Type="http://schemas.openxmlformats.org/officeDocument/2006/relationships/commentAuthors" Target="commentAuthors.xml"/><Relationship Id="rId6" Type="http://schemas.openxmlformats.org/officeDocument/2006/relationships/slide" Target="slides/slide3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handoutMaster" Target="handoutMasters/handoutMaster1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D37E19-0BCF-4DF7-B623-5B5ECE4EA68E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6AA13E7-1E3A-4873-AF42-BCF55CF3C128}">
      <dgm:prSet phldrT="[文本]" custT="1"/>
      <dgm:spPr>
        <a:solidFill>
          <a:srgbClr val="FFC000"/>
        </a:solidFill>
      </dgm:spPr>
      <dgm:t>
        <a:bodyPr/>
        <a:lstStyle/>
        <a:p>
          <a:r>
            <a:rPr lang="zh-CN" altLang="en-US" sz="2000" dirty="0">
              <a:latin typeface="+mn-ea"/>
              <a:ea typeface="+mn-ea"/>
            </a:rPr>
            <a:t>公司介绍</a:t>
          </a:r>
        </a:p>
      </dgm:t>
    </dgm:pt>
    <dgm:pt modelId="{0B3276F8-D95D-4203-8D15-32B9A08F4FC4}" cxnId="{3CFB1BB8-CAE6-4259-A949-11939D54F8A6}" type="parTrans">
      <dgm:prSet/>
      <dgm:spPr/>
      <dgm:t>
        <a:bodyPr/>
        <a:lstStyle/>
        <a:p>
          <a:endParaRPr lang="zh-CN" altLang="en-US"/>
        </a:p>
      </dgm:t>
    </dgm:pt>
    <dgm:pt modelId="{C3B5E635-1A4C-4581-8481-4B46A779AD9F}" cxnId="{3CFB1BB8-CAE6-4259-A949-11939D54F8A6}" type="sibTrans">
      <dgm:prSet/>
      <dgm:spPr/>
      <dgm:t>
        <a:bodyPr/>
        <a:lstStyle/>
        <a:p>
          <a:endParaRPr lang="zh-CN" altLang="en-US"/>
        </a:p>
      </dgm:t>
    </dgm:pt>
    <dgm:pt modelId="{3164CCCF-84FD-4D8C-9FF0-17649DD9180A}">
      <dgm:prSet phldrT="[文本]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zh-CN" altLang="en-US" dirty="0">
              <a:latin typeface="+mn-ea"/>
              <a:ea typeface="+mn-ea"/>
            </a:rPr>
            <a:t>产品介绍</a:t>
          </a:r>
        </a:p>
      </dgm:t>
    </dgm:pt>
    <dgm:pt modelId="{9A39C305-A4B3-4662-8F63-253358790703}" cxnId="{24A8AA4C-793A-4482-AC89-64C8686674FC}" type="parTrans">
      <dgm:prSet/>
      <dgm:spPr/>
      <dgm:t>
        <a:bodyPr/>
        <a:lstStyle/>
        <a:p>
          <a:endParaRPr lang="zh-CN" altLang="en-US"/>
        </a:p>
      </dgm:t>
    </dgm:pt>
    <dgm:pt modelId="{2DD481D1-8A70-4FF9-9D9C-61DFE75646D4}" cxnId="{24A8AA4C-793A-4482-AC89-64C8686674FC}" type="sibTrans">
      <dgm:prSet/>
      <dgm:spPr/>
      <dgm:t>
        <a:bodyPr/>
        <a:lstStyle/>
        <a:p>
          <a:endParaRPr lang="zh-CN" altLang="en-US"/>
        </a:p>
      </dgm:t>
    </dgm:pt>
    <dgm:pt modelId="{AA5647EE-B4E5-495C-8ABF-6CBF36F29447}">
      <dgm:prSet phldrT="[文本]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zh-CN" altLang="en-US" dirty="0">
              <a:latin typeface="+mn-ea"/>
              <a:ea typeface="+mn-ea"/>
            </a:rPr>
            <a:t>方案介绍</a:t>
          </a:r>
        </a:p>
      </dgm:t>
    </dgm:pt>
    <dgm:pt modelId="{AE9B508F-3A9B-4238-AF98-8BC1966EB4F4}" cxnId="{4BE361A8-6180-4292-8CE6-305EAFDA2C5E}" type="parTrans">
      <dgm:prSet/>
      <dgm:spPr/>
      <dgm:t>
        <a:bodyPr/>
        <a:lstStyle/>
        <a:p>
          <a:endParaRPr lang="zh-CN" altLang="en-US"/>
        </a:p>
      </dgm:t>
    </dgm:pt>
    <dgm:pt modelId="{0AA08446-41A2-4DCB-89CE-95751DFF70CC}" cxnId="{4BE361A8-6180-4292-8CE6-305EAFDA2C5E}" type="sibTrans">
      <dgm:prSet/>
      <dgm:spPr/>
      <dgm:t>
        <a:bodyPr/>
        <a:lstStyle/>
        <a:p>
          <a:endParaRPr lang="zh-CN" altLang="en-US"/>
        </a:p>
      </dgm:t>
    </dgm:pt>
    <dgm:pt modelId="{6DE9D193-6297-427F-A2BE-76C4F5F0F557}">
      <dgm:prSet/>
      <dgm:spPr>
        <a:solidFill>
          <a:srgbClr val="00B050"/>
        </a:solidFill>
      </dgm:spPr>
      <dgm:t>
        <a:bodyPr/>
        <a:lstStyle/>
        <a:p>
          <a:r>
            <a:rPr lang="zh-CN" altLang="en-US" dirty="0"/>
            <a:t>市场应用介绍</a:t>
          </a:r>
        </a:p>
      </dgm:t>
    </dgm:pt>
    <dgm:pt modelId="{C7339ADB-8150-4AE1-9004-17F2180A43CB}" cxnId="{0580CDAF-EF39-444C-AEB3-4EBD37FE244C}" type="parTrans">
      <dgm:prSet/>
      <dgm:spPr/>
      <dgm:t>
        <a:bodyPr/>
        <a:lstStyle/>
        <a:p>
          <a:endParaRPr lang="zh-CN" altLang="en-US"/>
        </a:p>
      </dgm:t>
    </dgm:pt>
    <dgm:pt modelId="{C9CBC960-CA72-407A-88FF-8BF89D868BAE}" cxnId="{0580CDAF-EF39-444C-AEB3-4EBD37FE244C}" type="sibTrans">
      <dgm:prSet/>
      <dgm:spPr/>
      <dgm:t>
        <a:bodyPr/>
        <a:lstStyle/>
        <a:p>
          <a:endParaRPr lang="zh-CN" altLang="en-US"/>
        </a:p>
      </dgm:t>
    </dgm:pt>
    <dgm:pt modelId="{0DD1607A-93DE-40B4-BDE4-4E3051DF1B7E}">
      <dgm:prSet/>
      <dgm:spPr>
        <a:solidFill>
          <a:srgbClr val="0070C0"/>
        </a:solidFill>
      </dgm:spPr>
      <dgm:t>
        <a:bodyPr/>
        <a:lstStyle/>
        <a:p>
          <a:r>
            <a:rPr lang="zh-CN" altLang="en-US" dirty="0">
              <a:latin typeface="+mn-ea"/>
              <a:ea typeface="+mn-ea"/>
            </a:rPr>
            <a:t>供应保障</a:t>
          </a:r>
        </a:p>
      </dgm:t>
    </dgm:pt>
    <dgm:pt modelId="{CEC61C96-A8EA-4340-BCCD-410D018CD7A8}" cxnId="{565D4357-AB25-4AAE-8A76-F24AF1FAC7C8}" type="parTrans">
      <dgm:prSet/>
      <dgm:spPr/>
      <dgm:t>
        <a:bodyPr/>
        <a:lstStyle/>
        <a:p>
          <a:endParaRPr lang="zh-CN" altLang="en-US"/>
        </a:p>
      </dgm:t>
    </dgm:pt>
    <dgm:pt modelId="{AF9CF060-7DDC-4E1F-9714-D1729AFDC554}" cxnId="{565D4357-AB25-4AAE-8A76-F24AF1FAC7C8}" type="sibTrans">
      <dgm:prSet/>
      <dgm:spPr/>
      <dgm:t>
        <a:bodyPr/>
        <a:lstStyle/>
        <a:p>
          <a:endParaRPr lang="zh-CN" altLang="en-US"/>
        </a:p>
      </dgm:t>
    </dgm:pt>
    <dgm:pt modelId="{E72B8E30-018F-4437-9A30-A7A6238BACCC}" type="pres">
      <dgm:prSet presAssocID="{D3D37E19-0BCF-4DF7-B623-5B5ECE4EA68E}" presName="Name0" presStyleCnt="0">
        <dgm:presLayoutVars>
          <dgm:chMax val="7"/>
          <dgm:chPref val="7"/>
          <dgm:dir/>
        </dgm:presLayoutVars>
      </dgm:prSet>
      <dgm:spPr/>
    </dgm:pt>
    <dgm:pt modelId="{84D6CF29-DC4E-4185-9607-865DC25EA9D1}" type="pres">
      <dgm:prSet presAssocID="{D3D37E19-0BCF-4DF7-B623-5B5ECE4EA68E}" presName="Name1" presStyleCnt="0"/>
      <dgm:spPr/>
    </dgm:pt>
    <dgm:pt modelId="{1C4545A4-906C-41B0-A62F-6AC8B1713FE6}" type="pres">
      <dgm:prSet presAssocID="{D3D37E19-0BCF-4DF7-B623-5B5ECE4EA68E}" presName="cycle" presStyleCnt="0"/>
      <dgm:spPr/>
    </dgm:pt>
    <dgm:pt modelId="{27417E2E-26F9-47B4-BB1D-5895CD7F23FD}" type="pres">
      <dgm:prSet presAssocID="{D3D37E19-0BCF-4DF7-B623-5B5ECE4EA68E}" presName="srcNode" presStyleLbl="node1" presStyleIdx="0" presStyleCnt="5"/>
      <dgm:spPr/>
    </dgm:pt>
    <dgm:pt modelId="{802451AB-500E-4EC4-93D0-68801ECF6169}" type="pres">
      <dgm:prSet presAssocID="{D3D37E19-0BCF-4DF7-B623-5B5ECE4EA68E}" presName="conn" presStyleLbl="parChTrans1D2" presStyleIdx="0" presStyleCnt="1"/>
      <dgm:spPr/>
    </dgm:pt>
    <dgm:pt modelId="{17605D07-4DC0-4629-B89C-716EF7BD8C50}" type="pres">
      <dgm:prSet presAssocID="{D3D37E19-0BCF-4DF7-B623-5B5ECE4EA68E}" presName="extraNode" presStyleLbl="node1" presStyleIdx="0" presStyleCnt="5"/>
      <dgm:spPr/>
    </dgm:pt>
    <dgm:pt modelId="{0C4622AC-B81A-42A7-9C5B-48BD5696A088}" type="pres">
      <dgm:prSet presAssocID="{D3D37E19-0BCF-4DF7-B623-5B5ECE4EA68E}" presName="dstNode" presStyleLbl="node1" presStyleIdx="0" presStyleCnt="5"/>
      <dgm:spPr/>
    </dgm:pt>
    <dgm:pt modelId="{A5C986DC-6B4F-4D08-8846-2C9B5A627833}" type="pres">
      <dgm:prSet presAssocID="{26AA13E7-1E3A-4873-AF42-BCF55CF3C128}" presName="text_1" presStyleLbl="node1" presStyleIdx="0" presStyleCnt="5">
        <dgm:presLayoutVars>
          <dgm:bulletEnabled val="1"/>
        </dgm:presLayoutVars>
      </dgm:prSet>
      <dgm:spPr/>
    </dgm:pt>
    <dgm:pt modelId="{40A4B393-4FBE-4FE4-B0E1-AF736FD2156D}" type="pres">
      <dgm:prSet presAssocID="{26AA13E7-1E3A-4873-AF42-BCF55CF3C128}" presName="accent_1" presStyleCnt="0"/>
      <dgm:spPr/>
    </dgm:pt>
    <dgm:pt modelId="{83DB1F83-A4E7-4827-9713-D7CC6BC05CBB}" type="pres">
      <dgm:prSet presAssocID="{26AA13E7-1E3A-4873-AF42-BCF55CF3C128}" presName="accentRepeatNode" presStyleLbl="solidFgAcc1" presStyleIdx="0" presStyleCnt="5" custLinFactNeighborX="-34276" custLinFactNeighborY="-7231"/>
      <dgm:spPr/>
    </dgm:pt>
    <dgm:pt modelId="{93D269A1-C726-42CD-85C6-92A1A11B5B87}" type="pres">
      <dgm:prSet presAssocID="{3164CCCF-84FD-4D8C-9FF0-17649DD9180A}" presName="text_2" presStyleLbl="node1" presStyleIdx="1" presStyleCnt="5">
        <dgm:presLayoutVars>
          <dgm:bulletEnabled val="1"/>
        </dgm:presLayoutVars>
      </dgm:prSet>
      <dgm:spPr/>
    </dgm:pt>
    <dgm:pt modelId="{F753B1AC-5ED5-4D4F-B76D-9FADC227887B}" type="pres">
      <dgm:prSet presAssocID="{3164CCCF-84FD-4D8C-9FF0-17649DD9180A}" presName="accent_2" presStyleCnt="0"/>
      <dgm:spPr/>
    </dgm:pt>
    <dgm:pt modelId="{FBD496C6-345E-421B-A816-7DBFA92EECED}" type="pres">
      <dgm:prSet presAssocID="{3164CCCF-84FD-4D8C-9FF0-17649DD9180A}" presName="accentRepeatNode" presStyleLbl="solidFgAcc1" presStyleIdx="1" presStyleCnt="5" custLinFactNeighborX="-33222" custLinFactNeighborY="-2132"/>
      <dgm:spPr/>
    </dgm:pt>
    <dgm:pt modelId="{120600CD-340F-4747-90CF-09132B301700}" type="pres">
      <dgm:prSet presAssocID="{AA5647EE-B4E5-495C-8ABF-6CBF36F29447}" presName="text_3" presStyleLbl="node1" presStyleIdx="2" presStyleCnt="5">
        <dgm:presLayoutVars>
          <dgm:bulletEnabled val="1"/>
        </dgm:presLayoutVars>
      </dgm:prSet>
      <dgm:spPr/>
    </dgm:pt>
    <dgm:pt modelId="{4874C6FD-7556-4E55-9AA3-BA06AF35F27F}" type="pres">
      <dgm:prSet presAssocID="{AA5647EE-B4E5-495C-8ABF-6CBF36F29447}" presName="accent_3" presStyleCnt="0"/>
      <dgm:spPr/>
    </dgm:pt>
    <dgm:pt modelId="{865B8A7B-3492-40F2-ACE6-ECCE7657BCF4}" type="pres">
      <dgm:prSet presAssocID="{AA5647EE-B4E5-495C-8ABF-6CBF36F29447}" presName="accentRepeatNode" presStyleLbl="solidFgAcc1" presStyleIdx="2" presStyleCnt="5" custLinFactNeighborX="-9196" custLinFactNeighborY="194"/>
      <dgm:spPr/>
    </dgm:pt>
    <dgm:pt modelId="{7EEE9D83-E5B1-4495-AF85-6677C8304D10}" type="pres">
      <dgm:prSet presAssocID="{6DE9D193-6297-427F-A2BE-76C4F5F0F557}" presName="text_4" presStyleLbl="node1" presStyleIdx="3" presStyleCnt="5">
        <dgm:presLayoutVars>
          <dgm:bulletEnabled val="1"/>
        </dgm:presLayoutVars>
      </dgm:prSet>
      <dgm:spPr/>
    </dgm:pt>
    <dgm:pt modelId="{CB4C58DF-76E5-4186-BBA8-974D7C2275EB}" type="pres">
      <dgm:prSet presAssocID="{6DE9D193-6297-427F-A2BE-76C4F5F0F557}" presName="accent_4" presStyleCnt="0"/>
      <dgm:spPr/>
    </dgm:pt>
    <dgm:pt modelId="{FA088A53-1865-48F4-9C3A-23C0CBF65DCC}" type="pres">
      <dgm:prSet presAssocID="{6DE9D193-6297-427F-A2BE-76C4F5F0F557}" presName="accentRepeatNode" presStyleLbl="solidFgAcc1" presStyleIdx="3" presStyleCnt="5" custLinFactNeighborX="-26231" custLinFactNeighborY="481"/>
      <dgm:spPr/>
    </dgm:pt>
    <dgm:pt modelId="{3CE7E889-DECD-45C2-B817-75EB1C4D6F2C}" type="pres">
      <dgm:prSet presAssocID="{0DD1607A-93DE-40B4-BDE4-4E3051DF1B7E}" presName="text_5" presStyleLbl="node1" presStyleIdx="4" presStyleCnt="5">
        <dgm:presLayoutVars>
          <dgm:bulletEnabled val="1"/>
        </dgm:presLayoutVars>
      </dgm:prSet>
      <dgm:spPr/>
    </dgm:pt>
    <dgm:pt modelId="{D9DB75EE-29F0-4C92-88F1-042175B1751D}" type="pres">
      <dgm:prSet presAssocID="{0DD1607A-93DE-40B4-BDE4-4E3051DF1B7E}" presName="accent_5" presStyleCnt="0"/>
      <dgm:spPr/>
    </dgm:pt>
    <dgm:pt modelId="{B2DE86B0-3F4C-4134-A0B0-990BE208AE32}" type="pres">
      <dgm:prSet presAssocID="{0DD1607A-93DE-40B4-BDE4-4E3051DF1B7E}" presName="accentRepeatNode" presStyleLbl="solidFgAcc1" presStyleIdx="4" presStyleCnt="5" custLinFactNeighborX="-23262" custLinFactNeighborY="-542"/>
      <dgm:spPr/>
    </dgm:pt>
  </dgm:ptLst>
  <dgm:cxnLst>
    <dgm:cxn modelId="{414B4112-E524-4B1F-9B75-B9C55A3618EE}" type="presOf" srcId="{AA5647EE-B4E5-495C-8ABF-6CBF36F29447}" destId="{120600CD-340F-4747-90CF-09132B301700}" srcOrd="0" destOrd="0" presId="urn:microsoft.com/office/officeart/2008/layout/VerticalCurvedList"/>
    <dgm:cxn modelId="{A7FA4D1D-1583-4EDA-B340-224C70BE7C32}" type="presOf" srcId="{C3B5E635-1A4C-4581-8481-4B46A779AD9F}" destId="{802451AB-500E-4EC4-93D0-68801ECF6169}" srcOrd="0" destOrd="0" presId="urn:microsoft.com/office/officeart/2008/layout/VerticalCurvedList"/>
    <dgm:cxn modelId="{E0E11566-D607-48DE-8845-171A9663193C}" type="presOf" srcId="{6DE9D193-6297-427F-A2BE-76C4F5F0F557}" destId="{7EEE9D83-E5B1-4495-AF85-6677C8304D10}" srcOrd="0" destOrd="0" presId="urn:microsoft.com/office/officeart/2008/layout/VerticalCurvedList"/>
    <dgm:cxn modelId="{24A8AA4C-793A-4482-AC89-64C8686674FC}" srcId="{D3D37E19-0BCF-4DF7-B623-5B5ECE4EA68E}" destId="{3164CCCF-84FD-4D8C-9FF0-17649DD9180A}" srcOrd="1" destOrd="0" parTransId="{9A39C305-A4B3-4662-8F63-253358790703}" sibTransId="{2DD481D1-8A70-4FF9-9D9C-61DFE75646D4}"/>
    <dgm:cxn modelId="{565D4357-AB25-4AAE-8A76-F24AF1FAC7C8}" srcId="{D3D37E19-0BCF-4DF7-B623-5B5ECE4EA68E}" destId="{0DD1607A-93DE-40B4-BDE4-4E3051DF1B7E}" srcOrd="4" destOrd="0" parTransId="{CEC61C96-A8EA-4340-BCCD-410D018CD7A8}" sibTransId="{AF9CF060-7DDC-4E1F-9714-D1729AFDC554}"/>
    <dgm:cxn modelId="{FD3B9A7B-9DF4-4725-BCBA-AE013520E400}" type="presOf" srcId="{26AA13E7-1E3A-4873-AF42-BCF55CF3C128}" destId="{A5C986DC-6B4F-4D08-8846-2C9B5A627833}" srcOrd="0" destOrd="0" presId="urn:microsoft.com/office/officeart/2008/layout/VerticalCurvedList"/>
    <dgm:cxn modelId="{5F42F9A4-85DE-4701-95B8-181585A8D531}" type="presOf" srcId="{0DD1607A-93DE-40B4-BDE4-4E3051DF1B7E}" destId="{3CE7E889-DECD-45C2-B817-75EB1C4D6F2C}" srcOrd="0" destOrd="0" presId="urn:microsoft.com/office/officeart/2008/layout/VerticalCurvedList"/>
    <dgm:cxn modelId="{4BE361A8-6180-4292-8CE6-305EAFDA2C5E}" srcId="{D3D37E19-0BCF-4DF7-B623-5B5ECE4EA68E}" destId="{AA5647EE-B4E5-495C-8ABF-6CBF36F29447}" srcOrd="2" destOrd="0" parTransId="{AE9B508F-3A9B-4238-AF98-8BC1966EB4F4}" sibTransId="{0AA08446-41A2-4DCB-89CE-95751DFF70CC}"/>
    <dgm:cxn modelId="{0580CDAF-EF39-444C-AEB3-4EBD37FE244C}" srcId="{D3D37E19-0BCF-4DF7-B623-5B5ECE4EA68E}" destId="{6DE9D193-6297-427F-A2BE-76C4F5F0F557}" srcOrd="3" destOrd="0" parTransId="{C7339ADB-8150-4AE1-9004-17F2180A43CB}" sibTransId="{C9CBC960-CA72-407A-88FF-8BF89D868BAE}"/>
    <dgm:cxn modelId="{3CFB1BB8-CAE6-4259-A949-11939D54F8A6}" srcId="{D3D37E19-0BCF-4DF7-B623-5B5ECE4EA68E}" destId="{26AA13E7-1E3A-4873-AF42-BCF55CF3C128}" srcOrd="0" destOrd="0" parTransId="{0B3276F8-D95D-4203-8D15-32B9A08F4FC4}" sibTransId="{C3B5E635-1A4C-4581-8481-4B46A779AD9F}"/>
    <dgm:cxn modelId="{C42E1FCD-70DB-41D8-9228-47B4177B9ED4}" type="presOf" srcId="{3164CCCF-84FD-4D8C-9FF0-17649DD9180A}" destId="{93D269A1-C726-42CD-85C6-92A1A11B5B87}" srcOrd="0" destOrd="0" presId="urn:microsoft.com/office/officeart/2008/layout/VerticalCurvedList"/>
    <dgm:cxn modelId="{71981CF4-D953-4649-B93D-5ADB6BBFB329}" type="presOf" srcId="{D3D37E19-0BCF-4DF7-B623-5B5ECE4EA68E}" destId="{E72B8E30-018F-4437-9A30-A7A6238BACCC}" srcOrd="0" destOrd="0" presId="urn:microsoft.com/office/officeart/2008/layout/VerticalCurvedList"/>
    <dgm:cxn modelId="{469DF8A5-C345-4045-A9F8-EDC53F923954}" type="presParOf" srcId="{E72B8E30-018F-4437-9A30-A7A6238BACCC}" destId="{84D6CF29-DC4E-4185-9607-865DC25EA9D1}" srcOrd="0" destOrd="0" presId="urn:microsoft.com/office/officeart/2008/layout/VerticalCurvedList"/>
    <dgm:cxn modelId="{96314DED-E611-4460-B272-C6A67B3812D3}" type="presParOf" srcId="{84D6CF29-DC4E-4185-9607-865DC25EA9D1}" destId="{1C4545A4-906C-41B0-A62F-6AC8B1713FE6}" srcOrd="0" destOrd="0" presId="urn:microsoft.com/office/officeart/2008/layout/VerticalCurvedList"/>
    <dgm:cxn modelId="{6D335AF4-58F9-4A21-A615-D7D359E3E6A9}" type="presParOf" srcId="{1C4545A4-906C-41B0-A62F-6AC8B1713FE6}" destId="{27417E2E-26F9-47B4-BB1D-5895CD7F23FD}" srcOrd="0" destOrd="0" presId="urn:microsoft.com/office/officeart/2008/layout/VerticalCurvedList"/>
    <dgm:cxn modelId="{DBA04FDC-F203-4B56-A9B8-82BB404641C9}" type="presParOf" srcId="{1C4545A4-906C-41B0-A62F-6AC8B1713FE6}" destId="{802451AB-500E-4EC4-93D0-68801ECF6169}" srcOrd="1" destOrd="0" presId="urn:microsoft.com/office/officeart/2008/layout/VerticalCurvedList"/>
    <dgm:cxn modelId="{188007EB-A6B2-49AA-B759-F17B9467F660}" type="presParOf" srcId="{1C4545A4-906C-41B0-A62F-6AC8B1713FE6}" destId="{17605D07-4DC0-4629-B89C-716EF7BD8C50}" srcOrd="2" destOrd="0" presId="urn:microsoft.com/office/officeart/2008/layout/VerticalCurvedList"/>
    <dgm:cxn modelId="{95AF4526-B85F-4AAB-A202-84567EB9BE85}" type="presParOf" srcId="{1C4545A4-906C-41B0-A62F-6AC8B1713FE6}" destId="{0C4622AC-B81A-42A7-9C5B-48BD5696A088}" srcOrd="3" destOrd="0" presId="urn:microsoft.com/office/officeart/2008/layout/VerticalCurvedList"/>
    <dgm:cxn modelId="{8C9ADA9B-B52F-400F-BB9F-A0A92677DC86}" type="presParOf" srcId="{84D6CF29-DC4E-4185-9607-865DC25EA9D1}" destId="{A5C986DC-6B4F-4D08-8846-2C9B5A627833}" srcOrd="1" destOrd="0" presId="urn:microsoft.com/office/officeart/2008/layout/VerticalCurvedList"/>
    <dgm:cxn modelId="{E0400295-03A1-4BD1-A3FD-98CFD5FBABF2}" type="presParOf" srcId="{84D6CF29-DC4E-4185-9607-865DC25EA9D1}" destId="{40A4B393-4FBE-4FE4-B0E1-AF736FD2156D}" srcOrd="2" destOrd="0" presId="urn:microsoft.com/office/officeart/2008/layout/VerticalCurvedList"/>
    <dgm:cxn modelId="{B1D5D2E3-EC99-4E2A-B33F-5CC8A9255E22}" type="presParOf" srcId="{40A4B393-4FBE-4FE4-B0E1-AF736FD2156D}" destId="{83DB1F83-A4E7-4827-9713-D7CC6BC05CBB}" srcOrd="0" destOrd="0" presId="urn:microsoft.com/office/officeart/2008/layout/VerticalCurvedList"/>
    <dgm:cxn modelId="{E1400A16-FF84-443A-AD16-64DFD97AC1BC}" type="presParOf" srcId="{84D6CF29-DC4E-4185-9607-865DC25EA9D1}" destId="{93D269A1-C726-42CD-85C6-92A1A11B5B87}" srcOrd="3" destOrd="0" presId="urn:microsoft.com/office/officeart/2008/layout/VerticalCurvedList"/>
    <dgm:cxn modelId="{717F761F-9FC9-4726-8E96-E0D0F9679418}" type="presParOf" srcId="{84D6CF29-DC4E-4185-9607-865DC25EA9D1}" destId="{F753B1AC-5ED5-4D4F-B76D-9FADC227887B}" srcOrd="4" destOrd="0" presId="urn:microsoft.com/office/officeart/2008/layout/VerticalCurvedList"/>
    <dgm:cxn modelId="{71FC0EAE-1E39-48C7-8198-5BC96F0F149F}" type="presParOf" srcId="{F753B1AC-5ED5-4D4F-B76D-9FADC227887B}" destId="{FBD496C6-345E-421B-A816-7DBFA92EECED}" srcOrd="0" destOrd="0" presId="urn:microsoft.com/office/officeart/2008/layout/VerticalCurvedList"/>
    <dgm:cxn modelId="{DC2AE79E-10DA-46F0-A776-C12455B24D9F}" type="presParOf" srcId="{84D6CF29-DC4E-4185-9607-865DC25EA9D1}" destId="{120600CD-340F-4747-90CF-09132B301700}" srcOrd="5" destOrd="0" presId="urn:microsoft.com/office/officeart/2008/layout/VerticalCurvedList"/>
    <dgm:cxn modelId="{08136AE5-B506-42CF-B2C5-CE01FB3B042C}" type="presParOf" srcId="{84D6CF29-DC4E-4185-9607-865DC25EA9D1}" destId="{4874C6FD-7556-4E55-9AA3-BA06AF35F27F}" srcOrd="6" destOrd="0" presId="urn:microsoft.com/office/officeart/2008/layout/VerticalCurvedList"/>
    <dgm:cxn modelId="{9AC492C1-220F-4F4D-9B14-D5B218386489}" type="presParOf" srcId="{4874C6FD-7556-4E55-9AA3-BA06AF35F27F}" destId="{865B8A7B-3492-40F2-ACE6-ECCE7657BCF4}" srcOrd="0" destOrd="0" presId="urn:microsoft.com/office/officeart/2008/layout/VerticalCurvedList"/>
    <dgm:cxn modelId="{3888565C-1D88-492B-B6BA-2634FF5161A8}" type="presParOf" srcId="{84D6CF29-DC4E-4185-9607-865DC25EA9D1}" destId="{7EEE9D83-E5B1-4495-AF85-6677C8304D10}" srcOrd="7" destOrd="0" presId="urn:microsoft.com/office/officeart/2008/layout/VerticalCurvedList"/>
    <dgm:cxn modelId="{9E5EDBBD-78F4-41A4-A81F-47C30EFD3D07}" type="presParOf" srcId="{84D6CF29-DC4E-4185-9607-865DC25EA9D1}" destId="{CB4C58DF-76E5-4186-BBA8-974D7C2275EB}" srcOrd="8" destOrd="0" presId="urn:microsoft.com/office/officeart/2008/layout/VerticalCurvedList"/>
    <dgm:cxn modelId="{DDF4A714-E593-4088-8AA4-AB3CE4141FBA}" type="presParOf" srcId="{CB4C58DF-76E5-4186-BBA8-974D7C2275EB}" destId="{FA088A53-1865-48F4-9C3A-23C0CBF65DCC}" srcOrd="0" destOrd="0" presId="urn:microsoft.com/office/officeart/2008/layout/VerticalCurvedList"/>
    <dgm:cxn modelId="{17C8368B-D243-4EB6-8B01-0B3A358BE99A}" type="presParOf" srcId="{84D6CF29-DC4E-4185-9607-865DC25EA9D1}" destId="{3CE7E889-DECD-45C2-B817-75EB1C4D6F2C}" srcOrd="9" destOrd="0" presId="urn:microsoft.com/office/officeart/2008/layout/VerticalCurvedList"/>
    <dgm:cxn modelId="{E0D9E127-47E1-42E2-BD7B-FBAC4596415D}" type="presParOf" srcId="{84D6CF29-DC4E-4185-9607-865DC25EA9D1}" destId="{D9DB75EE-29F0-4C92-88F1-042175B1751D}" srcOrd="10" destOrd="0" presId="urn:microsoft.com/office/officeart/2008/layout/VerticalCurvedList"/>
    <dgm:cxn modelId="{B48054AE-8FDD-47D8-8487-0510F7A77D2D}" type="presParOf" srcId="{D9DB75EE-29F0-4C92-88F1-042175B1751D}" destId="{B2DE86B0-3F4C-4134-A0B0-990BE208AE3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831185" cy="4096253"/>
        <a:chOff x="0" y="0"/>
        <a:chExt cx="6831185" cy="4096253"/>
      </a:xfrm>
    </dsp:grpSpPr>
    <dsp:sp modelId="{802451AB-500E-4EC4-93D0-68801ECF6169}">
      <dsp:nvSpPr>
        <dsp:cNvPr id="4" name="空心弧 3"/>
        <dsp:cNvSpPr/>
      </dsp:nvSpPr>
      <dsp:spPr bwMode="white">
        <a:xfrm>
          <a:off x="-4587730" y="-722556"/>
          <a:ext cx="5541364" cy="5541364"/>
        </a:xfrm>
        <a:prstGeom prst="blockArc">
          <a:avLst>
            <a:gd name="adj1" fmla="val 18900000"/>
            <a:gd name="adj2" fmla="val 2700000"/>
            <a:gd name="adj3" fmla="val 326"/>
          </a:avLst>
        </a:pr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-4587730" y="-722556"/>
        <a:ext cx="5541364" cy="5541364"/>
      </dsp:txXfrm>
    </dsp:sp>
    <dsp:sp modelId="{A5C986DC-6B4F-4D08-8846-2C9B5A627833}">
      <dsp:nvSpPr>
        <dsp:cNvPr id="7" name="矩形 6"/>
        <dsp:cNvSpPr/>
      </dsp:nvSpPr>
      <dsp:spPr bwMode="white">
        <a:xfrm>
          <a:off x="443215" y="255934"/>
          <a:ext cx="6387970" cy="512195"/>
        </a:xfrm>
        <a:prstGeom prst="rect">
          <a:avLst/>
        </a:prstGeom>
        <a:solidFill>
          <a:srgbClr val="FFC000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406555" tIns="50800" rIns="50800" bIns="50800" anchor="ctr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dirty="0">
              <a:latin typeface="+mn-ea"/>
              <a:ea typeface="+mn-ea"/>
            </a:rPr>
            <a:t>公司介绍</a:t>
          </a:r>
        </a:p>
      </dsp:txBody>
      <dsp:txXfrm>
        <a:off x="443215" y="255934"/>
        <a:ext cx="6387970" cy="512195"/>
      </dsp:txXfrm>
    </dsp:sp>
    <dsp:sp modelId="{83DB1F83-A4E7-4827-9713-D7CC6BC05CBB}">
      <dsp:nvSpPr>
        <dsp:cNvPr id="8" name="椭圆 7"/>
        <dsp:cNvSpPr/>
      </dsp:nvSpPr>
      <dsp:spPr bwMode="white">
        <a:xfrm>
          <a:off x="0" y="145613"/>
          <a:ext cx="640244" cy="640244"/>
        </a:xfrm>
        <a:prstGeom prst="ellipse">
          <a:avLst/>
        </a:prstGeom>
      </dsp:spPr>
      <dsp:style>
        <a:lnRef idx="2">
          <a:schemeClr val="accent1"/>
        </a:lnRef>
        <a:fillRef idx="1">
          <a:schemeClr val="lt1"/>
        </a:fillRef>
        <a:effectRef idx="0">
          <a:scrgbClr r="0" g="0" b="0"/>
        </a:effectRef>
        <a:fontRef idx="minor"/>
      </dsp:style>
      <dsp:txXfrm>
        <a:off x="0" y="145613"/>
        <a:ext cx="640244" cy="640244"/>
      </dsp:txXfrm>
    </dsp:sp>
    <dsp:sp modelId="{93D269A1-C726-42CD-85C6-92A1A11B5B87}">
      <dsp:nvSpPr>
        <dsp:cNvPr id="9" name="矩形 8"/>
        <dsp:cNvSpPr/>
      </dsp:nvSpPr>
      <dsp:spPr bwMode="white">
        <a:xfrm>
          <a:off x="810239" y="1023981"/>
          <a:ext cx="6020946" cy="512195"/>
        </a:xfrm>
        <a:prstGeom prst="rect">
          <a:avLst/>
        </a:prstGeom>
        <a:solidFill>
          <a:schemeClr val="accent1">
            <a:lumMod val="60000"/>
            <a:lumOff val="40000"/>
          </a:schemeClr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406555" tIns="58420" rIns="58420" bIns="58420" anchor="ctr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>
              <a:latin typeface="+mn-ea"/>
              <a:ea typeface="+mn-ea"/>
            </a:rPr>
            <a:t>产品介绍</a:t>
          </a:r>
        </a:p>
      </dsp:txBody>
      <dsp:txXfrm>
        <a:off x="810239" y="1023981"/>
        <a:ext cx="6020946" cy="512195"/>
      </dsp:txXfrm>
    </dsp:sp>
    <dsp:sp modelId="{FBD496C6-345E-421B-A816-7DBFA92EECED}">
      <dsp:nvSpPr>
        <dsp:cNvPr id="10" name="椭圆 9"/>
        <dsp:cNvSpPr/>
      </dsp:nvSpPr>
      <dsp:spPr bwMode="white">
        <a:xfrm>
          <a:off x="277415" y="946307"/>
          <a:ext cx="640244" cy="640244"/>
        </a:xfrm>
        <a:prstGeom prst="ellipse">
          <a:avLst/>
        </a:prstGeom>
      </dsp:spPr>
      <dsp:style>
        <a:lnRef idx="2">
          <a:schemeClr val="accent1"/>
        </a:lnRef>
        <a:fillRef idx="1">
          <a:schemeClr val="lt1"/>
        </a:fillRef>
        <a:effectRef idx="0">
          <a:scrgbClr r="0" g="0" b="0"/>
        </a:effectRef>
        <a:fontRef idx="minor"/>
      </dsp:style>
      <dsp:txXfrm>
        <a:off x="277415" y="946307"/>
        <a:ext cx="640244" cy="640244"/>
      </dsp:txXfrm>
    </dsp:sp>
    <dsp:sp modelId="{120600CD-340F-4747-90CF-09132B301700}">
      <dsp:nvSpPr>
        <dsp:cNvPr id="11" name="矩形 10"/>
        <dsp:cNvSpPr/>
      </dsp:nvSpPr>
      <dsp:spPr bwMode="white">
        <a:xfrm>
          <a:off x="922886" y="1792029"/>
          <a:ext cx="5908299" cy="512195"/>
        </a:xfrm>
        <a:prstGeom prst="rect">
          <a:avLst/>
        </a:prstGeom>
        <a:solidFill>
          <a:schemeClr val="accent4">
            <a:lumMod val="60000"/>
            <a:lumOff val="40000"/>
          </a:schemeClr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406555" tIns="58420" rIns="58420" bIns="58420" anchor="ctr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>
              <a:latin typeface="+mn-ea"/>
              <a:ea typeface="+mn-ea"/>
            </a:rPr>
            <a:t>方案介绍</a:t>
          </a:r>
        </a:p>
      </dsp:txBody>
      <dsp:txXfrm>
        <a:off x="922886" y="1792029"/>
        <a:ext cx="5908299" cy="512195"/>
      </dsp:txXfrm>
    </dsp:sp>
    <dsp:sp modelId="{865B8A7B-3492-40F2-ACE6-ECCE7657BCF4}">
      <dsp:nvSpPr>
        <dsp:cNvPr id="12" name="椭圆 11"/>
        <dsp:cNvSpPr/>
      </dsp:nvSpPr>
      <dsp:spPr bwMode="white">
        <a:xfrm>
          <a:off x="543887" y="1729246"/>
          <a:ext cx="640244" cy="640244"/>
        </a:xfrm>
        <a:prstGeom prst="ellipse">
          <a:avLst/>
        </a:prstGeom>
      </dsp:spPr>
      <dsp:style>
        <a:lnRef idx="2">
          <a:schemeClr val="accent1"/>
        </a:lnRef>
        <a:fillRef idx="1">
          <a:schemeClr val="lt1"/>
        </a:fillRef>
        <a:effectRef idx="0">
          <a:scrgbClr r="0" g="0" b="0"/>
        </a:effectRef>
        <a:fontRef idx="minor"/>
      </dsp:style>
      <dsp:txXfrm>
        <a:off x="543887" y="1729246"/>
        <a:ext cx="640244" cy="640244"/>
      </dsp:txXfrm>
    </dsp:sp>
    <dsp:sp modelId="{7EEE9D83-E5B1-4495-AF85-6677C8304D10}">
      <dsp:nvSpPr>
        <dsp:cNvPr id="13" name="矩形 12"/>
        <dsp:cNvSpPr/>
      </dsp:nvSpPr>
      <dsp:spPr bwMode="white">
        <a:xfrm>
          <a:off x="810239" y="2560076"/>
          <a:ext cx="6020946" cy="512195"/>
        </a:xfrm>
        <a:prstGeom prst="rect">
          <a:avLst/>
        </a:prstGeom>
        <a:solidFill>
          <a:srgbClr val="00B050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406555" tIns="58420" rIns="58420" bIns="58420" anchor="ctr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/>
            <a:t>市场应用介绍</a:t>
          </a:r>
        </a:p>
      </dsp:txBody>
      <dsp:txXfrm>
        <a:off x="810239" y="2560076"/>
        <a:ext cx="6020946" cy="512195"/>
      </dsp:txXfrm>
    </dsp:sp>
    <dsp:sp modelId="{FA088A53-1865-48F4-9C3A-23C0CBF65DCC}">
      <dsp:nvSpPr>
        <dsp:cNvPr id="14" name="椭圆 13"/>
        <dsp:cNvSpPr/>
      </dsp:nvSpPr>
      <dsp:spPr bwMode="white">
        <a:xfrm>
          <a:off x="322174" y="2499131"/>
          <a:ext cx="640244" cy="640244"/>
        </a:xfrm>
        <a:prstGeom prst="ellipse">
          <a:avLst/>
        </a:prstGeom>
      </dsp:spPr>
      <dsp:style>
        <a:lnRef idx="2">
          <a:schemeClr val="accent1"/>
        </a:lnRef>
        <a:fillRef idx="1">
          <a:schemeClr val="lt1"/>
        </a:fillRef>
        <a:effectRef idx="0">
          <a:scrgbClr r="0" g="0" b="0"/>
        </a:effectRef>
        <a:fontRef idx="minor"/>
      </dsp:style>
      <dsp:txXfrm>
        <a:off x="322174" y="2499131"/>
        <a:ext cx="640244" cy="640244"/>
      </dsp:txXfrm>
    </dsp:sp>
    <dsp:sp modelId="{3CE7E889-DECD-45C2-B817-75EB1C4D6F2C}">
      <dsp:nvSpPr>
        <dsp:cNvPr id="15" name="矩形 14"/>
        <dsp:cNvSpPr/>
      </dsp:nvSpPr>
      <dsp:spPr bwMode="white">
        <a:xfrm>
          <a:off x="443215" y="3328124"/>
          <a:ext cx="6387970" cy="512195"/>
        </a:xfrm>
        <a:prstGeom prst="rect">
          <a:avLst/>
        </a:prstGeom>
        <a:solidFill>
          <a:srgbClr val="0070C0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406555" tIns="58420" rIns="58420" bIns="58420" anchor="ctr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>
              <a:latin typeface="+mn-ea"/>
              <a:ea typeface="+mn-ea"/>
            </a:rPr>
            <a:t>供应保障</a:t>
          </a:r>
        </a:p>
      </dsp:txBody>
      <dsp:txXfrm>
        <a:off x="443215" y="3328124"/>
        <a:ext cx="6387970" cy="512195"/>
      </dsp:txXfrm>
    </dsp:sp>
    <dsp:sp modelId="{B2DE86B0-3F4C-4134-A0B0-990BE208AE32}">
      <dsp:nvSpPr>
        <dsp:cNvPr id="16" name="椭圆 15"/>
        <dsp:cNvSpPr/>
      </dsp:nvSpPr>
      <dsp:spPr bwMode="white">
        <a:xfrm>
          <a:off x="0" y="3260629"/>
          <a:ext cx="640244" cy="640244"/>
        </a:xfrm>
        <a:prstGeom prst="ellipse">
          <a:avLst/>
        </a:prstGeom>
      </dsp:spPr>
      <dsp:style>
        <a:lnRef idx="2">
          <a:schemeClr val="accent1"/>
        </a:lnRef>
        <a:fillRef idx="1">
          <a:schemeClr val="lt1"/>
        </a:fillRef>
        <a:effectRef idx="0">
          <a:scrgbClr r="0" g="0" b="0"/>
        </a:effectRef>
        <a:fontRef idx="minor"/>
      </dsp:style>
      <dsp:txXfrm>
        <a:off x="0" y="3260629"/>
        <a:ext cx="640244" cy="640244"/>
      </dsp:txXfrm>
    </dsp:sp>
    <dsp:sp modelId="{27417E2E-26F9-47B4-BB1D-5895CD7F23FD}">
      <dsp:nvSpPr>
        <dsp:cNvPr id="3" name="矩形 2" hidden="1"/>
        <dsp:cNvSpPr/>
      </dsp:nvSpPr>
      <dsp:spPr bwMode="white">
        <a:xfrm>
          <a:off x="111392" y="83686"/>
          <a:ext cx="36000" cy="36000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111392" y="83686"/>
        <a:ext cx="36000" cy="36000"/>
      </dsp:txXfrm>
    </dsp:sp>
    <dsp:sp modelId="{17605D07-4DC0-4629-B89C-716EF7BD8C50}">
      <dsp:nvSpPr>
        <dsp:cNvPr id="5" name="矩形 4" hidden="1"/>
        <dsp:cNvSpPr/>
      </dsp:nvSpPr>
      <dsp:spPr bwMode="white">
        <a:xfrm>
          <a:off x="917634" y="2030127"/>
          <a:ext cx="36000" cy="36000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917634" y="2030127"/>
        <a:ext cx="36000" cy="36000"/>
      </dsp:txXfrm>
    </dsp:sp>
    <dsp:sp modelId="{0C4622AC-B81A-42A7-9C5B-48BD5696A088}">
      <dsp:nvSpPr>
        <dsp:cNvPr id="6" name="矩形 5" hidden="1"/>
        <dsp:cNvSpPr/>
      </dsp:nvSpPr>
      <dsp:spPr bwMode="white">
        <a:xfrm>
          <a:off x="111392" y="3976567"/>
          <a:ext cx="36000" cy="36000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111392" y="3976567"/>
        <a:ext cx="36000" cy="36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srcNode" val="srcNode"/>
            <dgm:param type="dstNode" val="dstNode"/>
            <dgm:param type="endSty" val="noArr"/>
            <dgm:param type="connRout" val="curve"/>
            <dgm:param type="begPts" val="ctr"/>
            <dgm:param type="endPts" val="ct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jpe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jpe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8BBBFD-C8C8-4725-9EAB-14606A2015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664D7-DA3C-4151-A821-956FF933012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A664D7-DA3C-4151-A821-956FF93301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64D7-DA3C-4151-A821-956FF93301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64D7-DA3C-4151-A821-956FF93301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E5CE08-02F9-49C9-BA09-8BF7730E7091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64D7-DA3C-4151-A821-956FF93301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64D7-DA3C-4151-A821-956FF93301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64D7-DA3C-4151-A821-956FF93301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A664D7-DA3C-4151-A821-956FF93301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A664D7-DA3C-4151-A821-956FF93301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A664D7-DA3C-4151-A821-956FF93301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A664D7-DA3C-4151-A821-956FF93301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A664D7-DA3C-4151-A821-956FF93301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A664D7-DA3C-4151-A821-956FF93301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A664D7-DA3C-4151-A821-956FF93301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64D7-DA3C-4151-A821-956FF93301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6A664D7-DA3C-4151-A821-956FF933012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6A664D7-DA3C-4151-A821-956FF933012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A664D7-DA3C-4151-A821-956FF93301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64D7-DA3C-4151-A821-956FF93301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A664D7-DA3C-4151-A821-956FF93301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A664D7-DA3C-4151-A821-956FF93301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64D7-DA3C-4151-A821-956FF93301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Photos by </a:t>
            </a:r>
            <a:r>
              <a:rPr lang="en-US" dirty="0" err="1"/>
              <a:t>Freepik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D225FB8-320C-4083-8A3A-856629D1AEA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tags" Target="../tags/tag1.xm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image" Target="../media/image7.png"/><Relationship Id="rId4" Type="http://schemas.openxmlformats.org/officeDocument/2006/relationships/tags" Target="../tags/tag4.xml"/><Relationship Id="rId3" Type="http://schemas.openxmlformats.org/officeDocument/2006/relationships/image" Target="../media/image6.png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image" Target="../media/image7.png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tags" Target="../tags/tag12.xml"/><Relationship Id="rId4" Type="http://schemas.openxmlformats.org/officeDocument/2006/relationships/image" Target="../media/image8.jpeg"/><Relationship Id="rId3" Type="http://schemas.openxmlformats.org/officeDocument/2006/relationships/oleObject" Target="../embeddings/oleObject1.bin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未标题-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192000" cy="6856730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-635" y="1270"/>
            <a:ext cx="12192635" cy="6856730"/>
          </a:xfrm>
          <a:prstGeom prst="rect">
            <a:avLst/>
          </a:prstGeom>
          <a:solidFill>
            <a:srgbClr val="3B485A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0" name="图片 9" descr="C:/Users/Administrator/AppData/Local/Temp/picturecompress_20220218163701/output_2.pngoutput_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1305" y="229235"/>
            <a:ext cx="2245360" cy="606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摄图网_400433858_科技芯片场景（企业商用）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矩形 2"/>
          <p:cNvSpPr/>
          <p:nvPr userDrawn="1">
            <p:custDataLst>
              <p:tags r:id="rId3"/>
            </p:custDataLst>
          </p:nvPr>
        </p:nvSpPr>
        <p:spPr>
          <a:xfrm>
            <a:off x="0" y="-635"/>
            <a:ext cx="12192000" cy="6858635"/>
          </a:xfrm>
          <a:prstGeom prst="rect">
            <a:avLst/>
          </a:prstGeom>
          <a:solidFill>
            <a:srgbClr val="3B485A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8" name="图片 17" descr="C:/Users/Administrator/AppData/Local/Temp/picturecompress_20220218163701/output_43.pngoutput_4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73685" y="266700"/>
            <a:ext cx="2386965" cy="644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 userDrawn="1"/>
        </p:nvSpPr>
        <p:spPr>
          <a:xfrm flipH="1">
            <a:off x="0" y="1826895"/>
            <a:ext cx="12191365" cy="3260090"/>
          </a:xfrm>
          <a:prstGeom prst="rect">
            <a:avLst/>
          </a:prstGeom>
          <a:solidFill>
            <a:srgbClr val="4B5E75">
              <a:alpha val="84000"/>
            </a:srgbClr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 userDrawn="1"/>
        </p:nvSpPr>
        <p:spPr>
          <a:xfrm flipH="1">
            <a:off x="635" y="1826895"/>
            <a:ext cx="12191365" cy="3260725"/>
          </a:xfrm>
          <a:prstGeom prst="rect">
            <a:avLst/>
          </a:prstGeom>
          <a:solidFill>
            <a:srgbClr val="161D30">
              <a:alpha val="93000"/>
            </a:srgbClr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 flipH="1">
            <a:off x="635" y="1827530"/>
            <a:ext cx="12191365" cy="3260090"/>
          </a:xfrm>
          <a:prstGeom prst="rect">
            <a:avLst/>
          </a:prstGeom>
          <a:solidFill>
            <a:srgbClr val="4B5E75">
              <a:alpha val="84000"/>
            </a:srgbClr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742315" y="0"/>
            <a:ext cx="342900" cy="977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 descr="进芯电子LOGO原图透明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47530" y="436880"/>
            <a:ext cx="2426335" cy="655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 rot="16200000" flipH="1">
            <a:off x="-184150" y="173355"/>
            <a:ext cx="6870065" cy="6501130"/>
          </a:xfrm>
          <a:prstGeom prst="rect">
            <a:avLst/>
          </a:prstGeom>
          <a:solidFill>
            <a:srgbClr val="161D30">
              <a:alpha val="93000"/>
            </a:srgbClr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5" name="图片 4" descr="摄图网_600406843_数据存储芯片（企业商用）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l="21527" t="6570" r="6232" b="9062"/>
          <a:stretch>
            <a:fillRect/>
          </a:stretch>
        </p:blipFill>
        <p:spPr>
          <a:xfrm>
            <a:off x="0" y="635"/>
            <a:ext cx="6522085" cy="6857365"/>
          </a:xfrm>
          <a:prstGeom prst="rect">
            <a:avLst/>
          </a:prstGeom>
        </p:spPr>
      </p:pic>
      <p:sp>
        <p:nvSpPr>
          <p:cNvPr id="20" name="矩形 19"/>
          <p:cNvSpPr/>
          <p:nvPr userDrawn="1"/>
        </p:nvSpPr>
        <p:spPr>
          <a:xfrm rot="16200000" flipH="1">
            <a:off x="-173990" y="161925"/>
            <a:ext cx="6870065" cy="6522085"/>
          </a:xfrm>
          <a:prstGeom prst="rect">
            <a:avLst/>
          </a:prstGeom>
          <a:solidFill>
            <a:srgbClr val="4B5E75">
              <a:alpha val="84000"/>
            </a:srgbClr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 userDrawn="1"/>
        </p:nvSpPr>
        <p:spPr>
          <a:xfrm>
            <a:off x="1590040" y="2731770"/>
            <a:ext cx="332168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solidFill>
                  <a:srgbClr val="A43975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</a:defRPr>
            </a:lvl1pPr>
          </a:lstStyle>
          <a:p>
            <a:pPr algn="l"/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COMPANY PROFILE</a:t>
            </a: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lang="zh-CN" altLang="en-US" sz="6000" b="1" dirty="0">
                <a:solidFill>
                  <a:schemeClr val="accent4">
                    <a:lumMod val="60000"/>
                    <a:lumOff val="40000"/>
                  </a:schemeClr>
                </a:solidFill>
                <a:sym typeface="+mn-lt"/>
              </a:rPr>
              <a:t>感谢观看</a:t>
            </a:r>
            <a:endParaRPr lang="zh-CN" altLang="en-US" sz="6000" b="1" dirty="0">
              <a:solidFill>
                <a:schemeClr val="accent4">
                  <a:lumMod val="60000"/>
                  <a:lumOff val="40000"/>
                </a:schemeClr>
              </a:solidFill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742315" y="0"/>
            <a:ext cx="342900" cy="977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238ea46eecd0fa777434c04825f68798e5a4e94baa07a-0pr2Fs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 descr="进芯电子LOGO原图透明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798050" y="292735"/>
            <a:ext cx="2075815" cy="560705"/>
          </a:xfrm>
          <a:prstGeom prst="rect">
            <a:avLst/>
          </a:prstGeom>
        </p:spPr>
      </p:pic>
      <p:grpSp>
        <p:nvGrpSpPr>
          <p:cNvPr id="4" name="组合 3"/>
          <p:cNvGrpSpPr/>
          <p:nvPr userDrawn="1"/>
        </p:nvGrpSpPr>
        <p:grpSpPr>
          <a:xfrm>
            <a:off x="650875" y="824865"/>
            <a:ext cx="1787525" cy="76200"/>
            <a:chOff x="501" y="973"/>
            <a:chExt cx="2815" cy="120"/>
          </a:xfrm>
        </p:grpSpPr>
        <p:sp>
          <p:nvSpPr>
            <p:cNvPr id="10" name="矩形 9"/>
            <p:cNvSpPr/>
            <p:nvPr userDrawn="1">
              <p:custDataLst>
                <p:tags r:id="rId6"/>
              </p:custDataLst>
            </p:nvPr>
          </p:nvSpPr>
          <p:spPr>
            <a:xfrm>
              <a:off x="703" y="973"/>
              <a:ext cx="2613" cy="120"/>
            </a:xfrm>
            <a:prstGeom prst="rect">
              <a:avLst/>
            </a:prstGeom>
            <a:gradFill>
              <a:gsLst>
                <a:gs pos="0">
                  <a:srgbClr val="475F77"/>
                </a:gs>
                <a:gs pos="88000">
                  <a:srgbClr val="FAFAFA"/>
                </a:gs>
                <a:gs pos="36000">
                  <a:srgbClr val="5E6E80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 userDrawn="1">
              <p:custDataLst>
                <p:tags r:id="rId7"/>
              </p:custDataLst>
            </p:nvPr>
          </p:nvSpPr>
          <p:spPr>
            <a:xfrm>
              <a:off x="501" y="973"/>
              <a:ext cx="120" cy="120"/>
            </a:xfrm>
            <a:prstGeom prst="rect">
              <a:avLst/>
            </a:prstGeom>
            <a:solidFill>
              <a:srgbClr val="606B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742315" y="0"/>
            <a:ext cx="342900" cy="977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进芯电子LOGO原图透明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798050" y="292735"/>
            <a:ext cx="2075815" cy="560705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450215" y="824865"/>
            <a:ext cx="1787525" cy="76200"/>
            <a:chOff x="501" y="973"/>
            <a:chExt cx="2815" cy="120"/>
          </a:xfrm>
        </p:grpSpPr>
        <p:sp>
          <p:nvSpPr>
            <p:cNvPr id="11" name="矩形 10"/>
            <p:cNvSpPr/>
            <p:nvPr userDrawn="1">
              <p:custDataLst>
                <p:tags r:id="rId5"/>
              </p:custDataLst>
            </p:nvPr>
          </p:nvSpPr>
          <p:spPr>
            <a:xfrm>
              <a:off x="703" y="973"/>
              <a:ext cx="2613" cy="120"/>
            </a:xfrm>
            <a:prstGeom prst="rect">
              <a:avLst/>
            </a:prstGeom>
            <a:gradFill>
              <a:gsLst>
                <a:gs pos="0">
                  <a:srgbClr val="475F77"/>
                </a:gs>
                <a:gs pos="88000">
                  <a:srgbClr val="FAFAFA"/>
                </a:gs>
                <a:gs pos="36000">
                  <a:srgbClr val="5E6E80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 userDrawn="1">
              <p:custDataLst>
                <p:tags r:id="rId6"/>
              </p:custDataLst>
            </p:nvPr>
          </p:nvSpPr>
          <p:spPr>
            <a:xfrm>
              <a:off x="501" y="973"/>
              <a:ext cx="120" cy="120"/>
            </a:xfrm>
            <a:prstGeom prst="rect">
              <a:avLst/>
            </a:prstGeom>
            <a:solidFill>
              <a:srgbClr val="606B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1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F7E1A-B868-4300-A759-796F7896C4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1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F7E1A-B868-4300-A759-796F7896C4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1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F7E1A-B868-4300-A759-796F7896C4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1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F7E1A-B868-4300-A759-796F7896C4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Slide" r:id="rId3" imgW="3175" imgH="3175" progId="TCLayout.ActiveDocument.1">
                  <p:embed/>
                </p:oleObj>
              </mc:Choice>
              <mc:Fallback>
                <p:oleObj name="think-cell Slide" r:id="rId3" imgW="3175" imgH="3175" progId="TCLayout.ActiveDocument.1">
                  <p:embed/>
                  <p:pic>
                    <p:nvPicPr>
                      <p:cNvPr id="0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/>
          <p:cNvSpPr/>
          <p:nvPr userDrawn="1">
            <p:custDataLst>
              <p:tags r:id="rId5"/>
            </p:custDataLst>
          </p:nvPr>
        </p:nvSpPr>
        <p:spPr>
          <a:xfrm>
            <a:off x="1" y="0"/>
            <a:ext cx="158751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/>
            <a:endParaRPr lang="en-US" sz="3600" b="1" i="0" baseline="0" dirty="0">
              <a:latin typeface="Calibri" panose="020F0502020204030204" charset="0"/>
              <a:ea typeface="+mj-ea"/>
              <a:cs typeface="+mj-cs"/>
              <a:sym typeface="Calibri" panose="020F0502020204030204" charset="0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609600" y="365126"/>
            <a:ext cx="10972800" cy="775612"/>
          </a:xfrm>
        </p:spPr>
        <p:txBody>
          <a:bodyPr lIns="0" tIns="0" rIns="0" bIns="0" anchor="ctr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09600" y="1330859"/>
            <a:ext cx="10972800" cy="4846104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  <a:endParaRPr lang="ja-JP" altLang="en-US" noProof="0" dirty="0"/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36506" cy="1887696"/>
          </a:xfrm>
        </p:spPr>
        <p:txBody>
          <a:bodyPr wrap="square">
            <a:spAutoFit/>
          </a:bodyPr>
          <a:lstStyle/>
          <a:p>
            <a:pPr lvl="0"/>
            <a:r>
              <a:rPr lang="ja-JP" altLang="en-US" noProof="0"/>
              <a:t>マスター テキストの書式設定</a:t>
            </a:r>
            <a:endParaRPr lang="ja-JP" altLang="en-US" noProof="0"/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en-US" noProof="0" dirty="0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5"/>
          </p:nvPr>
        </p:nvSpPr>
        <p:spPr>
          <a:xfrm>
            <a:off x="6276068" y="1424991"/>
            <a:ext cx="5436506" cy="1887696"/>
          </a:xfrm>
        </p:spPr>
        <p:txBody>
          <a:bodyPr wrap="square">
            <a:spAutoFit/>
          </a:bodyPr>
          <a:lstStyle/>
          <a:p>
            <a:pPr lvl="0"/>
            <a:r>
              <a:rPr lang="ja-JP" altLang="en-US" noProof="0"/>
              <a:t>マスター テキストの書式設定</a:t>
            </a:r>
            <a:endParaRPr lang="ja-JP" altLang="en-US" noProof="0"/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en-US" noProof="0" dirty="0"/>
          </a:p>
        </p:txBody>
      </p:sp>
      <p:cxnSp>
        <p:nvCxnSpPr>
          <p:cNvPr id="7" name="Gerade Verbindung 4"/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0F7E1A-B868-4300-A759-796F7896C4E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tags" Target="../tags/tag1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19.xml"/><Relationship Id="rId7" Type="http://schemas.openxmlformats.org/officeDocument/2006/relationships/image" Target="../media/image10.png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image" Target="../media/image9.png"/><Relationship Id="rId2" Type="http://schemas.openxmlformats.org/officeDocument/2006/relationships/tags" Target="../tags/tag15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8.xml"/><Relationship Id="rId1" Type="http://schemas.openxmlformats.org/officeDocument/2006/relationships/tags" Target="../tags/tag1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jpeg"/><Relationship Id="rId8" Type="http://schemas.openxmlformats.org/officeDocument/2006/relationships/tags" Target="../tags/tag26.xml"/><Relationship Id="rId7" Type="http://schemas.openxmlformats.org/officeDocument/2006/relationships/image" Target="../media/image12.png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8.xml"/><Relationship Id="rId1" Type="http://schemas.openxmlformats.org/officeDocument/2006/relationships/tags" Target="../tags/tag2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tags" Target="../tags/tag32.xml"/><Relationship Id="rId7" Type="http://schemas.openxmlformats.org/officeDocument/2006/relationships/image" Target="../media/image15.png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2" Type="http://schemas.openxmlformats.org/officeDocument/2006/relationships/notesSlide" Target="../notesSlides/notesSlide4.xml"/><Relationship Id="rId41" Type="http://schemas.openxmlformats.org/officeDocument/2006/relationships/slideLayout" Target="../slideLayouts/slideLayout12.xml"/><Relationship Id="rId40" Type="http://schemas.openxmlformats.org/officeDocument/2006/relationships/tags" Target="../tags/tag63.xml"/><Relationship Id="rId4" Type="http://schemas.openxmlformats.org/officeDocument/2006/relationships/tags" Target="../tags/tag29.xml"/><Relationship Id="rId39" Type="http://schemas.openxmlformats.org/officeDocument/2006/relationships/tags" Target="../tags/tag62.xml"/><Relationship Id="rId38" Type="http://schemas.openxmlformats.org/officeDocument/2006/relationships/tags" Target="../tags/tag61.xml"/><Relationship Id="rId37" Type="http://schemas.openxmlformats.org/officeDocument/2006/relationships/tags" Target="../tags/tag60.xml"/><Relationship Id="rId36" Type="http://schemas.openxmlformats.org/officeDocument/2006/relationships/tags" Target="../tags/tag59.xml"/><Relationship Id="rId35" Type="http://schemas.openxmlformats.org/officeDocument/2006/relationships/tags" Target="../tags/tag58.xml"/><Relationship Id="rId34" Type="http://schemas.openxmlformats.org/officeDocument/2006/relationships/tags" Target="../tags/tag57.xml"/><Relationship Id="rId33" Type="http://schemas.openxmlformats.org/officeDocument/2006/relationships/tags" Target="../tags/tag56.xml"/><Relationship Id="rId32" Type="http://schemas.openxmlformats.org/officeDocument/2006/relationships/tags" Target="../tags/tag55.xml"/><Relationship Id="rId31" Type="http://schemas.openxmlformats.org/officeDocument/2006/relationships/tags" Target="../tags/tag54.xml"/><Relationship Id="rId30" Type="http://schemas.openxmlformats.org/officeDocument/2006/relationships/tags" Target="../tags/tag53.xml"/><Relationship Id="rId3" Type="http://schemas.openxmlformats.org/officeDocument/2006/relationships/tags" Target="../tags/tag28.xml"/><Relationship Id="rId29" Type="http://schemas.openxmlformats.org/officeDocument/2006/relationships/tags" Target="../tags/tag52.xml"/><Relationship Id="rId28" Type="http://schemas.openxmlformats.org/officeDocument/2006/relationships/tags" Target="../tags/tag51.xml"/><Relationship Id="rId27" Type="http://schemas.openxmlformats.org/officeDocument/2006/relationships/tags" Target="../tags/tag50.xml"/><Relationship Id="rId26" Type="http://schemas.openxmlformats.org/officeDocument/2006/relationships/tags" Target="../tags/tag49.xml"/><Relationship Id="rId25" Type="http://schemas.openxmlformats.org/officeDocument/2006/relationships/tags" Target="../tags/tag48.xml"/><Relationship Id="rId24" Type="http://schemas.openxmlformats.org/officeDocument/2006/relationships/tags" Target="../tags/tag47.xml"/><Relationship Id="rId23" Type="http://schemas.openxmlformats.org/officeDocument/2006/relationships/tags" Target="../tags/tag46.xml"/><Relationship Id="rId22" Type="http://schemas.openxmlformats.org/officeDocument/2006/relationships/tags" Target="../tags/tag45.xml"/><Relationship Id="rId21" Type="http://schemas.openxmlformats.org/officeDocument/2006/relationships/tags" Target="../tags/tag44.xml"/><Relationship Id="rId20" Type="http://schemas.openxmlformats.org/officeDocument/2006/relationships/tags" Target="../tags/tag43.xml"/><Relationship Id="rId2" Type="http://schemas.openxmlformats.org/officeDocument/2006/relationships/image" Target="../media/image14.png"/><Relationship Id="rId19" Type="http://schemas.openxmlformats.org/officeDocument/2006/relationships/tags" Target="../tags/tag42.xml"/><Relationship Id="rId18" Type="http://schemas.openxmlformats.org/officeDocument/2006/relationships/tags" Target="../tags/tag41.xml"/><Relationship Id="rId17" Type="http://schemas.openxmlformats.org/officeDocument/2006/relationships/tags" Target="../tags/tag40.xml"/><Relationship Id="rId16" Type="http://schemas.openxmlformats.org/officeDocument/2006/relationships/tags" Target="../tags/tag39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tags" Target="../tags/tag2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17.png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image" Target="../media/image20.jpeg"/><Relationship Id="rId30" Type="http://schemas.openxmlformats.org/officeDocument/2006/relationships/notesSlide" Target="../notesSlides/notesSlide7.xml"/><Relationship Id="rId3" Type="http://schemas.openxmlformats.org/officeDocument/2006/relationships/tags" Target="../tags/tag68.xml"/><Relationship Id="rId29" Type="http://schemas.openxmlformats.org/officeDocument/2006/relationships/slideLayout" Target="../slideLayouts/slideLayout8.xml"/><Relationship Id="rId28" Type="http://schemas.openxmlformats.org/officeDocument/2006/relationships/tags" Target="../tags/tag87.xml"/><Relationship Id="rId27" Type="http://schemas.openxmlformats.org/officeDocument/2006/relationships/tags" Target="../tags/tag86.xml"/><Relationship Id="rId26" Type="http://schemas.openxmlformats.org/officeDocument/2006/relationships/tags" Target="../tags/tag85.xml"/><Relationship Id="rId25" Type="http://schemas.openxmlformats.org/officeDocument/2006/relationships/tags" Target="../tags/tag84.xml"/><Relationship Id="rId24" Type="http://schemas.openxmlformats.org/officeDocument/2006/relationships/tags" Target="../tags/tag83.xml"/><Relationship Id="rId23" Type="http://schemas.openxmlformats.org/officeDocument/2006/relationships/tags" Target="../tags/tag82.xml"/><Relationship Id="rId22" Type="http://schemas.openxmlformats.org/officeDocument/2006/relationships/tags" Target="../tags/tag81.xml"/><Relationship Id="rId21" Type="http://schemas.openxmlformats.org/officeDocument/2006/relationships/image" Target="../media/image25.jpeg"/><Relationship Id="rId20" Type="http://schemas.openxmlformats.org/officeDocument/2006/relationships/image" Target="../media/image24.jpeg"/><Relationship Id="rId2" Type="http://schemas.openxmlformats.org/officeDocument/2006/relationships/tags" Target="../tags/tag67.xml"/><Relationship Id="rId19" Type="http://schemas.openxmlformats.org/officeDocument/2006/relationships/image" Target="../media/image23.png"/><Relationship Id="rId18" Type="http://schemas.openxmlformats.org/officeDocument/2006/relationships/image" Target="../media/image22.jpeg"/><Relationship Id="rId17" Type="http://schemas.openxmlformats.org/officeDocument/2006/relationships/image" Target="../media/image21.jpeg"/><Relationship Id="rId16" Type="http://schemas.openxmlformats.org/officeDocument/2006/relationships/tags" Target="../tags/tag80.xml"/><Relationship Id="rId15" Type="http://schemas.openxmlformats.org/officeDocument/2006/relationships/tags" Target="../tags/tag79.xml"/><Relationship Id="rId14" Type="http://schemas.openxmlformats.org/officeDocument/2006/relationships/tags" Target="../tags/tag78.xml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tags" Target="../tags/tag66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png"/><Relationship Id="rId8" Type="http://schemas.openxmlformats.org/officeDocument/2006/relationships/image" Target="../media/image31.png"/><Relationship Id="rId7" Type="http://schemas.openxmlformats.org/officeDocument/2006/relationships/image" Target="../media/image30.png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jpeg"/><Relationship Id="rId3" Type="http://schemas.openxmlformats.org/officeDocument/2006/relationships/tags" Target="../tags/tag89.xml"/><Relationship Id="rId2" Type="http://schemas.openxmlformats.org/officeDocument/2006/relationships/image" Target="../media/image26.png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36.png"/><Relationship Id="rId14" Type="http://schemas.openxmlformats.org/officeDocument/2006/relationships/tags" Target="../tags/tag91.xml"/><Relationship Id="rId13" Type="http://schemas.openxmlformats.org/officeDocument/2006/relationships/image" Target="../media/image35.png"/><Relationship Id="rId12" Type="http://schemas.openxmlformats.org/officeDocument/2006/relationships/tags" Target="../tags/tag90.xml"/><Relationship Id="rId11" Type="http://schemas.openxmlformats.org/officeDocument/2006/relationships/image" Target="../media/image34.png"/><Relationship Id="rId10" Type="http://schemas.openxmlformats.org/officeDocument/2006/relationships/image" Target="../media/image33.png"/><Relationship Id="rId1" Type="http://schemas.openxmlformats.org/officeDocument/2006/relationships/tags" Target="../tags/tag88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png"/><Relationship Id="rId8" Type="http://schemas.openxmlformats.org/officeDocument/2006/relationships/tags" Target="../tags/tag96.xml"/><Relationship Id="rId7" Type="http://schemas.openxmlformats.org/officeDocument/2006/relationships/image" Target="../media/image39.png"/><Relationship Id="rId6" Type="http://schemas.openxmlformats.org/officeDocument/2006/relationships/tags" Target="../tags/tag95.xml"/><Relationship Id="rId5" Type="http://schemas.openxmlformats.org/officeDocument/2006/relationships/image" Target="../media/image38.png"/><Relationship Id="rId47" Type="http://schemas.openxmlformats.org/officeDocument/2006/relationships/slideLayout" Target="../slideLayouts/slideLayout8.xml"/><Relationship Id="rId46" Type="http://schemas.openxmlformats.org/officeDocument/2006/relationships/tags" Target="../tags/tag125.xml"/><Relationship Id="rId45" Type="http://schemas.openxmlformats.org/officeDocument/2006/relationships/tags" Target="../tags/tag124.xml"/><Relationship Id="rId44" Type="http://schemas.openxmlformats.org/officeDocument/2006/relationships/image" Target="../media/image46.png"/><Relationship Id="rId43" Type="http://schemas.openxmlformats.org/officeDocument/2006/relationships/tags" Target="../tags/tag123.xml"/><Relationship Id="rId42" Type="http://schemas.openxmlformats.org/officeDocument/2006/relationships/tags" Target="../tags/tag122.xml"/><Relationship Id="rId41" Type="http://schemas.openxmlformats.org/officeDocument/2006/relationships/tags" Target="../tags/tag121.xml"/><Relationship Id="rId40" Type="http://schemas.openxmlformats.org/officeDocument/2006/relationships/tags" Target="../tags/tag120.xml"/><Relationship Id="rId4" Type="http://schemas.openxmlformats.org/officeDocument/2006/relationships/tags" Target="../tags/tag94.xml"/><Relationship Id="rId39" Type="http://schemas.openxmlformats.org/officeDocument/2006/relationships/tags" Target="../tags/tag119.xml"/><Relationship Id="rId38" Type="http://schemas.openxmlformats.org/officeDocument/2006/relationships/tags" Target="../tags/tag118.xml"/><Relationship Id="rId37" Type="http://schemas.openxmlformats.org/officeDocument/2006/relationships/tags" Target="../tags/tag117.xml"/><Relationship Id="rId36" Type="http://schemas.openxmlformats.org/officeDocument/2006/relationships/tags" Target="../tags/tag116.xml"/><Relationship Id="rId35" Type="http://schemas.openxmlformats.org/officeDocument/2006/relationships/tags" Target="../tags/tag115.xml"/><Relationship Id="rId34" Type="http://schemas.openxmlformats.org/officeDocument/2006/relationships/tags" Target="../tags/tag114.xml"/><Relationship Id="rId33" Type="http://schemas.openxmlformats.org/officeDocument/2006/relationships/tags" Target="../tags/tag113.xml"/><Relationship Id="rId32" Type="http://schemas.openxmlformats.org/officeDocument/2006/relationships/tags" Target="../tags/tag112.xml"/><Relationship Id="rId31" Type="http://schemas.openxmlformats.org/officeDocument/2006/relationships/tags" Target="../tags/tag111.xml"/><Relationship Id="rId30" Type="http://schemas.openxmlformats.org/officeDocument/2006/relationships/tags" Target="../tags/tag110.xml"/><Relationship Id="rId3" Type="http://schemas.openxmlformats.org/officeDocument/2006/relationships/image" Target="../media/image37.jpeg"/><Relationship Id="rId29" Type="http://schemas.openxmlformats.org/officeDocument/2006/relationships/tags" Target="../tags/tag109.xml"/><Relationship Id="rId28" Type="http://schemas.openxmlformats.org/officeDocument/2006/relationships/tags" Target="../tags/tag108.xml"/><Relationship Id="rId27" Type="http://schemas.openxmlformats.org/officeDocument/2006/relationships/tags" Target="../tags/tag107.xml"/><Relationship Id="rId26" Type="http://schemas.openxmlformats.org/officeDocument/2006/relationships/tags" Target="../tags/tag106.xml"/><Relationship Id="rId25" Type="http://schemas.openxmlformats.org/officeDocument/2006/relationships/tags" Target="../tags/tag105.xml"/><Relationship Id="rId24" Type="http://schemas.openxmlformats.org/officeDocument/2006/relationships/tags" Target="../tags/tag104.xml"/><Relationship Id="rId23" Type="http://schemas.openxmlformats.org/officeDocument/2006/relationships/image" Target="../media/image45.png"/><Relationship Id="rId22" Type="http://schemas.openxmlformats.org/officeDocument/2006/relationships/tags" Target="../tags/tag103.xml"/><Relationship Id="rId21" Type="http://schemas.openxmlformats.org/officeDocument/2006/relationships/image" Target="../media/image44.png"/><Relationship Id="rId20" Type="http://schemas.openxmlformats.org/officeDocument/2006/relationships/tags" Target="../tags/tag102.xml"/><Relationship Id="rId2" Type="http://schemas.openxmlformats.org/officeDocument/2006/relationships/tags" Target="../tags/tag93.xml"/><Relationship Id="rId19" Type="http://schemas.openxmlformats.org/officeDocument/2006/relationships/image" Target="../media/image36.png"/><Relationship Id="rId18" Type="http://schemas.openxmlformats.org/officeDocument/2006/relationships/tags" Target="../tags/tag101.xml"/><Relationship Id="rId17" Type="http://schemas.openxmlformats.org/officeDocument/2006/relationships/image" Target="../media/image43.png"/><Relationship Id="rId16" Type="http://schemas.openxmlformats.org/officeDocument/2006/relationships/tags" Target="../tags/tag100.xml"/><Relationship Id="rId15" Type="http://schemas.openxmlformats.org/officeDocument/2006/relationships/image" Target="../media/image42.png"/><Relationship Id="rId14" Type="http://schemas.openxmlformats.org/officeDocument/2006/relationships/tags" Target="../tags/tag99.xml"/><Relationship Id="rId13" Type="http://schemas.openxmlformats.org/officeDocument/2006/relationships/image" Target="../media/image41.png"/><Relationship Id="rId12" Type="http://schemas.openxmlformats.org/officeDocument/2006/relationships/tags" Target="../tags/tag98.xml"/><Relationship Id="rId11" Type="http://schemas.openxmlformats.org/officeDocument/2006/relationships/image" Target="../media/image35.png"/><Relationship Id="rId10" Type="http://schemas.openxmlformats.org/officeDocument/2006/relationships/tags" Target="../tags/tag97.xml"/><Relationship Id="rId1" Type="http://schemas.openxmlformats.org/officeDocument/2006/relationships/tags" Target="../tags/tag92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47.emf"/><Relationship Id="rId3" Type="http://schemas.openxmlformats.org/officeDocument/2006/relationships/oleObject" Target="../embeddings/oleObject2.bin"/><Relationship Id="rId2" Type="http://schemas.openxmlformats.org/officeDocument/2006/relationships/tags" Target="../tags/tag127.xml"/><Relationship Id="rId1" Type="http://schemas.openxmlformats.org/officeDocument/2006/relationships/tags" Target="../tags/tag126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129.xml"/><Relationship Id="rId3" Type="http://schemas.openxmlformats.org/officeDocument/2006/relationships/image" Target="../media/image48.emf"/><Relationship Id="rId2" Type="http://schemas.openxmlformats.org/officeDocument/2006/relationships/oleObject" Target="../embeddings/oleObject3.bin"/><Relationship Id="rId1" Type="http://schemas.openxmlformats.org/officeDocument/2006/relationships/tags" Target="../tags/tag128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image" Target="../media/image49.emf"/><Relationship Id="rId1" Type="http://schemas.openxmlformats.org/officeDocument/2006/relationships/oleObject" Target="../embeddings/oleObject4.bin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133.xml"/><Relationship Id="rId3" Type="http://schemas.openxmlformats.org/officeDocument/2006/relationships/image" Target="../media/image50.emf"/><Relationship Id="rId2" Type="http://schemas.openxmlformats.org/officeDocument/2006/relationships/oleObject" Target="../embeddings/oleObject5.bin"/><Relationship Id="rId1" Type="http://schemas.openxmlformats.org/officeDocument/2006/relationships/tags" Target="../tags/tag132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135.xml"/><Relationship Id="rId3" Type="http://schemas.openxmlformats.org/officeDocument/2006/relationships/image" Target="../media/image51.emf"/><Relationship Id="rId2" Type="http://schemas.openxmlformats.org/officeDocument/2006/relationships/oleObject" Target="../embeddings/oleObject6.bin"/><Relationship Id="rId1" Type="http://schemas.openxmlformats.org/officeDocument/2006/relationships/tags" Target="../tags/tag134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8.xml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" Type="http://schemas.openxmlformats.org/officeDocument/2006/relationships/image" Target="../media/image52.emf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8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image" Target="../media/image53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0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7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1.xml"/><Relationship Id="rId2" Type="http://schemas.openxmlformats.org/officeDocument/2006/relationships/image" Target="../media/image54.emf"/><Relationship Id="rId1" Type="http://schemas.openxmlformats.org/officeDocument/2006/relationships/oleObject" Target="../embeddings/oleObject7.bin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2.xml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1" Type="http://schemas.openxmlformats.org/officeDocument/2006/relationships/tags" Target="../tags/tag14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4.xml"/><Relationship Id="rId1" Type="http://schemas.openxmlformats.org/officeDocument/2006/relationships/image" Target="../media/image58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6.png"/><Relationship Id="rId8" Type="http://schemas.openxmlformats.org/officeDocument/2006/relationships/image" Target="../media/image65.png"/><Relationship Id="rId7" Type="http://schemas.openxmlformats.org/officeDocument/2006/relationships/image" Target="../media/image64.png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3" Type="http://schemas.openxmlformats.org/officeDocument/2006/relationships/image" Target="../media/image60.png"/><Relationship Id="rId2" Type="http://schemas.openxmlformats.org/officeDocument/2006/relationships/tags" Target="../tags/tag145.xml"/><Relationship Id="rId11" Type="http://schemas.openxmlformats.org/officeDocument/2006/relationships/notesSlide" Target="../notesSlides/notesSlide15.xml"/><Relationship Id="rId10" Type="http://schemas.openxmlformats.org/officeDocument/2006/relationships/slideLayout" Target="../slideLayouts/slideLayout8.xml"/><Relationship Id="rId1" Type="http://schemas.openxmlformats.org/officeDocument/2006/relationships/image" Target="../media/image59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6.xml"/><Relationship Id="rId2" Type="http://schemas.openxmlformats.org/officeDocument/2006/relationships/image" Target="../media/image68.png"/><Relationship Id="rId1" Type="http://schemas.openxmlformats.org/officeDocument/2006/relationships/image" Target="../media/image67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tags" Target="../tags/tag147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tags" Target="../tags/tag148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9.xml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0.xml"/><Relationship Id="rId2" Type="http://schemas.openxmlformats.org/officeDocument/2006/relationships/image" Target="../media/image76.png"/><Relationship Id="rId1" Type="http://schemas.openxmlformats.org/officeDocument/2006/relationships/image" Target="../media/image75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tags" Target="../tags/tag151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79.emf"/><Relationship Id="rId1" Type="http://schemas.openxmlformats.org/officeDocument/2006/relationships/tags" Target="../tags/tag15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80.png"/><Relationship Id="rId1" Type="http://schemas.openxmlformats.org/officeDocument/2006/relationships/tags" Target="../tags/tag15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81.png"/><Relationship Id="rId1" Type="http://schemas.openxmlformats.org/officeDocument/2006/relationships/tags" Target="../tags/tag15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82.png"/><Relationship Id="rId1" Type="http://schemas.openxmlformats.org/officeDocument/2006/relationships/tags" Target="../tags/tag15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83.png"/><Relationship Id="rId1" Type="http://schemas.openxmlformats.org/officeDocument/2006/relationships/tags" Target="../tags/tag156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tags" Target="../tags/tag15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86.png"/><Relationship Id="rId1" Type="http://schemas.openxmlformats.org/officeDocument/2006/relationships/tags" Target="../tags/tag15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87.png"/><Relationship Id="rId1" Type="http://schemas.openxmlformats.org/officeDocument/2006/relationships/tags" Target="../tags/tag159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tags" Target="../tags/tag160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92.png"/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tags" Target="../tags/tag16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162.xml"/><Relationship Id="rId1" Type="http://schemas.openxmlformats.org/officeDocument/2006/relationships/image" Target="../media/image93.png"/></Relationships>
</file>

<file path=ppt/slides/_rels/slide4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96.png"/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tags" Target="../tags/tag16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4.xml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tags" Target="../tags/tag16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tags" Target="../tags/tag16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67.xml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4.png"/><Relationship Id="rId8" Type="http://schemas.openxmlformats.org/officeDocument/2006/relationships/tags" Target="../tags/tag172.xml"/><Relationship Id="rId7" Type="http://schemas.openxmlformats.org/officeDocument/2006/relationships/image" Target="../media/image103.png"/><Relationship Id="rId6" Type="http://schemas.openxmlformats.org/officeDocument/2006/relationships/tags" Target="../tags/tag171.xml"/><Relationship Id="rId52" Type="http://schemas.openxmlformats.org/officeDocument/2006/relationships/notesSlide" Target="../notesSlides/notesSlide22.xml"/><Relationship Id="rId51" Type="http://schemas.openxmlformats.org/officeDocument/2006/relationships/slideLayout" Target="../slideLayouts/slideLayout8.xml"/><Relationship Id="rId50" Type="http://schemas.openxmlformats.org/officeDocument/2006/relationships/tags" Target="../tags/tag206.xml"/><Relationship Id="rId5" Type="http://schemas.openxmlformats.org/officeDocument/2006/relationships/tags" Target="../tags/tag170.xml"/><Relationship Id="rId49" Type="http://schemas.openxmlformats.org/officeDocument/2006/relationships/image" Target="../media/image111.png"/><Relationship Id="rId48" Type="http://schemas.openxmlformats.org/officeDocument/2006/relationships/tags" Target="../tags/tag205.xml"/><Relationship Id="rId47" Type="http://schemas.openxmlformats.org/officeDocument/2006/relationships/tags" Target="../tags/tag204.xml"/><Relationship Id="rId46" Type="http://schemas.openxmlformats.org/officeDocument/2006/relationships/tags" Target="../tags/tag203.xml"/><Relationship Id="rId45" Type="http://schemas.openxmlformats.org/officeDocument/2006/relationships/tags" Target="../tags/tag202.xml"/><Relationship Id="rId44" Type="http://schemas.openxmlformats.org/officeDocument/2006/relationships/tags" Target="../tags/tag201.xml"/><Relationship Id="rId43" Type="http://schemas.openxmlformats.org/officeDocument/2006/relationships/tags" Target="../tags/tag200.xml"/><Relationship Id="rId42" Type="http://schemas.openxmlformats.org/officeDocument/2006/relationships/tags" Target="../tags/tag199.xml"/><Relationship Id="rId41" Type="http://schemas.openxmlformats.org/officeDocument/2006/relationships/tags" Target="../tags/tag198.xml"/><Relationship Id="rId40" Type="http://schemas.openxmlformats.org/officeDocument/2006/relationships/tags" Target="../tags/tag197.xml"/><Relationship Id="rId4" Type="http://schemas.openxmlformats.org/officeDocument/2006/relationships/image" Target="../media/image102.png"/><Relationship Id="rId39" Type="http://schemas.openxmlformats.org/officeDocument/2006/relationships/image" Target="../media/image110.png"/><Relationship Id="rId38" Type="http://schemas.openxmlformats.org/officeDocument/2006/relationships/tags" Target="../tags/tag196.xml"/><Relationship Id="rId37" Type="http://schemas.openxmlformats.org/officeDocument/2006/relationships/image" Target="../media/image109.png"/><Relationship Id="rId36" Type="http://schemas.openxmlformats.org/officeDocument/2006/relationships/tags" Target="../tags/tag195.xml"/><Relationship Id="rId35" Type="http://schemas.openxmlformats.org/officeDocument/2006/relationships/tags" Target="../tags/tag194.xml"/><Relationship Id="rId34" Type="http://schemas.openxmlformats.org/officeDocument/2006/relationships/tags" Target="../tags/tag193.xml"/><Relationship Id="rId33" Type="http://schemas.openxmlformats.org/officeDocument/2006/relationships/tags" Target="../tags/tag192.xml"/><Relationship Id="rId32" Type="http://schemas.openxmlformats.org/officeDocument/2006/relationships/image" Target="../media/image108.jpeg"/><Relationship Id="rId31" Type="http://schemas.openxmlformats.org/officeDocument/2006/relationships/tags" Target="../tags/tag191.xml"/><Relationship Id="rId30" Type="http://schemas.openxmlformats.org/officeDocument/2006/relationships/tags" Target="../tags/tag190.xml"/><Relationship Id="rId3" Type="http://schemas.openxmlformats.org/officeDocument/2006/relationships/tags" Target="../tags/tag169.xml"/><Relationship Id="rId29" Type="http://schemas.openxmlformats.org/officeDocument/2006/relationships/image" Target="../media/image107.jpeg"/><Relationship Id="rId28" Type="http://schemas.openxmlformats.org/officeDocument/2006/relationships/tags" Target="../tags/tag189.xml"/><Relationship Id="rId27" Type="http://schemas.openxmlformats.org/officeDocument/2006/relationships/image" Target="../media/image106.png"/><Relationship Id="rId26" Type="http://schemas.openxmlformats.org/officeDocument/2006/relationships/tags" Target="../tags/tag188.xml"/><Relationship Id="rId25" Type="http://schemas.openxmlformats.org/officeDocument/2006/relationships/tags" Target="../tags/tag187.xml"/><Relationship Id="rId24" Type="http://schemas.openxmlformats.org/officeDocument/2006/relationships/tags" Target="../tags/tag186.xml"/><Relationship Id="rId23" Type="http://schemas.openxmlformats.org/officeDocument/2006/relationships/tags" Target="../tags/tag185.xml"/><Relationship Id="rId22" Type="http://schemas.openxmlformats.org/officeDocument/2006/relationships/tags" Target="../tags/tag184.xml"/><Relationship Id="rId21" Type="http://schemas.openxmlformats.org/officeDocument/2006/relationships/tags" Target="../tags/tag183.xml"/><Relationship Id="rId20" Type="http://schemas.openxmlformats.org/officeDocument/2006/relationships/tags" Target="../tags/tag182.xml"/><Relationship Id="rId2" Type="http://schemas.openxmlformats.org/officeDocument/2006/relationships/tags" Target="../tags/tag168.xml"/><Relationship Id="rId19" Type="http://schemas.openxmlformats.org/officeDocument/2006/relationships/tags" Target="../tags/tag181.xml"/><Relationship Id="rId18" Type="http://schemas.openxmlformats.org/officeDocument/2006/relationships/tags" Target="../tags/tag180.xml"/><Relationship Id="rId17" Type="http://schemas.openxmlformats.org/officeDocument/2006/relationships/tags" Target="../tags/tag179.xml"/><Relationship Id="rId16" Type="http://schemas.openxmlformats.org/officeDocument/2006/relationships/tags" Target="../tags/tag178.xml"/><Relationship Id="rId15" Type="http://schemas.openxmlformats.org/officeDocument/2006/relationships/tags" Target="../tags/tag177.xml"/><Relationship Id="rId14" Type="http://schemas.openxmlformats.org/officeDocument/2006/relationships/tags" Target="../tags/tag176.xml"/><Relationship Id="rId13" Type="http://schemas.openxmlformats.org/officeDocument/2006/relationships/tags" Target="../tags/tag175.xml"/><Relationship Id="rId12" Type="http://schemas.openxmlformats.org/officeDocument/2006/relationships/tags" Target="../tags/tag174.xml"/><Relationship Id="rId11" Type="http://schemas.openxmlformats.org/officeDocument/2006/relationships/image" Target="../media/image105.png"/><Relationship Id="rId10" Type="http://schemas.openxmlformats.org/officeDocument/2006/relationships/tags" Target="../tags/tag173.xml"/><Relationship Id="rId1" Type="http://schemas.openxmlformats.org/officeDocument/2006/relationships/image" Target="../media/image101.png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tags" Target="../tags/tag215.xml"/><Relationship Id="rId8" Type="http://schemas.openxmlformats.org/officeDocument/2006/relationships/tags" Target="../tags/tag214.xml"/><Relationship Id="rId7" Type="http://schemas.openxmlformats.org/officeDocument/2006/relationships/tags" Target="../tags/tag213.xml"/><Relationship Id="rId6" Type="http://schemas.openxmlformats.org/officeDocument/2006/relationships/tags" Target="../tags/tag212.xml"/><Relationship Id="rId5" Type="http://schemas.openxmlformats.org/officeDocument/2006/relationships/tags" Target="../tags/tag211.xml"/><Relationship Id="rId4" Type="http://schemas.openxmlformats.org/officeDocument/2006/relationships/tags" Target="../tags/tag210.xml"/><Relationship Id="rId33" Type="http://schemas.openxmlformats.org/officeDocument/2006/relationships/slideLayout" Target="../slideLayouts/slideLayout8.xml"/><Relationship Id="rId32" Type="http://schemas.openxmlformats.org/officeDocument/2006/relationships/image" Target="../media/image120.png"/><Relationship Id="rId31" Type="http://schemas.openxmlformats.org/officeDocument/2006/relationships/image" Target="../media/image119.png"/><Relationship Id="rId30" Type="http://schemas.openxmlformats.org/officeDocument/2006/relationships/image" Target="../media/image118.png"/><Relationship Id="rId3" Type="http://schemas.openxmlformats.org/officeDocument/2006/relationships/tags" Target="../tags/tag209.xml"/><Relationship Id="rId29" Type="http://schemas.openxmlformats.org/officeDocument/2006/relationships/tags" Target="../tags/tag229.xml"/><Relationship Id="rId28" Type="http://schemas.openxmlformats.org/officeDocument/2006/relationships/image" Target="../media/image117.png"/><Relationship Id="rId27" Type="http://schemas.openxmlformats.org/officeDocument/2006/relationships/tags" Target="../tags/tag228.xml"/><Relationship Id="rId26" Type="http://schemas.openxmlformats.org/officeDocument/2006/relationships/image" Target="../media/image116.png"/><Relationship Id="rId25" Type="http://schemas.openxmlformats.org/officeDocument/2006/relationships/tags" Target="../tags/tag227.xml"/><Relationship Id="rId24" Type="http://schemas.openxmlformats.org/officeDocument/2006/relationships/image" Target="../media/image115.png"/><Relationship Id="rId23" Type="http://schemas.openxmlformats.org/officeDocument/2006/relationships/tags" Target="../tags/tag226.xml"/><Relationship Id="rId22" Type="http://schemas.openxmlformats.org/officeDocument/2006/relationships/image" Target="../media/image114.png"/><Relationship Id="rId21" Type="http://schemas.openxmlformats.org/officeDocument/2006/relationships/tags" Target="../tags/tag225.xml"/><Relationship Id="rId20" Type="http://schemas.openxmlformats.org/officeDocument/2006/relationships/image" Target="../media/image113.png"/><Relationship Id="rId2" Type="http://schemas.openxmlformats.org/officeDocument/2006/relationships/tags" Target="../tags/tag208.xml"/><Relationship Id="rId19" Type="http://schemas.openxmlformats.org/officeDocument/2006/relationships/tags" Target="../tags/tag224.xml"/><Relationship Id="rId18" Type="http://schemas.openxmlformats.org/officeDocument/2006/relationships/image" Target="../media/image112.png"/><Relationship Id="rId17" Type="http://schemas.openxmlformats.org/officeDocument/2006/relationships/tags" Target="../tags/tag223.xml"/><Relationship Id="rId16" Type="http://schemas.openxmlformats.org/officeDocument/2006/relationships/tags" Target="../tags/tag222.xml"/><Relationship Id="rId15" Type="http://schemas.openxmlformats.org/officeDocument/2006/relationships/tags" Target="../tags/tag221.xml"/><Relationship Id="rId14" Type="http://schemas.openxmlformats.org/officeDocument/2006/relationships/tags" Target="../tags/tag220.xml"/><Relationship Id="rId13" Type="http://schemas.openxmlformats.org/officeDocument/2006/relationships/tags" Target="../tags/tag219.xml"/><Relationship Id="rId12" Type="http://schemas.openxmlformats.org/officeDocument/2006/relationships/tags" Target="../tags/tag218.xml"/><Relationship Id="rId11" Type="http://schemas.openxmlformats.org/officeDocument/2006/relationships/tags" Target="../tags/tag217.xml"/><Relationship Id="rId10" Type="http://schemas.openxmlformats.org/officeDocument/2006/relationships/tags" Target="../tags/tag216.xml"/><Relationship Id="rId1" Type="http://schemas.openxmlformats.org/officeDocument/2006/relationships/tags" Target="../tags/tag207.xml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tags" Target="../tags/tag235.xml"/><Relationship Id="rId8" Type="http://schemas.openxmlformats.org/officeDocument/2006/relationships/tags" Target="../tags/tag234.xml"/><Relationship Id="rId7" Type="http://schemas.openxmlformats.org/officeDocument/2006/relationships/tags" Target="../tags/tag233.xml"/><Relationship Id="rId6" Type="http://schemas.openxmlformats.org/officeDocument/2006/relationships/image" Target="../media/image8.jpeg"/><Relationship Id="rId5" Type="http://schemas.openxmlformats.org/officeDocument/2006/relationships/oleObject" Target="../embeddings/oleObject8.bin"/><Relationship Id="rId4" Type="http://schemas.openxmlformats.org/officeDocument/2006/relationships/tags" Target="../tags/tag232.xml"/><Relationship Id="rId3" Type="http://schemas.openxmlformats.org/officeDocument/2006/relationships/tags" Target="../tags/tag231.xml"/><Relationship Id="rId23" Type="http://schemas.openxmlformats.org/officeDocument/2006/relationships/notesSlide" Target="../notesSlides/notesSlide23.xml"/><Relationship Id="rId22" Type="http://schemas.openxmlformats.org/officeDocument/2006/relationships/vmlDrawing" Target="../drawings/vmlDrawing8.vml"/><Relationship Id="rId21" Type="http://schemas.openxmlformats.org/officeDocument/2006/relationships/slideLayout" Target="../slideLayouts/slideLayout6.xml"/><Relationship Id="rId20" Type="http://schemas.openxmlformats.org/officeDocument/2006/relationships/image" Target="../media/image122.jpeg"/><Relationship Id="rId2" Type="http://schemas.openxmlformats.org/officeDocument/2006/relationships/tags" Target="../tags/tag230.xml"/><Relationship Id="rId19" Type="http://schemas.openxmlformats.org/officeDocument/2006/relationships/image" Target="../media/image121.png"/><Relationship Id="rId18" Type="http://schemas.openxmlformats.org/officeDocument/2006/relationships/tags" Target="../tags/tag244.xml"/><Relationship Id="rId17" Type="http://schemas.openxmlformats.org/officeDocument/2006/relationships/tags" Target="../tags/tag243.xml"/><Relationship Id="rId16" Type="http://schemas.openxmlformats.org/officeDocument/2006/relationships/tags" Target="../tags/tag242.xml"/><Relationship Id="rId15" Type="http://schemas.openxmlformats.org/officeDocument/2006/relationships/tags" Target="../tags/tag241.xml"/><Relationship Id="rId14" Type="http://schemas.openxmlformats.org/officeDocument/2006/relationships/tags" Target="../tags/tag240.xml"/><Relationship Id="rId13" Type="http://schemas.openxmlformats.org/officeDocument/2006/relationships/tags" Target="../tags/tag239.xml"/><Relationship Id="rId12" Type="http://schemas.openxmlformats.org/officeDocument/2006/relationships/tags" Target="../tags/tag238.xml"/><Relationship Id="rId11" Type="http://schemas.openxmlformats.org/officeDocument/2006/relationships/tags" Target="../tags/tag237.xml"/><Relationship Id="rId10" Type="http://schemas.openxmlformats.org/officeDocument/2006/relationships/tags" Target="../tags/tag236.xml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03885" y="2073275"/>
            <a:ext cx="93059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spc="300" dirty="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lt"/>
              </a:rPr>
              <a:t>与时俱</a:t>
            </a:r>
            <a:r>
              <a:rPr lang="en-US" altLang="zh-CN" sz="4800" kern="600" spc="500" dirty="0">
                <a:solidFill>
                  <a:schemeClr val="bg1"/>
                </a:solidFill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lt"/>
              </a:rPr>
              <a:t>“</a:t>
            </a:r>
            <a:r>
              <a:rPr lang="zh-CN" altLang="en-US" sz="5400" spc="300" dirty="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lt"/>
              </a:rPr>
              <a:t>进</a:t>
            </a:r>
            <a:r>
              <a:rPr lang="en-US" altLang="zh-CN" sz="4800" kern="600" spc="500" dirty="0">
                <a:solidFill>
                  <a:schemeClr val="bg1"/>
                </a:solidFill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lt"/>
              </a:rPr>
              <a:t>”</a:t>
            </a:r>
            <a:r>
              <a:rPr lang="zh-CN" altLang="en-US" sz="5400" spc="300" dirty="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lt"/>
              </a:rPr>
              <a:t>·持续创</a:t>
            </a:r>
            <a:r>
              <a:rPr lang="en-US" altLang="zh-CN" sz="4800" kern="600" spc="500" dirty="0">
                <a:solidFill>
                  <a:schemeClr val="bg1"/>
                </a:solidFill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lt"/>
              </a:rPr>
              <a:t>“</a:t>
            </a:r>
            <a:r>
              <a:rPr lang="zh-CN" altLang="en-US" sz="5400" spc="300" dirty="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lt"/>
              </a:rPr>
              <a:t>芯</a:t>
            </a:r>
            <a:r>
              <a:rPr lang="en-US" altLang="zh-CN" sz="4800" kern="600" spc="500" dirty="0">
                <a:solidFill>
                  <a:schemeClr val="bg1"/>
                </a:solidFill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lt"/>
              </a:rPr>
              <a:t>”</a:t>
            </a:r>
            <a:endParaRPr lang="zh-CN" altLang="en-US" sz="5400" spc="300" dirty="0">
              <a:solidFill>
                <a:schemeClr val="bg1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13410" y="3513455"/>
            <a:ext cx="73196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200" spc="500" dirty="0">
                <a:solidFill>
                  <a:schemeClr val="bg1"/>
                </a:solidFill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lt"/>
              </a:rPr>
              <a:t>进芯电子·DSP芯片设计专家</a:t>
            </a:r>
            <a:endParaRPr lang="zh-CN" altLang="en-US" sz="3200" spc="500" dirty="0">
              <a:solidFill>
                <a:schemeClr val="bg1"/>
              </a:solidFill>
              <a:uFillTx/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+mn-lt"/>
            </a:endParaRPr>
          </a:p>
        </p:txBody>
      </p:sp>
      <p:cxnSp>
        <p:nvCxnSpPr>
          <p:cNvPr id="22" name="直接连接符 21"/>
          <p:cNvCxnSpPr/>
          <p:nvPr/>
        </p:nvCxnSpPr>
        <p:spPr>
          <a:xfrm flipV="1">
            <a:off x="735965" y="3251835"/>
            <a:ext cx="1746885" cy="50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6"/>
          <p:cNvSpPr txBox="1"/>
          <p:nvPr>
            <p:custDataLst>
              <p:tags r:id="rId1"/>
            </p:custDataLst>
          </p:nvPr>
        </p:nvSpPr>
        <p:spPr>
          <a:xfrm>
            <a:off x="537561" y="197893"/>
            <a:ext cx="3275681" cy="488398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ym typeface="+mn-ea"/>
              </a:rPr>
              <a:t>目录</a:t>
            </a:r>
            <a:endParaRPr lang="zh-CN" altLang="en-US" sz="2400" b="1" dirty="0">
              <a:sym typeface="+mn-ea"/>
            </a:endParaRPr>
          </a:p>
        </p:txBody>
      </p:sp>
      <p:graphicFrame>
        <p:nvGraphicFramePr>
          <p:cNvPr id="15" name="图示 14"/>
          <p:cNvGraphicFramePr/>
          <p:nvPr/>
        </p:nvGraphicFramePr>
        <p:xfrm>
          <a:off x="2476590" y="1562665"/>
          <a:ext cx="6831185" cy="40962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流程图: 接点 15"/>
          <p:cNvSpPr/>
          <p:nvPr/>
        </p:nvSpPr>
        <p:spPr>
          <a:xfrm>
            <a:off x="2476590" y="1681958"/>
            <a:ext cx="696036" cy="696036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rgbClr val="7030A0"/>
                </a:solidFill>
                <a:latin typeface="+mn-ea"/>
              </a:rPr>
              <a:t>1</a:t>
            </a:r>
            <a:endParaRPr lang="zh-CN" altLang="en-US" sz="4000" dirty="0">
              <a:solidFill>
                <a:srgbClr val="7030A0"/>
              </a:solidFill>
              <a:latin typeface="+mn-ea"/>
            </a:endParaRPr>
          </a:p>
        </p:txBody>
      </p:sp>
      <p:sp>
        <p:nvSpPr>
          <p:cNvPr id="17" name="流程图: 接点 16"/>
          <p:cNvSpPr/>
          <p:nvPr/>
        </p:nvSpPr>
        <p:spPr>
          <a:xfrm>
            <a:off x="2687275" y="2502515"/>
            <a:ext cx="696036" cy="696036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rgbClr val="7030A0"/>
                </a:solidFill>
                <a:latin typeface="+mn-ea"/>
              </a:rPr>
              <a:t>2</a:t>
            </a:r>
            <a:endParaRPr lang="zh-CN" altLang="en-US" sz="4000" dirty="0">
              <a:solidFill>
                <a:srgbClr val="7030A0"/>
              </a:solidFill>
              <a:latin typeface="+mn-ea"/>
            </a:endParaRPr>
          </a:p>
        </p:txBody>
      </p:sp>
      <p:sp>
        <p:nvSpPr>
          <p:cNvPr id="18" name="流程图: 接点 17"/>
          <p:cNvSpPr/>
          <p:nvPr/>
        </p:nvSpPr>
        <p:spPr>
          <a:xfrm>
            <a:off x="2964780" y="3264013"/>
            <a:ext cx="696036" cy="696036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rgbClr val="7030A0"/>
                </a:solidFill>
                <a:latin typeface="+mn-ea"/>
              </a:rPr>
              <a:t>3</a:t>
            </a:r>
            <a:endParaRPr lang="zh-CN" altLang="en-US" sz="4000" dirty="0">
              <a:solidFill>
                <a:srgbClr val="7030A0"/>
              </a:solidFill>
              <a:latin typeface="+mn-ea"/>
            </a:endParaRPr>
          </a:p>
        </p:txBody>
      </p:sp>
      <p:sp>
        <p:nvSpPr>
          <p:cNvPr id="19" name="流程图: 接点 18"/>
          <p:cNvSpPr/>
          <p:nvPr/>
        </p:nvSpPr>
        <p:spPr>
          <a:xfrm>
            <a:off x="2681391" y="4025511"/>
            <a:ext cx="696036" cy="696036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rgbClr val="7030A0"/>
                </a:solidFill>
                <a:latin typeface="+mn-ea"/>
              </a:rPr>
              <a:t>4</a:t>
            </a:r>
            <a:endParaRPr lang="zh-CN" altLang="en-US" sz="4000" dirty="0">
              <a:solidFill>
                <a:srgbClr val="7030A0"/>
              </a:solidFill>
              <a:latin typeface="+mn-ea"/>
            </a:endParaRPr>
          </a:p>
        </p:txBody>
      </p:sp>
      <p:sp>
        <p:nvSpPr>
          <p:cNvPr id="20" name="流程图: 接点 19"/>
          <p:cNvSpPr/>
          <p:nvPr/>
        </p:nvSpPr>
        <p:spPr>
          <a:xfrm>
            <a:off x="2423420" y="4795399"/>
            <a:ext cx="696036" cy="696036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rgbClr val="7030A0"/>
                </a:solidFill>
                <a:latin typeface="+mn-ea"/>
              </a:rPr>
              <a:t>5</a:t>
            </a:r>
            <a:endParaRPr lang="zh-CN" altLang="en-US" sz="4000" dirty="0">
              <a:solidFill>
                <a:srgbClr val="7030A0"/>
              </a:solidFill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>
            <p:custDataLst>
              <p:tags r:id="rId1"/>
            </p:custDataLst>
          </p:nvPr>
        </p:nvSpPr>
        <p:spPr>
          <a:xfrm>
            <a:off x="5718175" y="3324860"/>
            <a:ext cx="5708015" cy="236410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F74AD"/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3400" y="1375410"/>
            <a:ext cx="10892155" cy="2011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just" defTabSz="1219200"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/>
            </a:pPr>
            <a:r>
              <a:rPr sz="1400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Calibri" panose="020F0502020204030204" charset="0"/>
              </a:rPr>
              <a:t>进芯电子是专业从事数字信号处理器芯片（DSP）及嵌入式解决方案研发的集成电路设计企业。公司拥有先进的软硬件设计平台和专业化的高素质DSP设计团队，掌握DSP内核设计技术、编译技术、SoC大规模数字集成技术，核心驱动算法等核心技术，并推出16位定点、32位定点和32位浮点三大系列产品。凭借丰富的产品和卓越的性能，产品已被广泛应用于新能源汽车、智能工业、消费电子等领域。作为国内领先的DSP设计企业，进芯电子致力于发展DSP核心技术，为客户提供安全可靠、高效可用的DSP产品、解决方案和配套服务。</a:t>
            </a:r>
            <a:endParaRPr sz="1400" dirty="0">
              <a:solidFill>
                <a:schemeClr val="tx1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Calibri" panose="020F0502020204030204" charset="0"/>
            </a:endParaRPr>
          </a:p>
        </p:txBody>
      </p:sp>
      <p:pic>
        <p:nvPicPr>
          <p:cNvPr id="7" name="图片 6" descr="大楼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624771" y="3325755"/>
            <a:ext cx="4925597" cy="2363520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>
            <p:custDataLst>
              <p:tags r:id="rId4"/>
            </p:custDataLst>
          </p:nvPr>
        </p:nvSpPr>
        <p:spPr>
          <a:xfrm>
            <a:off x="315595" y="244475"/>
            <a:ext cx="2540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charset="-122"/>
                <a:ea typeface="思源黑体" panose="020B0500000000000000" charset="-122"/>
                <a:sym typeface="+mn-ea"/>
              </a:rPr>
              <a:t>公司简介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思源黑体" panose="020B0500000000000000" charset="-122"/>
              <a:ea typeface="思源黑体" panose="020B0500000000000000" charset="-122"/>
              <a:sym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6059170" y="3648710"/>
            <a:ext cx="4730750" cy="1716405"/>
            <a:chOff x="9542" y="6175"/>
            <a:chExt cx="7450" cy="2703"/>
          </a:xfrm>
        </p:grpSpPr>
        <p:sp>
          <p:nvSpPr>
            <p:cNvPr id="17" name="文本框 16"/>
            <p:cNvSpPr txBox="1"/>
            <p:nvPr>
              <p:custDataLst>
                <p:tags r:id="rId5"/>
              </p:custDataLst>
            </p:nvPr>
          </p:nvSpPr>
          <p:spPr>
            <a:xfrm>
              <a:off x="13613" y="8186"/>
              <a:ext cx="3379" cy="57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lvl="0" algn="just" defTabSz="1219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charset="0"/>
                <a:defRPr/>
              </a:pPr>
              <a:r>
                <a:rPr lang="zh-CN" altLang="en-US" sz="1600" b="1" dirty="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Calibri" panose="020F0502020204030204" charset="0"/>
                </a:rPr>
                <a:t>研发技术占比</a:t>
              </a:r>
              <a:r>
                <a:rPr lang="en-US" altLang="zh-CN" sz="1600" b="1" dirty="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Calibri" panose="020F0502020204030204" charset="0"/>
                </a:rPr>
                <a:t>60%</a:t>
              </a:r>
              <a:endParaRPr sz="1600" b="1" dirty="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Calibri" panose="020F0502020204030204" charset="0"/>
              </a:endParaRPr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9542" y="6175"/>
              <a:ext cx="5408" cy="1396"/>
              <a:chOff x="9182" y="6175"/>
              <a:chExt cx="5408" cy="1396"/>
            </a:xfrm>
          </p:grpSpPr>
          <p:sp>
            <p:nvSpPr>
              <p:cNvPr id="10" name="文本框 9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0249" y="6175"/>
                <a:ext cx="4341" cy="139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lvl="0" algn="just" defTabSz="121920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charset="0"/>
                  <a:defRPr/>
                </a:pPr>
                <a:r>
                  <a:rPr sz="1600" b="1" dirty="0">
                    <a:solidFill>
                      <a:schemeClr val="bg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Calibri" panose="020F0502020204030204" charset="0"/>
                  </a:rPr>
                  <a:t>总部   长沙</a:t>
                </a:r>
                <a:endParaRPr sz="1600" b="1" dirty="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Calibri" panose="020F0502020204030204" charset="0"/>
                </a:endParaRPr>
              </a:p>
              <a:p>
                <a:pPr lvl="0" algn="just" defTabSz="121920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charset="0"/>
                  <a:defRPr/>
                </a:pPr>
                <a:r>
                  <a:rPr sz="1600" b="1" dirty="0">
                    <a:solidFill>
                      <a:schemeClr val="bg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Calibri" panose="020F0502020204030204" charset="0"/>
                  </a:rPr>
                  <a:t>分部    南京</a:t>
                </a:r>
                <a:r>
                  <a:rPr lang="zh-CN" sz="1600" b="1" dirty="0">
                    <a:solidFill>
                      <a:schemeClr val="bg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Calibri" panose="020F0502020204030204" charset="0"/>
                  </a:rPr>
                  <a:t>、</a:t>
                </a:r>
                <a:r>
                  <a:rPr sz="1600" b="1" dirty="0">
                    <a:solidFill>
                      <a:schemeClr val="bg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Calibri" panose="020F0502020204030204" charset="0"/>
                  </a:rPr>
                  <a:t>深圳</a:t>
                </a:r>
                <a:r>
                  <a:rPr lang="zh-CN" sz="1600" b="1" dirty="0">
                    <a:solidFill>
                      <a:schemeClr val="bg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Calibri" panose="020F0502020204030204" charset="0"/>
                  </a:rPr>
                  <a:t>、</a:t>
                </a:r>
                <a:r>
                  <a:rPr sz="1600" b="1" dirty="0">
                    <a:solidFill>
                      <a:schemeClr val="bg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Calibri" panose="020F0502020204030204" charset="0"/>
                  </a:rPr>
                  <a:t>北京 </a:t>
                </a:r>
                <a:endParaRPr sz="1600" b="1" dirty="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Calibri" panose="020F0502020204030204" charset="0"/>
                </a:endParaRPr>
              </a:p>
            </p:txBody>
          </p:sp>
          <p:pic>
            <p:nvPicPr>
              <p:cNvPr id="21" name="图片 20" descr="大楼,学校"/>
              <p:cNvPicPr>
                <a:picLocks noChangeAspect="1"/>
              </p:cNvPicPr>
              <p:nvPr/>
            </p:nvPicPr>
            <p:blipFill>
              <a:blip r:embed="rId7" cstate="screen"/>
              <a:stretch>
                <a:fillRect/>
              </a:stretch>
            </p:blipFill>
            <p:spPr>
              <a:xfrm>
                <a:off x="9182" y="6467"/>
                <a:ext cx="896" cy="896"/>
              </a:xfrm>
              <a:prstGeom prst="rect">
                <a:avLst/>
              </a:prstGeom>
            </p:spPr>
          </p:pic>
        </p:grpSp>
        <p:grpSp>
          <p:nvGrpSpPr>
            <p:cNvPr id="24" name="组合 23"/>
            <p:cNvGrpSpPr/>
            <p:nvPr/>
          </p:nvGrpSpPr>
          <p:grpSpPr>
            <a:xfrm>
              <a:off x="9627" y="8067"/>
              <a:ext cx="3354" cy="811"/>
              <a:chOff x="9267" y="8067"/>
              <a:chExt cx="3354" cy="811"/>
            </a:xfrm>
          </p:grpSpPr>
          <p:sp>
            <p:nvSpPr>
              <p:cNvPr id="15" name="文本框 14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0249" y="8232"/>
                <a:ext cx="2372" cy="59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lvl="0" algn="just" defTabSz="12192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charset="0"/>
                  <a:defRPr/>
                </a:pPr>
                <a:r>
                  <a:rPr sz="1600" b="1" dirty="0" err="1">
                    <a:solidFill>
                      <a:schemeClr val="bg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Calibri" panose="020F0502020204030204" charset="0"/>
                  </a:rPr>
                  <a:t>员工</a:t>
                </a:r>
                <a:r>
                  <a:rPr sz="1600" b="1" dirty="0">
                    <a:solidFill>
                      <a:schemeClr val="bg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Calibri" panose="020F0502020204030204" charset="0"/>
                  </a:rPr>
                  <a:t>  1</a:t>
                </a:r>
                <a:r>
                  <a:rPr lang="en-US" sz="1600" b="1" dirty="0">
                    <a:solidFill>
                      <a:schemeClr val="bg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Calibri" panose="020F0502020204030204" charset="0"/>
                  </a:rPr>
                  <a:t>80</a:t>
                </a:r>
                <a:r>
                  <a:rPr sz="1600" b="1" dirty="0">
                    <a:solidFill>
                      <a:schemeClr val="bg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Calibri" panose="020F0502020204030204" charset="0"/>
                  </a:rPr>
                  <a:t>人                 </a:t>
                </a:r>
                <a:endParaRPr sz="1600" b="1" dirty="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Calibri" panose="020F0502020204030204" charset="0"/>
                </a:endParaRPr>
              </a:p>
            </p:txBody>
          </p:sp>
          <p:pic>
            <p:nvPicPr>
              <p:cNvPr id="22" name="图片 21" descr="满载率"/>
              <p:cNvPicPr>
                <a:picLocks noChangeAspect="1"/>
              </p:cNvPicPr>
              <p:nvPr/>
            </p:nvPicPr>
            <p:blipFill>
              <a:blip r:embed="rId9" cstate="screen"/>
              <a:stretch>
                <a:fillRect/>
              </a:stretch>
            </p:blipFill>
            <p:spPr>
              <a:xfrm>
                <a:off x="9267" y="8067"/>
                <a:ext cx="811" cy="811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p:transition spd="slow">
    <p:wedg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868045" y="4599305"/>
            <a:ext cx="3390265" cy="124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just" defTabSz="1219200"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  <a:defRPr/>
            </a:pPr>
            <a:r>
              <a:rPr lang="zh-CN" sz="16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微软雅黑" panose="020B0503020204020204" pitchFamily="34" charset="-122"/>
                <a:sym typeface="Calibri" panose="020F0502020204030204" charset="0"/>
              </a:rPr>
              <a:t>进芯电子代理商</a:t>
            </a:r>
            <a:endParaRPr lang="zh-CN" sz="1600" b="1" dirty="0">
              <a:solidFill>
                <a:srgbClr val="0070C0"/>
              </a:solidFill>
              <a:latin typeface="思源黑体" panose="020B0500000000000000" charset="-122"/>
              <a:ea typeface="思源黑体" panose="020B0500000000000000" charset="-122"/>
              <a:cs typeface="微软雅黑" panose="020B0503020204020204" pitchFamily="34" charset="-122"/>
              <a:sym typeface="Calibri" panose="020F0502020204030204" charset="0"/>
            </a:endParaRPr>
          </a:p>
          <a:p>
            <a:pPr indent="0" algn="just" defTabSz="1219200"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sz="1400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微软雅黑" panose="020B0503020204020204" pitchFamily="34" charset="-122"/>
                <a:sym typeface="Calibri" panose="020F0502020204030204" charset="0"/>
              </a:rPr>
              <a:t>长沙，南京，深圳、杭州、</a:t>
            </a:r>
            <a:endParaRPr lang="zh-CN" sz="1400" dirty="0">
              <a:solidFill>
                <a:schemeClr val="tx1"/>
              </a:solidFill>
              <a:latin typeface="思源黑体" panose="020B0500000000000000" charset="-122"/>
              <a:ea typeface="思源黑体" panose="020B0500000000000000" charset="-122"/>
              <a:cs typeface="微软雅黑" panose="020B0503020204020204" pitchFamily="34" charset="-122"/>
              <a:sym typeface="Calibri" panose="020F0502020204030204" charset="0"/>
            </a:endParaRPr>
          </a:p>
          <a:p>
            <a:pPr indent="0" algn="just" defTabSz="1219200"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sz="1400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微软雅黑" panose="020B0503020204020204" pitchFamily="34" charset="-122"/>
                <a:sym typeface="Calibri" panose="020F0502020204030204" charset="0"/>
              </a:rPr>
              <a:t>武汉，西安、合肥、北京、成都</a:t>
            </a:r>
            <a:endParaRPr lang="zh-CN" sz="1400" dirty="0">
              <a:solidFill>
                <a:schemeClr val="tx1"/>
              </a:solidFill>
              <a:latin typeface="思源黑体" panose="020B0500000000000000" charset="-122"/>
              <a:ea typeface="思源黑体" panose="020B0500000000000000" charset="-122"/>
              <a:cs typeface="微软雅黑" panose="020B0503020204020204" pitchFamily="34" charset="-122"/>
              <a:sym typeface="Calibri" panose="020F050202020403020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878205" y="1211580"/>
            <a:ext cx="2802890" cy="903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just" defTabSz="1219200"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sz="1400" b="1" dirty="0">
                <a:solidFill>
                  <a:srgbClr val="037DD3"/>
                </a:solidFill>
                <a:latin typeface="思源黑体" panose="020B0500000000000000" charset="-122"/>
                <a:ea typeface="思源黑体" panose="020B0500000000000000" charset="-122"/>
                <a:cs typeface="微软雅黑" panose="020B0503020204020204" pitchFamily="34" charset="-122"/>
                <a:sym typeface="Calibri" panose="020F0502020204030204" charset="0"/>
              </a:rPr>
              <a:t>进芯总部（长沙）</a:t>
            </a:r>
            <a:endParaRPr lang="zh-CN" sz="1400" b="1" dirty="0">
              <a:solidFill>
                <a:srgbClr val="037DD3"/>
              </a:solidFill>
              <a:latin typeface="思源黑体" panose="020B0500000000000000" charset="-122"/>
              <a:ea typeface="思源黑体" panose="020B0500000000000000" charset="-122"/>
              <a:cs typeface="微软雅黑" panose="020B0503020204020204" pitchFamily="34" charset="-122"/>
              <a:sym typeface="Calibri" panose="020F0502020204030204" charset="0"/>
            </a:endParaRPr>
          </a:p>
          <a:p>
            <a:pPr indent="0" algn="just" defTabSz="1219200"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1400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微软雅黑" panose="020B0503020204020204" pitchFamily="34" charset="-122"/>
                <a:sym typeface="Calibri" panose="020F0502020204030204" charset="0"/>
              </a:rPr>
              <a:t>湖南进芯电子科技有限公司</a:t>
            </a:r>
            <a:endParaRPr lang="zh-CN" altLang="en-US" sz="1400" dirty="0">
              <a:solidFill>
                <a:schemeClr val="tx1"/>
              </a:solidFill>
              <a:latin typeface="思源黑体" panose="020B0500000000000000" charset="-122"/>
              <a:ea typeface="思源黑体" panose="020B0500000000000000" charset="-122"/>
              <a:cs typeface="微软雅黑" panose="020B0503020204020204" pitchFamily="34" charset="-122"/>
              <a:sym typeface="Calibri" panose="020F0502020204030204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878205" y="1953260"/>
            <a:ext cx="2802890" cy="903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just" defTabSz="1219200"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sz="1400" b="1" dirty="0">
                <a:solidFill>
                  <a:srgbClr val="037DD3"/>
                </a:solidFill>
                <a:latin typeface="思源黑体" panose="020B0500000000000000" charset="-122"/>
                <a:ea typeface="思源黑体" panose="020B0500000000000000" charset="-122"/>
                <a:cs typeface="微软雅黑" panose="020B0503020204020204" pitchFamily="34" charset="-122"/>
                <a:sym typeface="Calibri" panose="020F0502020204030204" charset="0"/>
              </a:rPr>
              <a:t>销售</a:t>
            </a:r>
            <a:r>
              <a:rPr sz="1400" b="1" dirty="0">
                <a:solidFill>
                  <a:srgbClr val="037DD3"/>
                </a:solidFill>
                <a:latin typeface="思源黑体" panose="020B0500000000000000" charset="-122"/>
                <a:ea typeface="思源黑体" panose="020B0500000000000000" charset="-122"/>
                <a:cs typeface="微软雅黑" panose="020B0503020204020204" pitchFamily="34" charset="-122"/>
                <a:sym typeface="Calibri" panose="020F0502020204030204" charset="0"/>
              </a:rPr>
              <a:t>中心（南京）</a:t>
            </a:r>
            <a:endParaRPr sz="1400" b="1" dirty="0">
              <a:solidFill>
                <a:srgbClr val="037DD3"/>
              </a:solidFill>
              <a:latin typeface="思源黑体" panose="020B0500000000000000" charset="-122"/>
              <a:ea typeface="思源黑体" panose="020B0500000000000000" charset="-122"/>
              <a:cs typeface="微软雅黑" panose="020B0503020204020204" pitchFamily="34" charset="-122"/>
              <a:sym typeface="Calibri" panose="020F0502020204030204" charset="0"/>
            </a:endParaRPr>
          </a:p>
          <a:p>
            <a:pPr indent="0" algn="just" defTabSz="1219200"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1400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微软雅黑" panose="020B0503020204020204" pitchFamily="34" charset="-122"/>
                <a:sym typeface="Calibri" panose="020F0502020204030204" charset="0"/>
              </a:rPr>
              <a:t>南京进芯信息</a:t>
            </a:r>
            <a:endParaRPr lang="zh-CN" altLang="en-US" sz="1400" dirty="0">
              <a:solidFill>
                <a:schemeClr val="tx1"/>
              </a:solidFill>
              <a:latin typeface="思源黑体" panose="020B0500000000000000" charset="-122"/>
              <a:ea typeface="思源黑体" panose="020B0500000000000000" charset="-122"/>
              <a:cs typeface="微软雅黑" panose="020B0503020204020204" pitchFamily="34" charset="-122"/>
              <a:sym typeface="Calibri" panose="020F0502020204030204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878205" y="2694940"/>
            <a:ext cx="2802890" cy="903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just" defTabSz="1219200"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1400" b="1" dirty="0">
                <a:solidFill>
                  <a:srgbClr val="037DD3"/>
                </a:solidFill>
                <a:latin typeface="思源黑体" panose="020B0500000000000000" charset="-122"/>
                <a:ea typeface="思源黑体" panose="020B0500000000000000" charset="-122"/>
                <a:cs typeface="微软雅黑" panose="020B0503020204020204" pitchFamily="34" charset="-122"/>
                <a:sym typeface="Calibri" panose="020F0502020204030204" charset="0"/>
              </a:rPr>
              <a:t>应用中心（深圳）</a:t>
            </a:r>
            <a:endParaRPr sz="1400" b="1" dirty="0">
              <a:solidFill>
                <a:srgbClr val="037DD3"/>
              </a:solidFill>
              <a:latin typeface="思源黑体" panose="020B0500000000000000" charset="-122"/>
              <a:ea typeface="思源黑体" panose="020B0500000000000000" charset="-122"/>
              <a:cs typeface="微软雅黑" panose="020B0503020204020204" pitchFamily="34" charset="-122"/>
              <a:sym typeface="Calibri" panose="020F0502020204030204" charset="0"/>
            </a:endParaRPr>
          </a:p>
          <a:p>
            <a:pPr indent="0" algn="just" defTabSz="1219200"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1400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微软雅黑" panose="020B0503020204020204" pitchFamily="34" charset="-122"/>
                <a:sym typeface="Calibri" panose="020F0502020204030204" charset="0"/>
              </a:rPr>
              <a:t>深圳进芯微</a:t>
            </a:r>
            <a:endParaRPr lang="zh-CN" altLang="en-US" sz="1400" dirty="0">
              <a:solidFill>
                <a:schemeClr val="tx1"/>
              </a:solidFill>
              <a:latin typeface="思源黑体" panose="020B0500000000000000" charset="-122"/>
              <a:ea typeface="思源黑体" panose="020B0500000000000000" charset="-122"/>
              <a:cs typeface="微软雅黑" panose="020B0503020204020204" pitchFamily="34" charset="-122"/>
              <a:sym typeface="Calibri" panose="020F050202020403020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868045" y="3449320"/>
            <a:ext cx="2802890" cy="903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just" defTabSz="1219200"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1400" b="1" dirty="0">
                <a:solidFill>
                  <a:srgbClr val="037DD3"/>
                </a:solidFill>
                <a:latin typeface="思源黑体" panose="020B0500000000000000" charset="-122"/>
                <a:ea typeface="思源黑体" panose="020B0500000000000000" charset="-122"/>
                <a:cs typeface="微软雅黑" panose="020B0503020204020204" pitchFamily="34" charset="-122"/>
                <a:sym typeface="Calibri" panose="020F0502020204030204" charset="0"/>
              </a:rPr>
              <a:t>新架构研发分部（北京）</a:t>
            </a:r>
            <a:endParaRPr sz="1400" b="1" dirty="0">
              <a:solidFill>
                <a:srgbClr val="037DD3"/>
              </a:solidFill>
              <a:latin typeface="思源黑体" panose="020B0500000000000000" charset="-122"/>
              <a:ea typeface="思源黑体" panose="020B0500000000000000" charset="-122"/>
              <a:cs typeface="微软雅黑" panose="020B0503020204020204" pitchFamily="34" charset="-122"/>
              <a:sym typeface="Calibri" panose="020F0502020204030204" charset="0"/>
            </a:endParaRPr>
          </a:p>
          <a:p>
            <a:pPr indent="0" algn="just" defTabSz="1219200"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sz="1400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微软雅黑" panose="020B0503020204020204" pitchFamily="34" charset="-122"/>
                <a:sym typeface="Calibri" panose="020F0502020204030204" charset="0"/>
              </a:rPr>
              <a:t>北京芯亿汇</a:t>
            </a:r>
            <a:endParaRPr lang="zh-CN" altLang="en-US" sz="1400" dirty="0">
              <a:solidFill>
                <a:schemeClr val="tx1"/>
              </a:solidFill>
              <a:latin typeface="思源黑体" panose="020B0500000000000000" charset="-122"/>
              <a:ea typeface="思源黑体" panose="020B0500000000000000" charset="-122"/>
              <a:cs typeface="微软雅黑" panose="020B0503020204020204" pitchFamily="34" charset="-122"/>
              <a:sym typeface="Calibri" panose="020F0502020204030204" charset="0"/>
            </a:endParaRPr>
          </a:p>
        </p:txBody>
      </p:sp>
      <p:sp>
        <p:nvSpPr>
          <p:cNvPr id="5" name="文本框 4"/>
          <p:cNvSpPr txBox="1"/>
          <p:nvPr userDrawn="1">
            <p:custDataLst>
              <p:tags r:id="rId6"/>
            </p:custDataLst>
          </p:nvPr>
        </p:nvSpPr>
        <p:spPr>
          <a:xfrm>
            <a:off x="315595" y="244475"/>
            <a:ext cx="2540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charset="-122"/>
                <a:ea typeface="思源黑体" panose="020B0500000000000000" charset="-122"/>
                <a:sym typeface="+mn-ea"/>
              </a:rPr>
              <a:t>网点分布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思源黑体" panose="020B0500000000000000" charset="-122"/>
              <a:ea typeface="思源黑体" panose="020B0500000000000000" charset="-122"/>
              <a:sym typeface="+mn-ea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251200" y="1078230"/>
            <a:ext cx="8695690" cy="4892040"/>
            <a:chOff x="5120" y="1698"/>
            <a:chExt cx="13694" cy="7704"/>
          </a:xfrm>
        </p:grpSpPr>
        <p:pic>
          <p:nvPicPr>
            <p:cNvPr id="4" name="图片 3" descr="地图_画板 1"/>
            <p:cNvPicPr>
              <a:picLocks noChangeAspect="1"/>
            </p:cNvPicPr>
            <p:nvPr/>
          </p:nvPicPr>
          <p:blipFill>
            <a:blip r:embed="rId7" cstate="screen"/>
            <a:stretch>
              <a:fillRect/>
            </a:stretch>
          </p:blipFill>
          <p:spPr>
            <a:xfrm>
              <a:off x="5120" y="1698"/>
              <a:ext cx="13695" cy="7704"/>
            </a:xfrm>
            <a:prstGeom prst="rect">
              <a:avLst/>
            </a:prstGeom>
          </p:spPr>
        </p:pic>
        <p:pic>
          <p:nvPicPr>
            <p:cNvPr id="25" name="図 2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4690" y="7643"/>
              <a:ext cx="1302" cy="1266"/>
            </a:xfrm>
            <a:prstGeom prst="rect">
              <a:avLst/>
            </a:prstGeom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</p:pic>
      </p:grpSp>
    </p:spTree>
  </p:cSld>
  <p:clrMapOvr>
    <a:masterClrMapping/>
  </p:clrMapOvr>
  <p:transition spd="slow">
    <p:wedg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7d195523061f1c0" descr="e7d195523061f1c08d347f6bf0421bdacd46f3c1815d51b81E1CE79090F8942429A56C6AE2B3163BABA1A3FCE285BEC4FF43A5085572A94AD2C0A17AE448F24FA68DD62479D8C0666FEB6710638384D2F47D54AD7F2B38C3B3201427C66163307D06E69945807F20D554579ED3BA1CDBE7C70C27D334684D3B2DF7D1C522E5C239811152D333AEF231E5E7F3656247FE" hidden="1"/>
          <p:cNvSpPr txBox="1"/>
          <p:nvPr/>
        </p:nvSpPr>
        <p:spPr>
          <a:xfrm>
            <a:off x="-342247" y="1805940"/>
            <a:ext cx="290195" cy="1014413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 dirty="0"/>
              <a:t>e7d195523061f1c08d347f6bf0421bdacd46f3c1815d51b81E1CE79090F8942429A56C6AE2B3163BABA1A3FCE285BEC4FF43A5085572A94AD2C0A17AE448F24FA68DD62479D8C0666FEB6710638384D2F47D54AD7F2B38C3B3201427C66163307D06E69945807F20D554579ED3BA1CDBE7C70C27D334684D3B2DF7D1C522E5C239811152D333AEF231E5E7F3656247FE</a:t>
            </a:r>
            <a:endParaRPr lang="zh-CN" altLang="en-US" sz="100"/>
          </a:p>
        </p:txBody>
      </p:sp>
      <p:pic>
        <p:nvPicPr>
          <p:cNvPr id="11" name="图片 10" descr="进芯电子LOGO原图透明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 cstate="screen"/>
          <a:stretch>
            <a:fillRect/>
          </a:stretch>
        </p:blipFill>
        <p:spPr>
          <a:xfrm>
            <a:off x="9798050" y="292735"/>
            <a:ext cx="2075815" cy="560705"/>
          </a:xfrm>
          <a:prstGeom prst="rect">
            <a:avLst/>
          </a:prstGeom>
        </p:spPr>
      </p:pic>
      <p:grpSp>
        <p:nvGrpSpPr>
          <p:cNvPr id="12" name="组合 11"/>
          <p:cNvGrpSpPr/>
          <p:nvPr userDrawn="1"/>
        </p:nvGrpSpPr>
        <p:grpSpPr>
          <a:xfrm>
            <a:off x="450215" y="824865"/>
            <a:ext cx="1787525" cy="76200"/>
            <a:chOff x="501" y="973"/>
            <a:chExt cx="2815" cy="120"/>
          </a:xfrm>
        </p:grpSpPr>
        <p:sp>
          <p:nvSpPr>
            <p:cNvPr id="23" name="矩形 22"/>
            <p:cNvSpPr/>
            <p:nvPr userDrawn="1">
              <p:custDataLst>
                <p:tags r:id="rId3"/>
              </p:custDataLst>
            </p:nvPr>
          </p:nvSpPr>
          <p:spPr>
            <a:xfrm>
              <a:off x="703" y="973"/>
              <a:ext cx="2613" cy="120"/>
            </a:xfrm>
            <a:prstGeom prst="rect">
              <a:avLst/>
            </a:prstGeom>
            <a:gradFill>
              <a:gsLst>
                <a:gs pos="0">
                  <a:srgbClr val="475F77"/>
                </a:gs>
                <a:gs pos="88000">
                  <a:srgbClr val="FAFAFA"/>
                </a:gs>
                <a:gs pos="36000">
                  <a:srgbClr val="5E6E80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>
              <p:custDataLst>
                <p:tags r:id="rId4"/>
              </p:custDataLst>
            </p:nvPr>
          </p:nvSpPr>
          <p:spPr>
            <a:xfrm>
              <a:off x="501" y="973"/>
              <a:ext cx="120" cy="120"/>
            </a:xfrm>
            <a:prstGeom prst="rect">
              <a:avLst/>
            </a:prstGeom>
            <a:solidFill>
              <a:srgbClr val="606B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文本框 25"/>
          <p:cNvSpPr txBox="1"/>
          <p:nvPr userDrawn="1">
            <p:custDataLst>
              <p:tags r:id="rId5"/>
            </p:custDataLst>
          </p:nvPr>
        </p:nvSpPr>
        <p:spPr>
          <a:xfrm>
            <a:off x="315595" y="244475"/>
            <a:ext cx="2540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charset="-122"/>
                <a:ea typeface="思源黑体" panose="020B0500000000000000" charset="-122"/>
              </a:rPr>
              <a:t>发展历程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思源黑体" panose="020B0500000000000000" charset="-122"/>
              <a:ea typeface="思源黑体" panose="020B0500000000000000" charset="-122"/>
            </a:endParaRPr>
          </a:p>
        </p:txBody>
      </p:sp>
      <p:pic>
        <p:nvPicPr>
          <p:cNvPr id="60" name="图片 59" descr="发展历程-0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screen"/>
          <a:srcRect l="375"/>
          <a:stretch>
            <a:fillRect/>
          </a:stretch>
        </p:blipFill>
        <p:spPr>
          <a:xfrm>
            <a:off x="-39370" y="-14605"/>
            <a:ext cx="12219305" cy="6871970"/>
          </a:xfrm>
          <a:prstGeom prst="rect">
            <a:avLst/>
          </a:prstGeom>
        </p:spPr>
      </p:pic>
      <p:sp>
        <p:nvSpPr>
          <p:cNvPr id="61" name="标题 1"/>
          <p:cNvSpPr txBox="1"/>
          <p:nvPr>
            <p:custDataLst>
              <p:tags r:id="rId8"/>
            </p:custDataLst>
          </p:nvPr>
        </p:nvSpPr>
        <p:spPr>
          <a:xfrm>
            <a:off x="422396" y="100965"/>
            <a:ext cx="10800080" cy="54292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latin typeface="+mn-ea"/>
                <a:ea typeface="+mn-ea"/>
                <a:sym typeface="+mn-ea"/>
              </a:rPr>
              <a:t>公司介绍</a:t>
            </a:r>
            <a:r>
              <a:rPr lang="en-US" altLang="zh-CN" sz="2400" b="1" dirty="0">
                <a:latin typeface="+mn-ea"/>
                <a:ea typeface="+mn-ea"/>
                <a:sym typeface="+mn-ea"/>
              </a:rPr>
              <a:t>--</a:t>
            </a:r>
            <a:r>
              <a:rPr lang="zh-CN" altLang="en-US" sz="2400" b="1" dirty="0">
                <a:latin typeface="+mn-ea"/>
                <a:ea typeface="+mn-ea"/>
                <a:sym typeface="+mn-ea"/>
              </a:rPr>
              <a:t>发展历程</a:t>
            </a:r>
            <a:endParaRPr lang="zh-CN" altLang="en-US" sz="2400" b="1" dirty="0">
              <a:latin typeface="+mn-ea"/>
              <a:ea typeface="+mn-ea"/>
              <a:sym typeface="+mn-ea"/>
            </a:endParaRPr>
          </a:p>
        </p:txBody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70110" y="17780"/>
            <a:ext cx="1946910" cy="699770"/>
          </a:xfrm>
          <a:prstGeom prst="rect">
            <a:avLst/>
          </a:prstGeom>
        </p:spPr>
      </p:pic>
      <p:sp>
        <p:nvSpPr>
          <p:cNvPr id="63" name="椭圆 62"/>
          <p:cNvSpPr/>
          <p:nvPr/>
        </p:nvSpPr>
        <p:spPr>
          <a:xfrm>
            <a:off x="373698" y="4054475"/>
            <a:ext cx="300355" cy="300355"/>
          </a:xfrm>
          <a:prstGeom prst="ellipse">
            <a:avLst/>
          </a:prstGeom>
          <a:solidFill>
            <a:srgbClr val="1F74AD"/>
          </a:solidFill>
          <a:ln>
            <a:noFill/>
          </a:ln>
          <a:effectLst>
            <a:outerShdw blurRad="50800" dist="38100" dir="2700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5" name="直接连接符 84"/>
          <p:cNvCxnSpPr>
            <a:endCxn id="63" idx="0"/>
          </p:cNvCxnSpPr>
          <p:nvPr>
            <p:custDataLst>
              <p:tags r:id="rId10"/>
            </p:custDataLst>
          </p:nvPr>
        </p:nvCxnSpPr>
        <p:spPr>
          <a:xfrm>
            <a:off x="513715" y="2891790"/>
            <a:ext cx="10795" cy="1162685"/>
          </a:xfrm>
          <a:prstGeom prst="line">
            <a:avLst/>
          </a:prstGeom>
          <a:ln w="12700" cmpd="dbl">
            <a:solidFill>
              <a:srgbClr val="606B79">
                <a:alpha val="34000"/>
              </a:srgb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9" name="椭圆 88"/>
          <p:cNvSpPr/>
          <p:nvPr>
            <p:custDataLst>
              <p:tags r:id="rId11"/>
            </p:custDataLst>
          </p:nvPr>
        </p:nvSpPr>
        <p:spPr>
          <a:xfrm>
            <a:off x="3001645" y="3819525"/>
            <a:ext cx="300355" cy="300355"/>
          </a:xfrm>
          <a:prstGeom prst="ellipse">
            <a:avLst/>
          </a:prstGeom>
          <a:solidFill>
            <a:srgbClr val="1F74AD"/>
          </a:solidFill>
          <a:ln>
            <a:noFill/>
          </a:ln>
          <a:effectLst>
            <a:outerShdw blurRad="50800" dist="38100" dir="2700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椭圆 89"/>
          <p:cNvSpPr/>
          <p:nvPr>
            <p:custDataLst>
              <p:tags r:id="rId12"/>
            </p:custDataLst>
          </p:nvPr>
        </p:nvSpPr>
        <p:spPr>
          <a:xfrm>
            <a:off x="4286568" y="3680460"/>
            <a:ext cx="300355" cy="300355"/>
          </a:xfrm>
          <a:prstGeom prst="ellipse">
            <a:avLst/>
          </a:prstGeom>
          <a:solidFill>
            <a:srgbClr val="1F74AD"/>
          </a:solidFill>
          <a:ln>
            <a:noFill/>
          </a:ln>
          <a:effectLst>
            <a:outerShdw blurRad="50800" dist="38100" dir="2700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椭圆 95"/>
          <p:cNvSpPr/>
          <p:nvPr>
            <p:custDataLst>
              <p:tags r:id="rId13"/>
            </p:custDataLst>
          </p:nvPr>
        </p:nvSpPr>
        <p:spPr>
          <a:xfrm>
            <a:off x="5755958" y="3152775"/>
            <a:ext cx="300355" cy="300355"/>
          </a:xfrm>
          <a:prstGeom prst="ellipse">
            <a:avLst/>
          </a:prstGeom>
          <a:solidFill>
            <a:srgbClr val="1F74AD"/>
          </a:solidFill>
          <a:ln>
            <a:noFill/>
          </a:ln>
          <a:effectLst>
            <a:outerShdw blurRad="50800" dist="38100" dir="2700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椭圆 96"/>
          <p:cNvSpPr/>
          <p:nvPr>
            <p:custDataLst>
              <p:tags r:id="rId14"/>
            </p:custDataLst>
          </p:nvPr>
        </p:nvSpPr>
        <p:spPr>
          <a:xfrm>
            <a:off x="7074853" y="3244850"/>
            <a:ext cx="300355" cy="300355"/>
          </a:xfrm>
          <a:prstGeom prst="ellipse">
            <a:avLst/>
          </a:prstGeom>
          <a:solidFill>
            <a:srgbClr val="1F74AD"/>
          </a:solidFill>
          <a:ln>
            <a:noFill/>
          </a:ln>
          <a:effectLst>
            <a:outerShdw blurRad="50800" dist="38100" dir="2700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椭圆 98"/>
          <p:cNvSpPr/>
          <p:nvPr>
            <p:custDataLst>
              <p:tags r:id="rId15"/>
            </p:custDataLst>
          </p:nvPr>
        </p:nvSpPr>
        <p:spPr>
          <a:xfrm>
            <a:off x="1465898" y="3930015"/>
            <a:ext cx="300355" cy="300355"/>
          </a:xfrm>
          <a:prstGeom prst="ellipse">
            <a:avLst/>
          </a:prstGeom>
          <a:solidFill>
            <a:srgbClr val="1F74AD"/>
          </a:solidFill>
          <a:ln>
            <a:noFill/>
          </a:ln>
          <a:effectLst>
            <a:outerShdw blurRad="50800" dist="38100" dir="2700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0" name="组合 99"/>
          <p:cNvGrpSpPr/>
          <p:nvPr/>
        </p:nvGrpSpPr>
        <p:grpSpPr>
          <a:xfrm>
            <a:off x="514985" y="717550"/>
            <a:ext cx="10995084" cy="3402330"/>
            <a:chOff x="811" y="1130"/>
            <a:chExt cx="17315" cy="5358"/>
          </a:xfrm>
        </p:grpSpPr>
        <p:sp>
          <p:nvSpPr>
            <p:cNvPr id="101" name="Content Placeholder 2"/>
            <p:cNvSpPr txBox="1"/>
            <p:nvPr>
              <p:custDataLst>
                <p:tags r:id="rId16"/>
              </p:custDataLst>
            </p:nvPr>
          </p:nvSpPr>
          <p:spPr>
            <a:xfrm>
              <a:off x="811" y="4279"/>
              <a:ext cx="1408" cy="831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90000" rIns="90000" bIns="46800"/>
            <a:lstStyle/>
            <a:p>
              <a:pPr indent="0" algn="l" defTabSz="911225" eaLnBrk="0" fontAlgn="auto" hangingPunct="0">
                <a:lnSpc>
                  <a:spcPct val="150000"/>
                </a:lnSpc>
                <a:spcBef>
                  <a:spcPts val="0"/>
                </a:spcBef>
                <a:buClr>
                  <a:srgbClr val="00B0F0"/>
                </a:buClr>
                <a:buFont typeface="Calibri Light" panose="020F0302020204030204" pitchFamily="34" charset="0"/>
              </a:pPr>
              <a:r>
                <a:rPr lang="en-US" altLang="zh-CN" sz="1600" b="1" dirty="0">
                  <a:solidFill>
                    <a:srgbClr val="0070C0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2012</a:t>
              </a:r>
              <a:endParaRPr lang="en-US" altLang="zh-CN" sz="16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  <p:sp>
          <p:nvSpPr>
            <p:cNvPr id="102" name="Content Placeholder 2"/>
            <p:cNvSpPr txBox="1"/>
            <p:nvPr>
              <p:custDataLst>
                <p:tags r:id="rId17"/>
              </p:custDataLst>
            </p:nvPr>
          </p:nvSpPr>
          <p:spPr>
            <a:xfrm>
              <a:off x="811" y="4965"/>
              <a:ext cx="1708" cy="831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90000" rIns="90000" bIns="46800"/>
            <a:lstStyle/>
            <a:p>
              <a:pPr lv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10月公司</a:t>
              </a:r>
              <a:endPara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lv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成立</a:t>
              </a:r>
              <a:endPara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grpSp>
          <p:nvGrpSpPr>
            <p:cNvPr id="103" name="组合 102"/>
            <p:cNvGrpSpPr/>
            <p:nvPr/>
          </p:nvGrpSpPr>
          <p:grpSpPr>
            <a:xfrm>
              <a:off x="2530" y="3741"/>
              <a:ext cx="2054" cy="2747"/>
              <a:chOff x="1684" y="3753"/>
              <a:chExt cx="2054" cy="2747"/>
            </a:xfrm>
          </p:grpSpPr>
          <p:cxnSp>
            <p:nvCxnSpPr>
              <p:cNvPr id="125" name="直接连接符 124"/>
              <p:cNvCxnSpPr/>
              <p:nvPr>
                <p:custDataLst>
                  <p:tags r:id="rId18"/>
                </p:custDataLst>
              </p:nvPr>
            </p:nvCxnSpPr>
            <p:spPr>
              <a:xfrm>
                <a:off x="1684" y="4010"/>
                <a:ext cx="16" cy="2490"/>
              </a:xfrm>
              <a:prstGeom prst="line">
                <a:avLst/>
              </a:prstGeom>
              <a:ln w="12700" cmpd="dbl">
                <a:solidFill>
                  <a:srgbClr val="606B79">
                    <a:alpha val="34000"/>
                  </a:srgb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26" name="Content Placeholder 2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1686" y="3753"/>
                <a:ext cx="1408" cy="83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lIns="90000" rIns="90000" bIns="46800"/>
              <a:lstStyle/>
              <a:p>
                <a:pPr indent="0" algn="l" defTabSz="911225" eaLnBrk="0" fontAlgn="auto" hangingPunct="0">
                  <a:lnSpc>
                    <a:spcPct val="150000"/>
                  </a:lnSpc>
                  <a:spcBef>
                    <a:spcPts val="0"/>
                  </a:spcBef>
                  <a:buClr>
                    <a:srgbClr val="00B0F0"/>
                  </a:buClr>
                  <a:buFont typeface="Calibri Light" panose="020F0302020204030204" pitchFamily="34" charset="0"/>
                </a:pPr>
                <a:r>
                  <a:rPr lang="en-US" altLang="zh-CN" sz="1600" b="1" dirty="0">
                    <a:solidFill>
                      <a:srgbClr val="0070C0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</a:rPr>
                  <a:t>2015</a:t>
                </a:r>
                <a:endParaRPr lang="en-US" altLang="zh-CN" sz="1600" b="1" dirty="0">
                  <a:solidFill>
                    <a:srgbClr val="0070C0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endParaRPr>
              </a:p>
            </p:txBody>
          </p:sp>
          <p:sp>
            <p:nvSpPr>
              <p:cNvPr id="127" name="Content Placeholder 2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1686" y="4439"/>
                <a:ext cx="2052" cy="83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lIns="90000" rIns="90000" bIns="46800"/>
              <a:lstStyle/>
              <a:p>
                <a:pPr marL="171450" lvl="0" indent="-136525" algn="l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sz="120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首款</a:t>
                </a:r>
                <a:r>
                  <a:rPr lang="zh-CN" sz="120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芯片</a:t>
                </a:r>
                <a:r>
                  <a:rPr sz="120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发布</a:t>
                </a:r>
                <a:endParaRPr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  <a:p>
                <a:pPr marL="171450" lvl="0" indent="-136525" algn="l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通过ISO9001体系认证</a:t>
                </a:r>
                <a:endParaRPr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</p:txBody>
          </p:sp>
        </p:grpSp>
        <p:grpSp>
          <p:nvGrpSpPr>
            <p:cNvPr id="104" name="组合 103"/>
            <p:cNvGrpSpPr/>
            <p:nvPr/>
          </p:nvGrpSpPr>
          <p:grpSpPr>
            <a:xfrm>
              <a:off x="4936" y="3250"/>
              <a:ext cx="2121" cy="2765"/>
              <a:chOff x="1679" y="4053"/>
              <a:chExt cx="2121" cy="2765"/>
            </a:xfrm>
          </p:grpSpPr>
          <p:cxnSp>
            <p:nvCxnSpPr>
              <p:cNvPr id="122" name="直接连接符 121"/>
              <p:cNvCxnSpPr>
                <a:endCxn id="89" idx="0"/>
              </p:cNvCxnSpPr>
              <p:nvPr>
                <p:custDataLst>
                  <p:tags r:id="rId21"/>
                </p:custDataLst>
              </p:nvPr>
            </p:nvCxnSpPr>
            <p:spPr>
              <a:xfrm flipH="1">
                <a:off x="1707" y="4237"/>
                <a:ext cx="5" cy="2581"/>
              </a:xfrm>
              <a:prstGeom prst="line">
                <a:avLst/>
              </a:prstGeom>
              <a:ln w="12700" cmpd="dbl">
                <a:solidFill>
                  <a:srgbClr val="606B79">
                    <a:alpha val="34000"/>
                  </a:srgb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23" name="Content Placeholder 2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1686" y="4053"/>
                <a:ext cx="1855" cy="83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lIns="90000" rIns="90000" bIns="46800"/>
              <a:lstStyle/>
              <a:p>
                <a:pPr indent="0" algn="l" defTabSz="911225" eaLnBrk="0" fontAlgn="auto" hangingPunct="0">
                  <a:lnSpc>
                    <a:spcPct val="150000"/>
                  </a:lnSpc>
                  <a:spcBef>
                    <a:spcPts val="0"/>
                  </a:spcBef>
                  <a:buClr>
                    <a:srgbClr val="00B0F0"/>
                  </a:buClr>
                  <a:buFont typeface="Calibri Light" panose="020F0302020204030204" pitchFamily="34" charset="0"/>
                </a:pPr>
                <a:r>
                  <a:rPr lang="en-US" altLang="zh-CN" sz="1600" b="1" dirty="0">
                    <a:solidFill>
                      <a:srgbClr val="0070C0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</a:rPr>
                  <a:t>2017</a:t>
                </a:r>
                <a:endParaRPr lang="en-US" altLang="zh-CN" sz="1600" b="1" dirty="0">
                  <a:solidFill>
                    <a:srgbClr val="0070C0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endParaRPr>
              </a:p>
            </p:txBody>
          </p:sp>
          <p:sp>
            <p:nvSpPr>
              <p:cNvPr id="124" name="Content Placeholder 2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1679" y="4754"/>
                <a:ext cx="2121" cy="117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lIns="90000" rIns="90000" bIns="46800"/>
              <a:lstStyle/>
              <a:p>
                <a:pPr lv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</a:pPr>
                <a:r>
                  <a:rPr sz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思源黑体 Medium" panose="020B0600000000000000" charset="-122"/>
                    <a:sym typeface="+mn-ea"/>
                  </a:rPr>
                  <a:t>通用</a:t>
                </a:r>
                <a:r>
                  <a:rPr lang="zh-CN" sz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思源黑体 Medium" panose="020B0600000000000000" charset="-122"/>
                    <a:sym typeface="+mn-ea"/>
                  </a:rPr>
                  <a:t>芯片进入</a:t>
                </a:r>
                <a:r>
                  <a:rPr sz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思源黑体 Medium" panose="020B0600000000000000" charset="-122"/>
                    <a:sym typeface="+mn-ea"/>
                  </a:rPr>
                  <a:t>工业控制领域</a:t>
                </a:r>
                <a:endParaRPr sz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Medium" panose="020B0600000000000000" charset="-122"/>
                  <a:sym typeface="+mn-ea"/>
                </a:endParaRPr>
              </a:p>
              <a:p>
                <a:pPr lv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</a:pPr>
                <a:r>
                  <a:rPr lang="zh-CN" sz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思源黑体 Medium" panose="020B0600000000000000" charset="-122"/>
                    <a:sym typeface="+mn-ea"/>
                  </a:rPr>
                  <a:t>汇川</a:t>
                </a:r>
                <a:r>
                  <a:rPr sz="120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ea"/>
                  </a:rPr>
                  <a:t>、</a:t>
                </a:r>
                <a:r>
                  <a:rPr lang="zh-CN" altLang="en-US" sz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思源黑体 Medium" panose="020B0600000000000000" charset="-122"/>
                    <a:sym typeface="+mn-ea"/>
                  </a:rPr>
                  <a:t>鼎芯投资</a:t>
                </a:r>
                <a:endParaRPr lang="zh-CN" sz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Medium" panose="020B0600000000000000" charset="-122"/>
                  <a:sym typeface="+mn-ea"/>
                </a:endParaRPr>
              </a:p>
            </p:txBody>
          </p:sp>
        </p:grpSp>
        <p:grpSp>
          <p:nvGrpSpPr>
            <p:cNvPr id="105" name="组合 104"/>
            <p:cNvGrpSpPr/>
            <p:nvPr/>
          </p:nvGrpSpPr>
          <p:grpSpPr>
            <a:xfrm>
              <a:off x="6963" y="2882"/>
              <a:ext cx="1408" cy="2914"/>
              <a:chOff x="1686" y="3685"/>
              <a:chExt cx="1408" cy="2914"/>
            </a:xfrm>
          </p:grpSpPr>
          <p:cxnSp>
            <p:nvCxnSpPr>
              <p:cNvPr id="120" name="直接连接符 119"/>
              <p:cNvCxnSpPr>
                <a:endCxn id="90" idx="0"/>
              </p:cNvCxnSpPr>
              <p:nvPr>
                <p:custDataLst>
                  <p:tags r:id="rId24"/>
                </p:custDataLst>
              </p:nvPr>
            </p:nvCxnSpPr>
            <p:spPr>
              <a:xfrm flipH="1">
                <a:off x="1711" y="3841"/>
                <a:ext cx="7" cy="2758"/>
              </a:xfrm>
              <a:prstGeom prst="line">
                <a:avLst/>
              </a:prstGeom>
              <a:ln w="12700" cmpd="dbl">
                <a:solidFill>
                  <a:srgbClr val="606B79">
                    <a:alpha val="34000"/>
                  </a:srgb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21" name="Content Placeholder 2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1686" y="3685"/>
                <a:ext cx="1408" cy="83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lIns="90000" rIns="90000" bIns="46800"/>
              <a:lstStyle/>
              <a:p>
                <a:pPr indent="0" algn="l" defTabSz="911225" eaLnBrk="0" fontAlgn="auto" hangingPunct="0">
                  <a:lnSpc>
                    <a:spcPct val="150000"/>
                  </a:lnSpc>
                  <a:spcBef>
                    <a:spcPts val="0"/>
                  </a:spcBef>
                  <a:buClr>
                    <a:srgbClr val="00B0F0"/>
                  </a:buClr>
                  <a:buFont typeface="Calibri Light" panose="020F0302020204030204" pitchFamily="34" charset="0"/>
                </a:pPr>
                <a:r>
                  <a:rPr lang="en-US" altLang="zh-CN" sz="1600" b="1" dirty="0">
                    <a:solidFill>
                      <a:srgbClr val="0070C0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</a:rPr>
                  <a:t>2020</a:t>
                </a:r>
                <a:endParaRPr lang="en-US" altLang="zh-CN" sz="1600" b="1" dirty="0">
                  <a:solidFill>
                    <a:srgbClr val="0070C0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endParaRPr>
              </a:p>
            </p:txBody>
          </p:sp>
        </p:grpSp>
        <p:grpSp>
          <p:nvGrpSpPr>
            <p:cNvPr id="106" name="组合 105"/>
            <p:cNvGrpSpPr/>
            <p:nvPr/>
          </p:nvGrpSpPr>
          <p:grpSpPr>
            <a:xfrm>
              <a:off x="9260" y="2225"/>
              <a:ext cx="1441" cy="3033"/>
              <a:chOff x="1686" y="3014"/>
              <a:chExt cx="1441" cy="3033"/>
            </a:xfrm>
          </p:grpSpPr>
          <p:cxnSp>
            <p:nvCxnSpPr>
              <p:cNvPr id="118" name="直接连接符 117"/>
              <p:cNvCxnSpPr/>
              <p:nvPr>
                <p:custDataLst>
                  <p:tags r:id="rId26"/>
                </p:custDataLst>
              </p:nvPr>
            </p:nvCxnSpPr>
            <p:spPr>
              <a:xfrm flipH="1">
                <a:off x="1686" y="3510"/>
                <a:ext cx="36" cy="2537"/>
              </a:xfrm>
              <a:prstGeom prst="line">
                <a:avLst/>
              </a:prstGeom>
              <a:ln w="12700" cmpd="dbl">
                <a:solidFill>
                  <a:srgbClr val="606B79">
                    <a:alpha val="34000"/>
                  </a:srgb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19" name="Content Placeholder 2"/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1719" y="3014"/>
                <a:ext cx="1408" cy="83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lIns="90000" rIns="90000" bIns="46800"/>
              <a:lstStyle/>
              <a:p>
                <a:pPr indent="0" algn="l" defTabSz="911225" eaLnBrk="0" fontAlgn="auto" hangingPunct="0">
                  <a:lnSpc>
                    <a:spcPct val="150000"/>
                  </a:lnSpc>
                  <a:spcBef>
                    <a:spcPts val="0"/>
                  </a:spcBef>
                  <a:buClr>
                    <a:srgbClr val="00B0F0"/>
                  </a:buClr>
                  <a:buFont typeface="Calibri Light" panose="020F0302020204030204" pitchFamily="34" charset="0"/>
                </a:pPr>
                <a:r>
                  <a:rPr lang="en-US" altLang="zh-CN" sz="1600" b="1" dirty="0">
                    <a:solidFill>
                      <a:srgbClr val="0070C0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</a:rPr>
                  <a:t>2021</a:t>
                </a:r>
                <a:endParaRPr lang="en-US" altLang="zh-CN" sz="1600" b="1" dirty="0">
                  <a:solidFill>
                    <a:srgbClr val="0070C0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endParaRPr>
              </a:p>
            </p:txBody>
          </p:sp>
        </p:grpSp>
        <p:grpSp>
          <p:nvGrpSpPr>
            <p:cNvPr id="107" name="组合 106"/>
            <p:cNvGrpSpPr/>
            <p:nvPr/>
          </p:nvGrpSpPr>
          <p:grpSpPr>
            <a:xfrm>
              <a:off x="11347" y="1906"/>
              <a:ext cx="1446" cy="3439"/>
              <a:chOff x="1696" y="3367"/>
              <a:chExt cx="1446" cy="3439"/>
            </a:xfrm>
          </p:grpSpPr>
          <p:cxnSp>
            <p:nvCxnSpPr>
              <p:cNvPr id="116" name="直接连接符 115"/>
              <p:cNvCxnSpPr/>
              <p:nvPr>
                <p:custDataLst>
                  <p:tags r:id="rId28"/>
                </p:custDataLst>
              </p:nvPr>
            </p:nvCxnSpPr>
            <p:spPr>
              <a:xfrm flipH="1">
                <a:off x="1696" y="3866"/>
                <a:ext cx="19" cy="2940"/>
              </a:xfrm>
              <a:prstGeom prst="line">
                <a:avLst/>
              </a:prstGeom>
              <a:ln w="12700" cmpd="dbl">
                <a:solidFill>
                  <a:srgbClr val="606B79">
                    <a:alpha val="34000"/>
                  </a:srgb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17" name="Content Placeholder 2"/>
              <p:cNvSpPr txBox="1"/>
              <p:nvPr>
                <p:custDataLst>
                  <p:tags r:id="rId29"/>
                </p:custDataLst>
              </p:nvPr>
            </p:nvSpPr>
            <p:spPr>
              <a:xfrm>
                <a:off x="1734" y="3367"/>
                <a:ext cx="1408" cy="83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lIns="90000" rIns="90000" bIns="46800"/>
              <a:lstStyle/>
              <a:p>
                <a:pPr indent="0" algn="l" defTabSz="911225" eaLnBrk="0" fontAlgn="auto" hangingPunct="0">
                  <a:lnSpc>
                    <a:spcPct val="150000"/>
                  </a:lnSpc>
                  <a:spcBef>
                    <a:spcPts val="0"/>
                  </a:spcBef>
                  <a:buClr>
                    <a:srgbClr val="00B0F0"/>
                  </a:buClr>
                  <a:buFont typeface="Calibri Light" panose="020F0302020204030204" pitchFamily="34" charset="0"/>
                </a:pPr>
                <a:r>
                  <a:rPr lang="en-US" altLang="zh-CN" sz="1600" b="1" dirty="0">
                    <a:solidFill>
                      <a:srgbClr val="0070C0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</a:rPr>
                  <a:t>2022</a:t>
                </a:r>
                <a:endParaRPr lang="en-US" altLang="zh-CN" sz="1600" b="1" dirty="0">
                  <a:solidFill>
                    <a:srgbClr val="0070C0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endParaRPr>
              </a:p>
            </p:txBody>
          </p:sp>
        </p:grpSp>
        <p:grpSp>
          <p:nvGrpSpPr>
            <p:cNvPr id="108" name="组合 107"/>
            <p:cNvGrpSpPr/>
            <p:nvPr/>
          </p:nvGrpSpPr>
          <p:grpSpPr>
            <a:xfrm>
              <a:off x="13634" y="1130"/>
              <a:ext cx="4492" cy="3104"/>
              <a:chOff x="-184" y="3132"/>
              <a:chExt cx="3777" cy="3104"/>
            </a:xfrm>
          </p:grpSpPr>
          <p:cxnSp>
            <p:nvCxnSpPr>
              <p:cNvPr id="113" name="直接连接符 112"/>
              <p:cNvCxnSpPr/>
              <p:nvPr>
                <p:custDataLst>
                  <p:tags r:id="rId30"/>
                </p:custDataLst>
              </p:nvPr>
            </p:nvCxnSpPr>
            <p:spPr>
              <a:xfrm flipH="1">
                <a:off x="2061" y="3510"/>
                <a:ext cx="36" cy="2537"/>
              </a:xfrm>
              <a:prstGeom prst="line">
                <a:avLst/>
              </a:prstGeom>
              <a:ln w="12700" cmpd="dbl">
                <a:solidFill>
                  <a:srgbClr val="606B79">
                    <a:alpha val="34000"/>
                  </a:srgb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14" name="Content Placeholder 2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2185" y="3132"/>
                <a:ext cx="1408" cy="83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lIns="90000" rIns="90000" bIns="46800"/>
              <a:lstStyle/>
              <a:p>
                <a:pPr indent="0" algn="l" defTabSz="911225" eaLnBrk="0" fontAlgn="auto" hangingPunct="0">
                  <a:lnSpc>
                    <a:spcPct val="150000"/>
                  </a:lnSpc>
                  <a:spcBef>
                    <a:spcPts val="0"/>
                  </a:spcBef>
                  <a:buClr>
                    <a:srgbClr val="00B0F0"/>
                  </a:buClr>
                  <a:buFont typeface="Calibri Light" panose="020F0302020204030204" pitchFamily="34" charset="0"/>
                </a:pPr>
                <a:r>
                  <a:rPr lang="en-US" altLang="zh-CN" sz="1600" b="1" dirty="0">
                    <a:solidFill>
                      <a:srgbClr val="0070C0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</a:rPr>
                  <a:t>2024</a:t>
                </a:r>
                <a:endParaRPr lang="en-US" altLang="zh-CN" sz="1600" b="1" dirty="0">
                  <a:solidFill>
                    <a:srgbClr val="0070C0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endParaRPr>
              </a:p>
            </p:txBody>
          </p:sp>
          <p:sp>
            <p:nvSpPr>
              <p:cNvPr id="115" name="Content Placeholder 2"/>
              <p:cNvSpPr txBox="1"/>
              <p:nvPr>
                <p:custDataLst>
                  <p:tags r:id="rId32"/>
                </p:custDataLst>
              </p:nvPr>
            </p:nvSpPr>
            <p:spPr>
              <a:xfrm>
                <a:off x="-184" y="4248"/>
                <a:ext cx="2417" cy="198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lIns="90000" rIns="90000" bIns="46800"/>
              <a:lstStyle/>
              <a:p>
                <a:pPr marL="206375" lvl="0" indent="-17145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zh-CN" altLang="en-US" sz="12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ea"/>
                  </a:rPr>
                  <a:t>上汽</a:t>
                </a:r>
                <a:r>
                  <a:rPr lang="en-US" altLang="zh-CN" sz="1200" kern="100" dirty="0"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、</a:t>
                </a:r>
                <a:r>
                  <a:rPr lang="zh-CN" altLang="en-US" sz="12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ea"/>
                  </a:rPr>
                  <a:t>广汽</a:t>
                </a:r>
                <a:r>
                  <a:rPr lang="en-US" sz="12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ea"/>
                  </a:rPr>
                  <a:t>D</a:t>
                </a:r>
                <a:r>
                  <a:rPr lang="zh-CN" altLang="en-US" sz="12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ea"/>
                  </a:rPr>
                  <a:t>轮</a:t>
                </a:r>
                <a:endParaRPr sz="12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endParaRPr>
              </a:p>
              <a:p>
                <a:pPr marL="206375" lvl="0" indent="-17145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zh-CN" sz="12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ea"/>
                  </a:rPr>
                  <a:t>发布</a:t>
                </a:r>
                <a:r>
                  <a:rPr sz="12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ea"/>
                  </a:rPr>
                  <a:t>4款</a:t>
                </a:r>
                <a:r>
                  <a:rPr lang="zh-CN" sz="12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ea"/>
                  </a:rPr>
                  <a:t>芯片</a:t>
                </a:r>
                <a:endParaRPr sz="12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endParaRPr>
              </a:p>
              <a:p>
                <a:pPr marL="206375" lvl="0" indent="-17145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sz="12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ea"/>
                  </a:rPr>
                  <a:t>通过IATF16949认证</a:t>
                </a:r>
                <a:endParaRPr sz="12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endParaRPr>
              </a:p>
              <a:p>
                <a:pPr marL="206375" lvl="0" indent="-17145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sz="120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ea"/>
                  </a:rPr>
                  <a:t>完成</a:t>
                </a:r>
                <a:r>
                  <a:rPr sz="12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ea"/>
                  </a:rPr>
                  <a:t>AEC-</a:t>
                </a:r>
                <a:r>
                  <a:rPr sz="1200" dirty="0" err="1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ea"/>
                  </a:rPr>
                  <a:t>Q100 认证</a:t>
                </a:r>
                <a:endParaRPr sz="12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endParaRPr>
              </a:p>
            </p:txBody>
          </p:sp>
        </p:grpSp>
        <p:grpSp>
          <p:nvGrpSpPr>
            <p:cNvPr id="109" name="组合 108"/>
            <p:cNvGrpSpPr/>
            <p:nvPr/>
          </p:nvGrpSpPr>
          <p:grpSpPr>
            <a:xfrm>
              <a:off x="11190" y="1574"/>
              <a:ext cx="3770" cy="3152"/>
              <a:chOff x="12681" y="1574"/>
              <a:chExt cx="3770" cy="3152"/>
            </a:xfrm>
          </p:grpSpPr>
          <p:sp>
            <p:nvSpPr>
              <p:cNvPr id="110" name="Content Placeholder 2"/>
              <p:cNvSpPr txBox="1"/>
              <p:nvPr>
                <p:custDataLst>
                  <p:tags r:id="rId33"/>
                </p:custDataLst>
              </p:nvPr>
            </p:nvSpPr>
            <p:spPr>
              <a:xfrm>
                <a:off x="15043" y="1574"/>
                <a:ext cx="1408" cy="83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lIns="90000" rIns="90000" bIns="46800"/>
              <a:lstStyle/>
              <a:p>
                <a:pPr indent="0" algn="l" defTabSz="911225" eaLnBrk="0" fontAlgn="auto" hangingPunct="0">
                  <a:lnSpc>
                    <a:spcPct val="150000"/>
                  </a:lnSpc>
                  <a:spcBef>
                    <a:spcPts val="0"/>
                  </a:spcBef>
                  <a:buClr>
                    <a:srgbClr val="00B0F0"/>
                  </a:buClr>
                  <a:buFont typeface="Calibri Light" panose="020F0302020204030204" pitchFamily="34" charset="0"/>
                </a:pPr>
                <a:r>
                  <a:rPr lang="en-US" altLang="zh-CN" sz="1600" b="1" dirty="0">
                    <a:solidFill>
                      <a:srgbClr val="0070C0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</a:rPr>
                  <a:t>2023</a:t>
                </a:r>
                <a:endParaRPr lang="en-US" altLang="zh-CN" sz="1600" b="1" dirty="0">
                  <a:solidFill>
                    <a:srgbClr val="0070C0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endParaRPr>
              </a:p>
            </p:txBody>
          </p:sp>
          <p:sp>
            <p:nvSpPr>
              <p:cNvPr id="111" name="Content Placeholder 2"/>
              <p:cNvSpPr txBox="1"/>
              <p:nvPr>
                <p:custDataLst>
                  <p:tags r:id="rId34"/>
                </p:custDataLst>
              </p:nvPr>
            </p:nvSpPr>
            <p:spPr>
              <a:xfrm>
                <a:off x="12681" y="2501"/>
                <a:ext cx="2572" cy="22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lIns="90000" rIns="90000" bIns="46800"/>
              <a:lstStyle/>
              <a:p>
                <a:pPr marL="206375" lvl="0" indent="-17145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zh-CN" sz="120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ea"/>
                  </a:rPr>
                  <a:t>华虹</a:t>
                </a:r>
                <a:r>
                  <a:rPr lang="en-US" altLang="zh-CN" sz="1200" kern="100" dirty="0"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、</a:t>
                </a:r>
                <a:r>
                  <a:rPr lang="zh-CN" altLang="en-US" sz="120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ea"/>
                  </a:rPr>
                  <a:t>中芯</a:t>
                </a:r>
                <a:r>
                  <a:rPr lang="en-US" altLang="zh-CN" sz="1200" kern="100" dirty="0"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、</a:t>
                </a:r>
                <a:r>
                  <a:rPr lang="zh-CN" altLang="en-US" sz="120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ea"/>
                  </a:rPr>
                  <a:t>比亚迪</a:t>
                </a:r>
                <a:r>
                  <a:rPr lang="en-US" altLang="zh-CN" sz="1200" kern="100" dirty="0"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、</a:t>
                </a:r>
                <a:r>
                  <a:rPr lang="zh-CN" altLang="en-US" sz="120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ea"/>
                  </a:rPr>
                  <a:t>长电</a:t>
                </a:r>
                <a:r>
                  <a:rPr sz="120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ea"/>
                  </a:rPr>
                  <a:t>C轮</a:t>
                </a:r>
                <a:r>
                  <a:rPr lang="zh-CN" sz="120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ea"/>
                  </a:rPr>
                  <a:t>投资</a:t>
                </a:r>
                <a:endParaRPr sz="120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endParaRPr>
              </a:p>
              <a:p>
                <a:pPr marL="206375" lvl="0" indent="-17145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sz="120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ea"/>
                  </a:rPr>
                  <a:t>发布3款</a:t>
                </a:r>
                <a:r>
                  <a:rPr lang="zh-CN" sz="120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ea"/>
                  </a:rPr>
                  <a:t>芯片</a:t>
                </a:r>
                <a:endParaRPr sz="120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endParaRPr>
              </a:p>
              <a:p>
                <a:pPr marL="206375" lvl="0" indent="-17145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sz="120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ea"/>
                  </a:rPr>
                  <a:t>国家级专精特新小巨人</a:t>
                </a:r>
                <a:endParaRPr sz="120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endParaRPr>
              </a:p>
            </p:txBody>
          </p:sp>
          <p:cxnSp>
            <p:nvCxnSpPr>
              <p:cNvPr id="112" name="直接连接符 111"/>
              <p:cNvCxnSpPr/>
              <p:nvPr>
                <p:custDataLst>
                  <p:tags r:id="rId35"/>
                </p:custDataLst>
              </p:nvPr>
            </p:nvCxnSpPr>
            <p:spPr>
              <a:xfrm flipH="1">
                <a:off x="15096" y="1961"/>
                <a:ext cx="15" cy="2611"/>
              </a:xfrm>
              <a:prstGeom prst="line">
                <a:avLst/>
              </a:prstGeom>
              <a:ln w="12700" cmpd="dbl">
                <a:solidFill>
                  <a:srgbClr val="606B79">
                    <a:alpha val="34000"/>
                  </a:srgb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p:sp>
        <p:nvSpPr>
          <p:cNvPr id="128" name="椭圆 127"/>
          <p:cNvSpPr/>
          <p:nvPr>
            <p:custDataLst>
              <p:tags r:id="rId36"/>
            </p:custDataLst>
          </p:nvPr>
        </p:nvSpPr>
        <p:spPr>
          <a:xfrm>
            <a:off x="8471535" y="2708910"/>
            <a:ext cx="300355" cy="300355"/>
          </a:xfrm>
          <a:prstGeom prst="ellipse">
            <a:avLst/>
          </a:prstGeom>
          <a:solidFill>
            <a:srgbClr val="1F74AD"/>
          </a:solidFill>
          <a:ln>
            <a:noFill/>
          </a:ln>
          <a:effectLst>
            <a:outerShdw blurRad="50800" dist="38100" dir="2700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椭圆 128"/>
          <p:cNvSpPr/>
          <p:nvPr>
            <p:custDataLst>
              <p:tags r:id="rId37"/>
            </p:custDataLst>
          </p:nvPr>
        </p:nvSpPr>
        <p:spPr>
          <a:xfrm>
            <a:off x="10219055" y="2408555"/>
            <a:ext cx="300355" cy="300355"/>
          </a:xfrm>
          <a:prstGeom prst="ellipse">
            <a:avLst/>
          </a:prstGeom>
          <a:solidFill>
            <a:srgbClr val="1F74AD"/>
          </a:solidFill>
          <a:ln>
            <a:noFill/>
          </a:ln>
          <a:effectLst>
            <a:outerShdw blurRad="50800" dist="38100" dir="2700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Content Placeholder 2"/>
          <p:cNvSpPr txBox="1"/>
          <p:nvPr>
            <p:custDataLst>
              <p:tags r:id="rId38"/>
            </p:custDataLst>
          </p:nvPr>
        </p:nvSpPr>
        <p:spPr>
          <a:xfrm>
            <a:off x="4495165" y="2283460"/>
            <a:ext cx="1394460" cy="52768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0000" rIns="90000" bIns="46800"/>
          <a:lstStyle/>
          <a:p>
            <a:pPr marL="206375" lvl="0" indent="-1714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sz="120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发布</a:t>
            </a:r>
            <a:r>
              <a:rPr sz="120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3款</a:t>
            </a:r>
            <a:r>
              <a:rPr lang="zh-CN" sz="120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芯片</a:t>
            </a:r>
            <a:endParaRPr lang="en-US" sz="1200" dirty="0">
              <a:solidFill>
                <a:schemeClr val="tx1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+mn-ea"/>
            </a:endParaRPr>
          </a:p>
          <a:p>
            <a:pPr marL="206375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sz="120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进入</a:t>
            </a:r>
            <a:r>
              <a:rPr sz="120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汽车、</a:t>
            </a:r>
            <a:endParaRPr sz="1200">
              <a:solidFill>
                <a:schemeClr val="tx1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+mn-ea"/>
            </a:endParaRPr>
          </a:p>
          <a:p>
            <a:pPr marL="34925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sz="120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  </a:t>
            </a:r>
            <a:r>
              <a:rPr sz="120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光伏产业</a:t>
            </a:r>
            <a:endParaRPr lang="zh-CN" altLang="en-US" sz="1200" dirty="0">
              <a:solidFill>
                <a:schemeClr val="tx1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+mn-ea"/>
            </a:endParaRPr>
          </a:p>
          <a:p>
            <a:pPr marL="206375" lvl="0" indent="-1714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zh-CN" altLang="en-US" sz="1200" dirty="0">
              <a:solidFill>
                <a:schemeClr val="tx1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+mn-ea"/>
            </a:endParaRPr>
          </a:p>
        </p:txBody>
      </p:sp>
      <p:sp>
        <p:nvSpPr>
          <p:cNvPr id="131" name="Content Placeholder 2"/>
          <p:cNvSpPr txBox="1"/>
          <p:nvPr>
            <p:custDataLst>
              <p:tags r:id="rId39"/>
            </p:custDataLst>
          </p:nvPr>
        </p:nvSpPr>
        <p:spPr>
          <a:xfrm>
            <a:off x="5942965" y="2011045"/>
            <a:ext cx="1062355" cy="52768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0000" rIns="90000" bIns="46800"/>
          <a:lstStyle/>
          <a:p>
            <a:pPr marL="206375" lvl="0" indent="-1714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sz="1200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芯片突破</a:t>
            </a:r>
            <a:r>
              <a:rPr lang="en-US" sz="1200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10</a:t>
            </a:r>
            <a:r>
              <a:rPr sz="1200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00万</a:t>
            </a:r>
            <a:r>
              <a:rPr lang="zh-CN" sz="1200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颗</a:t>
            </a:r>
            <a:endParaRPr lang="en-US" sz="1200" dirty="0">
              <a:solidFill>
                <a:schemeClr val="tx1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+mn-ea"/>
            </a:endParaRPr>
          </a:p>
          <a:p>
            <a:pPr marL="206375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收购核心算法团队</a:t>
            </a:r>
            <a:endParaRPr lang="zh-CN" altLang="en-US" sz="1200" dirty="0">
              <a:solidFill>
                <a:schemeClr val="tx1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+mn-ea"/>
            </a:endParaRPr>
          </a:p>
          <a:p>
            <a:pPr marL="206375" lvl="0" indent="-1714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zh-CN" altLang="en-US" sz="1200" dirty="0">
              <a:solidFill>
                <a:schemeClr val="tx1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+mn-ea"/>
            </a:endParaRPr>
          </a:p>
        </p:txBody>
      </p:sp>
      <p:sp>
        <p:nvSpPr>
          <p:cNvPr id="132" name="Content Placeholder 2"/>
          <p:cNvSpPr txBox="1"/>
          <p:nvPr>
            <p:custDataLst>
              <p:tags r:id="rId40"/>
            </p:custDataLst>
          </p:nvPr>
        </p:nvSpPr>
        <p:spPr>
          <a:xfrm>
            <a:off x="10282499" y="1210310"/>
            <a:ext cx="1825411" cy="12623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0000" rIns="90000" bIns="46800"/>
          <a:lstStyle/>
          <a:p>
            <a:pPr marL="206375" lvl="0" indent="-1714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发布</a:t>
            </a:r>
            <a:r>
              <a:rPr lang="en-US" altLang="zh-CN" sz="1200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3</a:t>
            </a:r>
            <a:r>
              <a:rPr lang="zh-CN" altLang="en-US" sz="1200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款芯片</a:t>
            </a:r>
            <a:endParaRPr lang="zh-CN" altLang="en-US" sz="1200" dirty="0">
              <a:solidFill>
                <a:schemeClr val="tx1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+mn-ea"/>
            </a:endParaRPr>
          </a:p>
          <a:p>
            <a:pPr marL="206375" lvl="0" indent="-1714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进入整车优选目录</a:t>
            </a:r>
            <a:endParaRPr sz="1200" dirty="0">
              <a:solidFill>
                <a:schemeClr val="tx1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+mn-ea"/>
            </a:endParaRPr>
          </a:p>
          <a:p>
            <a:pPr marL="206375" lvl="0" indent="-1714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sz="1200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芯片突破</a:t>
            </a:r>
            <a:r>
              <a:rPr lang="en-US" altLang="zh-CN" sz="1200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6000</a:t>
            </a:r>
            <a:r>
              <a:rPr lang="zh-CN" altLang="en-US" sz="1200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万颗</a:t>
            </a:r>
            <a:endParaRPr lang="zh-CN" altLang="en-US" sz="1200" dirty="0">
              <a:solidFill>
                <a:schemeClr val="tx1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04282" y="119398"/>
            <a:ext cx="10800080" cy="54292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产品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--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Roadmap</a:t>
            </a:r>
            <a:endParaRPr lang="en-US" altLang="zh-CN" sz="2400" dirty="0">
              <a:solidFill>
                <a:schemeClr val="tx1"/>
              </a:solidFill>
              <a:latin typeface="+mn-ea"/>
              <a:ea typeface="+mn-ea"/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50376" y="593677"/>
            <a:ext cx="11014423" cy="6217270"/>
            <a:chOff x="1171" y="1745"/>
            <a:chExt cx="16189" cy="8691"/>
          </a:xfrm>
        </p:grpSpPr>
        <p:pic>
          <p:nvPicPr>
            <p:cNvPr id="4" name="图片 3"/>
            <p:cNvPicPr/>
            <p:nvPr>
              <p:custDataLst>
                <p:tags r:id="rId2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1171" y="1745"/>
              <a:ext cx="16189" cy="8691"/>
            </a:xfrm>
            <a:prstGeom prst="rect">
              <a:avLst/>
            </a:prstGeom>
            <a:ln>
              <a:noFill/>
            </a:ln>
          </p:spPr>
        </p:pic>
        <p:sp>
          <p:nvSpPr>
            <p:cNvPr id="5" name="圆角矩形 4"/>
            <p:cNvSpPr/>
            <p:nvPr/>
          </p:nvSpPr>
          <p:spPr>
            <a:xfrm>
              <a:off x="9535" y="8876"/>
              <a:ext cx="5752" cy="642"/>
            </a:xfrm>
            <a:prstGeom prst="roundRect">
              <a:avLst/>
            </a:prstGeom>
            <a:gradFill>
              <a:gsLst>
                <a:gs pos="0">
                  <a:schemeClr val="accent1">
                    <a:alpha val="50000"/>
                  </a:schemeClr>
                </a:gs>
                <a:gs pos="96000">
                  <a:schemeClr val="bg1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rgbClr val="FF0000"/>
                  </a:solidFill>
                  <a:latin typeface="+mn-ea"/>
                </a:rPr>
                <a:t>VS : ELMOS, INFINEON</a:t>
              </a:r>
              <a:endParaRPr lang="en-US" altLang="zh-CN" sz="16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6" name="圆角矩形 1"/>
            <p:cNvSpPr/>
            <p:nvPr/>
          </p:nvSpPr>
          <p:spPr>
            <a:xfrm>
              <a:off x="10616" y="6263"/>
              <a:ext cx="5752" cy="642"/>
            </a:xfrm>
            <a:prstGeom prst="roundRect">
              <a:avLst/>
            </a:prstGeom>
            <a:gradFill>
              <a:gsLst>
                <a:gs pos="0">
                  <a:schemeClr val="accent1">
                    <a:alpha val="50000"/>
                  </a:schemeClr>
                </a:gs>
                <a:gs pos="96000">
                  <a:schemeClr val="bg1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zh-CN" sz="1600" dirty="0">
                  <a:solidFill>
                    <a:srgbClr val="FF0000"/>
                  </a:solidFill>
                </a:rPr>
                <a:t>VS : </a:t>
              </a:r>
              <a:r>
                <a:rPr lang="en-US" sz="1600" dirty="0">
                  <a:solidFill>
                    <a:srgbClr val="FF0000"/>
                  </a:solidFill>
                  <a:latin typeface="+mn-ea"/>
                </a:rPr>
                <a:t>TI C2000</a:t>
              </a:r>
              <a:r>
                <a:rPr lang="zh-CN" altLang="en-US" sz="1600" dirty="0">
                  <a:solidFill>
                    <a:srgbClr val="FF0000"/>
                  </a:solidFill>
                </a:rPr>
                <a:t>系列</a:t>
              </a:r>
              <a:endParaRPr lang="zh-CN" altLang="en-US" sz="1600" dirty="0">
                <a:solidFill>
                  <a:srgbClr val="FF0000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4716" y="2350"/>
              <a:ext cx="12299" cy="3815"/>
            </a:xfrm>
            <a:prstGeom prst="rect">
              <a:avLst/>
            </a:prstGeom>
            <a:ln w="28575" cmpd="sng">
              <a:solidFill>
                <a:schemeClr val="accent3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4717" y="7275"/>
              <a:ext cx="12300" cy="1488"/>
            </a:xfrm>
            <a:prstGeom prst="rect">
              <a:avLst/>
            </a:prstGeom>
            <a:ln w="28575" cmpd="sng">
              <a:solidFill>
                <a:srgbClr val="00B0F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152" y="184246"/>
            <a:ext cx="9614179" cy="6601280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600" y="170598"/>
            <a:ext cx="9630436" cy="6630648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>
            <p:custDataLst>
              <p:tags r:id="rId1"/>
            </p:custDataLst>
          </p:nvPr>
        </p:nvSpPr>
        <p:spPr>
          <a:xfrm>
            <a:off x="315595" y="244475"/>
            <a:ext cx="2540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charset="-122"/>
                <a:ea typeface="思源黑体" panose="020B0500000000000000" charset="-122"/>
              </a:rPr>
              <a:t>典型应用市场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思源黑体" panose="020B0500000000000000" charset="-122"/>
              <a:ea typeface="思源黑体" panose="020B0500000000000000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76250" y="1252855"/>
            <a:ext cx="11008360" cy="4990465"/>
            <a:chOff x="632" y="1838"/>
            <a:chExt cx="17336" cy="7859"/>
          </a:xfrm>
        </p:grpSpPr>
        <p:sp>
          <p:nvSpPr>
            <p:cNvPr id="3" name="Rectangle: Rounded Corners 3"/>
            <p:cNvSpPr/>
            <p:nvPr>
              <p:custDataLst>
                <p:tags r:id="rId2"/>
              </p:custDataLst>
            </p:nvPr>
          </p:nvSpPr>
          <p:spPr>
            <a:xfrm>
              <a:off x="666" y="3256"/>
              <a:ext cx="17290" cy="6441"/>
            </a:xfrm>
            <a:prstGeom prst="roundRect">
              <a:avLst>
                <a:gd name="adj" fmla="val 2502"/>
              </a:avLst>
            </a:prstGeom>
            <a:solidFill>
              <a:schemeClr val="bg1"/>
            </a:solidFill>
            <a:ln>
              <a:noFill/>
            </a:ln>
            <a:effectLst>
              <a:outerShdw blurRad="152400" dist="50800" dir="5400000" sx="101000" sy="101000" algn="t" rotWithShape="0">
                <a:prstClr val="black">
                  <a:alpha val="9000"/>
                </a:prstClr>
              </a:outerShdw>
              <a:reflection blurRad="6350" stA="50000" endA="300" endPos="8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46075" tIns="73037" rIns="146075" bIns="73037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2875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7" name="图片 6" descr="摄图网_401054351_云端的高铁（企业商用）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 cstate="screen"/>
            <a:srcRect/>
            <a:stretch>
              <a:fillRect/>
            </a:stretch>
          </p:blipFill>
          <p:spPr>
            <a:xfrm>
              <a:off x="12386" y="1854"/>
              <a:ext cx="2761" cy="2768"/>
            </a:xfrm>
            <a:prstGeom prst="rect">
              <a:avLst/>
            </a:prstGeom>
          </p:spPr>
        </p:pic>
        <p:sp>
          <p:nvSpPr>
            <p:cNvPr id="50" name="ïŝļïḑê"/>
            <p:cNvSpPr/>
            <p:nvPr>
              <p:custDataLst>
                <p:tags r:id="rId5"/>
              </p:custDataLst>
            </p:nvPr>
          </p:nvSpPr>
          <p:spPr bwMode="auto">
            <a:xfrm>
              <a:off x="632" y="4871"/>
              <a:ext cx="2939" cy="4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43775" tIns="74763" rIns="143775" bIns="74763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indent="0" algn="l" fontAlgn="auto">
                <a:lnSpc>
                  <a:spcPct val="150000"/>
                </a:lnSpc>
                <a:spcAft>
                  <a:spcPts val="600"/>
                </a:spcAft>
              </a:pPr>
              <a:r>
                <a:rPr lang="en-US" altLang="zh-CN" sz="1100" b="1" spc="100" dirty="0" err="1">
                  <a:solidFill>
                    <a:schemeClr val="tx1"/>
                  </a:solidFill>
                  <a:uFillTx/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电机控制</a:t>
              </a:r>
              <a:r>
                <a:rPr lang="zh-CN" altLang="en-US" sz="1100" b="1" spc="100" dirty="0">
                  <a:solidFill>
                    <a:schemeClr val="tx1"/>
                  </a:solidFill>
                  <a:uFillTx/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解决方案</a:t>
              </a:r>
              <a:endParaRPr lang="en-US" altLang="zh-CN" sz="1100" b="1" spc="10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  <a:p>
              <a:pPr marL="100965" indent="-100965" algn="l" fontAlgn="auto">
                <a:lnSpc>
                  <a:spcPct val="14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>
                  <a:solidFill>
                    <a:schemeClr val="tx1"/>
                  </a:solidFill>
                  <a:uFillTx/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优化的场定向控制</a:t>
              </a:r>
              <a:endParaRPr lang="en-US" altLang="zh-CN" sz="1100" dirty="0">
                <a:solidFill>
                  <a:schemeClr val="tx1"/>
                </a:solidFill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  <a:p>
              <a:pPr marL="100965" indent="-100965" algn="l" fontAlgn="auto">
                <a:lnSpc>
                  <a:spcPct val="14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spc="-1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全面转子位置反馈：霍尔、旋转变压器、增量/绝对编码器、无传感器观测器</a:t>
              </a:r>
              <a:endParaRPr lang="en-US" altLang="zh-CN" sz="1100" spc="-100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  <a:p>
              <a:pPr marL="100965" indent="-100965" algn="l" fontAlgn="auto">
                <a:lnSpc>
                  <a:spcPct val="14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spc="-1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灵活的实时连接：EtherCAT、CAN-FD、CAN、FSI、SPI、UART、I2C</a:t>
              </a:r>
              <a:endParaRPr lang="en-US" altLang="zh-CN" sz="1100" spc="-100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  <a:p>
              <a:pPr marL="100965" indent="-100965" algn="l" fontAlgn="auto">
                <a:lnSpc>
                  <a:spcPct val="14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>
                  <a:uFillTx/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IEC61508 和 IEC60730 功能安全支持</a:t>
              </a:r>
              <a:endParaRPr lang="en-US" altLang="zh-CN" sz="1100" dirty="0"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</p:txBody>
        </p:sp>
        <p:cxnSp>
          <p:nvCxnSpPr>
            <p:cNvPr id="37" name="直接连接符 36"/>
            <p:cNvCxnSpPr/>
            <p:nvPr>
              <p:custDataLst>
                <p:tags r:id="rId6"/>
              </p:custDataLst>
            </p:nvPr>
          </p:nvCxnSpPr>
          <p:spPr>
            <a:xfrm>
              <a:off x="3609" y="5127"/>
              <a:ext cx="0" cy="428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ïŝļïḑê"/>
            <p:cNvSpPr/>
            <p:nvPr>
              <p:custDataLst>
                <p:tags r:id="rId7"/>
              </p:custDataLst>
            </p:nvPr>
          </p:nvSpPr>
          <p:spPr bwMode="auto">
            <a:xfrm>
              <a:off x="3554" y="4871"/>
              <a:ext cx="2734" cy="4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43775" tIns="74763" rIns="143775" bIns="74763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indent="0" algn="l" fontAlgn="auto">
                <a:lnSpc>
                  <a:spcPct val="150000"/>
                </a:lnSpc>
                <a:spcAft>
                  <a:spcPts val="600"/>
                </a:spcAft>
              </a:pPr>
              <a:r>
                <a:rPr lang="en-US" altLang="zh-CN" sz="1100" b="1" spc="100" dirty="0" err="1">
                  <a:solidFill>
                    <a:schemeClr val="tx1"/>
                  </a:solidFill>
                  <a:uFillTx/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新能源电力解决方案</a:t>
              </a:r>
              <a:endParaRPr lang="en-US" altLang="zh-CN" sz="1100" b="1" spc="-100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  <a:p>
              <a:pPr marL="100965" indent="-100965" algn="l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100" spc="-1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可释放 GaN/SiC 潜力的 150ps 高分辨率 PWM</a:t>
              </a:r>
              <a:endParaRPr lang="en-US" altLang="zh-CN" sz="1100" spc="-100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  <a:p>
              <a:pPr marL="100965" indent="-100965" algn="l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100" spc="-1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用于简化保护方案的可配置逻辑块 (CLB)</a:t>
              </a:r>
              <a:endParaRPr lang="en-US" altLang="zh-CN" sz="1100" spc="-100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  <a:p>
              <a:pPr marL="100965" indent="-100965" algn="l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100" spc="-1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进芯电子自主开发的光伏逆变器及MPPT核心算法，可快速应用产品</a:t>
              </a:r>
              <a:endParaRPr lang="en-US" altLang="zh-CN" sz="1100" spc="-100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</p:txBody>
        </p:sp>
        <p:cxnSp>
          <p:nvCxnSpPr>
            <p:cNvPr id="29" name="直接连接符 28"/>
            <p:cNvCxnSpPr/>
            <p:nvPr>
              <p:custDataLst>
                <p:tags r:id="rId8"/>
              </p:custDataLst>
            </p:nvPr>
          </p:nvCxnSpPr>
          <p:spPr>
            <a:xfrm>
              <a:off x="6288" y="5125"/>
              <a:ext cx="0" cy="428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9"/>
              </p:custDataLst>
            </p:nvPr>
          </p:nvCxnSpPr>
          <p:spPr>
            <a:xfrm>
              <a:off x="9401" y="5126"/>
              <a:ext cx="0" cy="428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10"/>
              </p:custDataLst>
            </p:nvPr>
          </p:nvCxnSpPr>
          <p:spPr>
            <a:xfrm>
              <a:off x="12424" y="5126"/>
              <a:ext cx="0" cy="428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>
              <p:custDataLst>
                <p:tags r:id="rId11"/>
              </p:custDataLst>
            </p:nvPr>
          </p:nvCxnSpPr>
          <p:spPr>
            <a:xfrm>
              <a:off x="15147" y="5126"/>
              <a:ext cx="0" cy="4289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ïŝļïḑê"/>
            <p:cNvSpPr/>
            <p:nvPr>
              <p:custDataLst>
                <p:tags r:id="rId12"/>
              </p:custDataLst>
            </p:nvPr>
          </p:nvSpPr>
          <p:spPr bwMode="auto">
            <a:xfrm>
              <a:off x="6349" y="4871"/>
              <a:ext cx="3010" cy="4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43775" tIns="74763" rIns="143775" bIns="74763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indent="0" algn="l" fontAlgn="auto">
                <a:lnSpc>
                  <a:spcPct val="150000"/>
                </a:lnSpc>
                <a:spcAft>
                  <a:spcPts val="600"/>
                </a:spcAft>
              </a:pPr>
              <a:r>
                <a:rPr lang="zh-CN" altLang="en-US" sz="1100" b="1" spc="100" dirty="0">
                  <a:solidFill>
                    <a:schemeClr val="tx1"/>
                  </a:solidFill>
                  <a:uFillTx/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高可靠性</a:t>
              </a:r>
              <a:r>
                <a:rPr lang="en-US" altLang="zh-CN" sz="1100" b="1" spc="100" dirty="0" err="1">
                  <a:solidFill>
                    <a:schemeClr val="tx1"/>
                  </a:solidFill>
                  <a:uFillTx/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电源解决方案</a:t>
              </a:r>
              <a:endParaRPr lang="en-US" altLang="zh-CN" sz="1100" b="1" spc="100" dirty="0">
                <a:solidFill>
                  <a:schemeClr val="tx1"/>
                </a:solidFill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  <a:p>
              <a:pPr marL="100965" indent="-100965" algn="l" fontAlgn="auto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100" spc="-1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精确控制（150ps 高分辨率 PWM）复杂的电源拓扑，有助于实现更大的功率容量，满足 GAN/SiC 的需求</a:t>
              </a:r>
              <a:endParaRPr lang="en-US" altLang="zh-CN" sz="1100" spc="-100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  <a:p>
              <a:pPr marL="100965" indent="-100965" algn="l" fontAlgn="auto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100" spc="-1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可通过实时固件升级实现安全性</a:t>
              </a:r>
              <a:endParaRPr lang="en-US" altLang="zh-CN" sz="1100" spc="-100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  <a:p>
              <a:pPr marL="100965" indent="-100965" algn="l" fontAlgn="auto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100" spc="-1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效率、性能、对数字电源应用中各种简单和复杂电源拓扑的支持</a:t>
              </a:r>
              <a:endParaRPr lang="en-US" altLang="zh-CN" sz="1100" spc="-100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</p:txBody>
        </p:sp>
        <p:sp>
          <p:nvSpPr>
            <p:cNvPr id="35" name="ïŝļïḑê"/>
            <p:cNvSpPr/>
            <p:nvPr>
              <p:custDataLst>
                <p:tags r:id="rId13"/>
              </p:custDataLst>
            </p:nvPr>
          </p:nvSpPr>
          <p:spPr bwMode="auto">
            <a:xfrm>
              <a:off x="9403" y="4871"/>
              <a:ext cx="2977" cy="4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43775" tIns="74763" rIns="143775" bIns="74763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indent="0" algn="l" fontAlgn="auto">
                <a:lnSpc>
                  <a:spcPct val="150000"/>
                </a:lnSpc>
                <a:spcAft>
                  <a:spcPts val="600"/>
                </a:spcAft>
              </a:pPr>
              <a:r>
                <a:rPr lang="en-US" altLang="zh-CN" sz="1100" b="1" spc="100" dirty="0" err="1">
                  <a:solidFill>
                    <a:schemeClr val="tx1"/>
                  </a:solidFill>
                  <a:uFillTx/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新能源汽车解决方案</a:t>
              </a:r>
              <a:endParaRPr lang="en-US" altLang="zh-CN" sz="1100" b="1" spc="100" dirty="0">
                <a:solidFill>
                  <a:schemeClr val="tx1"/>
                </a:solidFill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  <a:p>
              <a:pPr marL="100965" indent="-100965" algn="l" fontAlgn="auto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100" spc="-1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32 位DSP内核、先进PWM</a:t>
              </a:r>
              <a:r>
                <a:rPr lang="zh-CN" altLang="en-US" sz="1100" spc="-1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、</a:t>
              </a:r>
              <a:r>
                <a:rPr lang="en-US" altLang="zh-CN" sz="1100" spc="-1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集成式快速ADC和窗口比较器独特架构</a:t>
              </a:r>
              <a:endParaRPr lang="en-US" altLang="zh-CN" sz="1100" spc="-100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  <a:p>
              <a:pPr marL="100965" indent="-100965" algn="l" fontAlgn="auto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100" spc="-1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驾驶性能更佳</a:t>
              </a:r>
              <a:endParaRPr lang="en-US" altLang="zh-CN" sz="1100" spc="-100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  <a:p>
              <a:pPr marL="100965" indent="-100965" algn="l" fontAlgn="auto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100" spc="-1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充电速度更快</a:t>
              </a:r>
              <a:endParaRPr lang="en-US" altLang="zh-CN" sz="1100" spc="-100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  <a:p>
              <a:pPr marL="100965" indent="-100965" algn="l" fontAlgn="auto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100" spc="-1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功率密度更高</a:t>
              </a:r>
              <a:endParaRPr lang="en-US" altLang="zh-CN" sz="1100" spc="-100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  <a:p>
              <a:pPr marL="100965" indent="-100965" algn="l" fontAlgn="auto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100" dirty="0">
                  <a:uFillTx/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IATF16949体系支持</a:t>
              </a:r>
              <a:endParaRPr lang="en-US" altLang="zh-CN" sz="1100" dirty="0"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  <a:p>
              <a:pPr marL="100965" indent="-100965" algn="l" fontAlgn="auto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100" dirty="0">
                  <a:uFillTx/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AEC-Q100验证</a:t>
              </a:r>
              <a:endParaRPr lang="en-US" altLang="zh-CN" sz="1100" dirty="0"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</p:txBody>
        </p:sp>
        <p:sp>
          <p:nvSpPr>
            <p:cNvPr id="44" name="ïŝļïḑê"/>
            <p:cNvSpPr/>
            <p:nvPr>
              <p:custDataLst>
                <p:tags r:id="rId14"/>
              </p:custDataLst>
            </p:nvPr>
          </p:nvSpPr>
          <p:spPr bwMode="auto">
            <a:xfrm>
              <a:off x="12424" y="4871"/>
              <a:ext cx="2679" cy="4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43775" tIns="74763" rIns="143775" bIns="74763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indent="0" algn="l" fontAlgn="auto">
                <a:lnSpc>
                  <a:spcPct val="150000"/>
                </a:lnSpc>
                <a:spcAft>
                  <a:spcPts val="600"/>
                </a:spcAft>
              </a:pPr>
              <a:r>
                <a:rPr lang="en-US" altLang="zh-CN" sz="1100" b="1" spc="100" dirty="0" err="1">
                  <a:solidFill>
                    <a:schemeClr val="tx1"/>
                  </a:solidFill>
                  <a:uFillTx/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电源解决方案</a:t>
              </a:r>
              <a:endParaRPr lang="en-US" altLang="zh-CN" sz="1100" b="1" spc="100" dirty="0">
                <a:solidFill>
                  <a:schemeClr val="tx1"/>
                </a:solidFill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  <a:p>
              <a:pPr marL="100965" indent="-100965" algn="l" fontAlgn="auto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100" spc="-1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高功效和快速瞬态响应（4MSPS ADC） </a:t>
              </a:r>
              <a:endParaRPr lang="en-US" altLang="zh-CN" sz="1100" spc="-100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  <a:p>
              <a:pPr marL="100965" indent="-100965" algn="l" fontAlgn="auto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100" spc="-1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针对复杂的时间关键型计算和算法的快速处理</a:t>
              </a:r>
              <a:endParaRPr lang="en-US" altLang="zh-CN" sz="1100" spc="-100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  <a:p>
              <a:pPr marL="100965" indent="-100965" algn="l" fontAlgn="auto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100" spc="-1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多种电流检测技术和隔离架构</a:t>
              </a:r>
              <a:endParaRPr lang="en-US" altLang="zh-CN" sz="1100" spc="-100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  <a:p>
              <a:pPr marL="100965" indent="-100965" algn="l" fontAlgn="auto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100" spc="-1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可通过实时固件升级实现安全性</a:t>
              </a:r>
              <a:endParaRPr lang="en-US" altLang="zh-CN" sz="1100" spc="-100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</p:txBody>
        </p:sp>
        <p:sp>
          <p:nvSpPr>
            <p:cNvPr id="46" name="ïŝļïḑê"/>
            <p:cNvSpPr/>
            <p:nvPr>
              <p:custDataLst>
                <p:tags r:id="rId15"/>
              </p:custDataLst>
            </p:nvPr>
          </p:nvSpPr>
          <p:spPr bwMode="auto">
            <a:xfrm>
              <a:off x="15147" y="4871"/>
              <a:ext cx="2755" cy="4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43775" tIns="74763" rIns="143775" bIns="74763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indent="0" algn="l" fontAlgn="auto">
                <a:lnSpc>
                  <a:spcPct val="150000"/>
                </a:lnSpc>
                <a:spcAft>
                  <a:spcPts val="600"/>
                </a:spcAft>
              </a:pPr>
              <a:r>
                <a:rPr lang="en-US" altLang="zh-CN" sz="1100" b="1" spc="100" dirty="0" err="1">
                  <a:solidFill>
                    <a:schemeClr val="tx1"/>
                  </a:solidFill>
                  <a:uFillTx/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消费电子</a:t>
              </a:r>
              <a:r>
                <a:rPr lang="zh-CN" altLang="en-US" sz="1100" b="1" spc="100" dirty="0">
                  <a:solidFill>
                    <a:schemeClr val="tx1"/>
                  </a:solidFill>
                  <a:uFillTx/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解决方案</a:t>
              </a:r>
              <a:endParaRPr lang="en-US" altLang="zh-CN" sz="1100" b="1" spc="100" dirty="0">
                <a:solidFill>
                  <a:schemeClr val="tx1"/>
                </a:solidFill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  <a:p>
              <a:pPr indent="0" algn="l" fontAlgn="auto">
                <a:lnSpc>
                  <a:spcPct val="150000"/>
                </a:lnSpc>
                <a:spcBef>
                  <a:spcPts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100" spc="-1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基于先进的软硬件平台， 提供高效节能，绿色健康的参考方案</a:t>
              </a:r>
              <a:endParaRPr lang="en-US" altLang="zh-CN" sz="1100" spc="-100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</p:txBody>
        </p:sp>
        <p:pic>
          <p:nvPicPr>
            <p:cNvPr id="10" name="Picture 7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screen"/>
            <a:srcRect/>
            <a:stretch>
              <a:fillRect/>
            </a:stretch>
          </p:blipFill>
          <p:spPr bwMode="auto">
            <a:xfrm>
              <a:off x="6256" y="1854"/>
              <a:ext cx="3163" cy="2747"/>
            </a:xfrm>
            <a:prstGeom prst="rect">
              <a:avLst/>
            </a:prstGeom>
            <a:solidFill>
              <a:srgbClr val="037DD3">
                <a:alpha val="73000"/>
              </a:srgb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</p:pic>
        <p:pic>
          <p:nvPicPr>
            <p:cNvPr id="5" name="图片 4" descr="摄图网_600190103_精密零件制造（企业商用）"/>
            <p:cNvPicPr>
              <a:picLocks noChangeAspect="1"/>
            </p:cNvPicPr>
            <p:nvPr/>
          </p:nvPicPr>
          <p:blipFill>
            <a:blip r:embed="rId18" cstate="screen"/>
            <a:srcRect/>
            <a:stretch>
              <a:fillRect/>
            </a:stretch>
          </p:blipFill>
          <p:spPr>
            <a:xfrm>
              <a:off x="666" y="1870"/>
              <a:ext cx="2927" cy="2731"/>
            </a:xfrm>
            <a:prstGeom prst="rect">
              <a:avLst/>
            </a:prstGeom>
          </p:spPr>
        </p:pic>
        <p:pic>
          <p:nvPicPr>
            <p:cNvPr id="9" name="图片 8" descr="摄图网_600027374_绿色新能源（企业商用）"/>
            <p:cNvPicPr>
              <a:picLocks noChangeAspect="1"/>
            </p:cNvPicPr>
            <p:nvPr/>
          </p:nvPicPr>
          <p:blipFill>
            <a:blip r:embed="rId19" cstate="screen"/>
            <a:srcRect/>
            <a:stretch>
              <a:fillRect/>
            </a:stretch>
          </p:blipFill>
          <p:spPr>
            <a:xfrm>
              <a:off x="3592" y="1853"/>
              <a:ext cx="2742" cy="2748"/>
            </a:xfrm>
            <a:prstGeom prst="rect">
              <a:avLst/>
            </a:prstGeom>
          </p:spPr>
        </p:pic>
        <p:pic>
          <p:nvPicPr>
            <p:cNvPr id="12" name="图片 11" descr="摄图网_600288129_充电的汽车（企业商用）"/>
            <p:cNvPicPr>
              <a:picLocks noChangeAspect="1"/>
            </p:cNvPicPr>
            <p:nvPr/>
          </p:nvPicPr>
          <p:blipFill>
            <a:blip r:embed="rId20" cstate="screen"/>
            <a:srcRect/>
            <a:stretch>
              <a:fillRect/>
            </a:stretch>
          </p:blipFill>
          <p:spPr>
            <a:xfrm>
              <a:off x="9419" y="1870"/>
              <a:ext cx="3002" cy="2753"/>
            </a:xfrm>
            <a:prstGeom prst="rect">
              <a:avLst/>
            </a:prstGeom>
          </p:spPr>
        </p:pic>
        <p:pic>
          <p:nvPicPr>
            <p:cNvPr id="13" name="图片 12" descr="摄图网_600256814_智能家居客厅（企业商用）"/>
            <p:cNvPicPr>
              <a:picLocks noChangeAspect="1"/>
            </p:cNvPicPr>
            <p:nvPr/>
          </p:nvPicPr>
          <p:blipFill>
            <a:blip r:embed="rId21" cstate="screen"/>
            <a:srcRect/>
            <a:stretch>
              <a:fillRect/>
            </a:stretch>
          </p:blipFill>
          <p:spPr>
            <a:xfrm>
              <a:off x="15134" y="1838"/>
              <a:ext cx="2834" cy="2785"/>
            </a:xfrm>
            <a:prstGeom prst="rect">
              <a:avLst/>
            </a:prstGeom>
          </p:spPr>
        </p:pic>
        <p:sp>
          <p:nvSpPr>
            <p:cNvPr id="11" name="矩形 10"/>
            <p:cNvSpPr/>
            <p:nvPr>
              <p:custDataLst>
                <p:tags r:id="rId22"/>
              </p:custDataLst>
            </p:nvPr>
          </p:nvSpPr>
          <p:spPr>
            <a:xfrm>
              <a:off x="683" y="1870"/>
              <a:ext cx="17285" cy="2770"/>
            </a:xfrm>
            <a:prstGeom prst="rect">
              <a:avLst/>
            </a:prstGeom>
            <a:gradFill>
              <a:gsLst>
                <a:gs pos="0">
                  <a:srgbClr val="1F74AD">
                    <a:alpha val="80000"/>
                  </a:srgbClr>
                </a:gs>
                <a:gs pos="83000">
                  <a:srgbClr val="0070C0">
                    <a:alpha val="32000"/>
                  </a:srgbClr>
                </a:gs>
              </a:gsLst>
              <a:lin ang="162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思源黑体 Medium" panose="020B0600000000000000" charset="-122"/>
                <a:ea typeface="思源黑体 Medium" panose="020B0600000000000000" charset="-122"/>
              </a:endParaRPr>
            </a:p>
          </p:txBody>
        </p:sp>
        <p:sp>
          <p:nvSpPr>
            <p:cNvPr id="20" name="矩形 19"/>
            <p:cNvSpPr/>
            <p:nvPr>
              <p:custDataLst>
                <p:tags r:id="rId23"/>
              </p:custDataLst>
            </p:nvPr>
          </p:nvSpPr>
          <p:spPr>
            <a:xfrm>
              <a:off x="1244" y="2943"/>
              <a:ext cx="1770" cy="585"/>
            </a:xfrm>
            <a:prstGeom prst="rect">
              <a:avLst/>
            </a:prstGeom>
            <a:noFill/>
            <a:ln w="15875">
              <a:solidFill>
                <a:schemeClr val="bg1">
                  <a:alpha val="34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>
                  <a:latin typeface="思源黑体" panose="020B0500000000000000" charset="-122"/>
                  <a:ea typeface="思源黑体" panose="020B0500000000000000" charset="-122"/>
                </a:rPr>
                <a:t>工业驱动</a:t>
              </a:r>
              <a:endParaRPr lang="zh-CN" altLang="en-US" sz="1600" b="1">
                <a:latin typeface="思源黑体" panose="020B0500000000000000" charset="-122"/>
                <a:ea typeface="思源黑体" panose="020B0500000000000000" charset="-122"/>
              </a:endParaRPr>
            </a:p>
          </p:txBody>
        </p:sp>
        <p:sp>
          <p:nvSpPr>
            <p:cNvPr id="14" name="矩形 13"/>
            <p:cNvSpPr/>
            <p:nvPr>
              <p:custDataLst>
                <p:tags r:id="rId24"/>
              </p:custDataLst>
            </p:nvPr>
          </p:nvSpPr>
          <p:spPr>
            <a:xfrm>
              <a:off x="4078" y="2943"/>
              <a:ext cx="1770" cy="585"/>
            </a:xfrm>
            <a:prstGeom prst="rect">
              <a:avLst/>
            </a:prstGeom>
            <a:noFill/>
            <a:ln w="15875">
              <a:solidFill>
                <a:schemeClr val="bg1">
                  <a:alpha val="34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>
                  <a:latin typeface="思源黑体" panose="020B0500000000000000" charset="-122"/>
                  <a:ea typeface="思源黑体" panose="020B0500000000000000" charset="-122"/>
                </a:rPr>
                <a:t>光伏储能</a:t>
              </a:r>
              <a:endParaRPr lang="zh-CN" altLang="en-US" sz="1600" b="1">
                <a:latin typeface="思源黑体" panose="020B0500000000000000" charset="-122"/>
                <a:ea typeface="思源黑体" panose="020B0500000000000000" charset="-122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25"/>
              </p:custDataLst>
            </p:nvPr>
          </p:nvSpPr>
          <p:spPr>
            <a:xfrm>
              <a:off x="6952" y="2943"/>
              <a:ext cx="1770" cy="585"/>
            </a:xfrm>
            <a:prstGeom prst="rect">
              <a:avLst/>
            </a:prstGeom>
            <a:noFill/>
            <a:ln w="15875">
              <a:solidFill>
                <a:schemeClr val="bg1">
                  <a:alpha val="34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>
                  <a:latin typeface="思源黑体" panose="020B0500000000000000" charset="-122"/>
                  <a:ea typeface="思源黑体" panose="020B0500000000000000" charset="-122"/>
                </a:rPr>
                <a:t>数字电源</a:t>
              </a:r>
              <a:endParaRPr lang="zh-CN" altLang="en-US" sz="1600" b="1">
                <a:latin typeface="思源黑体" panose="020B0500000000000000" charset="-122"/>
                <a:ea typeface="思源黑体" panose="020B0500000000000000" charset="-122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26"/>
              </p:custDataLst>
            </p:nvPr>
          </p:nvSpPr>
          <p:spPr>
            <a:xfrm>
              <a:off x="10035" y="2943"/>
              <a:ext cx="1770" cy="585"/>
            </a:xfrm>
            <a:prstGeom prst="rect">
              <a:avLst/>
            </a:prstGeom>
            <a:noFill/>
            <a:ln w="15875">
              <a:solidFill>
                <a:schemeClr val="bg1">
                  <a:alpha val="34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>
                  <a:latin typeface="思源黑体" panose="020B0500000000000000" charset="-122"/>
                  <a:ea typeface="思源黑体" panose="020B0500000000000000" charset="-122"/>
                </a:rPr>
                <a:t>汽车电子</a:t>
              </a:r>
              <a:endParaRPr lang="zh-CN" altLang="en-US" sz="1600" b="1">
                <a:latin typeface="思源黑体" panose="020B0500000000000000" charset="-122"/>
                <a:ea typeface="思源黑体" panose="020B0500000000000000" charset="-122"/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27"/>
              </p:custDataLst>
            </p:nvPr>
          </p:nvSpPr>
          <p:spPr>
            <a:xfrm>
              <a:off x="12881" y="2943"/>
              <a:ext cx="1770" cy="585"/>
            </a:xfrm>
            <a:prstGeom prst="rect">
              <a:avLst/>
            </a:prstGeom>
            <a:noFill/>
            <a:ln w="15875">
              <a:solidFill>
                <a:schemeClr val="bg1">
                  <a:alpha val="34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>
                  <a:latin typeface="思源黑体" panose="020B0500000000000000" charset="-122"/>
                  <a:ea typeface="思源黑体" panose="020B0500000000000000" charset="-122"/>
                </a:rPr>
                <a:t>轨道交通</a:t>
              </a:r>
              <a:endParaRPr lang="zh-CN" altLang="en-US" sz="1600" b="1">
                <a:latin typeface="思源黑体" panose="020B0500000000000000" charset="-122"/>
                <a:ea typeface="思源黑体" panose="020B0500000000000000" charset="-122"/>
              </a:endParaRPr>
            </a:p>
          </p:txBody>
        </p:sp>
        <p:sp>
          <p:nvSpPr>
            <p:cNvPr id="18" name="矩形 17"/>
            <p:cNvSpPr/>
            <p:nvPr>
              <p:custDataLst>
                <p:tags r:id="rId28"/>
              </p:custDataLst>
            </p:nvPr>
          </p:nvSpPr>
          <p:spPr>
            <a:xfrm>
              <a:off x="15666" y="2943"/>
              <a:ext cx="1770" cy="585"/>
            </a:xfrm>
            <a:prstGeom prst="rect">
              <a:avLst/>
            </a:prstGeom>
            <a:noFill/>
            <a:ln w="15875">
              <a:solidFill>
                <a:schemeClr val="bg1">
                  <a:alpha val="34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>
                  <a:latin typeface="思源黑体" panose="020B0500000000000000" charset="-122"/>
                  <a:ea typeface="思源黑体" panose="020B0500000000000000" charset="-122"/>
                </a:rPr>
                <a:t>消费电子</a:t>
              </a:r>
              <a:endParaRPr lang="zh-CN" altLang="en-US" sz="1600" b="1">
                <a:latin typeface="思源黑体" panose="020B0500000000000000" charset="-122"/>
                <a:ea typeface="思源黑体" panose="020B0500000000000000" charset="-122"/>
              </a:endParaRPr>
            </a:p>
          </p:txBody>
        </p:sp>
      </p:grpSp>
    </p:spTree>
  </p:cSld>
  <p:clrMapOvr>
    <a:masterClrMapping/>
  </p:clrMapOvr>
  <p:transition spd="slow" advClick="0" advTm="0"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315594" y="244475"/>
            <a:ext cx="444146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</a:rPr>
              <a:t>新能源汽车典型应用场景</a:t>
            </a:r>
            <a:endParaRPr lang="zh-CN" altLang="en-US" sz="2800" b="1" dirty="0">
              <a:solidFill>
                <a:schemeClr val="tx1"/>
              </a:solidFill>
              <a:latin typeface="思源黑体" panose="020B0500000000000000" charset="-122"/>
              <a:ea typeface="思源黑体" panose="020B0500000000000000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586740" y="1605280"/>
            <a:ext cx="10767695" cy="4003675"/>
            <a:chOff x="999" y="2527"/>
            <a:chExt cx="16957" cy="6305"/>
          </a:xfrm>
        </p:grpSpPr>
        <p:grpSp>
          <p:nvGrpSpPr>
            <p:cNvPr id="11" name="组合 10"/>
            <p:cNvGrpSpPr/>
            <p:nvPr/>
          </p:nvGrpSpPr>
          <p:grpSpPr>
            <a:xfrm>
              <a:off x="999" y="2527"/>
              <a:ext cx="4965" cy="6229"/>
              <a:chOff x="594" y="2084"/>
              <a:chExt cx="4965" cy="6229"/>
            </a:xfrm>
          </p:grpSpPr>
          <p:sp>
            <p:nvSpPr>
              <p:cNvPr id="65" name="圆角矩形 64"/>
              <p:cNvSpPr/>
              <p:nvPr/>
            </p:nvSpPr>
            <p:spPr>
              <a:xfrm>
                <a:off x="594" y="2084"/>
                <a:ext cx="4965" cy="6229"/>
              </a:xfrm>
              <a:prstGeom prst="roundRect">
                <a:avLst>
                  <a:gd name="adj" fmla="val 711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270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6" name="组合 25"/>
              <p:cNvGrpSpPr/>
              <p:nvPr/>
            </p:nvGrpSpPr>
            <p:grpSpPr>
              <a:xfrm>
                <a:off x="854" y="3602"/>
                <a:ext cx="4484" cy="1431"/>
                <a:chOff x="633251" y="2092560"/>
                <a:chExt cx="2847488" cy="908611"/>
              </a:xfrm>
            </p:grpSpPr>
            <p:pic>
              <p:nvPicPr>
                <p:cNvPr id="4" name="图片 3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33251" y="2092561"/>
                  <a:ext cx="1406107" cy="908610"/>
                </a:xfrm>
                <a:prstGeom prst="rect">
                  <a:avLst/>
                </a:prstGeom>
              </p:spPr>
            </p:pic>
            <p:pic>
              <p:nvPicPr>
                <p:cNvPr id="5" name="图片 4"/>
                <p:cNvPicPr/>
                <p:nvPr>
                  <p:custDataLst>
                    <p:tags r:id="rId3"/>
                  </p:custDataLst>
                </p:nvPr>
              </p:nvPicPr>
              <p:blipFill rotWithShape="1">
                <a:blip r:embed="rId4"/>
                <a:srcRect l="6527" r="5758"/>
                <a:stretch>
                  <a:fillRect/>
                </a:stretch>
              </p:blipFill>
              <p:spPr>
                <a:xfrm>
                  <a:off x="2081058" y="2092560"/>
                  <a:ext cx="1399681" cy="90861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</p:grpSp>
          <p:sp>
            <p:nvSpPr>
              <p:cNvPr id="17" name="文本框 16"/>
              <p:cNvSpPr txBox="1"/>
              <p:nvPr/>
            </p:nvSpPr>
            <p:spPr>
              <a:xfrm>
                <a:off x="1421" y="2215"/>
                <a:ext cx="3353" cy="9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solidFill>
                      <a:srgbClr val="0070C0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</a:rPr>
                  <a:t>MCU</a:t>
                </a:r>
                <a:endParaRPr lang="en-US" altLang="zh-CN" sz="1600" b="1" dirty="0">
                  <a:solidFill>
                    <a:srgbClr val="0070C0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endParaRPr>
              </a:p>
              <a:p>
                <a:pPr algn="ctr"/>
                <a:r>
                  <a:rPr lang="zh-CN" altLang="en-US" sz="1600" b="1" dirty="0">
                    <a:solidFill>
                      <a:srgbClr val="0070C0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</a:rPr>
                  <a:t>主驱</a:t>
                </a:r>
                <a:r>
                  <a:rPr lang="en-US" altLang="zh-CN" sz="1600" b="1" dirty="0">
                    <a:solidFill>
                      <a:srgbClr val="0070C0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</a:rPr>
                  <a:t>/</a:t>
                </a:r>
                <a:r>
                  <a:rPr lang="zh-CN" altLang="en-US" sz="1600" b="1" dirty="0">
                    <a:solidFill>
                      <a:srgbClr val="0070C0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</a:rPr>
                  <a:t>辅驱电机控制器</a:t>
                </a:r>
                <a:endParaRPr lang="zh-CN" altLang="en-US" sz="1600" b="1" dirty="0">
                  <a:solidFill>
                    <a:srgbClr val="0070C0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1775" y="5501"/>
                <a:ext cx="2602" cy="24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latin typeface="思源黑体" panose="020B0500000000000000" charset="-122"/>
                    <a:ea typeface="思源黑体" panose="020B0500000000000000" charset="-122"/>
                  </a:rPr>
                  <a:t>AVP32F335</a:t>
                </a:r>
                <a:endParaRPr lang="en-US" altLang="zh-CN" sz="1600" dirty="0">
                  <a:latin typeface="思源黑体" panose="020B0500000000000000" charset="-122"/>
                  <a:ea typeface="思源黑体" panose="020B0500000000000000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latin typeface="思源黑体" panose="020B0500000000000000" charset="-122"/>
                    <a:ea typeface="思源黑体" panose="020B0500000000000000" charset="-122"/>
                  </a:rPr>
                  <a:t>ADP32F035</a:t>
                </a:r>
                <a:endParaRPr lang="en-US" altLang="zh-CN" sz="1600" dirty="0">
                  <a:latin typeface="思源黑体" panose="020B0500000000000000" charset="-122"/>
                  <a:ea typeface="思源黑体" panose="020B0500000000000000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latin typeface="思源黑体" panose="020B0500000000000000" charset="-122"/>
                    <a:ea typeface="思源黑体" panose="020B0500000000000000" charset="-122"/>
                  </a:rPr>
                  <a:t>AVP32F069</a:t>
                </a:r>
                <a:endParaRPr lang="en-US" altLang="zh-CN" sz="1600" dirty="0">
                  <a:latin typeface="思源黑体" panose="020B0500000000000000" charset="-122"/>
                  <a:ea typeface="思源黑体" panose="020B0500000000000000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latin typeface="思源黑体" panose="020B0500000000000000" charset="-122"/>
                    <a:ea typeface="思源黑体" panose="020B0500000000000000" charset="-122"/>
                  </a:rPr>
                  <a:t>AVP32F0049</a:t>
                </a:r>
                <a:endParaRPr lang="en-US" altLang="zh-CN" sz="1600" dirty="0">
                  <a:latin typeface="思源黑体" panose="020B0500000000000000" charset="-122"/>
                  <a:ea typeface="思源黑体" panose="020B0500000000000000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latin typeface="思源黑体" panose="020B0500000000000000" charset="-122"/>
                    <a:ea typeface="思源黑体" panose="020B0500000000000000" charset="-122"/>
                  </a:rPr>
                  <a:t>AVP32F0039</a:t>
                </a:r>
                <a:endParaRPr lang="en-US" altLang="zh-CN" sz="1600" dirty="0">
                  <a:latin typeface="思源黑体" panose="020B0500000000000000" charset="-122"/>
                  <a:ea typeface="思源黑体" panose="020B0500000000000000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latin typeface="思源黑体" panose="020B0500000000000000" charset="-122"/>
                    <a:ea typeface="思源黑体" panose="020B0500000000000000" charset="-122"/>
                  </a:rPr>
                  <a:t>AVP32F379D</a:t>
                </a:r>
                <a:endParaRPr lang="zh-CN" altLang="en-US" sz="1600" dirty="0">
                  <a:latin typeface="思源黑体" panose="020B0500000000000000" charset="-122"/>
                  <a:ea typeface="思源黑体" panose="020B0500000000000000" charset="-122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6395" y="2527"/>
              <a:ext cx="3267" cy="6229"/>
              <a:chOff x="5711" y="2084"/>
              <a:chExt cx="3267" cy="6229"/>
            </a:xfrm>
          </p:grpSpPr>
          <p:sp>
            <p:nvSpPr>
              <p:cNvPr id="3" name="圆角矩形 2"/>
              <p:cNvSpPr/>
              <p:nvPr/>
            </p:nvSpPr>
            <p:spPr>
              <a:xfrm>
                <a:off x="5711" y="2084"/>
                <a:ext cx="3267" cy="6229"/>
              </a:xfrm>
              <a:prstGeom prst="roundRect">
                <a:avLst>
                  <a:gd name="adj" fmla="val 711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270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" name="图片 5"/>
              <p:cNvPicPr>
                <a:picLocks noChangeAspect="1"/>
              </p:cNvPicPr>
              <p:nvPr/>
            </p:nvPicPr>
            <p:blipFill rotWithShape="1">
              <a:blip r:embed="rId5"/>
              <a:srcRect l="7476"/>
              <a:stretch>
                <a:fillRect/>
              </a:stretch>
            </p:blipFill>
            <p:spPr>
              <a:xfrm>
                <a:off x="7385" y="3822"/>
                <a:ext cx="1516" cy="919"/>
              </a:xfrm>
              <a:prstGeom prst="rect">
                <a:avLst/>
              </a:prstGeom>
            </p:spPr>
          </p:pic>
          <p:sp>
            <p:nvSpPr>
              <p:cNvPr id="18" name="文本框 17"/>
              <p:cNvSpPr txBox="1"/>
              <p:nvPr/>
            </p:nvSpPr>
            <p:spPr>
              <a:xfrm>
                <a:off x="5892" y="2316"/>
                <a:ext cx="2922" cy="9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600" b="1" dirty="0">
                    <a:solidFill>
                      <a:srgbClr val="0070C0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ea"/>
                  </a:rPr>
                  <a:t>OBC+DC/DC+PDU</a:t>
                </a:r>
                <a:endParaRPr lang="en-US" altLang="zh-CN" sz="1600" b="1" dirty="0">
                  <a:solidFill>
                    <a:srgbClr val="0070C0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endParaRPr>
              </a:p>
              <a:p>
                <a:pPr lvl="0" algn="ctr">
                  <a:buClrTx/>
                  <a:buSzTx/>
                  <a:buFontTx/>
                </a:pPr>
                <a:r>
                  <a:rPr lang="en-US" altLang="zh-CN" sz="1600" b="1" dirty="0">
                    <a:solidFill>
                      <a:srgbClr val="0070C0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ea"/>
                  </a:rPr>
                  <a:t>车载电源</a:t>
                </a:r>
                <a:endParaRPr lang="en-US" altLang="zh-CN" sz="1600" b="1" dirty="0">
                  <a:solidFill>
                    <a:srgbClr val="0070C0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6057" y="5402"/>
                <a:ext cx="2110" cy="24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lvl="0" indent="-285750" algn="l"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latin typeface="思源黑体" panose="020B0500000000000000" charset="-122"/>
                    <a:ea typeface="思源黑体" panose="020B0500000000000000" charset="-122"/>
                    <a:sym typeface="+mn-ea"/>
                  </a:rPr>
                  <a:t>AVP32F335</a:t>
                </a:r>
                <a:endParaRPr lang="en-US" altLang="zh-CN" sz="1600" dirty="0">
                  <a:latin typeface="思源黑体" panose="020B0500000000000000" charset="-122"/>
                  <a:ea typeface="思源黑体" panose="020B0500000000000000" charset="-122"/>
                  <a:sym typeface="+mn-ea"/>
                </a:endParaRPr>
              </a:p>
              <a:p>
                <a:pPr marL="285750" lvl="0" indent="-285750" algn="l"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latin typeface="思源黑体" panose="020B0500000000000000" charset="-122"/>
                    <a:ea typeface="思源黑体" panose="020B0500000000000000" charset="-122"/>
                    <a:sym typeface="+mn-ea"/>
                  </a:rPr>
                  <a:t>ADP32F035</a:t>
                </a:r>
                <a:endParaRPr lang="en-US" altLang="zh-CN" sz="1600" dirty="0">
                  <a:latin typeface="思源黑体" panose="020B0500000000000000" charset="-122"/>
                  <a:ea typeface="思源黑体" panose="020B0500000000000000" charset="-122"/>
                  <a:sym typeface="+mn-ea"/>
                </a:endParaRPr>
              </a:p>
              <a:p>
                <a:pPr marL="285750" lvl="0" indent="-285750" algn="l"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latin typeface="思源黑体" panose="020B0500000000000000" charset="-122"/>
                    <a:ea typeface="思源黑体" panose="020B0500000000000000" charset="-122"/>
                    <a:sym typeface="+mn-ea"/>
                  </a:rPr>
                  <a:t>AVP32F08</a:t>
                </a:r>
                <a:endParaRPr lang="en-US" altLang="zh-CN" sz="1600" dirty="0">
                  <a:latin typeface="思源黑体" panose="020B0500000000000000" charset="-122"/>
                  <a:ea typeface="思源黑体" panose="020B0500000000000000" charset="-122"/>
                  <a:sym typeface="+mn-ea"/>
                </a:endParaRPr>
              </a:p>
              <a:p>
                <a:pPr marL="285750" lvl="0" indent="-285750" algn="l"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latin typeface="思源黑体" panose="020B0500000000000000" charset="-122"/>
                    <a:ea typeface="思源黑体" panose="020B0500000000000000" charset="-122"/>
                    <a:sym typeface="+mn-ea"/>
                  </a:rPr>
                  <a:t>AVP32F0049</a:t>
                </a:r>
                <a:endParaRPr lang="en-US" altLang="zh-CN" sz="1600" dirty="0">
                  <a:latin typeface="思源黑体" panose="020B0500000000000000" charset="-122"/>
                  <a:ea typeface="思源黑体" panose="020B0500000000000000" charset="-122"/>
                  <a:sym typeface="+mn-ea"/>
                </a:endParaRPr>
              </a:p>
              <a:p>
                <a:pPr marL="285750" lvl="0" indent="-285750" algn="l"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latin typeface="思源黑体" panose="020B0500000000000000" charset="-122"/>
                    <a:ea typeface="思源黑体" panose="020B0500000000000000" charset="-122"/>
                    <a:sym typeface="+mn-ea"/>
                  </a:rPr>
                  <a:t>AVP32F0039</a:t>
                </a:r>
                <a:endParaRPr lang="en-US" altLang="zh-CN" sz="1600" dirty="0">
                  <a:latin typeface="思源黑体" panose="020B0500000000000000" charset="-122"/>
                  <a:ea typeface="思源黑体" panose="020B0500000000000000" charset="-122"/>
                  <a:sym typeface="+mn-ea"/>
                </a:endParaRPr>
              </a:p>
              <a:p>
                <a:pPr marL="285750" lvl="0" indent="-285750" algn="l"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latin typeface="思源黑体" panose="020B0500000000000000" charset="-122"/>
                    <a:ea typeface="思源黑体" panose="020B0500000000000000" charset="-122"/>
                    <a:sym typeface="+mn-ea"/>
                  </a:rPr>
                  <a:t>AVP32F0025</a:t>
                </a:r>
                <a:endParaRPr lang="en-US" altLang="zh-CN" sz="1600" dirty="0">
                  <a:latin typeface="思源黑体" panose="020B0500000000000000" charset="-122"/>
                  <a:ea typeface="思源黑体" panose="020B0500000000000000" charset="-122"/>
                  <a:sym typeface="+mn-ea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9728" y="2527"/>
              <a:ext cx="3536" cy="6229"/>
              <a:chOff x="9053" y="2513"/>
              <a:chExt cx="3536" cy="6229"/>
            </a:xfrm>
          </p:grpSpPr>
          <p:sp>
            <p:nvSpPr>
              <p:cNvPr id="7" name="圆角矩形 6"/>
              <p:cNvSpPr/>
              <p:nvPr/>
            </p:nvSpPr>
            <p:spPr>
              <a:xfrm>
                <a:off x="9178" y="2513"/>
                <a:ext cx="3230" cy="6229"/>
              </a:xfrm>
              <a:prstGeom prst="roundRect">
                <a:avLst>
                  <a:gd name="adj" fmla="val 711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270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4" name="组合 13"/>
              <p:cNvGrpSpPr/>
              <p:nvPr/>
            </p:nvGrpSpPr>
            <p:grpSpPr>
              <a:xfrm>
                <a:off x="9053" y="2713"/>
                <a:ext cx="3536" cy="5043"/>
                <a:chOff x="9142" y="2713"/>
                <a:chExt cx="3536" cy="5043"/>
              </a:xfrm>
            </p:grpSpPr>
            <p:sp>
              <p:nvSpPr>
                <p:cNvPr id="19" name="文本框 18"/>
                <p:cNvSpPr txBox="1"/>
                <p:nvPr/>
              </p:nvSpPr>
              <p:spPr>
                <a:xfrm>
                  <a:off x="9142" y="2713"/>
                  <a:ext cx="3536" cy="9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600" b="1" dirty="0">
                      <a:solidFill>
                        <a:srgbClr val="0070C0"/>
                      </a:solidFill>
                      <a:latin typeface="思源黑体" panose="020B0500000000000000" charset="-122"/>
                      <a:ea typeface="思源黑体" panose="020B0500000000000000" charset="-122"/>
                      <a:cs typeface="思源黑体" panose="020B0500000000000000" charset="-122"/>
                      <a:sym typeface="+mn-ea"/>
                    </a:rPr>
                    <a:t>BCM</a:t>
                  </a:r>
                  <a:endParaRPr lang="en-US" altLang="zh-CN" sz="1600" b="1" dirty="0">
                    <a:solidFill>
                      <a:srgbClr val="0070C0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ea"/>
                  </a:endParaRPr>
                </a:p>
                <a:p>
                  <a:pPr lvl="0" algn="ctr">
                    <a:buClrTx/>
                    <a:buSzTx/>
                    <a:buFontTx/>
                  </a:pPr>
                  <a:r>
                    <a:rPr lang="zh-CN" altLang="en-US" sz="1600" b="1" dirty="0">
                      <a:solidFill>
                        <a:srgbClr val="0070C0"/>
                      </a:solidFill>
                      <a:latin typeface="思源黑体" panose="020B0500000000000000" charset="-122"/>
                      <a:ea typeface="思源黑体" panose="020B0500000000000000" charset="-122"/>
                      <a:cs typeface="思源黑体" panose="020B0500000000000000" charset="-122"/>
                      <a:sym typeface="+mn-ea"/>
                    </a:rPr>
                    <a:t>天窗，尾门，玻璃升降</a:t>
                  </a:r>
                  <a:endParaRPr lang="en-US" altLang="zh-CN" sz="1600" b="1" dirty="0">
                    <a:solidFill>
                      <a:srgbClr val="0070C0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ea"/>
                  </a:endParaRPr>
                </a:p>
              </p:txBody>
            </p:sp>
            <p:sp>
              <p:nvSpPr>
                <p:cNvPr id="23" name="文本框 22"/>
                <p:cNvSpPr txBox="1"/>
                <p:nvPr/>
              </p:nvSpPr>
              <p:spPr>
                <a:xfrm>
                  <a:off x="9479" y="6447"/>
                  <a:ext cx="2881" cy="13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285750" lvl="0" indent="-285750" algn="l">
                    <a:buClrTx/>
                    <a:buSzTx/>
                    <a:buFont typeface="Arial" panose="020B0604020202020204" pitchFamily="34" charset="0"/>
                    <a:buChar char="•"/>
                  </a:pPr>
                  <a:r>
                    <a:rPr lang="en-US" altLang="zh-CN" sz="1600" dirty="0">
                      <a:latin typeface="思源黑体" panose="020B0500000000000000" charset="-122"/>
                      <a:ea typeface="思源黑体" panose="020B0500000000000000" charset="-122"/>
                      <a:sym typeface="+mn-ea"/>
                    </a:rPr>
                    <a:t>ADM16F03A1</a:t>
                  </a:r>
                  <a:endParaRPr lang="en-US" altLang="zh-CN" sz="1600" dirty="0">
                    <a:latin typeface="思源黑体" panose="020B0500000000000000" charset="-122"/>
                    <a:ea typeface="思源黑体" panose="020B0500000000000000" charset="-122"/>
                    <a:sym typeface="+mn-ea"/>
                  </a:endParaRPr>
                </a:p>
                <a:p>
                  <a:pPr marL="285750" lvl="0" indent="-285750" algn="l">
                    <a:buClrTx/>
                    <a:buSzTx/>
                    <a:buFont typeface="Arial" panose="020B0604020202020204" pitchFamily="34" charset="0"/>
                    <a:buChar char="•"/>
                  </a:pPr>
                  <a:r>
                    <a:rPr lang="en-US" altLang="zh-CN" sz="1600" dirty="0">
                      <a:latin typeface="思源黑体" panose="020B0500000000000000" charset="-122"/>
                      <a:ea typeface="思源黑体" panose="020B0500000000000000" charset="-122"/>
                      <a:sym typeface="+mn-ea"/>
                    </a:rPr>
                    <a:t>ADM16F03A2</a:t>
                  </a:r>
                  <a:endParaRPr lang="en-US" altLang="zh-CN" sz="1600" dirty="0">
                    <a:latin typeface="思源黑体" panose="020B0500000000000000" charset="-122"/>
                    <a:ea typeface="思源黑体" panose="020B0500000000000000" charset="-122"/>
                    <a:sym typeface="+mn-ea"/>
                  </a:endParaRPr>
                </a:p>
                <a:p>
                  <a:pPr marL="285750" lvl="0" indent="-285750" algn="l">
                    <a:buClrTx/>
                    <a:buSzTx/>
                    <a:buFont typeface="Arial" panose="020B0604020202020204" pitchFamily="34" charset="0"/>
                    <a:buChar char="•"/>
                  </a:pPr>
                  <a:r>
                    <a:rPr lang="en-US" altLang="zh-CN" sz="1600" dirty="0">
                      <a:latin typeface="思源黑体" panose="020B0500000000000000" charset="-122"/>
                      <a:ea typeface="思源黑体" panose="020B0500000000000000" charset="-122"/>
                      <a:sym typeface="+mn-ea"/>
                    </a:rPr>
                    <a:t>ADM32F036</a:t>
                  </a:r>
                  <a:endParaRPr lang="en-US" altLang="zh-CN" sz="1600" dirty="0">
                    <a:latin typeface="思源黑体" panose="020B0500000000000000" charset="-122"/>
                    <a:ea typeface="思源黑体" panose="020B0500000000000000" charset="-122"/>
                    <a:sym typeface="+mn-ea"/>
                  </a:endParaRPr>
                </a:p>
              </p:txBody>
            </p:sp>
          </p:grpSp>
        </p:grpSp>
        <p:grpSp>
          <p:nvGrpSpPr>
            <p:cNvPr id="33" name="组合 32"/>
            <p:cNvGrpSpPr/>
            <p:nvPr/>
          </p:nvGrpSpPr>
          <p:grpSpPr>
            <a:xfrm>
              <a:off x="13321" y="2527"/>
              <a:ext cx="4635" cy="6305"/>
              <a:chOff x="12568" y="2444"/>
              <a:chExt cx="4635" cy="6305"/>
            </a:xfrm>
          </p:grpSpPr>
          <p:sp>
            <p:nvSpPr>
              <p:cNvPr id="9" name="圆角矩形 8"/>
              <p:cNvSpPr/>
              <p:nvPr/>
            </p:nvSpPr>
            <p:spPr>
              <a:xfrm>
                <a:off x="12568" y="2444"/>
                <a:ext cx="4635" cy="6229"/>
              </a:xfrm>
              <a:prstGeom prst="roundRect">
                <a:avLst>
                  <a:gd name="adj" fmla="val 711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270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2583" y="2644"/>
                <a:ext cx="4620" cy="6105"/>
                <a:chOff x="12594" y="2644"/>
                <a:chExt cx="4620" cy="6105"/>
              </a:xfrm>
            </p:grpSpPr>
            <p:sp>
              <p:nvSpPr>
                <p:cNvPr id="20" name="文本框 19"/>
                <p:cNvSpPr txBox="1"/>
                <p:nvPr/>
              </p:nvSpPr>
              <p:spPr>
                <a:xfrm>
                  <a:off x="12934" y="2644"/>
                  <a:ext cx="3976" cy="9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600" b="1" dirty="0">
                      <a:solidFill>
                        <a:srgbClr val="0070C0"/>
                      </a:solidFill>
                      <a:latin typeface="思源黑体" panose="020B0500000000000000" charset="-122"/>
                      <a:ea typeface="思源黑体" panose="020B0500000000000000" charset="-122"/>
                      <a:cs typeface="思源黑体" panose="020B0500000000000000" charset="-122"/>
                      <a:sym typeface="+mn-ea"/>
                    </a:rPr>
                    <a:t>TMS</a:t>
                  </a:r>
                  <a:endParaRPr lang="en-US" altLang="zh-CN" sz="1600" b="1" dirty="0">
                    <a:solidFill>
                      <a:srgbClr val="0070C0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ea"/>
                  </a:endParaRPr>
                </a:p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600" b="1" dirty="0" err="1">
                      <a:solidFill>
                        <a:srgbClr val="0070C0"/>
                      </a:solidFill>
                      <a:latin typeface="思源黑体" panose="020B0500000000000000" charset="-122"/>
                      <a:ea typeface="思源黑体" panose="020B0500000000000000" charset="-122"/>
                      <a:cs typeface="思源黑体" panose="020B0500000000000000" charset="-122"/>
                      <a:sym typeface="+mn-ea"/>
                    </a:rPr>
                    <a:t>HVAC，风扇+阀+泵控制</a:t>
                  </a:r>
                  <a:endParaRPr lang="en-US" altLang="zh-CN" sz="1600" b="1" dirty="0">
                    <a:solidFill>
                      <a:srgbClr val="0070C0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ea"/>
                  </a:endParaRPr>
                </a:p>
              </p:txBody>
            </p:sp>
            <p:sp>
              <p:nvSpPr>
                <p:cNvPr id="24" name="文本框 23"/>
                <p:cNvSpPr txBox="1"/>
                <p:nvPr/>
              </p:nvSpPr>
              <p:spPr>
                <a:xfrm>
                  <a:off x="13584" y="6665"/>
                  <a:ext cx="2989" cy="208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285750" lvl="0" indent="-285750" algn="l">
                    <a:buClrTx/>
                    <a:buSzTx/>
                    <a:buFont typeface="Arial" panose="020B0604020202020204" pitchFamily="34" charset="0"/>
                    <a:buChar char="•"/>
                  </a:pPr>
                  <a:r>
                    <a:rPr lang="en-US" altLang="zh-CN" sz="1600" dirty="0">
                      <a:latin typeface="思源黑体" panose="020B0500000000000000" charset="-122"/>
                      <a:ea typeface="思源黑体" panose="020B0500000000000000" charset="-122"/>
                      <a:sym typeface="+mn-ea"/>
                    </a:rPr>
                    <a:t>ADM16F03A1</a:t>
                  </a:r>
                  <a:endParaRPr lang="en-US" altLang="zh-CN" sz="1600" dirty="0">
                    <a:latin typeface="思源黑体" panose="020B0500000000000000" charset="-122"/>
                    <a:ea typeface="思源黑体" panose="020B0500000000000000" charset="-122"/>
                    <a:sym typeface="+mn-ea"/>
                  </a:endParaRPr>
                </a:p>
                <a:p>
                  <a:pPr marL="285750" lvl="0" indent="-285750" algn="l">
                    <a:buClrTx/>
                    <a:buSzTx/>
                    <a:buFont typeface="Arial" panose="020B0604020202020204" pitchFamily="34" charset="0"/>
                    <a:buChar char="•"/>
                  </a:pPr>
                  <a:r>
                    <a:rPr lang="en-US" altLang="zh-CN" sz="1600" dirty="0">
                      <a:latin typeface="思源黑体" panose="020B0500000000000000" charset="-122"/>
                      <a:ea typeface="思源黑体" panose="020B0500000000000000" charset="-122"/>
                      <a:sym typeface="+mn-ea"/>
                    </a:rPr>
                    <a:t>ADM16F03A2</a:t>
                  </a:r>
                  <a:endParaRPr lang="en-US" altLang="zh-CN" sz="1600" dirty="0">
                    <a:latin typeface="思源黑体" panose="020B0500000000000000" charset="-122"/>
                    <a:ea typeface="思源黑体" panose="020B0500000000000000" charset="-122"/>
                    <a:sym typeface="+mn-ea"/>
                  </a:endParaRPr>
                </a:p>
                <a:p>
                  <a:pPr marL="285750" lvl="0" indent="-285750" algn="l">
                    <a:buClrTx/>
                    <a:buSzTx/>
                    <a:buFont typeface="Arial" panose="020B0604020202020204" pitchFamily="34" charset="0"/>
                    <a:buChar char="•"/>
                  </a:pPr>
                  <a:r>
                    <a:rPr lang="en-US" altLang="zh-CN" sz="1600" dirty="0">
                      <a:latin typeface="思源黑体" panose="020B0500000000000000" charset="-122"/>
                      <a:ea typeface="思源黑体" panose="020B0500000000000000" charset="-122"/>
                      <a:sym typeface="+mn-ea"/>
                    </a:rPr>
                    <a:t>ADP/M32F036</a:t>
                  </a:r>
                  <a:endParaRPr lang="en-US" altLang="zh-CN" sz="1600" dirty="0">
                    <a:latin typeface="思源黑体" panose="020B0500000000000000" charset="-122"/>
                    <a:ea typeface="思源黑体" panose="020B0500000000000000" charset="-122"/>
                    <a:sym typeface="+mn-ea"/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zh-CN" sz="1600" dirty="0">
                      <a:latin typeface="思源黑体" panose="020B0500000000000000" charset="-122"/>
                      <a:ea typeface="思源黑体" panose="020B0500000000000000" charset="-122"/>
                      <a:sym typeface="+mn-ea"/>
                    </a:rPr>
                    <a:t>AVP32F0025</a:t>
                  </a:r>
                  <a:endParaRPr lang="en-US" altLang="zh-CN" sz="1600" dirty="0">
                    <a:latin typeface="思源黑体" panose="020B0500000000000000" charset="-122"/>
                    <a:ea typeface="思源黑体" panose="020B0500000000000000" charset="-122"/>
                    <a:sym typeface="+mn-ea"/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zh-CN" sz="1600" dirty="0">
                      <a:latin typeface="思源黑体" panose="020B0500000000000000" charset="-122"/>
                      <a:ea typeface="思源黑体" panose="020B0500000000000000" charset="-122"/>
                      <a:sym typeface="+mn-ea"/>
                    </a:rPr>
                    <a:t>ADP32F035</a:t>
                  </a:r>
                  <a:endParaRPr lang="en-US" altLang="zh-CN" sz="1600" dirty="0">
                    <a:latin typeface="思源黑体" panose="020B0500000000000000" charset="-122"/>
                    <a:ea typeface="思源黑体" panose="020B0500000000000000" charset="-122"/>
                    <a:sym typeface="+mn-ea"/>
                  </a:endParaRPr>
                </a:p>
              </p:txBody>
            </p:sp>
            <p:grpSp>
              <p:nvGrpSpPr>
                <p:cNvPr id="30" name="组合 29"/>
                <p:cNvGrpSpPr/>
                <p:nvPr/>
              </p:nvGrpSpPr>
              <p:grpSpPr>
                <a:xfrm>
                  <a:off x="12594" y="3640"/>
                  <a:ext cx="4620" cy="2879"/>
                  <a:chOff x="12469" y="3640"/>
                  <a:chExt cx="4620" cy="2879"/>
                </a:xfrm>
              </p:grpSpPr>
              <p:pic>
                <p:nvPicPr>
                  <p:cNvPr id="8" name="图片 7"/>
                  <p:cNvPicPr>
                    <a:picLocks noChangeAspect="1"/>
                  </p:cNvPicPr>
                  <p:nvPr/>
                </p:nvPicPr>
                <p:blipFill>
                  <a:blip r:embed="rId6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2469" y="5291"/>
                    <a:ext cx="1767" cy="1228"/>
                  </a:xfrm>
                  <a:prstGeom prst="rect">
                    <a:avLst/>
                  </a:prstGeom>
                </p:spPr>
              </p:pic>
              <p:pic>
                <p:nvPicPr>
                  <p:cNvPr id="10" name="图片 9"/>
                  <p:cNvPicPr>
                    <a:picLocks noChangeAspect="1"/>
                  </p:cNvPicPr>
                  <p:nvPr/>
                </p:nvPicPr>
                <p:blipFill rotWithShape="1"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9695" t="3677" r="9412" b="9056"/>
                  <a:stretch>
                    <a:fillRect/>
                  </a:stretch>
                </p:blipFill>
                <p:spPr>
                  <a:xfrm>
                    <a:off x="15165" y="5039"/>
                    <a:ext cx="1924" cy="1480"/>
                  </a:xfrm>
                  <a:prstGeom prst="rect">
                    <a:avLst/>
                  </a:prstGeom>
                </p:spPr>
              </p:pic>
              <p:pic>
                <p:nvPicPr>
                  <p:cNvPr id="12" name="图片 11"/>
                  <p:cNvPicPr>
                    <a:picLocks noChangeAspect="1"/>
                  </p:cNvPicPr>
                  <p:nvPr/>
                </p:nvPicPr>
                <p:blipFill>
                  <a:blip r:embed="rId8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2520" y="3640"/>
                    <a:ext cx="2322" cy="1446"/>
                  </a:xfrm>
                  <a:prstGeom prst="rect">
                    <a:avLst/>
                  </a:prstGeom>
                </p:spPr>
              </p:pic>
              <p:pic>
                <p:nvPicPr>
                  <p:cNvPr id="31" name="图片 30"/>
                  <p:cNvPicPr>
                    <a:picLocks noChangeAspect="1"/>
                  </p:cNvPicPr>
                  <p:nvPr/>
                </p:nvPicPr>
                <p:blipFill rotWithShape="1">
                  <a:blip r:embed="rId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170" t="6315"/>
                  <a:stretch>
                    <a:fillRect/>
                  </a:stretch>
                </p:blipFill>
                <p:spPr>
                  <a:xfrm>
                    <a:off x="13987" y="5369"/>
                    <a:ext cx="1240" cy="1127"/>
                  </a:xfrm>
                  <a:prstGeom prst="rect">
                    <a:avLst/>
                  </a:prstGeom>
                </p:spPr>
              </p:pic>
            </p:grpSp>
          </p:grpSp>
        </p:grpSp>
      </p:grpSp>
      <p:pic>
        <p:nvPicPr>
          <p:cNvPr id="25" name="图片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87191" y="2551475"/>
            <a:ext cx="953125" cy="928908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10" b="14005"/>
          <a:stretch>
            <a:fillRect/>
          </a:stretch>
        </p:blipFill>
        <p:spPr>
          <a:xfrm>
            <a:off x="9944100" y="2348262"/>
            <a:ext cx="1318895" cy="95885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779173" y="2433004"/>
            <a:ext cx="1064152" cy="62075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6920081" y="3038625"/>
            <a:ext cx="648395" cy="8299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315595" y="244475"/>
            <a:ext cx="53209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800" b="1" dirty="0">
                <a:sym typeface="+mn-ea"/>
              </a:rPr>
              <a:t>车身电机及热管理应用场景</a:t>
            </a:r>
            <a:endParaRPr lang="zh-CN" altLang="en-US" sz="2800" b="1" dirty="0">
              <a:sym typeface="+mn-ea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765739" y="1011996"/>
            <a:ext cx="8569656" cy="5391472"/>
            <a:chOff x="2410986" y="1032289"/>
            <a:chExt cx="7875357" cy="5244406"/>
          </a:xfrm>
        </p:grpSpPr>
        <p:pic>
          <p:nvPicPr>
            <p:cNvPr id="12" name="图片 11"/>
            <p:cNvPicPr/>
            <p:nvPr>
              <p:custDataLst>
                <p:tags r:id="rId2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3940894" y="2469313"/>
              <a:ext cx="4320000" cy="248400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3" name="图片 12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2490716" y="3923665"/>
              <a:ext cx="876300" cy="647700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2717298" y="2076001"/>
              <a:ext cx="868680" cy="944880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3932397" y="1103035"/>
              <a:ext cx="1150620" cy="830580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5738622" y="1133515"/>
              <a:ext cx="1371600" cy="800100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7880410" y="5026850"/>
              <a:ext cx="800524" cy="744245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8686143" y="2087662"/>
              <a:ext cx="1600200" cy="571500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9050149" y="3631528"/>
              <a:ext cx="769620" cy="1036320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/>
            <a:stretch>
              <a:fillRect/>
            </a:stretch>
          </p:blipFill>
          <p:spPr>
            <a:xfrm>
              <a:off x="7589959" y="1032289"/>
              <a:ext cx="762000" cy="975360"/>
            </a:xfrm>
            <a:prstGeom prst="rect">
              <a:avLst/>
            </a:prstGeom>
          </p:spPr>
        </p:pic>
        <p:pic>
          <p:nvPicPr>
            <p:cNvPr id="22" name="图片 21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1"/>
            <a:stretch>
              <a:fillRect/>
            </a:stretch>
          </p:blipFill>
          <p:spPr>
            <a:xfrm>
              <a:off x="6289655" y="5026850"/>
              <a:ext cx="1173480" cy="762000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3"/>
            <a:stretch>
              <a:fillRect/>
            </a:stretch>
          </p:blipFill>
          <p:spPr>
            <a:xfrm>
              <a:off x="4692991" y="5058003"/>
              <a:ext cx="1013460" cy="769620"/>
            </a:xfrm>
            <a:prstGeom prst="rect">
              <a:avLst/>
            </a:prstGeom>
          </p:spPr>
        </p:pic>
        <p:sp>
          <p:nvSpPr>
            <p:cNvPr id="24" name="文本框 23"/>
            <p:cNvSpPr txBox="1"/>
            <p:nvPr>
              <p:custDataLst>
                <p:tags r:id="rId24"/>
              </p:custDataLst>
            </p:nvPr>
          </p:nvSpPr>
          <p:spPr>
            <a:xfrm>
              <a:off x="2410986" y="3080999"/>
              <a:ext cx="1529910" cy="449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电子风扇</a:t>
              </a:r>
              <a:r>
                <a:rPr lang="en-US" altLang="zh-CN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ADM16F03/036A/A2/A3</a:t>
              </a:r>
              <a:endPara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25"/>
              </p:custDataLst>
            </p:nvPr>
          </p:nvSpPr>
          <p:spPr>
            <a:xfrm>
              <a:off x="3928310" y="1937075"/>
              <a:ext cx="13283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空调鼓风机</a:t>
              </a:r>
              <a:r>
                <a:rPr lang="en-US" altLang="zh-CN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ADM16F03A2QN56Q</a:t>
              </a:r>
              <a:endPara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6" name="文本框 25"/>
            <p:cNvSpPr txBox="1"/>
            <p:nvPr>
              <p:custDataLst>
                <p:tags r:id="rId26"/>
              </p:custDataLst>
            </p:nvPr>
          </p:nvSpPr>
          <p:spPr>
            <a:xfrm>
              <a:off x="2498025" y="4571365"/>
              <a:ext cx="1328854" cy="449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主进气格栅</a:t>
              </a:r>
              <a:r>
                <a:rPr lang="en-US" altLang="zh-CN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ADM036A/A2/A3/A4</a:t>
              </a:r>
              <a:endPara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7" name="文本框 26"/>
            <p:cNvSpPr txBox="1"/>
            <p:nvPr>
              <p:custDataLst>
                <p:tags r:id="rId27"/>
              </p:custDataLst>
            </p:nvPr>
          </p:nvSpPr>
          <p:spPr>
            <a:xfrm>
              <a:off x="5744168" y="1940726"/>
              <a:ext cx="1500477" cy="449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天窗电机</a:t>
              </a:r>
              <a:r>
                <a:rPr lang="en-US" altLang="zh-CN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ADM16F03/036A/A2/A3</a:t>
              </a:r>
              <a:endPara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8" name="文本框 27"/>
            <p:cNvSpPr txBox="1"/>
            <p:nvPr>
              <p:custDataLst>
                <p:tags r:id="rId28"/>
              </p:custDataLst>
            </p:nvPr>
          </p:nvSpPr>
          <p:spPr>
            <a:xfrm>
              <a:off x="4643917" y="5827623"/>
              <a:ext cx="1581775" cy="449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空调压缩机</a:t>
              </a:r>
              <a:r>
                <a:rPr lang="en-US" altLang="zh-CN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ADP32F034/035/036</a:t>
              </a:r>
              <a:endPara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9" name="文本框 28"/>
            <p:cNvSpPr txBox="1"/>
            <p:nvPr>
              <p:custDataLst>
                <p:tags r:id="rId29"/>
              </p:custDataLst>
            </p:nvPr>
          </p:nvSpPr>
          <p:spPr>
            <a:xfrm>
              <a:off x="6280818" y="5766279"/>
              <a:ext cx="1581111" cy="449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电子水泵</a:t>
              </a:r>
              <a:r>
                <a:rPr lang="en-US" altLang="zh-CN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ADM16F03/036A/A2/A3</a:t>
              </a:r>
              <a:endPara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0" name="文本框 29"/>
            <p:cNvSpPr txBox="1"/>
            <p:nvPr>
              <p:custDataLst>
                <p:tags r:id="rId30"/>
              </p:custDataLst>
            </p:nvPr>
          </p:nvSpPr>
          <p:spPr>
            <a:xfrm>
              <a:off x="7927975" y="5734437"/>
              <a:ext cx="1684827" cy="449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座椅风扇</a:t>
              </a:r>
              <a:r>
                <a:rPr lang="en-US" altLang="zh-CN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ADM16F03/036A/A2/A3</a:t>
              </a:r>
              <a:endPara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1" name="文本框 30"/>
            <p:cNvSpPr txBox="1"/>
            <p:nvPr>
              <p:custDataLst>
                <p:tags r:id="rId31"/>
              </p:custDataLst>
            </p:nvPr>
          </p:nvSpPr>
          <p:spPr>
            <a:xfrm>
              <a:off x="8867411" y="4667848"/>
              <a:ext cx="13705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燃油泵</a:t>
              </a:r>
              <a:r>
                <a:rPr lang="en-US" altLang="zh-CN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ADM16F03A2QN56Q</a:t>
              </a:r>
              <a:endPara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32"/>
              </p:custDataLst>
            </p:nvPr>
          </p:nvSpPr>
          <p:spPr>
            <a:xfrm>
              <a:off x="7368963" y="1946042"/>
              <a:ext cx="132830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玻璃升降电机</a:t>
              </a:r>
              <a:r>
                <a:rPr lang="en-US" altLang="zh-CN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ADM16F03A2QN56Q</a:t>
              </a:r>
              <a:endPara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3" name="文本框 32"/>
            <p:cNvSpPr txBox="1"/>
            <p:nvPr>
              <p:custDataLst>
                <p:tags r:id="rId33"/>
              </p:custDataLst>
            </p:nvPr>
          </p:nvSpPr>
          <p:spPr>
            <a:xfrm>
              <a:off x="8816033" y="2850166"/>
              <a:ext cx="13404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充电口翻盖</a:t>
              </a:r>
              <a:r>
                <a:rPr lang="en-US" altLang="zh-CN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ADM16F03A2QN56Q</a:t>
              </a:r>
              <a:endPara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34" name="直接箭头连接符 33"/>
            <p:cNvCxnSpPr/>
            <p:nvPr>
              <p:custDataLst>
                <p:tags r:id="rId34"/>
              </p:custDataLst>
            </p:nvPr>
          </p:nvCxnSpPr>
          <p:spPr>
            <a:xfrm flipH="1" flipV="1">
              <a:off x="4442149" y="2357003"/>
              <a:ext cx="403536" cy="114502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5" name="直接箭头连接符 34"/>
            <p:cNvCxnSpPr/>
            <p:nvPr>
              <p:custDataLst>
                <p:tags r:id="rId35"/>
              </p:custDataLst>
            </p:nvPr>
          </p:nvCxnSpPr>
          <p:spPr>
            <a:xfrm flipH="1" flipV="1">
              <a:off x="3549753" y="2941753"/>
              <a:ext cx="645193" cy="98191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6" name="直接箭头连接符 35"/>
            <p:cNvCxnSpPr/>
            <p:nvPr>
              <p:custDataLst>
                <p:tags r:id="rId36"/>
              </p:custDataLst>
            </p:nvPr>
          </p:nvCxnSpPr>
          <p:spPr>
            <a:xfrm flipH="1">
              <a:off x="3599465" y="4241606"/>
              <a:ext cx="824436" cy="17206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/>
            <p:nvPr>
              <p:custDataLst>
                <p:tags r:id="rId37"/>
              </p:custDataLst>
            </p:nvPr>
          </p:nvCxnSpPr>
          <p:spPr>
            <a:xfrm>
              <a:off x="4878811" y="4037722"/>
              <a:ext cx="437113" cy="116902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8" name="直接箭头连接符 37"/>
            <p:cNvCxnSpPr/>
            <p:nvPr>
              <p:custDataLst>
                <p:tags r:id="rId38"/>
              </p:custDataLst>
            </p:nvPr>
          </p:nvCxnSpPr>
          <p:spPr>
            <a:xfrm>
              <a:off x="5172334" y="4101440"/>
              <a:ext cx="1121728" cy="93431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" name="直接箭头连接符 38"/>
            <p:cNvCxnSpPr/>
            <p:nvPr>
              <p:custDataLst>
                <p:tags r:id="rId39"/>
              </p:custDataLst>
            </p:nvPr>
          </p:nvCxnSpPr>
          <p:spPr>
            <a:xfrm>
              <a:off x="6917055" y="3743960"/>
              <a:ext cx="944875" cy="133941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/>
            <p:nvPr>
              <p:custDataLst>
                <p:tags r:id="rId40"/>
              </p:custDataLst>
            </p:nvPr>
          </p:nvCxnSpPr>
          <p:spPr>
            <a:xfrm flipV="1">
              <a:off x="7041476" y="2357003"/>
              <a:ext cx="843318" cy="107236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1" name="直接箭头连接符 40"/>
            <p:cNvCxnSpPr/>
            <p:nvPr>
              <p:custDataLst>
                <p:tags r:id="rId41"/>
              </p:custDataLst>
            </p:nvPr>
          </p:nvCxnSpPr>
          <p:spPr>
            <a:xfrm flipH="1" flipV="1">
              <a:off x="6244403" y="2357003"/>
              <a:ext cx="284547" cy="71623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" name="直接箭头连接符 41"/>
            <p:cNvCxnSpPr/>
            <p:nvPr>
              <p:custDataLst>
                <p:tags r:id="rId42"/>
              </p:custDataLst>
            </p:nvPr>
          </p:nvCxnSpPr>
          <p:spPr>
            <a:xfrm flipV="1">
              <a:off x="7927975" y="3176270"/>
              <a:ext cx="580121" cy="40703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/>
            <p:nvPr>
              <p:custDataLst>
                <p:tags r:id="rId43"/>
              </p:custDataLst>
            </p:nvPr>
          </p:nvCxnSpPr>
          <p:spPr>
            <a:xfrm>
              <a:off x="8017719" y="3681730"/>
              <a:ext cx="687172" cy="67529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56" name="图片 55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2915271" y="5205093"/>
            <a:ext cx="899010" cy="804020"/>
          </a:xfrm>
          <a:prstGeom prst="rect">
            <a:avLst/>
          </a:prstGeom>
        </p:spPr>
      </p:pic>
      <p:cxnSp>
        <p:nvCxnSpPr>
          <p:cNvPr id="59" name="直接箭头连接符 58"/>
          <p:cNvCxnSpPr/>
          <p:nvPr>
            <p:custDataLst>
              <p:tags r:id="rId45"/>
            </p:custDataLst>
          </p:nvPr>
        </p:nvCxnSpPr>
        <p:spPr>
          <a:xfrm flipH="1">
            <a:off x="3573153" y="4065256"/>
            <a:ext cx="537390" cy="11398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1" name="文本框 60"/>
          <p:cNvSpPr txBox="1"/>
          <p:nvPr>
            <p:custDataLst>
              <p:tags r:id="rId46"/>
            </p:custDataLst>
          </p:nvPr>
        </p:nvSpPr>
        <p:spPr>
          <a:xfrm>
            <a:off x="2093055" y="5929834"/>
            <a:ext cx="17212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水阀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ADM036A/A2/A3/A4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610709" y="2361810"/>
            <a:ext cx="65015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dirty="0">
                <a:solidFill>
                  <a:srgbClr val="FF0000"/>
                </a:solidFill>
                <a:latin typeface="思源黑体" panose="020B0500000000000000" charset="-122"/>
                <a:ea typeface="思源黑体" panose="020B0500000000000000" charset="-122"/>
              </a:rPr>
              <a:t>热管理可提供包括硬件、软件和算法的完整解决方案</a:t>
            </a:r>
            <a:endParaRPr lang="zh-CN" altLang="en-US" sz="1800" b="1" dirty="0">
              <a:solidFill>
                <a:srgbClr val="FF0000"/>
              </a:solidFill>
              <a:latin typeface="思源黑体" panose="020B0500000000000000" charset="-122"/>
              <a:ea typeface="思源黑体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 userDrawn="1">
            <p:custDataLst>
              <p:tags r:id="rId1"/>
            </p:custDataLst>
          </p:nvPr>
        </p:nvSpPr>
        <p:spPr>
          <a:xfrm>
            <a:off x="315595" y="244475"/>
            <a:ext cx="3382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热管理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SOC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芯片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814705" y="1323975"/>
          <a:ext cx="4516120" cy="4859020"/>
        </p:xfrm>
        <a:graphic>
          <a:graphicData uri="http://schemas.openxmlformats.org/drawingml/2006/table">
            <a:tbl>
              <a:tblPr firstRow="1" firstCol="1"/>
              <a:tblGrid>
                <a:gridCol w="1202690"/>
                <a:gridCol w="3313430"/>
              </a:tblGrid>
              <a:tr h="39941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400" dirty="0">
                          <a:latin typeface="思源黑体" panose="020B0500000000000000" charset="-122"/>
                          <a:ea typeface="思源黑体" panose="020B0500000000000000" charset="-122"/>
                        </a:rPr>
                        <a:t>型号</a:t>
                      </a:r>
                      <a:endParaRPr lang="zh-CN" altLang="en-US" sz="1400" dirty="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400" dirty="0">
                          <a:solidFill>
                            <a:srgbClr val="00B0F0"/>
                          </a:solidFill>
                          <a:latin typeface="思源黑体" panose="020B0500000000000000" charset="-122"/>
                          <a:ea typeface="思源黑体" panose="020B0500000000000000" charset="-122"/>
                          <a:cs typeface="思源黑体" panose="020B0500000000000000" charset="-122"/>
                        </a:rPr>
                        <a:t>ADM16F03A1QN48Q</a:t>
                      </a:r>
                      <a:r>
                        <a:rPr lang="zh-CN" altLang="en-US" sz="1400" dirty="0">
                          <a:solidFill>
                            <a:srgbClr val="00B0F0"/>
                          </a:solidFill>
                          <a:latin typeface="思源黑体" panose="020B0500000000000000" charset="-122"/>
                          <a:ea typeface="思源黑体" panose="020B0500000000000000" charset="-122"/>
                          <a:cs typeface="思源黑体" panose="020B0500000000000000" charset="-122"/>
                        </a:rPr>
                        <a:t>车规级</a:t>
                      </a:r>
                      <a:endParaRPr lang="zh-CN" altLang="en-US" sz="1400" dirty="0">
                        <a:solidFill>
                          <a:srgbClr val="00B0F0"/>
                        </a:solidFill>
                        <a:latin typeface="思源黑体" panose="020B0500000000000000" charset="-122"/>
                        <a:ea typeface="思源黑体" panose="020B0500000000000000" charset="-122"/>
                        <a:cs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559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 dirty="0" err="1">
                          <a:latin typeface="思源黑体" panose="020B0500000000000000" charset="-122"/>
                          <a:ea typeface="思源黑体" panose="020B0500000000000000" charset="-122"/>
                        </a:rPr>
                        <a:t>主频</a:t>
                      </a:r>
                      <a:endParaRPr lang="en-US" altLang="en-US" sz="1200" dirty="0" err="1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150MHz</a:t>
                      </a:r>
                      <a:endParaRPr lang="en-US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115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单电源供电</a:t>
                      </a:r>
                      <a:endParaRPr lang="zh-CN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en-US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4.5-40V</a:t>
                      </a:r>
                      <a:endParaRPr lang="en-US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 dirty="0">
                          <a:latin typeface="思源黑体" panose="020B0500000000000000" charset="-122"/>
                          <a:ea typeface="思源黑体" panose="020B0500000000000000" charset="-122"/>
                        </a:rPr>
                        <a:t>耐压</a:t>
                      </a:r>
                      <a:endParaRPr lang="zh-CN" altLang="en-US" sz="1200" dirty="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40V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500ms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258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存储资源</a:t>
                      </a:r>
                      <a:endParaRPr lang="en-US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Flash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64</a:t>
                      </a: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KB  DARAM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</a:t>
                      </a: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KB </a:t>
                      </a:r>
                      <a:endParaRPr lang="en-US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847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通讯接口</a:t>
                      </a:r>
                      <a:endParaRPr lang="en-US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SCI</a:t>
                      </a:r>
                      <a:r>
                        <a:rPr lang="zh-CN" altLang="en-US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（配置成</a:t>
                      </a:r>
                      <a:r>
                        <a:rPr lang="en-US" altLang="zh-CN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LIN</a:t>
                      </a:r>
                      <a:r>
                        <a:rPr lang="zh-CN" altLang="en-US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接口）</a:t>
                      </a:r>
                      <a:endParaRPr lang="zh-CN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642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 dirty="0">
                          <a:latin typeface="思源黑体" panose="020B0500000000000000" charset="-122"/>
                          <a:ea typeface="思源黑体" panose="020B0500000000000000" charset="-122"/>
                        </a:rPr>
                        <a:t>控制</a:t>
                      </a:r>
                      <a:r>
                        <a:rPr lang="en-US" sz="1200" dirty="0" err="1">
                          <a:latin typeface="思源黑体" panose="020B0500000000000000" charset="-122"/>
                          <a:ea typeface="思源黑体" panose="020B0500000000000000" charset="-122"/>
                        </a:rPr>
                        <a:t>外设</a:t>
                      </a:r>
                      <a:endParaRPr lang="en-US" altLang="en-US" sz="1200" dirty="0" err="1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8PWM+4TCON+3CAP+QEP+延时滤波+运算加速单元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buNone/>
                      </a:pP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ADC 12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位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16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通道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A3带温度传感器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buNone/>
                      </a:pP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（除法+开方+反正切+帕克变换+32位乘法移位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528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模拟外设</a:t>
                      </a:r>
                      <a:endParaRPr lang="en-US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1OPA+3PGA+5比较器+温度传感器</a:t>
                      </a:r>
                      <a:endParaRPr lang="en-US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集成化配置</a:t>
                      </a:r>
                      <a:endParaRPr lang="en-US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12V-LDO、6NMOS预驱</a:t>
                      </a:r>
                      <a:r>
                        <a:rPr lang="zh-CN" altLang="en-US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endParaRPr lang="en-US" altLang="zh-CN" sz="10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258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电机驱动方式</a:t>
                      </a:r>
                      <a:endParaRPr lang="en-US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有感</a:t>
                      </a: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en-US" sz="1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无感方波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</a:t>
                      </a:r>
                      <a:r>
                        <a:rPr lang="en-US" sz="1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有感</a:t>
                      </a: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en-US" sz="1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无感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正弦波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99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封装</a:t>
                      </a:r>
                      <a:endParaRPr lang="zh-CN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QFN48\QFP48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7*7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817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 dirty="0">
                          <a:latin typeface="思源黑体" panose="020B0500000000000000" charset="-122"/>
                          <a:ea typeface="思源黑体" panose="020B0500000000000000" charset="-122"/>
                        </a:rPr>
                        <a:t>温度范围</a:t>
                      </a:r>
                      <a:endParaRPr lang="zh-CN" altLang="en-US" sz="1200" dirty="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  <a:p>
                      <a:pPr indent="0" algn="l">
                        <a:buNone/>
                      </a:pPr>
                      <a:r>
                        <a:rPr lang="zh-CN" altLang="en-US" sz="1200" dirty="0">
                          <a:latin typeface="思源黑体" panose="020B0500000000000000" charset="-122"/>
                          <a:ea typeface="思源黑体" panose="020B0500000000000000" charset="-122"/>
                        </a:rPr>
                        <a:t>车规认证</a:t>
                      </a:r>
                      <a:endParaRPr lang="zh-CN" altLang="en-US" sz="1200" dirty="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-40-150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°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</a:t>
                      </a:r>
                      <a:endParaRPr lang="en-US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buNone/>
                      </a:pPr>
                      <a:r>
                        <a:rPr lang="en-US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AEC-Q100</a:t>
                      </a:r>
                      <a:endParaRPr lang="en-US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" name="对象 2"/>
          <p:cNvGraphicFramePr/>
          <p:nvPr/>
        </p:nvGraphicFramePr>
        <p:xfrm>
          <a:off x="5567680" y="1644650"/>
          <a:ext cx="5796280" cy="4074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3" imgW="6485890" imgH="4225290" progId="Visio.Drawing.11">
                  <p:embed/>
                </p:oleObj>
              </mc:Choice>
              <mc:Fallback>
                <p:oleObj name="" r:id="rId3" imgW="6485890" imgH="4225290" progId="Visio.Drawing.11">
                  <p:embed/>
                  <p:pic>
                    <p:nvPicPr>
                      <p:cNvPr id="0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67680" y="1644650"/>
                        <a:ext cx="5796280" cy="40741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 invX="1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763905" y="1371600"/>
          <a:ext cx="4607560" cy="4897120"/>
        </p:xfrm>
        <a:graphic>
          <a:graphicData uri="http://schemas.openxmlformats.org/drawingml/2006/table">
            <a:tbl>
              <a:tblPr firstRow="1" firstCol="1"/>
              <a:tblGrid>
                <a:gridCol w="1245235"/>
                <a:gridCol w="3362325"/>
              </a:tblGrid>
              <a:tr h="39306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en-US" sz="1400" dirty="0">
                          <a:latin typeface="思源黑体" panose="020B0500000000000000" charset="-122"/>
                          <a:ea typeface="思源黑体" panose="020B0500000000000000" charset="-122"/>
                        </a:rPr>
                        <a:t>型号</a:t>
                      </a:r>
                      <a:endParaRPr lang="en-US" altLang="en-US" sz="1400" dirty="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400" dirty="0">
                          <a:solidFill>
                            <a:srgbClr val="00B0F0"/>
                          </a:solidFill>
                          <a:latin typeface="思源黑体" panose="020B0500000000000000" charset="-122"/>
                          <a:ea typeface="思源黑体" panose="020B0500000000000000" charset="-122"/>
                          <a:cs typeface="思源黑体" panose="020B0500000000000000" charset="-122"/>
                        </a:rPr>
                        <a:t>ADM16F03A2QN56Q</a:t>
                      </a:r>
                      <a:r>
                        <a:rPr lang="zh-CN" altLang="en-US" sz="1400" dirty="0">
                          <a:solidFill>
                            <a:srgbClr val="00B0F0"/>
                          </a:solidFill>
                          <a:latin typeface="思源黑体" panose="020B0500000000000000" charset="-122"/>
                          <a:ea typeface="思源黑体" panose="020B0500000000000000" charset="-122"/>
                          <a:cs typeface="思源黑体" panose="020B0500000000000000" charset="-122"/>
                        </a:rPr>
                        <a:t>车规级</a:t>
                      </a:r>
                      <a:endParaRPr lang="zh-CN" altLang="en-US" sz="1400" dirty="0">
                        <a:solidFill>
                          <a:srgbClr val="00B0F0"/>
                        </a:solidFill>
                        <a:latin typeface="思源黑体" panose="020B0500000000000000" charset="-122"/>
                        <a:ea typeface="思源黑体" panose="020B0500000000000000" charset="-122"/>
                        <a:cs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 dirty="0" err="1">
                          <a:latin typeface="思源黑体" panose="020B0500000000000000" charset="-122"/>
                          <a:ea typeface="思源黑体" panose="020B0500000000000000" charset="-122"/>
                        </a:rPr>
                        <a:t>主频</a:t>
                      </a:r>
                      <a:endParaRPr lang="en-US" altLang="en-US" sz="1200" dirty="0" err="1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150MHz</a:t>
                      </a:r>
                      <a:endParaRPr lang="en-US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单电源供电</a:t>
                      </a:r>
                      <a:endParaRPr lang="zh-CN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en-US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4.5-40V</a:t>
                      </a:r>
                      <a:endParaRPr lang="en-US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耐压</a:t>
                      </a:r>
                      <a:endParaRPr lang="zh-CN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40V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500ms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750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存储资源</a:t>
                      </a:r>
                      <a:endParaRPr lang="en-US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Flash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</a:t>
                      </a: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64KB DARAM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</a:t>
                      </a: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8KB </a:t>
                      </a:r>
                      <a:endParaRPr lang="en-US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通讯接口</a:t>
                      </a:r>
                      <a:endParaRPr lang="en-US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SCI</a:t>
                      </a:r>
                      <a:r>
                        <a:rPr lang="zh-CN" altLang="en-US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（配置成</a:t>
                      </a:r>
                      <a:r>
                        <a:rPr lang="en-US" altLang="zh-CN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LIN</a:t>
                      </a:r>
                      <a:r>
                        <a:rPr lang="zh-CN" altLang="en-US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接口）</a:t>
                      </a:r>
                      <a:endParaRPr lang="zh-CN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674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 dirty="0">
                          <a:latin typeface="思源黑体" panose="020B0500000000000000" charset="-122"/>
                          <a:ea typeface="思源黑体" panose="020B0500000000000000" charset="-122"/>
                        </a:rPr>
                        <a:t>控制</a:t>
                      </a:r>
                      <a:r>
                        <a:rPr lang="en-US" sz="1200" dirty="0" err="1">
                          <a:latin typeface="思源黑体" panose="020B0500000000000000" charset="-122"/>
                          <a:ea typeface="思源黑体" panose="020B0500000000000000" charset="-122"/>
                        </a:rPr>
                        <a:t>外设</a:t>
                      </a:r>
                      <a:endParaRPr lang="en-US" altLang="en-US" sz="1200" dirty="0" err="1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8PWM+4TCON+3CAP+QEP+延时滤波+运算加速单元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buNone/>
                      </a:pP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ADC 12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位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16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通道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A3带温度传感器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buNone/>
                      </a:pP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（除法+开方+反正切+帕克变换+32位乘法移位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模拟外设</a:t>
                      </a:r>
                      <a:endParaRPr lang="en-US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1OPA+3PGA+5比较器+温度传感器</a:t>
                      </a:r>
                      <a:endParaRPr lang="en-US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08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集成化配置</a:t>
                      </a:r>
                      <a:endParaRPr lang="en-US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12V-LDO、6NMOS预驱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buNone/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LIN-PHY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（低功耗休眠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&amp;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远程唤醒）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623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电机驱动方式</a:t>
                      </a:r>
                      <a:endParaRPr lang="en-US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有感</a:t>
                      </a: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en-US" sz="1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无感方波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</a:t>
                      </a:r>
                      <a:r>
                        <a:rPr lang="en-US" sz="1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有感</a:t>
                      </a: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en-US" sz="1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无感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正弦波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654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封装</a:t>
                      </a:r>
                      <a:endParaRPr lang="zh-CN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QFN</a:t>
                      </a: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56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7*7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 dirty="0">
                          <a:latin typeface="思源黑体" panose="020B0500000000000000" charset="-122"/>
                          <a:ea typeface="思源黑体" panose="020B0500000000000000" charset="-122"/>
                        </a:rPr>
                        <a:t>温度范围</a:t>
                      </a:r>
                      <a:endParaRPr lang="zh-CN" altLang="en-US" sz="1200" dirty="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  <a:p>
                      <a:pPr indent="0" algn="l">
                        <a:buNone/>
                      </a:pPr>
                      <a:r>
                        <a:rPr lang="zh-CN" altLang="en-US" sz="1200" dirty="0">
                          <a:latin typeface="思源黑体" panose="020B0500000000000000" charset="-122"/>
                          <a:ea typeface="思源黑体" panose="020B0500000000000000" charset="-122"/>
                        </a:rPr>
                        <a:t>车规认证</a:t>
                      </a:r>
                      <a:endParaRPr lang="zh-CN" altLang="en-US" sz="1200" dirty="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-40-150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°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</a:t>
                      </a:r>
                      <a:endParaRPr lang="en-US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buNone/>
                      </a:pPr>
                      <a:r>
                        <a:rPr lang="en-US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AEC-Q100</a:t>
                      </a:r>
                      <a:endParaRPr lang="en-US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" name="对象 2"/>
          <p:cNvGraphicFramePr/>
          <p:nvPr/>
        </p:nvGraphicFramePr>
        <p:xfrm>
          <a:off x="5582285" y="1695450"/>
          <a:ext cx="5777865" cy="3898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2" imgW="6582410" imgH="4225290" progId="Visio.Drawing.11">
                  <p:embed/>
                </p:oleObj>
              </mc:Choice>
              <mc:Fallback>
                <p:oleObj name="" r:id="rId2" imgW="6582410" imgH="4225290" progId="Visio.Drawing.11">
                  <p:embed/>
                  <p:pic>
                    <p:nvPicPr>
                      <p:cNvPr id="0" name="对象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582285" y="1695450"/>
                        <a:ext cx="5777865" cy="38982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315595" y="244475"/>
            <a:ext cx="3382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热管理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SOC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芯片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2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 invX="1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/>
          <p:nvPr/>
        </p:nvGraphicFramePr>
        <p:xfrm>
          <a:off x="5633085" y="1668780"/>
          <a:ext cx="5773420" cy="4118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6957695" imgH="4236720" progId="Visio.Drawing.11">
                  <p:embed/>
                </p:oleObj>
              </mc:Choice>
              <mc:Fallback>
                <p:oleObj name="" r:id="rId1" imgW="6957695" imgH="4236720" progId="Visio.Drawing.11">
                  <p:embed/>
                  <p:pic>
                    <p:nvPicPr>
                      <p:cNvPr id="0" name="对象 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633085" y="1668780"/>
                        <a:ext cx="5773420" cy="41186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表格 2"/>
          <p:cNvGraphicFramePr/>
          <p:nvPr>
            <p:custDataLst>
              <p:tags r:id="rId3"/>
            </p:custDataLst>
          </p:nvPr>
        </p:nvGraphicFramePr>
        <p:xfrm>
          <a:off x="784860" y="1496060"/>
          <a:ext cx="4607560" cy="4666615"/>
        </p:xfrm>
        <a:graphic>
          <a:graphicData uri="http://schemas.openxmlformats.org/drawingml/2006/table">
            <a:tbl>
              <a:tblPr firstRow="1" firstCol="1"/>
              <a:tblGrid>
                <a:gridCol w="1245235"/>
                <a:gridCol w="3362325"/>
              </a:tblGrid>
              <a:tr h="39179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en-US" sz="1400" dirty="0">
                          <a:latin typeface="思源黑体" panose="020B0500000000000000" charset="-122"/>
                          <a:ea typeface="思源黑体" panose="020B0500000000000000" charset="-122"/>
                        </a:rPr>
                        <a:t>型号</a:t>
                      </a:r>
                      <a:endParaRPr lang="en-US" altLang="en-US" sz="1400" dirty="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400" dirty="0">
                          <a:solidFill>
                            <a:srgbClr val="00B0F0"/>
                          </a:solidFill>
                          <a:latin typeface="思源黑体" panose="020B0500000000000000" charset="-122"/>
                          <a:ea typeface="思源黑体" panose="020B0500000000000000" charset="-122"/>
                          <a:cs typeface="思源黑体" panose="020B0500000000000000" charset="-122"/>
                        </a:rPr>
                        <a:t>ADP32F036AQN48Q</a:t>
                      </a:r>
                      <a:r>
                        <a:rPr lang="zh-CN" altLang="en-US" sz="1400" dirty="0">
                          <a:solidFill>
                            <a:srgbClr val="00B0F0"/>
                          </a:solidFill>
                          <a:latin typeface="思源黑体" panose="020B0500000000000000" charset="-122"/>
                          <a:ea typeface="思源黑体" panose="020B0500000000000000" charset="-122"/>
                          <a:cs typeface="思源黑体" panose="020B0500000000000000" charset="-122"/>
                        </a:rPr>
                        <a:t>车规级</a:t>
                      </a:r>
                      <a:endParaRPr lang="zh-CN" altLang="en-US" sz="1400" dirty="0">
                        <a:solidFill>
                          <a:srgbClr val="00B0F0"/>
                        </a:solidFill>
                        <a:latin typeface="思源黑体" panose="020B0500000000000000" charset="-122"/>
                        <a:ea typeface="思源黑体" panose="020B0500000000000000" charset="-122"/>
                        <a:cs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 dirty="0" err="1">
                          <a:latin typeface="思源黑体" panose="020B0500000000000000" charset="-122"/>
                          <a:ea typeface="思源黑体" panose="020B0500000000000000" charset="-122"/>
                        </a:rPr>
                        <a:t>主频</a:t>
                      </a:r>
                      <a:endParaRPr lang="en-US" altLang="en-US" sz="1200" dirty="0" err="1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100MHz</a:t>
                      </a:r>
                      <a:endParaRPr lang="en-US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80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单电源供电</a:t>
                      </a:r>
                      <a:endParaRPr lang="zh-CN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en-US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4.5-60V  </a:t>
                      </a: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ECC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自检</a:t>
                      </a:r>
                      <a:endParaRPr lang="en-US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耐压</a:t>
                      </a:r>
                      <a:endParaRPr lang="zh-CN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60V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500ms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623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存储资源</a:t>
                      </a:r>
                      <a:endParaRPr lang="en-US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Flash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128</a:t>
                      </a: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KB DARAM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36</a:t>
                      </a: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KB  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通讯接口</a:t>
                      </a:r>
                      <a:endParaRPr lang="en-US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zh-CN" sz="1000" dirty="0">
                          <a:solidFill>
                            <a:srgbClr val="00B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CANFD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/SPI/SCI/CAN/LIN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思源黑体" panose="020B0500000000000000" charset="-122"/>
                        <a:sym typeface="+mn-ea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 dirty="0">
                          <a:latin typeface="思源黑体" panose="020B0500000000000000" charset="-122"/>
                          <a:ea typeface="思源黑体" panose="020B0500000000000000" charset="-122"/>
                        </a:rPr>
                        <a:t>控制</a:t>
                      </a:r>
                      <a:r>
                        <a:rPr lang="en-US" sz="1200" dirty="0" err="1">
                          <a:latin typeface="思源黑体" panose="020B0500000000000000" charset="-122"/>
                          <a:ea typeface="思源黑体" panose="020B0500000000000000" charset="-122"/>
                        </a:rPr>
                        <a:t>外设</a:t>
                      </a:r>
                      <a:endParaRPr lang="en-US" altLang="en-US" sz="1200" dirty="0" err="1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思源黑体" panose="020B0500000000000000" charset="-122"/>
                        </a:rPr>
                        <a:t>10PWM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模拟外设</a:t>
                      </a:r>
                      <a:endParaRPr lang="en-US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1OPA+3PGA+3比较器+温度传感器</a:t>
                      </a:r>
                      <a:endParaRPr lang="en-US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481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集成化配置</a:t>
                      </a:r>
                      <a:endParaRPr lang="en-US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思源黑体" panose="020B0500000000000000" charset="-122"/>
                        </a:rPr>
                        <a:t>12V-LDO </a:t>
                      </a:r>
                      <a:endParaRPr lang="en-US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496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电机驱动方式</a:t>
                      </a:r>
                      <a:endParaRPr lang="en-US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有感</a:t>
                      </a: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en-US" sz="1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无感方波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</a:t>
                      </a:r>
                      <a:r>
                        <a:rPr lang="en-US" sz="1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有感</a:t>
                      </a: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en-US" sz="1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无感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正弦波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封装</a:t>
                      </a:r>
                      <a:endParaRPr lang="zh-CN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QFN</a:t>
                      </a: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48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 dirty="0">
                          <a:latin typeface="思源黑体" panose="020B0500000000000000" charset="-122"/>
                          <a:ea typeface="思源黑体" panose="020B0500000000000000" charset="-122"/>
                        </a:rPr>
                        <a:t>温度范围</a:t>
                      </a:r>
                      <a:endParaRPr lang="zh-CN" altLang="en-US" sz="1200" dirty="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  <a:p>
                      <a:pPr indent="0" algn="l">
                        <a:buNone/>
                      </a:pPr>
                      <a:r>
                        <a:rPr lang="zh-CN" altLang="en-US" sz="1200" dirty="0">
                          <a:latin typeface="思源黑体" panose="020B0500000000000000" charset="-122"/>
                          <a:ea typeface="思源黑体" panose="020B0500000000000000" charset="-122"/>
                        </a:rPr>
                        <a:t>车规认证</a:t>
                      </a:r>
                      <a:endParaRPr lang="zh-CN" altLang="en-US" sz="1200" dirty="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-40-150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°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</a:t>
                      </a:r>
                      <a:endParaRPr lang="en-US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buNone/>
                      </a:pPr>
                      <a:r>
                        <a:rPr lang="en-US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AEC-Q100</a:t>
                      </a:r>
                      <a:endParaRPr lang="en-US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315595" y="244475"/>
            <a:ext cx="3382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热管理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SOC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芯片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3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 invX="1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784860" y="1464945"/>
          <a:ext cx="4597400" cy="4697730"/>
        </p:xfrm>
        <a:graphic>
          <a:graphicData uri="http://schemas.openxmlformats.org/drawingml/2006/table">
            <a:tbl>
              <a:tblPr firstRow="1" firstCol="1"/>
              <a:tblGrid>
                <a:gridCol w="1242695"/>
                <a:gridCol w="3354705"/>
              </a:tblGrid>
              <a:tr h="39433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en-US" sz="1400" dirty="0">
                          <a:latin typeface="思源黑体" panose="020B0500000000000000" charset="-122"/>
                          <a:ea typeface="思源黑体" panose="020B0500000000000000" charset="-122"/>
                        </a:rPr>
                        <a:t>型号</a:t>
                      </a:r>
                      <a:endParaRPr lang="en-US" altLang="en-US" sz="1400" dirty="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400" dirty="0">
                          <a:solidFill>
                            <a:srgbClr val="00B0F0"/>
                          </a:solidFill>
                          <a:latin typeface="思源黑体" panose="020B0500000000000000" charset="-122"/>
                          <a:ea typeface="思源黑体" panose="020B0500000000000000" charset="-122"/>
                          <a:cs typeface="思源黑体" panose="020B0500000000000000" charset="-122"/>
                        </a:rPr>
                        <a:t>ADM32F036QN56Q</a:t>
                      </a:r>
                      <a:r>
                        <a:rPr lang="zh-CN" altLang="en-US" sz="1400" dirty="0">
                          <a:solidFill>
                            <a:srgbClr val="00B0F0"/>
                          </a:solidFill>
                          <a:latin typeface="思源黑体" panose="020B0500000000000000" charset="-122"/>
                          <a:ea typeface="思源黑体" panose="020B0500000000000000" charset="-122"/>
                          <a:cs typeface="思源黑体" panose="020B0500000000000000" charset="-122"/>
                        </a:rPr>
                        <a:t>车规级</a:t>
                      </a:r>
                      <a:endParaRPr lang="zh-CN" altLang="en-US" sz="1400" dirty="0">
                        <a:solidFill>
                          <a:srgbClr val="00B0F0"/>
                        </a:solidFill>
                        <a:latin typeface="思源黑体" panose="020B0500000000000000" charset="-122"/>
                        <a:ea typeface="思源黑体" panose="020B0500000000000000" charset="-122"/>
                        <a:cs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 dirty="0" err="1">
                          <a:latin typeface="思源黑体" panose="020B0500000000000000" charset="-122"/>
                          <a:ea typeface="思源黑体" panose="020B0500000000000000" charset="-122"/>
                        </a:rPr>
                        <a:t>主频</a:t>
                      </a:r>
                      <a:endParaRPr lang="en-US" altLang="en-US" sz="1200" dirty="0" err="1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100MHz</a:t>
                      </a:r>
                      <a:endParaRPr lang="en-US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671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单电源供电</a:t>
                      </a:r>
                      <a:endParaRPr lang="zh-CN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en-US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4.5-60V  </a:t>
                      </a: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ECC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自检</a:t>
                      </a:r>
                      <a:endParaRPr lang="en-US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耐压</a:t>
                      </a:r>
                      <a:endParaRPr lang="zh-CN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60V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500ms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存储资源</a:t>
                      </a:r>
                      <a:endParaRPr lang="en-US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Flash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128</a:t>
                      </a: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KB DARAM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36</a:t>
                      </a: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KB  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12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通讯接口</a:t>
                      </a:r>
                      <a:endParaRPr lang="en-US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zh-CN" sz="1000" dirty="0">
                          <a:solidFill>
                            <a:srgbClr val="00B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CANFD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/SPI/SCI/CAN/LIN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思源黑体" panose="020B0500000000000000" charset="-122"/>
                        <a:sym typeface="+mn-ea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 dirty="0">
                          <a:latin typeface="思源黑体" panose="020B0500000000000000" charset="-122"/>
                          <a:ea typeface="思源黑体" panose="020B0500000000000000" charset="-122"/>
                        </a:rPr>
                        <a:t>控制</a:t>
                      </a:r>
                      <a:r>
                        <a:rPr lang="en-US" sz="1200" dirty="0" err="1">
                          <a:latin typeface="思源黑体" panose="020B0500000000000000" charset="-122"/>
                          <a:ea typeface="思源黑体" panose="020B0500000000000000" charset="-122"/>
                        </a:rPr>
                        <a:t>外设</a:t>
                      </a:r>
                      <a:endParaRPr lang="en-US" altLang="en-US" sz="1200" dirty="0" err="1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思源黑体" panose="020B0500000000000000" charset="-122"/>
                        </a:rPr>
                        <a:t>10PWM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258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模拟外设</a:t>
                      </a:r>
                      <a:endParaRPr lang="en-US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1OPA+3PGA+3比较器+温度传感器</a:t>
                      </a:r>
                      <a:endParaRPr lang="en-US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35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集成化配置</a:t>
                      </a:r>
                      <a:endParaRPr lang="en-US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12V-LDO、6NMOS预驱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750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电机驱动方式</a:t>
                      </a:r>
                      <a:endParaRPr lang="en-US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有感</a:t>
                      </a: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en-US" sz="1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无感方波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</a:t>
                      </a:r>
                      <a:r>
                        <a:rPr lang="en-US" sz="1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有感</a:t>
                      </a: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en-US" sz="1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无感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正弦波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封装</a:t>
                      </a:r>
                      <a:endParaRPr lang="zh-CN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QFN</a:t>
                      </a: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56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7*7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118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 dirty="0">
                          <a:latin typeface="思源黑体" panose="020B0500000000000000" charset="-122"/>
                          <a:ea typeface="思源黑体" panose="020B0500000000000000" charset="-122"/>
                        </a:rPr>
                        <a:t>温度范围</a:t>
                      </a:r>
                      <a:endParaRPr lang="zh-CN" altLang="en-US" sz="1200" dirty="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  <a:p>
                      <a:pPr indent="0" algn="l">
                        <a:buNone/>
                      </a:pPr>
                      <a:r>
                        <a:rPr lang="zh-CN" altLang="en-US" sz="1200" dirty="0">
                          <a:latin typeface="思源黑体" panose="020B0500000000000000" charset="-122"/>
                          <a:ea typeface="思源黑体" panose="020B0500000000000000" charset="-122"/>
                        </a:rPr>
                        <a:t>车规认证</a:t>
                      </a:r>
                      <a:endParaRPr lang="zh-CN" altLang="en-US" sz="1200" dirty="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-40-150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°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</a:t>
                      </a:r>
                      <a:endParaRPr lang="en-US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buNone/>
                      </a:pPr>
                      <a:r>
                        <a:rPr lang="en-US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AEC-Q100</a:t>
                      </a:r>
                      <a:endParaRPr lang="en-US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" name="对象 2"/>
          <p:cNvGraphicFramePr/>
          <p:nvPr/>
        </p:nvGraphicFramePr>
        <p:xfrm>
          <a:off x="4989830" y="1872615"/>
          <a:ext cx="6416675" cy="3621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2" imgW="6957695" imgH="4225290" progId="Visio.Drawing.11">
                  <p:embed/>
                </p:oleObj>
              </mc:Choice>
              <mc:Fallback>
                <p:oleObj name="" r:id="rId2" imgW="6957695" imgH="4225290" progId="Visio.Drawing.11">
                  <p:embed/>
                  <p:pic>
                    <p:nvPicPr>
                      <p:cNvPr id="0" name="对象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989830" y="1872615"/>
                        <a:ext cx="6416675" cy="36214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315595" y="244475"/>
            <a:ext cx="3382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热管理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SOC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芯片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4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 invX="1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784860" y="1393825"/>
          <a:ext cx="4607560" cy="4768850"/>
        </p:xfrm>
        <a:graphic>
          <a:graphicData uri="http://schemas.openxmlformats.org/drawingml/2006/table">
            <a:tbl>
              <a:tblPr firstRow="1" firstCol="1"/>
              <a:tblGrid>
                <a:gridCol w="1245235"/>
                <a:gridCol w="3362325"/>
              </a:tblGrid>
              <a:tr h="40068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en-US" sz="1400" dirty="0">
                          <a:latin typeface="思源黑体" panose="020B0500000000000000" charset="-122"/>
                          <a:ea typeface="思源黑体" panose="020B0500000000000000" charset="-122"/>
                        </a:rPr>
                        <a:t>型号</a:t>
                      </a:r>
                      <a:endParaRPr lang="en-US" altLang="en-US" sz="1400" dirty="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400" dirty="0">
                          <a:solidFill>
                            <a:srgbClr val="00B0F0"/>
                          </a:solidFill>
                          <a:latin typeface="思源黑体" panose="020B0500000000000000" charset="-122"/>
                          <a:ea typeface="思源黑体" panose="020B0500000000000000" charset="-122"/>
                          <a:cs typeface="思源黑体" panose="020B0500000000000000" charset="-122"/>
                        </a:rPr>
                        <a:t>ADM32F036A2QN56Q</a:t>
                      </a:r>
                      <a:r>
                        <a:rPr lang="zh-CN" altLang="en-US" sz="1400" dirty="0">
                          <a:solidFill>
                            <a:srgbClr val="00B0F0"/>
                          </a:solidFill>
                          <a:latin typeface="思源黑体" panose="020B0500000000000000" charset="-122"/>
                          <a:ea typeface="思源黑体" panose="020B0500000000000000" charset="-122"/>
                          <a:cs typeface="思源黑体" panose="020B0500000000000000" charset="-122"/>
                        </a:rPr>
                        <a:t>车规级</a:t>
                      </a:r>
                      <a:endParaRPr lang="zh-CN" altLang="en-US" sz="1400" dirty="0">
                        <a:solidFill>
                          <a:srgbClr val="00B0F0"/>
                        </a:solidFill>
                        <a:latin typeface="思源黑体" panose="020B0500000000000000" charset="-122"/>
                        <a:ea typeface="思源黑体" panose="020B0500000000000000" charset="-122"/>
                        <a:cs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 dirty="0" err="1">
                          <a:latin typeface="思源黑体" panose="020B0500000000000000" charset="-122"/>
                          <a:ea typeface="思源黑体" panose="020B0500000000000000" charset="-122"/>
                        </a:rPr>
                        <a:t>主频</a:t>
                      </a:r>
                      <a:endParaRPr lang="en-US" altLang="en-US" sz="1200" dirty="0" err="1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100MHz</a:t>
                      </a:r>
                      <a:endParaRPr lang="en-US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单电源供电</a:t>
                      </a:r>
                      <a:endParaRPr lang="zh-CN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en-US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4.5-40V  </a:t>
                      </a: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ECC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自检</a:t>
                      </a:r>
                      <a:endParaRPr lang="en-US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179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耐压</a:t>
                      </a:r>
                      <a:endParaRPr lang="zh-CN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40V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500ms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449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存储资源</a:t>
                      </a:r>
                      <a:endParaRPr lang="en-US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Flash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128</a:t>
                      </a: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KB DARAM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36</a:t>
                      </a: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KB  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910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通讯接口</a:t>
                      </a:r>
                      <a:endParaRPr lang="en-US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CANFD/SPI/SCI/CAN/LIN</a:t>
                      </a:r>
                      <a:endParaRPr lang="en-US" altLang="zh-CN" sz="1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思源黑体" panose="020B0500000000000000" charset="-122"/>
                        <a:sym typeface="+mn-ea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783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 dirty="0">
                          <a:latin typeface="思源黑体" panose="020B0500000000000000" charset="-122"/>
                          <a:ea typeface="思源黑体" panose="020B0500000000000000" charset="-122"/>
                        </a:rPr>
                        <a:t>控制</a:t>
                      </a:r>
                      <a:r>
                        <a:rPr lang="en-US" sz="1200" dirty="0" err="1">
                          <a:latin typeface="思源黑体" panose="020B0500000000000000" charset="-122"/>
                          <a:ea typeface="思源黑体" panose="020B0500000000000000" charset="-122"/>
                        </a:rPr>
                        <a:t>外设</a:t>
                      </a:r>
                      <a:endParaRPr lang="en-US" altLang="en-US" sz="1200" dirty="0" err="1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思源黑体" panose="020B0500000000000000" charset="-122"/>
                        </a:rPr>
                        <a:t>10PWM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766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模拟外设</a:t>
                      </a:r>
                      <a:endParaRPr lang="en-US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1OPA+3PGA+3比较器+温度传感器</a:t>
                      </a:r>
                      <a:endParaRPr lang="en-US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370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集成化配置</a:t>
                      </a:r>
                      <a:endParaRPr lang="en-US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12V-LDO、6NMOS预驱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buNone/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LIN-PHY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（低功耗休眠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&amp;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远程唤醒）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22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电机驱动方式</a:t>
                      </a:r>
                      <a:endParaRPr lang="en-US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有感</a:t>
                      </a: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en-US" sz="1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无感方波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</a:t>
                      </a:r>
                      <a:r>
                        <a:rPr lang="en-US" sz="1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有感</a:t>
                      </a: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en-US" sz="1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无感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正弦波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封装</a:t>
                      </a:r>
                      <a:endParaRPr lang="zh-CN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QFN</a:t>
                      </a: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56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7*7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 dirty="0">
                          <a:latin typeface="思源黑体" panose="020B0500000000000000" charset="-122"/>
                          <a:ea typeface="思源黑体" panose="020B0500000000000000" charset="-122"/>
                        </a:rPr>
                        <a:t>温度范围</a:t>
                      </a:r>
                      <a:endParaRPr lang="zh-CN" altLang="en-US" sz="1200" dirty="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  <a:p>
                      <a:pPr indent="0" algn="l">
                        <a:buNone/>
                      </a:pPr>
                      <a:r>
                        <a:rPr lang="zh-CN" altLang="en-US" sz="1200" dirty="0">
                          <a:latin typeface="思源黑体" panose="020B0500000000000000" charset="-122"/>
                          <a:ea typeface="思源黑体" panose="020B0500000000000000" charset="-122"/>
                        </a:rPr>
                        <a:t>车规认证</a:t>
                      </a:r>
                      <a:endParaRPr lang="zh-CN" altLang="en-US" sz="1200" dirty="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-40-150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°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</a:t>
                      </a:r>
                      <a:endParaRPr lang="en-US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buNone/>
                      </a:pPr>
                      <a:r>
                        <a:rPr lang="en-US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AEC-Q100</a:t>
                      </a:r>
                      <a:endParaRPr lang="en-US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" name="对象 2"/>
          <p:cNvGraphicFramePr/>
          <p:nvPr/>
        </p:nvGraphicFramePr>
        <p:xfrm>
          <a:off x="4571365" y="1640205"/>
          <a:ext cx="6777355" cy="4116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2" imgW="6957695" imgH="4225290" progId="Visio.Drawing.11">
                  <p:embed/>
                </p:oleObj>
              </mc:Choice>
              <mc:Fallback>
                <p:oleObj name="" r:id="rId2" imgW="6957695" imgH="4225290" progId="Visio.Drawing.11">
                  <p:embed/>
                  <p:pic>
                    <p:nvPicPr>
                      <p:cNvPr id="0" name="对象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71365" y="1640205"/>
                        <a:ext cx="6777355" cy="41160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315595" y="244475"/>
            <a:ext cx="3382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热管理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SOC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芯片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5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 invX="1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4190" y="1878330"/>
            <a:ext cx="5822950" cy="3723640"/>
          </a:xfrm>
          <a:prstGeom prst="rect">
            <a:avLst/>
          </a:prstGeom>
        </p:spPr>
      </p:pic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784860" y="1605280"/>
          <a:ext cx="4217035" cy="4527550"/>
        </p:xfrm>
        <a:graphic>
          <a:graphicData uri="http://schemas.openxmlformats.org/drawingml/2006/table">
            <a:tbl>
              <a:tblPr firstRow="1" firstCol="1"/>
              <a:tblGrid>
                <a:gridCol w="1139825"/>
                <a:gridCol w="3077210"/>
              </a:tblGrid>
              <a:tr h="37465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en-US" sz="1400" dirty="0">
                          <a:latin typeface="思源黑体" panose="020B0500000000000000" charset="-122"/>
                          <a:ea typeface="思源黑体" panose="020B0500000000000000" charset="-122"/>
                        </a:rPr>
                        <a:t>型号</a:t>
                      </a:r>
                      <a:endParaRPr lang="en-US" altLang="en-US" sz="1400" dirty="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400" dirty="0">
                          <a:solidFill>
                            <a:srgbClr val="00B0F0"/>
                          </a:solidFill>
                          <a:latin typeface="思源黑体" panose="020B0500000000000000" charset="-122"/>
                          <a:ea typeface="思源黑体" panose="020B0500000000000000" charset="-122"/>
                          <a:cs typeface="思源黑体" panose="020B0500000000000000" charset="-122"/>
                        </a:rPr>
                        <a:t>ADM32F036A3QN56Q</a:t>
                      </a:r>
                      <a:r>
                        <a:rPr lang="zh-CN" altLang="en-US" sz="1400" dirty="0">
                          <a:solidFill>
                            <a:srgbClr val="00B0F0"/>
                          </a:solidFill>
                          <a:latin typeface="思源黑体" panose="020B0500000000000000" charset="-122"/>
                          <a:ea typeface="思源黑体" panose="020B0500000000000000" charset="-122"/>
                          <a:cs typeface="思源黑体" panose="020B0500000000000000" charset="-122"/>
                        </a:rPr>
                        <a:t>车规级</a:t>
                      </a:r>
                      <a:endParaRPr lang="zh-CN" altLang="en-US" sz="1400" dirty="0">
                        <a:solidFill>
                          <a:srgbClr val="00B0F0"/>
                        </a:solidFill>
                        <a:latin typeface="思源黑体" panose="020B0500000000000000" charset="-122"/>
                        <a:ea typeface="思源黑体" panose="020B0500000000000000" charset="-122"/>
                        <a:cs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 dirty="0" err="1">
                          <a:latin typeface="思源黑体" panose="020B0500000000000000" charset="-122"/>
                          <a:ea typeface="思源黑体" panose="020B0500000000000000" charset="-122"/>
                        </a:rPr>
                        <a:t>主频</a:t>
                      </a:r>
                      <a:endParaRPr lang="en-US" altLang="en-US" sz="1200" dirty="0" err="1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100MHz</a:t>
                      </a:r>
                      <a:endParaRPr lang="en-US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单电源供电</a:t>
                      </a:r>
                      <a:endParaRPr lang="zh-CN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en-US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4.5-40V  </a:t>
                      </a: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ECC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自检</a:t>
                      </a:r>
                      <a:endParaRPr lang="en-US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39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耐压</a:t>
                      </a:r>
                      <a:endParaRPr lang="zh-CN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40V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500ms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163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存储资源</a:t>
                      </a:r>
                      <a:endParaRPr lang="en-US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Flash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128</a:t>
                      </a: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KB DARAM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36</a:t>
                      </a: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KB  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783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通讯接口</a:t>
                      </a:r>
                      <a:endParaRPr lang="en-US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zh-CN" sz="1000" dirty="0">
                          <a:solidFill>
                            <a:srgbClr val="00B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CANFD/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SPI/SCI/CAN/LIN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思源黑体" panose="020B0500000000000000" charset="-122"/>
                        <a:sym typeface="+mn-ea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418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 dirty="0">
                          <a:latin typeface="思源黑体" panose="020B0500000000000000" charset="-122"/>
                          <a:ea typeface="思源黑体" panose="020B0500000000000000" charset="-122"/>
                        </a:rPr>
                        <a:t>控制与保护</a:t>
                      </a:r>
                      <a:endParaRPr lang="zh-CN" altLang="en-US" sz="1200" dirty="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10PWM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、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低侧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VGL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，带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GDF\VDS\OTP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保护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17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模拟外设</a:t>
                      </a:r>
                      <a:endParaRPr lang="en-US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1(OPA)+3PGA+3比较器+温度传感器</a:t>
                      </a:r>
                      <a:endParaRPr lang="en-US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03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集成化配置</a:t>
                      </a:r>
                      <a:endParaRPr lang="en-US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12V-LDO、6NMOS预驱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VCP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buNone/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LIN-PHY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（低功耗休眠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&amp;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远程唤醒）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09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电机驱动方式</a:t>
                      </a:r>
                      <a:endParaRPr lang="en-US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有感</a:t>
                      </a: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en-US" sz="1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无感方波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</a:t>
                      </a:r>
                      <a:r>
                        <a:rPr lang="en-US" sz="1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有感</a:t>
                      </a: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en-US" sz="1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无感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正弦波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21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封装</a:t>
                      </a:r>
                      <a:endParaRPr lang="zh-CN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QFN</a:t>
                      </a:r>
                      <a:r>
                        <a:rPr 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56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5*5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 dirty="0">
                          <a:latin typeface="思源黑体" panose="020B0500000000000000" charset="-122"/>
                          <a:ea typeface="思源黑体" panose="020B0500000000000000" charset="-122"/>
                        </a:rPr>
                        <a:t>温度范围</a:t>
                      </a:r>
                      <a:endParaRPr lang="zh-CN" altLang="en-US" sz="1200" dirty="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  <a:p>
                      <a:pPr indent="0" algn="l">
                        <a:buNone/>
                      </a:pPr>
                      <a:r>
                        <a:rPr lang="zh-CN" altLang="en-US" sz="1200" dirty="0">
                          <a:latin typeface="思源黑体" panose="020B0500000000000000" charset="-122"/>
                          <a:ea typeface="思源黑体" panose="020B0500000000000000" charset="-122"/>
                        </a:rPr>
                        <a:t>车规认证</a:t>
                      </a:r>
                      <a:endParaRPr lang="zh-CN" altLang="en-US" sz="1200" dirty="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-40-150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°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</a:t>
                      </a:r>
                      <a:endParaRPr lang="en-US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buNone/>
                      </a:pPr>
                      <a:r>
                        <a:rPr lang="en-US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AEC-Q100</a:t>
                      </a:r>
                      <a:endParaRPr lang="en-US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315595" y="244475"/>
            <a:ext cx="3382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热管理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SOC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芯片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6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 invX="1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6090" y="2136140"/>
            <a:ext cx="5647690" cy="3641725"/>
          </a:xfrm>
          <a:prstGeom prst="rect">
            <a:avLst/>
          </a:prstGeom>
        </p:spPr>
      </p:pic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784860" y="1770380"/>
          <a:ext cx="4165600" cy="4373245"/>
        </p:xfrm>
        <a:graphic>
          <a:graphicData uri="http://schemas.openxmlformats.org/drawingml/2006/table">
            <a:tbl>
              <a:tblPr firstRow="1" firstCol="1"/>
              <a:tblGrid>
                <a:gridCol w="1125855"/>
                <a:gridCol w="3039745"/>
              </a:tblGrid>
              <a:tr h="36131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en-US" sz="1400" dirty="0">
                          <a:latin typeface="思源黑体" panose="020B0500000000000000" charset="-122"/>
                          <a:ea typeface="思源黑体" panose="020B0500000000000000" charset="-122"/>
                        </a:rPr>
                        <a:t>型号</a:t>
                      </a:r>
                      <a:endParaRPr lang="en-US" altLang="en-US" sz="1400" dirty="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400" dirty="0">
                          <a:solidFill>
                            <a:srgbClr val="00B0F0"/>
                          </a:solidFill>
                          <a:latin typeface="思源黑体" panose="020B0500000000000000" charset="-122"/>
                          <a:ea typeface="思源黑体" panose="020B0500000000000000" charset="-122"/>
                          <a:cs typeface="思源黑体" panose="020B0500000000000000" charset="-122"/>
                        </a:rPr>
                        <a:t>ADM32F036A4QN56Q</a:t>
                      </a:r>
                      <a:r>
                        <a:rPr lang="zh-CN" altLang="en-US" sz="1400" dirty="0">
                          <a:solidFill>
                            <a:srgbClr val="00B0F0"/>
                          </a:solidFill>
                          <a:latin typeface="思源黑体" panose="020B0500000000000000" charset="-122"/>
                          <a:ea typeface="思源黑体" panose="020B0500000000000000" charset="-122"/>
                          <a:cs typeface="思源黑体" panose="020B0500000000000000" charset="-122"/>
                        </a:rPr>
                        <a:t>车规级</a:t>
                      </a:r>
                      <a:endParaRPr lang="zh-CN" altLang="en-US" sz="1400" dirty="0">
                        <a:solidFill>
                          <a:srgbClr val="00B0F0"/>
                        </a:solidFill>
                        <a:latin typeface="思源黑体" panose="020B0500000000000000" charset="-122"/>
                        <a:ea typeface="思源黑体" panose="020B0500000000000000" charset="-122"/>
                        <a:cs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 dirty="0" err="1">
                          <a:latin typeface="思源黑体" panose="020B0500000000000000" charset="-122"/>
                          <a:ea typeface="思源黑体" panose="020B0500000000000000" charset="-122"/>
                        </a:rPr>
                        <a:t>主频</a:t>
                      </a:r>
                      <a:endParaRPr lang="en-US" altLang="en-US" sz="1200" dirty="0" err="1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100MHz</a:t>
                      </a:r>
                      <a:endParaRPr lang="en-US" altLang="en-US" sz="1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813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单电源供电</a:t>
                      </a:r>
                      <a:endParaRPr lang="zh-CN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en-US" sz="1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4.5-40V 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ECC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自检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306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耐压</a:t>
                      </a:r>
                      <a:endParaRPr lang="zh-CN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40V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500ms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893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存储资源</a:t>
                      </a:r>
                      <a:endParaRPr lang="en-US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Flash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128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KB DARAM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36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KB  </a:t>
                      </a:r>
                      <a:endParaRPr lang="en-US" altLang="en-US" sz="1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02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通讯接口</a:t>
                      </a:r>
                      <a:endParaRPr lang="en-US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CANFD/SPI/SCI/CAN/LIN</a:t>
                      </a:r>
                      <a:endParaRPr lang="en-US" altLang="zh-CN" sz="1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思源黑体" panose="020B0500000000000000" charset="-122"/>
                        <a:sym typeface="+mn-ea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 dirty="0">
                          <a:latin typeface="思源黑体" panose="020B0500000000000000" charset="-122"/>
                          <a:ea typeface="思源黑体" panose="020B0500000000000000" charset="-122"/>
                        </a:rPr>
                        <a:t>控制与保护</a:t>
                      </a:r>
                      <a:endParaRPr lang="zh-CN" altLang="en-US" sz="1200" dirty="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10PWM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、低侧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VGL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，带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GDF\VDS\OTP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保护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210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模拟外设</a:t>
                      </a:r>
                      <a:endParaRPr lang="en-US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1(OPA)+3PGA+3比较器+温度传感器</a:t>
                      </a:r>
                      <a:endParaRPr lang="en-US" altLang="en-US" sz="1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179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集成化配置</a:t>
                      </a:r>
                      <a:endParaRPr lang="en-US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12V-LDO、8NMOS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LIN-PHY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（低功耗休眠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&amp;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远程唤醒）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电机驱动方式</a:t>
                      </a:r>
                      <a:endParaRPr lang="en-US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有感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无感方波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有感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无感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正弦波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241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>
                          <a:latin typeface="思源黑体" panose="020B0500000000000000" charset="-122"/>
                          <a:ea typeface="思源黑体" panose="020B0500000000000000" charset="-122"/>
                        </a:rPr>
                        <a:t>封装</a:t>
                      </a:r>
                      <a:endParaRPr lang="zh-CN" altLang="en-US" sz="120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QFN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56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7*7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165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200" dirty="0">
                          <a:latin typeface="思源黑体" panose="020B0500000000000000" charset="-122"/>
                          <a:ea typeface="思源黑体" panose="020B0500000000000000" charset="-122"/>
                        </a:rPr>
                        <a:t>温度范围</a:t>
                      </a:r>
                      <a:endParaRPr lang="zh-CN" altLang="en-US" sz="1200" dirty="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  <a:p>
                      <a:pPr indent="0" algn="l">
                        <a:buNone/>
                      </a:pPr>
                      <a:r>
                        <a:rPr lang="zh-CN" altLang="en-US" sz="1200" dirty="0">
                          <a:latin typeface="思源黑体" panose="020B0500000000000000" charset="-122"/>
                          <a:ea typeface="思源黑体" panose="020B0500000000000000" charset="-122"/>
                        </a:rPr>
                        <a:t>车规认证</a:t>
                      </a:r>
                      <a:endParaRPr lang="zh-CN" altLang="en-US" sz="1200" dirty="0">
                        <a:latin typeface="思源黑体" panose="020B0500000000000000" charset="-122"/>
                        <a:ea typeface="思源黑体" panose="020B0500000000000000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-40-150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°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</a:t>
                      </a:r>
                      <a:endParaRPr lang="en-US" altLang="en-US" sz="1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buNone/>
                      </a:pPr>
                      <a:r>
                        <a:rPr lang="en-US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AEC-Q100</a:t>
                      </a:r>
                      <a:endParaRPr lang="en-US" altLang="en-US" sz="1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315595" y="244475"/>
            <a:ext cx="3382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热管理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SOC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芯片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7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 invX="1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1364570" y="1337945"/>
            <a:ext cx="8229600" cy="4181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52" tIns="47526" rIns="95052" bIns="47526"/>
          <a:lstStyle>
            <a:lvl1pPr marL="342900" indent="-3429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2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提供基于</a:t>
            </a:r>
            <a:r>
              <a:rPr lang="en-US" altLang="zh-CN" sz="2000" dirty="0">
                <a:solidFill>
                  <a:schemeClr val="tx2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BLDC/PMSM/ACIM/STEPPER </a:t>
            </a:r>
            <a:r>
              <a:rPr lang="zh-CN" altLang="en-US" sz="2000" dirty="0">
                <a:solidFill>
                  <a:schemeClr val="tx2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多种电机控制算法</a:t>
            </a:r>
            <a:endParaRPr lang="en-US" altLang="zh-CN" sz="2000" dirty="0">
              <a:solidFill>
                <a:schemeClr val="tx2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2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方波</a:t>
            </a:r>
            <a:r>
              <a:rPr lang="en-US" altLang="zh-CN" sz="2000" dirty="0">
                <a:solidFill>
                  <a:schemeClr val="tx2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/</a:t>
            </a:r>
            <a:r>
              <a:rPr lang="zh-CN" altLang="en-US" sz="2000" dirty="0">
                <a:solidFill>
                  <a:schemeClr val="tx2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正弦波，适用于各种风机、水泵、压缩机、阀门等各种负载</a:t>
            </a:r>
            <a:endParaRPr lang="en-US" altLang="zh-CN" sz="2000" dirty="0">
              <a:solidFill>
                <a:schemeClr val="tx2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2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核心算法完全自主化，支持</a:t>
            </a:r>
            <a:r>
              <a:rPr lang="en-US" altLang="zh-CN" sz="2000" dirty="0">
                <a:solidFill>
                  <a:schemeClr val="tx2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C++/C/ASM</a:t>
            </a:r>
            <a:endParaRPr lang="en-US" altLang="zh-CN" sz="2000" dirty="0">
              <a:solidFill>
                <a:schemeClr val="tx2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2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工程级交付，支持客户应用二次开发</a:t>
            </a:r>
            <a:endParaRPr lang="en-US" altLang="zh-CN" sz="2000" dirty="0">
              <a:solidFill>
                <a:schemeClr val="tx2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2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性能优异、支持</a:t>
            </a:r>
            <a:r>
              <a:rPr lang="en-US" altLang="zh-CN" sz="2000" dirty="0">
                <a:solidFill>
                  <a:schemeClr val="tx2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1HZ ~ 2000HZ </a:t>
            </a:r>
            <a:r>
              <a:rPr lang="zh-CN" altLang="en-US" sz="2000" dirty="0">
                <a:solidFill>
                  <a:schemeClr val="tx2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无感</a:t>
            </a:r>
            <a:r>
              <a:rPr lang="en-US" altLang="zh-CN" sz="2000" dirty="0">
                <a:solidFill>
                  <a:schemeClr val="tx2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FOC</a:t>
            </a:r>
            <a:endParaRPr lang="en-US" altLang="zh-CN" sz="2000" dirty="0">
              <a:solidFill>
                <a:schemeClr val="tx2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2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广泛的应用领域业绩，稳定可靠</a:t>
            </a:r>
            <a:endParaRPr lang="en-US" altLang="zh-CN" sz="2000" dirty="0">
              <a:solidFill>
                <a:schemeClr val="tx2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2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强有力的</a:t>
            </a:r>
            <a:r>
              <a:rPr lang="en-US" altLang="zh-CN" sz="2000" dirty="0">
                <a:solidFill>
                  <a:schemeClr val="tx2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AE/FAE </a:t>
            </a:r>
            <a:r>
              <a:rPr lang="zh-CN" altLang="en-US" sz="2000" dirty="0">
                <a:solidFill>
                  <a:schemeClr val="tx2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方案及支持团队，贴心服务</a:t>
            </a:r>
            <a:endParaRPr lang="en-US" altLang="zh-CN" sz="2000" dirty="0">
              <a:solidFill>
                <a:schemeClr val="tx2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1"/>
            </p:custDataLst>
          </p:nvPr>
        </p:nvSpPr>
        <p:spPr>
          <a:xfrm>
            <a:off x="315595" y="370597"/>
            <a:ext cx="5435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800" b="1" dirty="0">
                <a:ea typeface="思源黑体" panose="020B0500000000000000" charset="-122"/>
                <a:sym typeface="+mn-ea"/>
              </a:rPr>
              <a:t>热管理</a:t>
            </a:r>
            <a:r>
              <a:rPr lang="en-US" altLang="zh-CN" sz="2800" b="1" dirty="0">
                <a:ea typeface="思源黑体" panose="020B0500000000000000" charset="-122"/>
                <a:sym typeface="+mn-ea"/>
              </a:rPr>
              <a:t>&amp;</a:t>
            </a:r>
            <a:r>
              <a:rPr lang="zh-CN" altLang="en-US" sz="2800" b="1" dirty="0">
                <a:ea typeface="思源黑体" panose="020B0500000000000000" charset="-122"/>
                <a:sym typeface="+mn-ea"/>
              </a:rPr>
              <a:t>车身应用解决方案概述</a:t>
            </a:r>
            <a:endParaRPr lang="zh-CN" altLang="en-US" sz="2800" b="1" dirty="0">
              <a:ea typeface="思源黑体" panose="020B0500000000000000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56657" y="1998439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001713" y="1158875"/>
          <a:ext cx="9231312" cy="492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13760450" imgH="7348855" progId="Visio.Drawing.15">
                  <p:embed/>
                </p:oleObj>
              </mc:Choice>
              <mc:Fallback>
                <p:oleObj name="" r:id="rId1" imgW="13760450" imgH="7348855" progId="Visio.Drawing.15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1713" y="1158875"/>
                        <a:ext cx="9231312" cy="4927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985385" y="5898515"/>
            <a:ext cx="2693035" cy="340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▲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 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无感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FOC 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总体算法框图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315595" y="244475"/>
            <a:ext cx="46697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800" b="1" dirty="0">
                <a:ea typeface="思源黑体" panose="020B0500000000000000" charset="-122"/>
                <a:sym typeface="+mn-ea"/>
              </a:rPr>
              <a:t>电机驱动算法特点介绍</a:t>
            </a:r>
            <a:endParaRPr lang="zh-CN" altLang="en-US" sz="2800" b="1" dirty="0">
              <a:ea typeface="思源黑体" panose="020B0500000000000000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113" y="1947273"/>
            <a:ext cx="4124325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050" y="1947545"/>
            <a:ext cx="4517390" cy="2496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9" name="文本框 38"/>
          <p:cNvSpPr txBox="1"/>
          <p:nvPr>
            <p:custDataLst>
              <p:tags r:id="rId3"/>
            </p:custDataLst>
          </p:nvPr>
        </p:nvSpPr>
        <p:spPr>
          <a:xfrm>
            <a:off x="315595" y="244475"/>
            <a:ext cx="46697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800" b="1" dirty="0">
                <a:ea typeface="思源黑体" panose="020B0500000000000000" charset="-122"/>
                <a:sym typeface="+mn-ea"/>
              </a:rPr>
              <a:t>应用解决方案</a:t>
            </a:r>
            <a:endParaRPr lang="zh-CN" altLang="en-US" sz="2800" b="1" dirty="0">
              <a:ea typeface="思源黑体" panose="020B0500000000000000" charset="-122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23076" y="1225055"/>
            <a:ext cx="2926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24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我们的两种启动方案</a:t>
            </a:r>
            <a:endParaRPr sz="2400" b="1" dirty="0">
              <a:solidFill>
                <a:srgbClr val="0070C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162050" y="4486910"/>
            <a:ext cx="4516755" cy="1588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52" tIns="47526" rIns="95052" bIns="47526"/>
          <a:lstStyle>
            <a:lvl1pPr marL="342900" indent="-3429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sz="1400" b="1" dirty="0">
                <a:solidFill>
                  <a:schemeClr val="tx2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方案一：</a:t>
            </a:r>
            <a:endParaRPr sz="1400" b="1" dirty="0">
              <a:solidFill>
                <a:schemeClr val="tx2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</a:pPr>
            <a:r>
              <a:rPr sz="1400" dirty="0">
                <a:solidFill>
                  <a:schemeClr val="tx2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启动直流制动（相差60度+闭环）</a:t>
            </a:r>
            <a:endParaRPr sz="1400" dirty="0">
              <a:solidFill>
                <a:schemeClr val="tx2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</a:pPr>
            <a:r>
              <a:rPr sz="1400" dirty="0">
                <a:solidFill>
                  <a:schemeClr val="tx2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87% 最大启动力矩</a:t>
            </a:r>
            <a:endParaRPr sz="1400" dirty="0">
              <a:solidFill>
                <a:schemeClr val="tx2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</a:pPr>
            <a:r>
              <a:rPr sz="1400" dirty="0">
                <a:solidFill>
                  <a:schemeClr val="tx2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算法简单可靠</a:t>
            </a:r>
            <a:endParaRPr sz="1400" dirty="0">
              <a:solidFill>
                <a:schemeClr val="tx2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361430" y="4486910"/>
            <a:ext cx="4516755" cy="1588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52" tIns="47526" rIns="95052" bIns="47526"/>
          <a:lstStyle>
            <a:lvl1pPr marL="342900" indent="-3429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</a:pPr>
            <a:r>
              <a:rPr sz="1400" b="1" dirty="0">
                <a:solidFill>
                  <a:schemeClr val="tx2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方案二：</a:t>
            </a:r>
            <a:endParaRPr sz="1400" b="1" dirty="0">
              <a:solidFill>
                <a:schemeClr val="tx2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  <a:p>
            <a:pPr algn="l" eaLnBrk="1" hangingPunct="1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</a:pPr>
            <a:r>
              <a:rPr sz="1400" dirty="0">
                <a:solidFill>
                  <a:schemeClr val="tx2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高频注入（脉冲式）</a:t>
            </a:r>
            <a:endParaRPr sz="1400" dirty="0">
              <a:solidFill>
                <a:schemeClr val="tx2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  <a:p>
            <a:pPr algn="l" eaLnBrk="1" hangingPunct="1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</a:pPr>
            <a:r>
              <a:rPr sz="1400" dirty="0">
                <a:solidFill>
                  <a:schemeClr val="tx2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理论最大启动，电流采样和算法精度</a:t>
            </a:r>
            <a:endParaRPr sz="1400" dirty="0">
              <a:solidFill>
                <a:schemeClr val="tx2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  <a:p>
            <a:pPr algn="l" eaLnBrk="1" hangingPunct="1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</a:pPr>
            <a:r>
              <a:rPr sz="1400" dirty="0">
                <a:solidFill>
                  <a:schemeClr val="tx2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算法较复杂</a:t>
            </a:r>
            <a:endParaRPr sz="1400" dirty="0">
              <a:solidFill>
                <a:schemeClr val="tx2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</p:txBody>
      </p:sp>
      <p:cxnSp>
        <p:nvCxnSpPr>
          <p:cNvPr id="12" name="直接箭头连接符 11"/>
          <p:cNvCxnSpPr>
            <a:endCxn id="13" idx="1"/>
          </p:cNvCxnSpPr>
          <p:nvPr/>
        </p:nvCxnSpPr>
        <p:spPr>
          <a:xfrm flipV="1">
            <a:off x="7887970" y="1678305"/>
            <a:ext cx="1035685" cy="130746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8923655" y="1452880"/>
            <a:ext cx="1562100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dirty="0">
                <a:solidFill>
                  <a:srgbClr val="C00000"/>
                </a:solidFill>
                <a:latin typeface="思源黑体" panose="020B0500000000000000" charset="-122"/>
                <a:ea typeface="思源黑体" panose="020B0500000000000000" charset="-122"/>
                <a:cs typeface="宋体" panose="02010600030101010101" pitchFamily="2" charset="-122"/>
                <a:sym typeface="+mn-ea"/>
              </a:rPr>
              <a:t>启动即闭环</a:t>
            </a:r>
            <a:endParaRPr lang="zh-CN" sz="1600" b="1" dirty="0">
              <a:solidFill>
                <a:srgbClr val="C00000"/>
              </a:solidFill>
              <a:latin typeface="思源黑体" panose="020B0500000000000000" charset="-122"/>
              <a:ea typeface="思源黑体" panose="020B0500000000000000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8"/>
          <p:cNvSpPr txBox="1"/>
          <p:nvPr>
            <p:custDataLst>
              <p:tags r:id="rId1"/>
            </p:custDataLst>
          </p:nvPr>
        </p:nvSpPr>
        <p:spPr>
          <a:xfrm>
            <a:off x="315595" y="244475"/>
            <a:ext cx="46697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800" b="1" dirty="0">
                <a:ea typeface="思源黑体" panose="020B0500000000000000" charset="-122"/>
                <a:sym typeface="+mn-ea"/>
              </a:rPr>
              <a:t>应用解决方案</a:t>
            </a:r>
            <a:endParaRPr lang="zh-CN" altLang="en-US" sz="2800" b="1" dirty="0">
              <a:ea typeface="思源黑体" panose="020B0500000000000000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680359" y="2258333"/>
            <a:ext cx="2276475" cy="2446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C00000"/>
                </a:solidFill>
                <a:latin typeface="思源黑体" panose="020B0500000000000000" charset="-122"/>
                <a:ea typeface="思源黑体" panose="020B0500000000000000" charset="-122"/>
                <a:cs typeface="宋体" panose="02010600030101010101" pitchFamily="2" charset="-122"/>
                <a:sym typeface="+mn-ea"/>
              </a:rPr>
              <a:t>高效观测器可以做到真正零速度闭环，支撑更低转速的应用</a:t>
            </a:r>
            <a:r>
              <a:rPr lang="zh-CN" sz="2400" b="1" dirty="0">
                <a:solidFill>
                  <a:srgbClr val="C00000"/>
                </a:solidFill>
                <a:latin typeface="思源黑体" panose="020B0500000000000000" charset="-122"/>
                <a:ea typeface="思源黑体" panose="020B0500000000000000" charset="-122"/>
                <a:cs typeface="宋体" panose="02010600030101010101" pitchFamily="2" charset="-122"/>
                <a:sym typeface="+mn-ea"/>
              </a:rPr>
              <a:t>。</a:t>
            </a:r>
            <a:endParaRPr lang="zh-CN" sz="2400" b="1" dirty="0">
              <a:solidFill>
                <a:srgbClr val="C00000"/>
              </a:solidFill>
              <a:latin typeface="思源黑体" panose="020B0500000000000000" charset="-122"/>
              <a:ea typeface="思源黑体" panose="020B0500000000000000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4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72" y="1460863"/>
            <a:ext cx="7220945" cy="442395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箭头: 上弧形 4"/>
          <p:cNvSpPr/>
          <p:nvPr/>
        </p:nvSpPr>
        <p:spPr>
          <a:xfrm>
            <a:off x="2227217" y="973183"/>
            <a:ext cx="6779623" cy="2259874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6998335" y="1963420"/>
            <a:ext cx="3609340" cy="2931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</a:pPr>
            <a:r>
              <a:rPr lang="zh-CN" altLang="en-US" sz="18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电压环</a:t>
            </a:r>
            <a:r>
              <a:rPr lang="en-US" altLang="zh-CN" sz="18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PI </a:t>
            </a:r>
            <a:r>
              <a:rPr lang="zh-CN" altLang="en-US" sz="18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自适应实现弱磁控制</a:t>
            </a:r>
            <a:endParaRPr lang="en-US" altLang="zh-CN" sz="1800" b="1" dirty="0">
              <a:solidFill>
                <a:srgbClr val="0070C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</a:pPr>
            <a:r>
              <a:rPr lang="zh-CN" altLang="en-US" sz="18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优先保证</a:t>
            </a:r>
            <a:r>
              <a:rPr lang="en-US" altLang="zh-CN" sz="18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UD+</a:t>
            </a:r>
            <a:r>
              <a:rPr lang="zh-CN" altLang="en-US" sz="18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电流环最大输出电压退饱和，实现更宽广的调速范围</a:t>
            </a:r>
            <a:endParaRPr lang="en-US" altLang="zh-CN" sz="1800" b="1" dirty="0">
              <a:solidFill>
                <a:srgbClr val="0070C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</a:pPr>
            <a:r>
              <a:rPr lang="zh-CN" altLang="en-US" sz="18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更小的高频噪音</a:t>
            </a:r>
            <a:endParaRPr lang="zh-CN" altLang="en-US" sz="1800" b="1" dirty="0">
              <a:solidFill>
                <a:srgbClr val="0070C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</a:pPr>
            <a:r>
              <a:rPr lang="zh-CN" altLang="en-US" sz="18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更高的高频能效</a:t>
            </a:r>
            <a:endParaRPr lang="en-US" altLang="zh-CN" sz="1800" b="1" dirty="0">
              <a:solidFill>
                <a:srgbClr val="0070C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1310" y="1479233"/>
            <a:ext cx="5007654" cy="3785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800237" y="5438883"/>
            <a:ext cx="220980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▲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" panose="020B0500000000000000" charset="-122"/>
                <a:ea typeface="思源黑体" panose="020B0500000000000000" charset="-122"/>
              </a:rPr>
              <a:t>弱磁控制原理框架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思源黑体" panose="020B0500000000000000" charset="-122"/>
              <a:ea typeface="思源黑体" panose="020B0500000000000000" charset="-122"/>
            </a:endParaRPr>
          </a:p>
        </p:txBody>
      </p:sp>
      <p:sp>
        <p:nvSpPr>
          <p:cNvPr id="8" name="Oval 12"/>
          <p:cNvSpPr>
            <a:spLocks noChangeArrowheads="1"/>
          </p:cNvSpPr>
          <p:nvPr/>
        </p:nvSpPr>
        <p:spPr bwMode="auto">
          <a:xfrm>
            <a:off x="3948297" y="1305063"/>
            <a:ext cx="827087" cy="696912"/>
          </a:xfrm>
          <a:prstGeom prst="ellipse">
            <a:avLst/>
          </a:prstGeom>
          <a:noFill/>
          <a:ln w="28575">
            <a:solidFill>
              <a:srgbClr val="3366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2"/>
            </p:custDataLst>
          </p:nvPr>
        </p:nvSpPr>
        <p:spPr>
          <a:xfrm>
            <a:off x="315595" y="244475"/>
            <a:ext cx="46697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800" b="1" dirty="0">
                <a:ea typeface="思源黑体" panose="020B0500000000000000" charset="-122"/>
                <a:sym typeface="+mn-ea"/>
              </a:rPr>
              <a:t>应用解决方案</a:t>
            </a:r>
            <a:endParaRPr lang="zh-CN" altLang="en-US" sz="2800" b="1" dirty="0">
              <a:ea typeface="思源黑体" panose="020B0500000000000000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813509" y="2941093"/>
            <a:ext cx="6853906" cy="40011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汽车电子风扇、水泵、空调压缩机、水阀控制应用方案</a:t>
            </a:r>
            <a:endParaRPr lang="zh-CN" altLang="en-US" sz="2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040" y="1115060"/>
            <a:ext cx="3136900" cy="1562735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>
            <p:custDataLst>
              <p:tags r:id="rId2"/>
            </p:custDataLst>
          </p:nvPr>
        </p:nvSpPr>
        <p:spPr>
          <a:xfrm>
            <a:off x="315595" y="244475"/>
            <a:ext cx="2540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charset="-122"/>
                <a:ea typeface="思源黑体" panose="020B0500000000000000" charset="-122"/>
              </a:rPr>
              <a:t>热管理方案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思源黑体" panose="020B0500000000000000" charset="-122"/>
              <a:ea typeface="思源黑体" panose="020B0500000000000000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r="3437" b="1659"/>
          <a:stretch>
            <a:fillRect/>
          </a:stretch>
        </p:blipFill>
        <p:spPr>
          <a:xfrm>
            <a:off x="447040" y="3684905"/>
            <a:ext cx="3086100" cy="15436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8845" y="1984375"/>
            <a:ext cx="2392680" cy="15163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rcRect l="4242" t="2153"/>
          <a:stretch>
            <a:fillRect/>
          </a:stretch>
        </p:blipFill>
        <p:spPr>
          <a:xfrm>
            <a:off x="3533140" y="4601210"/>
            <a:ext cx="2823845" cy="15582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3470" y="1115060"/>
            <a:ext cx="3120390" cy="163131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0025" y="1984375"/>
            <a:ext cx="2819400" cy="157734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9670" y="3886200"/>
            <a:ext cx="3044190" cy="172021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9"/>
          <a:srcRect l="1274"/>
          <a:stretch>
            <a:fillRect/>
          </a:stretch>
        </p:blipFill>
        <p:spPr>
          <a:xfrm>
            <a:off x="9293860" y="4601210"/>
            <a:ext cx="2459990" cy="16078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0">
        <p14:conveyor dir="l"/>
      </p:transition>
    </mc:Choice>
    <mc:Fallback>
      <p:transition spd="slow" advClick="0" advTm="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0020" y="1863725"/>
            <a:ext cx="2860675" cy="2839720"/>
          </a:xfrm>
          <a:prstGeom prst="rect">
            <a:avLst/>
          </a:prstGeom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220606" y="1863454"/>
            <a:ext cx="4019323" cy="3130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Autofit/>
          </a:bodyPr>
          <a:lstStyle>
            <a:lvl1pPr marL="342900" indent="-3429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l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</a:pPr>
            <a:r>
              <a:rPr lang="zh-CN" altLang="en-US" sz="18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汽车电子风扇应用</a:t>
            </a:r>
            <a:endParaRPr lang="zh-CN" altLang="en-US" sz="1800" b="1" dirty="0">
              <a:solidFill>
                <a:srgbClr val="0070C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+mn-ea"/>
            </a:endParaRPr>
          </a:p>
          <a:p>
            <a:pPr lvl="0" algn="l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</a:pPr>
            <a:r>
              <a:rPr lang="zh-CN" altLang="en-US" sz="18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单电阻 BLDC/PMSM无感FOC</a:t>
            </a:r>
            <a:endParaRPr lang="zh-CN" altLang="en-US" sz="1800" b="1" dirty="0">
              <a:solidFill>
                <a:srgbClr val="0070C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+mn-ea"/>
            </a:endParaRPr>
          </a:p>
          <a:p>
            <a:pPr lvl="0" algn="l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</a:pPr>
            <a:r>
              <a:rPr lang="zh-CN" altLang="en-US" sz="18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ADM</a:t>
            </a:r>
            <a:r>
              <a:rPr lang="en-US" altLang="zh-CN" sz="18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32</a:t>
            </a:r>
            <a:r>
              <a:rPr lang="zh-CN" altLang="en-US" sz="18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F03</a:t>
            </a:r>
            <a:r>
              <a:rPr lang="en-US" altLang="zh-CN" sz="18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6</a:t>
            </a:r>
            <a:r>
              <a:rPr lang="zh-CN" altLang="en-US" sz="18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A1/A2 高性能DSP</a:t>
            </a:r>
            <a:endParaRPr lang="zh-CN" altLang="en-US" sz="1800" b="1" dirty="0">
              <a:solidFill>
                <a:srgbClr val="0070C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+mn-ea"/>
            </a:endParaRPr>
          </a:p>
          <a:p>
            <a:pPr lvl="0" algn="l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</a:pPr>
            <a:r>
              <a:rPr lang="zh-CN" altLang="en-US" sz="18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LIN-PWM控制</a:t>
            </a:r>
            <a:endParaRPr lang="zh-CN" altLang="en-US" sz="1800" b="1" dirty="0">
              <a:solidFill>
                <a:srgbClr val="0070C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+mn-ea"/>
            </a:endParaRPr>
          </a:p>
          <a:p>
            <a:pPr lvl="0" algn="l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</a:pPr>
            <a:r>
              <a:rPr lang="zh-CN" altLang="en-US" sz="18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顺/逆风启动控制启动可靠平稳</a:t>
            </a:r>
            <a:endParaRPr lang="zh-CN" altLang="en-US" sz="1800" b="1" dirty="0">
              <a:solidFill>
                <a:srgbClr val="0070C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+mn-ea"/>
            </a:endParaRPr>
          </a:p>
          <a:p>
            <a:pPr lvl="0" algn="l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</a:pPr>
            <a:r>
              <a:rPr lang="zh-CN" altLang="en-US" sz="18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完善保护策略</a:t>
            </a:r>
            <a:endParaRPr lang="zh-CN" altLang="en-US" sz="1800" b="1" dirty="0">
              <a:solidFill>
                <a:srgbClr val="0070C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200" y="1863725"/>
            <a:ext cx="2703830" cy="2841625"/>
          </a:xfrm>
          <a:prstGeom prst="rect">
            <a:avLst/>
          </a:prstGeom>
        </p:spPr>
      </p:pic>
      <p:sp>
        <p:nvSpPr>
          <p:cNvPr id="39" name="文本框 38"/>
          <p:cNvSpPr txBox="1"/>
          <p:nvPr>
            <p:custDataLst>
              <p:tags r:id="rId3"/>
            </p:custDataLst>
          </p:nvPr>
        </p:nvSpPr>
        <p:spPr>
          <a:xfrm>
            <a:off x="315595" y="244475"/>
            <a:ext cx="46697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800" b="1" dirty="0">
                <a:ea typeface="思源黑体" panose="020B0500000000000000" charset="-122"/>
                <a:sym typeface="+mn-ea"/>
              </a:rPr>
              <a:t>电子风扇控制方案</a:t>
            </a:r>
            <a:endParaRPr lang="zh-CN" altLang="en-US" sz="2800" b="1" dirty="0">
              <a:ea typeface="思源黑体" panose="020B0500000000000000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>
            <p:custDataLst>
              <p:tags r:id="rId1"/>
            </p:custDataLst>
          </p:nvPr>
        </p:nvSpPr>
        <p:spPr>
          <a:xfrm>
            <a:off x="315595" y="244475"/>
            <a:ext cx="4032885" cy="8528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思源黑体" panose="020B0500000000000000" charset="-122"/>
                <a:ea typeface="思源黑体" panose="020B0500000000000000" charset="-122"/>
                <a:cs typeface="+mn-cs"/>
              </a:rPr>
              <a:t>风扇启动及运行波形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思源黑体" panose="020B0500000000000000" charset="-122"/>
              <a:ea typeface="思源黑体" panose="020B0500000000000000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95" y="1594485"/>
            <a:ext cx="5520690" cy="298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285" y="1594485"/>
            <a:ext cx="5173345" cy="29832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7964075" y="4793661"/>
            <a:ext cx="1917700" cy="681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zh-CN" altLang="en-US" sz="20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</a:rPr>
              <a:t>高速运行波形</a:t>
            </a:r>
            <a:endParaRPr lang="zh-CN" altLang="en-US" sz="2000" b="1" dirty="0">
              <a:solidFill>
                <a:srgbClr val="0070C0"/>
              </a:solidFill>
              <a:latin typeface="思源黑体" panose="020B0500000000000000" charset="-122"/>
              <a:ea typeface="思源黑体" panose="020B0500000000000000" charset="-122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061541" y="4793661"/>
            <a:ext cx="1917700" cy="681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zh-CN" altLang="en-US" sz="20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</a:rPr>
              <a:t>静止启动波形</a:t>
            </a:r>
            <a:endParaRPr lang="zh-CN" altLang="en-US" sz="2000" b="1" dirty="0">
              <a:solidFill>
                <a:srgbClr val="0070C0"/>
              </a:solidFill>
              <a:latin typeface="思源黑体" panose="020B0500000000000000" charset="-122"/>
              <a:ea typeface="思源黑体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0">
        <p14:conveyor dir="l"/>
      </p:transition>
    </mc:Choice>
    <mc:Fallback>
      <p:transition spd="slow" advClick="0" advTm="0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>
            <p:custDataLst>
              <p:tags r:id="rId1"/>
            </p:custDataLst>
          </p:nvPr>
        </p:nvSpPr>
        <p:spPr>
          <a:xfrm>
            <a:off x="315595" y="244475"/>
            <a:ext cx="5020945" cy="8528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思源黑体" panose="020B0500000000000000" charset="-122"/>
                <a:ea typeface="思源黑体" panose="020B0500000000000000" charset="-122"/>
                <a:cs typeface="+mn-cs"/>
              </a:rPr>
              <a:t>风扇顺风及逆风启动波形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思源黑体" panose="020B0500000000000000" charset="-122"/>
              <a:ea typeface="思源黑体" panose="020B0500000000000000" charset="-122"/>
              <a:cs typeface="+mn-cs"/>
            </a:endParaRPr>
          </a:p>
        </p:txBody>
      </p:sp>
      <p:pic>
        <p:nvPicPr>
          <p:cNvPr id="3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55" y="1846580"/>
            <a:ext cx="5549265" cy="301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040" y="1846580"/>
            <a:ext cx="5093970" cy="301371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696693" y="5023630"/>
            <a:ext cx="1917700" cy="681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zh-CN" altLang="en-US" sz="20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</a:rPr>
              <a:t>顺风启动波形</a:t>
            </a:r>
            <a:endParaRPr lang="zh-CN" altLang="en-US" sz="2000" b="1" dirty="0">
              <a:solidFill>
                <a:srgbClr val="0070C0"/>
              </a:solidFill>
              <a:latin typeface="思源黑体" panose="020B0500000000000000" charset="-122"/>
              <a:ea typeface="思源黑体" panose="020B0500000000000000" charset="-122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7097878" y="5089035"/>
            <a:ext cx="1862455" cy="681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zh-CN" altLang="en-US" sz="20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</a:rPr>
              <a:t>逆风启动波形</a:t>
            </a:r>
            <a:endParaRPr lang="zh-CN" altLang="en-US" sz="2000" b="1" dirty="0">
              <a:solidFill>
                <a:srgbClr val="0070C0"/>
              </a:solidFill>
              <a:latin typeface="思源黑体" panose="020B0500000000000000" charset="-122"/>
              <a:ea typeface="思源黑体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0">
        <p14:conveyor dir="l"/>
      </p:transition>
    </mc:Choice>
    <mc:Fallback>
      <p:transition spd="slow" advClick="0" advTm="0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021715" y="1805305"/>
            <a:ext cx="9852025" cy="3169285"/>
            <a:chOff x="1259" y="2904"/>
            <a:chExt cx="15515" cy="4991"/>
          </a:xfrm>
        </p:grpSpPr>
        <p:sp>
          <p:nvSpPr>
            <p:cNvPr id="2" name="Rectangle 3"/>
            <p:cNvSpPr>
              <a:spLocks noChangeArrowheads="1"/>
            </p:cNvSpPr>
            <p:nvPr/>
          </p:nvSpPr>
          <p:spPr bwMode="auto">
            <a:xfrm>
              <a:off x="1259" y="2904"/>
              <a:ext cx="5832" cy="4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noAutofit/>
            </a:bodyPr>
            <a:lstStyle>
              <a:lvl1pPr marL="342900" indent="-342900" eaLnBrk="0" hangingPunct="0">
                <a:defRPr sz="19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9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9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9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9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47498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47498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47498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474980" eaLnBrk="0" fontAlgn="base" hangingPunct="0">
                <a:spcBef>
                  <a:spcPct val="0"/>
                </a:spcBef>
                <a:spcAft>
                  <a:spcPct val="0"/>
                </a:spcAft>
                <a:defRPr sz="19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0" algn="l">
                <a:lnSpc>
                  <a:spcPct val="150000"/>
                </a:lnSpc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ü"/>
              </a:pPr>
              <a:r>
                <a:rPr lang="zh-CN" altLang="en-US" sz="1800" b="1" dirty="0">
                  <a:solidFill>
                    <a:srgbClr val="0070C0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汽车水泵应用</a:t>
              </a:r>
              <a:endParaRPr lang="zh-CN" altLang="en-US" sz="18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  <a:p>
              <a:pPr lvl="0" algn="l">
                <a:lnSpc>
                  <a:spcPct val="150000"/>
                </a:lnSpc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ü"/>
              </a:pPr>
              <a:r>
                <a:rPr lang="zh-CN" altLang="en-US" sz="1800" b="1" dirty="0">
                  <a:solidFill>
                    <a:srgbClr val="0070C0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BLDC/PMSM无感FOC</a:t>
              </a:r>
              <a:endParaRPr lang="zh-CN" altLang="en-US" sz="18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  <a:p>
              <a:pPr lvl="0" algn="l">
                <a:lnSpc>
                  <a:spcPct val="150000"/>
                </a:lnSpc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ü"/>
              </a:pPr>
              <a:r>
                <a:rPr lang="zh-CN" altLang="en-US" sz="1800" b="1" dirty="0">
                  <a:solidFill>
                    <a:srgbClr val="0070C0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ADM</a:t>
              </a:r>
              <a:r>
                <a:rPr lang="en-US" altLang="zh-CN" sz="1800" b="1" dirty="0">
                  <a:solidFill>
                    <a:srgbClr val="0070C0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32</a:t>
              </a:r>
              <a:r>
                <a:rPr lang="zh-CN" altLang="en-US" sz="1800" b="1" dirty="0">
                  <a:solidFill>
                    <a:srgbClr val="0070C0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F03</a:t>
              </a:r>
              <a:r>
                <a:rPr lang="en-US" altLang="zh-CN" sz="1800" b="1" dirty="0">
                  <a:solidFill>
                    <a:srgbClr val="0070C0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6</a:t>
              </a:r>
              <a:r>
                <a:rPr lang="zh-CN" altLang="en-US" sz="1800" b="1" dirty="0">
                  <a:solidFill>
                    <a:srgbClr val="0070C0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A1/A2 高性能DSP</a:t>
              </a:r>
              <a:endParaRPr lang="zh-CN" altLang="en-US" sz="18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  <a:p>
              <a:pPr lvl="0" algn="l">
                <a:lnSpc>
                  <a:spcPct val="150000"/>
                </a:lnSpc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ü"/>
              </a:pPr>
              <a:r>
                <a:rPr lang="zh-CN" altLang="en-US" sz="1800" b="1" dirty="0">
                  <a:solidFill>
                    <a:srgbClr val="0070C0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单电阻-20K</a:t>
              </a:r>
              <a:endParaRPr lang="zh-CN" altLang="en-US" sz="18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  <a:p>
              <a:pPr lvl="0" algn="l">
                <a:lnSpc>
                  <a:spcPct val="150000"/>
                </a:lnSpc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ü"/>
              </a:pPr>
              <a:r>
                <a:rPr lang="zh-CN" altLang="en-US" sz="1800" b="1" dirty="0">
                  <a:solidFill>
                    <a:srgbClr val="0070C0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LIN-PWM控制</a:t>
              </a:r>
              <a:endParaRPr lang="zh-CN" altLang="en-US" sz="18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  <a:p>
              <a:pPr lvl="0" algn="l">
                <a:lnSpc>
                  <a:spcPct val="150000"/>
                </a:lnSpc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ü"/>
              </a:pPr>
              <a:r>
                <a:rPr lang="zh-CN" altLang="en-US" sz="1800" b="1" dirty="0">
                  <a:solidFill>
                    <a:srgbClr val="0070C0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启动可靠平稳</a:t>
              </a:r>
              <a:endParaRPr lang="zh-CN" altLang="en-US" sz="18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  <a:p>
              <a:pPr lvl="0" algn="l">
                <a:lnSpc>
                  <a:spcPct val="150000"/>
                </a:lnSpc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ü"/>
              </a:pPr>
              <a:r>
                <a:rPr lang="zh-CN" altLang="en-US" sz="1800" b="1" dirty="0">
                  <a:solidFill>
                    <a:srgbClr val="0070C0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完善保护策略</a:t>
              </a:r>
              <a:endParaRPr lang="zh-CN" altLang="en-US" sz="18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092" y="2905"/>
              <a:ext cx="5341" cy="4991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986" y="2904"/>
              <a:ext cx="3789" cy="4991"/>
            </a:xfrm>
            <a:prstGeom prst="rect">
              <a:avLst/>
            </a:prstGeom>
          </p:spPr>
        </p:pic>
      </p:grpSp>
      <p:sp>
        <p:nvSpPr>
          <p:cNvPr id="39" name="文本框 38"/>
          <p:cNvSpPr txBox="1"/>
          <p:nvPr>
            <p:custDataLst>
              <p:tags r:id="rId3"/>
            </p:custDataLst>
          </p:nvPr>
        </p:nvSpPr>
        <p:spPr>
          <a:xfrm>
            <a:off x="315595" y="244475"/>
            <a:ext cx="46697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800" b="1" dirty="0">
                <a:ea typeface="思源黑体" panose="020B0500000000000000" charset="-122"/>
                <a:sym typeface="+mn-ea"/>
              </a:rPr>
              <a:t>汽车水泵控制方案</a:t>
            </a:r>
            <a:endParaRPr lang="zh-CN" altLang="en-US" sz="2800" b="1" dirty="0">
              <a:ea typeface="思源黑体" panose="020B0500000000000000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05" y="1898015"/>
            <a:ext cx="4729480" cy="30187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865" y="1910080"/>
            <a:ext cx="4808855" cy="3037840"/>
          </a:xfrm>
          <a:prstGeom prst="rect">
            <a:avLst/>
          </a:prstGeom>
        </p:spPr>
      </p:pic>
      <p:sp>
        <p:nvSpPr>
          <p:cNvPr id="39" name="文本框 38"/>
          <p:cNvSpPr txBox="1"/>
          <p:nvPr>
            <p:custDataLst>
              <p:tags r:id="rId3"/>
            </p:custDataLst>
          </p:nvPr>
        </p:nvSpPr>
        <p:spPr>
          <a:xfrm>
            <a:off x="315595" y="244475"/>
            <a:ext cx="46697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800" b="1" dirty="0">
                <a:ea typeface="思源黑体" panose="020B0500000000000000" charset="-122"/>
                <a:sym typeface="+mn-ea"/>
              </a:rPr>
              <a:t>汽车水泵控制方案</a:t>
            </a:r>
            <a:endParaRPr lang="zh-CN" altLang="en-US" sz="2800" b="1" dirty="0">
              <a:ea typeface="思源黑体" panose="020B0500000000000000" charset="-122"/>
              <a:sym typeface="+mn-ea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4530968" y="5627770"/>
            <a:ext cx="2970398" cy="681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zh-CN" altLang="en-US" sz="20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</a:rPr>
              <a:t>启动和稳态波形展示</a:t>
            </a:r>
            <a:endParaRPr lang="zh-CN" altLang="en-US" sz="2000" b="1" dirty="0">
              <a:solidFill>
                <a:srgbClr val="0070C0"/>
              </a:solidFill>
              <a:latin typeface="思源黑体" panose="020B0500000000000000" charset="-122"/>
              <a:ea typeface="思源黑体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8"/>
          <p:cNvSpPr txBox="1"/>
          <p:nvPr>
            <p:custDataLst>
              <p:tags r:id="rId1"/>
            </p:custDataLst>
          </p:nvPr>
        </p:nvSpPr>
        <p:spPr>
          <a:xfrm>
            <a:off x="315595" y="244475"/>
            <a:ext cx="46697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800" b="1" dirty="0">
                <a:ea typeface="思源黑体" panose="020B0500000000000000" charset="-122"/>
                <a:sym typeface="+mn-ea"/>
              </a:rPr>
              <a:t>汽车水泵控制方案</a:t>
            </a:r>
            <a:endParaRPr lang="zh-CN" altLang="en-US" sz="2800" b="1" dirty="0">
              <a:ea typeface="思源黑体" panose="020B0500000000000000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882" y="1826256"/>
            <a:ext cx="6310967" cy="3560594"/>
          </a:xfrm>
          <a:prstGeom prst="rect">
            <a:avLst/>
          </a:prstGeom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6929214" y="5386850"/>
            <a:ext cx="2970398" cy="681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zh-CN" altLang="en-US" sz="20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</a:rPr>
              <a:t>动态响应波形展示</a:t>
            </a:r>
            <a:endParaRPr lang="zh-CN" altLang="en-US" sz="2000" b="1" dirty="0">
              <a:solidFill>
                <a:srgbClr val="0070C0"/>
              </a:solidFill>
              <a:latin typeface="思源黑体" panose="020B0500000000000000" charset="-122"/>
              <a:ea typeface="思源黑体" panose="020B05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242" y="1812787"/>
            <a:ext cx="3335876" cy="3630817"/>
          </a:xfrm>
          <a:prstGeom prst="rect">
            <a:avLst/>
          </a:prstGeom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960974" y="5443604"/>
            <a:ext cx="2970398" cy="681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en-US" altLang="zh-CN" sz="20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</a:rPr>
              <a:t>140</a:t>
            </a:r>
            <a:r>
              <a:rPr lang="zh-CN" altLang="en-US" sz="20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</a:rPr>
              <a:t>℃环温摸底测试</a:t>
            </a:r>
            <a:endParaRPr lang="zh-CN" altLang="en-US" sz="2000" b="1" dirty="0">
              <a:solidFill>
                <a:srgbClr val="0070C0"/>
              </a:solidFill>
              <a:latin typeface="思源黑体" panose="020B0500000000000000" charset="-122"/>
              <a:ea typeface="思源黑体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 userDrawn="1">
            <p:custDataLst>
              <p:tags r:id="rId1"/>
            </p:custDataLst>
          </p:nvPr>
        </p:nvSpPr>
        <p:spPr>
          <a:xfrm>
            <a:off x="315595" y="244475"/>
            <a:ext cx="2540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charset="-122"/>
                <a:ea typeface="思源黑体" panose="020B0500000000000000" charset="-122"/>
              </a:rPr>
              <a:t>核心保障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思源黑体" panose="020B0500000000000000" charset="-122"/>
              <a:ea typeface="思源黑体" panose="020B05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651" y="1213124"/>
            <a:ext cx="9954756" cy="45189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 invX="1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315595" y="244475"/>
            <a:ext cx="41421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800" dirty="0">
                <a:sym typeface="+mn-ea"/>
              </a:rPr>
              <a:t>与</a:t>
            </a:r>
            <a:r>
              <a:rPr lang="en-US" altLang="zh-CN" sz="2800" dirty="0">
                <a:latin typeface="+mn-ea"/>
                <a:sym typeface="+mn-ea"/>
              </a:rPr>
              <a:t>987x</a:t>
            </a:r>
            <a:r>
              <a:rPr lang="zh-CN" altLang="en-US" sz="2800" dirty="0">
                <a:sym typeface="+mn-ea"/>
              </a:rPr>
              <a:t>启动方式对比</a:t>
            </a:r>
            <a:endParaRPr lang="zh-CN" altLang="en-US" sz="2800" dirty="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124" y="1467060"/>
            <a:ext cx="8479452" cy="300187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026693" y="4882824"/>
            <a:ext cx="8284190" cy="9233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通过对比启动电流波形，</a:t>
            </a:r>
            <a:r>
              <a:rPr lang="zh-CN" altLang="zh-CN" sz="1800" kern="100" dirty="0">
                <a:effectLst/>
                <a:ea typeface="Times New Roman" panose="02020603050405020304" pitchFamily="18" charset="0"/>
              </a:rPr>
              <a:t>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推测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公司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方案采用的开环启动切闭环，我司方案采用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速闭环启动，从启动波形可以看出，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速闭环从低速到高速加速过程中不存在算法切换，电机启动时更平稳，电流更小，可以有效避免失步现象发生。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315595" y="244475"/>
            <a:ext cx="49803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800" dirty="0">
                <a:sym typeface="+mn-ea"/>
              </a:rPr>
              <a:t>与</a:t>
            </a:r>
            <a:r>
              <a:rPr lang="en-US" altLang="zh-CN" sz="2800" dirty="0">
                <a:latin typeface="+mn-ea"/>
                <a:sym typeface="+mn-ea"/>
              </a:rPr>
              <a:t>987x</a:t>
            </a:r>
            <a:r>
              <a:rPr lang="zh-CN" altLang="en-US" sz="2800" dirty="0">
                <a:sym typeface="+mn-ea"/>
              </a:rPr>
              <a:t>高速运转平稳性对比</a:t>
            </a:r>
            <a:endParaRPr lang="zh-CN" altLang="en-US" sz="2800" dirty="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187" y="1753736"/>
            <a:ext cx="8566786" cy="306982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965278" y="5032952"/>
            <a:ext cx="8407021" cy="9233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测试条件都是运行到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193HZ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，通过对比高速运行电流波形，</a:t>
            </a:r>
            <a:r>
              <a:rPr lang="zh-CN" altLang="zh-CN" sz="1800" kern="100" dirty="0">
                <a:effectLst/>
                <a:ea typeface="Times New Roman" panose="02020603050405020304" pitchFamily="18" charset="0"/>
              </a:rPr>
              <a:t>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在相同负载，相同输入电压的情况下，可以从波形看出在最高速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193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赫兹的情况下，两套方案波形的电流包络基本一致，基本都没有毛刺，运行都非常平稳。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315595" y="244475"/>
            <a:ext cx="48215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800" dirty="0">
                <a:sym typeface="+mn-ea"/>
              </a:rPr>
              <a:t>与</a:t>
            </a:r>
            <a:r>
              <a:rPr lang="en-US" altLang="zh-CN" sz="2800" dirty="0">
                <a:latin typeface="+mn-ea"/>
                <a:sym typeface="+mn-ea"/>
              </a:rPr>
              <a:t>987x</a:t>
            </a:r>
            <a:r>
              <a:rPr lang="zh-CN" altLang="en-US" sz="2800" dirty="0">
                <a:sym typeface="+mn-ea"/>
              </a:rPr>
              <a:t>高速波形展开对比</a:t>
            </a:r>
            <a:endParaRPr lang="zh-CN" altLang="en-US" sz="2800" dirty="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901" y="1955757"/>
            <a:ext cx="8889028" cy="314359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610436" y="5194887"/>
            <a:ext cx="8714095" cy="92461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304800" algn="just">
              <a:lnSpc>
                <a:spcPts val="2200"/>
              </a:lnSpc>
              <a:spcAft>
                <a:spcPts val="600"/>
              </a:spcAft>
            </a:pPr>
            <a:r>
              <a:rPr lang="zh-CN" altLang="zh-CN" sz="1800" kern="100" dirty="0">
                <a:effectLst/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rPr>
              <a:t>在相同负载，相同输入电压的情况下，图</a:t>
            </a:r>
            <a:r>
              <a:rPr lang="en-US" altLang="zh-CN" sz="1800" kern="100" dirty="0">
                <a:effectLst/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r>
              <a:rPr lang="zh-CN" altLang="zh-CN" sz="1800" kern="100" dirty="0">
                <a:effectLst/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rPr>
              <a:t>为客户原有方案水泵以</a:t>
            </a:r>
            <a:r>
              <a:rPr lang="en-US" altLang="zh-CN" sz="1800" kern="100" dirty="0">
                <a:effectLst/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rPr>
              <a:t>193</a:t>
            </a:r>
            <a:r>
              <a:rPr lang="zh-CN" altLang="zh-CN" sz="1800" kern="100" dirty="0">
                <a:effectLst/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rPr>
              <a:t>赫兹的电频率运行时电流的展开波形，图</a:t>
            </a:r>
            <a:r>
              <a:rPr lang="en-US" altLang="zh-CN" sz="1800" kern="100" dirty="0">
                <a:effectLst/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lang="zh-CN" altLang="zh-CN" sz="1800" kern="100" dirty="0">
                <a:effectLst/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rPr>
              <a:t>为我们提供方案的波形。波形基本一致，电流都比较平滑没有毛刺，非常接近正弦波。</a:t>
            </a:r>
            <a:endParaRPr lang="zh-CN" altLang="zh-CN" sz="1800" kern="100" dirty="0">
              <a:effectLst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315595" y="244475"/>
            <a:ext cx="48406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800" dirty="0">
                <a:sym typeface="+mn-ea"/>
              </a:rPr>
              <a:t>与</a:t>
            </a:r>
            <a:r>
              <a:rPr lang="en-US" altLang="zh-CN" sz="2800" dirty="0">
                <a:latin typeface="+mn-ea"/>
                <a:sym typeface="+mn-ea"/>
              </a:rPr>
              <a:t>987x</a:t>
            </a:r>
            <a:r>
              <a:rPr lang="zh-CN" altLang="en-US" sz="2800" dirty="0">
                <a:sym typeface="+mn-ea"/>
              </a:rPr>
              <a:t>水泵运行效率对比</a:t>
            </a:r>
            <a:endParaRPr lang="zh-CN" altLang="en-US" sz="2800" dirty="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445" y="1982682"/>
            <a:ext cx="8269616" cy="291750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842445" y="5058226"/>
            <a:ext cx="8269616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zh-CN" sz="18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在相同负载，相同输入电压的情况下，水泵以</a:t>
            </a:r>
            <a:r>
              <a:rPr lang="en-US" altLang="zh-CN" sz="18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193</a:t>
            </a:r>
            <a:r>
              <a:rPr lang="zh-CN" altLang="zh-CN" sz="18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赫兹的电频率运行，客户原有方案相电流的周期均方根为</a:t>
            </a:r>
            <a:r>
              <a:rPr lang="en-US" altLang="zh-CN" sz="18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4.24A</a:t>
            </a:r>
            <a:r>
              <a:rPr lang="zh-CN" altLang="zh-CN" sz="18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，我们提供方案相电流为</a:t>
            </a:r>
            <a:r>
              <a:rPr lang="en-US" altLang="zh-CN" sz="18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4.18A</a:t>
            </a:r>
            <a:r>
              <a:rPr lang="zh-CN" altLang="zh-CN" sz="1800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，在相同负载，相同输入电压的情况水泵运行相同的电频率，效率基本一致， 我司方案效率甚至还略微高一点点。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315595" y="244475"/>
            <a:ext cx="3908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800" dirty="0">
                <a:sym typeface="+mn-ea"/>
              </a:rPr>
              <a:t>空调压缩机方案</a:t>
            </a:r>
            <a:endParaRPr lang="zh-CN" altLang="en-US" sz="2800" dirty="0">
              <a:sym typeface="+mn-ea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1341892" y="1680574"/>
            <a:ext cx="3621994" cy="3130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schemeClr val="accent1"/>
                </a:solidFill>
                <a:latin typeface="Calibri" panose="020F0502020204030204" charset="0"/>
              </a:rPr>
              <a:t>汽车空调应用</a:t>
            </a:r>
            <a:endParaRPr lang="en-US" altLang="zh-CN" sz="2000" dirty="0">
              <a:solidFill>
                <a:schemeClr val="accent1"/>
              </a:solidFill>
              <a:latin typeface="Calibri" panose="020F0502020204030204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</a:pPr>
            <a:r>
              <a:rPr lang="en-US" altLang="zh-CN" sz="2000" dirty="0">
                <a:solidFill>
                  <a:schemeClr val="accent1"/>
                </a:solidFill>
                <a:latin typeface="Calibri" panose="020F0502020204030204" charset="0"/>
              </a:rPr>
              <a:t>BLDC/PMSM</a:t>
            </a:r>
            <a:r>
              <a:rPr lang="zh-CN" altLang="en-US" sz="2000" dirty="0">
                <a:solidFill>
                  <a:schemeClr val="accent1"/>
                </a:solidFill>
                <a:latin typeface="Calibri" panose="020F0502020204030204" charset="0"/>
              </a:rPr>
              <a:t>无感</a:t>
            </a:r>
            <a:r>
              <a:rPr lang="en-US" altLang="zh-CN" sz="2000" dirty="0">
                <a:solidFill>
                  <a:schemeClr val="accent1"/>
                </a:solidFill>
                <a:latin typeface="Calibri" panose="020F0502020204030204" charset="0"/>
              </a:rPr>
              <a:t>FOC</a:t>
            </a:r>
            <a:endParaRPr lang="en-US" altLang="zh-CN" sz="2000" dirty="0">
              <a:solidFill>
                <a:schemeClr val="accent1"/>
              </a:solidFill>
              <a:latin typeface="Calibri" panose="020F0502020204030204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</a:pPr>
            <a:r>
              <a:rPr lang="en-US" altLang="zh-CN" sz="2000" dirty="0">
                <a:solidFill>
                  <a:schemeClr val="accent1"/>
                </a:solidFill>
                <a:latin typeface="Calibri" panose="020F0502020204030204" charset="0"/>
              </a:rPr>
              <a:t>ADP32F034Q </a:t>
            </a:r>
            <a:r>
              <a:rPr lang="zh-CN" altLang="en-US" sz="2000" dirty="0">
                <a:solidFill>
                  <a:schemeClr val="accent1"/>
                </a:solidFill>
                <a:latin typeface="Calibri" panose="020F0502020204030204" charset="0"/>
              </a:rPr>
              <a:t>高性能</a:t>
            </a:r>
            <a:r>
              <a:rPr lang="en-US" altLang="zh-CN" sz="2000" dirty="0">
                <a:solidFill>
                  <a:schemeClr val="accent1"/>
                </a:solidFill>
                <a:latin typeface="Calibri" panose="020F0502020204030204" charset="0"/>
              </a:rPr>
              <a:t>DSP</a:t>
            </a:r>
            <a:endParaRPr lang="en-US" altLang="zh-CN" sz="2000" dirty="0">
              <a:solidFill>
                <a:schemeClr val="accent1"/>
              </a:solidFill>
              <a:latin typeface="Calibri" panose="020F0502020204030204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</a:pPr>
            <a:r>
              <a:rPr lang="en-US" altLang="zh-CN" sz="2000" dirty="0">
                <a:solidFill>
                  <a:schemeClr val="accent1"/>
                </a:solidFill>
                <a:latin typeface="Calibri" panose="020F0502020204030204" charset="0"/>
              </a:rPr>
              <a:t>CAN-</a:t>
            </a:r>
            <a:r>
              <a:rPr lang="zh-CN" altLang="en-US" sz="2000" dirty="0">
                <a:solidFill>
                  <a:schemeClr val="accent1"/>
                </a:solidFill>
                <a:latin typeface="Calibri" panose="020F0502020204030204" charset="0"/>
              </a:rPr>
              <a:t>二次</a:t>
            </a:r>
            <a:r>
              <a:rPr lang="en-US" altLang="zh-CN" sz="2000" dirty="0">
                <a:solidFill>
                  <a:schemeClr val="accent1"/>
                </a:solidFill>
                <a:latin typeface="Calibri" panose="020F0502020204030204" charset="0"/>
              </a:rPr>
              <a:t>BOOT+</a:t>
            </a:r>
            <a:r>
              <a:rPr lang="zh-CN" altLang="en-US" sz="2000" dirty="0">
                <a:solidFill>
                  <a:schemeClr val="accent1"/>
                </a:solidFill>
                <a:latin typeface="Calibri" panose="020F0502020204030204" charset="0"/>
              </a:rPr>
              <a:t>调试界面</a:t>
            </a:r>
            <a:endParaRPr lang="en-US" altLang="zh-CN" sz="2000" dirty="0">
              <a:solidFill>
                <a:schemeClr val="accent1"/>
              </a:solidFill>
              <a:latin typeface="Calibri" panose="020F0502020204030204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schemeClr val="accent1"/>
                </a:solidFill>
                <a:latin typeface="Calibri" panose="020F0502020204030204" charset="0"/>
              </a:rPr>
              <a:t>启动可靠平稳</a:t>
            </a:r>
            <a:endParaRPr lang="en-US" altLang="zh-CN" sz="2000" dirty="0">
              <a:solidFill>
                <a:schemeClr val="accent1"/>
              </a:solidFill>
              <a:latin typeface="Calibri" panose="020F0502020204030204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schemeClr val="accent1"/>
                </a:solidFill>
                <a:latin typeface="Calibri" panose="020F0502020204030204" charset="0"/>
              </a:rPr>
              <a:t>完善保护策略</a:t>
            </a:r>
            <a:endParaRPr lang="en-US" altLang="zh-CN" sz="2000" dirty="0">
              <a:solidFill>
                <a:schemeClr val="accent1"/>
              </a:solidFill>
              <a:latin typeface="Calibri" panose="020F05020202040302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8718" y="1890073"/>
            <a:ext cx="3302835" cy="262116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977" y="1890073"/>
            <a:ext cx="2747963" cy="26193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315595" y="244475"/>
            <a:ext cx="3908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400" b="1" dirty="0">
                <a:sym typeface="+mn-ea"/>
              </a:rPr>
              <a:t>空调压缩机方案</a:t>
            </a:r>
            <a:endParaRPr lang="zh-CN" altLang="en-US" sz="2400" b="1" dirty="0"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427" y="244474"/>
            <a:ext cx="9296978" cy="65043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315595" y="244475"/>
            <a:ext cx="3908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400" b="1" dirty="0">
                <a:sym typeface="+mn-ea"/>
              </a:rPr>
              <a:t>空调压缩机方案</a:t>
            </a:r>
            <a:endParaRPr lang="zh-CN" altLang="en-US" sz="2400" b="1" dirty="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235" y="135291"/>
            <a:ext cx="8524217" cy="6538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315595" y="244475"/>
            <a:ext cx="3908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800" dirty="0">
                <a:sym typeface="+mn-ea"/>
              </a:rPr>
              <a:t>步进水阀方案</a:t>
            </a:r>
            <a:endParaRPr lang="zh-CN" altLang="en-US" sz="2800" dirty="0">
              <a:sym typeface="+mn-ea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1341892" y="1680574"/>
            <a:ext cx="3219222" cy="3130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schemeClr val="accent1"/>
                </a:solidFill>
                <a:latin typeface="Calibri" panose="020F0502020204030204" charset="0"/>
              </a:rPr>
              <a:t>膨胀阀等阀门类应用</a:t>
            </a:r>
            <a:endParaRPr lang="en-US" altLang="zh-CN" sz="2000" dirty="0">
              <a:solidFill>
                <a:schemeClr val="accent1"/>
              </a:solidFill>
              <a:latin typeface="Calibri" panose="020F0502020204030204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</a:pPr>
            <a:r>
              <a:rPr lang="en-US" altLang="zh-CN" sz="2000" dirty="0">
                <a:solidFill>
                  <a:schemeClr val="accent1"/>
                </a:solidFill>
                <a:latin typeface="Calibri" panose="020F0502020204030204" charset="0"/>
              </a:rPr>
              <a:t>2</a:t>
            </a:r>
            <a:r>
              <a:rPr lang="zh-CN" altLang="en-US" sz="2000" dirty="0">
                <a:solidFill>
                  <a:schemeClr val="accent1"/>
                </a:solidFill>
                <a:latin typeface="Calibri" panose="020F0502020204030204" charset="0"/>
              </a:rPr>
              <a:t>相步进电机</a:t>
            </a:r>
            <a:endParaRPr lang="en-US" altLang="zh-CN" sz="2000" dirty="0">
              <a:solidFill>
                <a:schemeClr val="accent1"/>
              </a:solidFill>
              <a:latin typeface="Calibri" panose="020F0502020204030204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schemeClr val="accent1"/>
                </a:solidFill>
                <a:latin typeface="Calibri" panose="020F0502020204030204" charset="0"/>
              </a:rPr>
              <a:t>全集成芯片控制方案</a:t>
            </a:r>
            <a:endParaRPr lang="zh-CN" altLang="en-US" sz="2000" dirty="0">
              <a:solidFill>
                <a:schemeClr val="accent1"/>
              </a:solidFill>
              <a:latin typeface="Calibri" panose="020F050202020403020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0885" y="2094436"/>
            <a:ext cx="3114989" cy="296303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992" y="2094436"/>
            <a:ext cx="3274558" cy="29825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315595" y="244475"/>
            <a:ext cx="3908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800" dirty="0">
                <a:sym typeface="+mn-ea"/>
              </a:rPr>
              <a:t>水阀</a:t>
            </a:r>
            <a:r>
              <a:rPr lang="en-US" altLang="zh-CN" sz="2800" dirty="0">
                <a:sym typeface="+mn-ea"/>
              </a:rPr>
              <a:t>PCB</a:t>
            </a:r>
            <a:r>
              <a:rPr lang="zh-CN" altLang="en-US" sz="2800" dirty="0">
                <a:sym typeface="+mn-ea"/>
              </a:rPr>
              <a:t>板和控制效果</a:t>
            </a:r>
            <a:endParaRPr lang="zh-CN" altLang="en-US" sz="2800" dirty="0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301" y="2508477"/>
            <a:ext cx="3175542" cy="298253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7843" y="2508476"/>
            <a:ext cx="3175542" cy="2982537"/>
          </a:xfrm>
          <a:prstGeom prst="rect">
            <a:avLst/>
          </a:prstGeom>
        </p:spPr>
      </p:pic>
      <p:pic>
        <p:nvPicPr>
          <p:cNvPr id="5" name="图表 1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3385" y="2508476"/>
            <a:ext cx="3429000" cy="2982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838734" y="2941093"/>
            <a:ext cx="6237027" cy="40011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应用典型案例分享</a:t>
            </a:r>
            <a:endParaRPr lang="zh-CN" altLang="en-US" sz="2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087585" y="1562100"/>
            <a:ext cx="3309257" cy="4778828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1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tantia" panose="02030602050306030303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430485" y="4773389"/>
            <a:ext cx="0" cy="734786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4430485" y="4773389"/>
            <a:ext cx="968829" cy="310243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V="1">
            <a:off x="4430484" y="5083632"/>
            <a:ext cx="968830" cy="424543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1796142" y="3450772"/>
            <a:ext cx="2775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4501256" y="4955725"/>
            <a:ext cx="174172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4479484" y="5290457"/>
            <a:ext cx="168728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V="1">
            <a:off x="4572012" y="5187044"/>
            <a:ext cx="0" cy="179614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4520299" y="4869089"/>
            <a:ext cx="91440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313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75F77"/>
              </a:buClr>
              <a:buSzPct val="70000"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OPA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5350327" y="5078184"/>
            <a:ext cx="593272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3641271" y="4974774"/>
            <a:ext cx="78921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3265712" y="5295903"/>
            <a:ext cx="1164772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998779" y="5048245"/>
            <a:ext cx="239485" cy="1959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1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tantia" panose="02030602050306030303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067038" y="4879523"/>
            <a:ext cx="574232" cy="1905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1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tantia" panose="02030602050306030303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077951" y="5200652"/>
            <a:ext cx="574232" cy="1905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1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tantia" panose="02030602050306030303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39812" y="4315090"/>
            <a:ext cx="407537" cy="1526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313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75F77"/>
              </a:buClr>
              <a:buSzPct val="70000"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采样电阻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</p:txBody>
      </p:sp>
      <p:cxnSp>
        <p:nvCxnSpPr>
          <p:cNvPr id="41" name="直接连接符 40"/>
          <p:cNvCxnSpPr>
            <a:endCxn id="37" idx="1"/>
          </p:cNvCxnSpPr>
          <p:nvPr/>
        </p:nvCxnSpPr>
        <p:spPr>
          <a:xfrm>
            <a:off x="2378527" y="4974774"/>
            <a:ext cx="688511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endCxn id="38" idx="1"/>
          </p:cNvCxnSpPr>
          <p:nvPr/>
        </p:nvCxnSpPr>
        <p:spPr>
          <a:xfrm>
            <a:off x="2378527" y="5295903"/>
            <a:ext cx="699424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矩形 44"/>
          <p:cNvSpPr/>
          <p:nvPr/>
        </p:nvSpPr>
        <p:spPr>
          <a:xfrm>
            <a:off x="1811094" y="4870900"/>
            <a:ext cx="574232" cy="1905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1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tantia" panose="02030602050306030303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822007" y="5192029"/>
            <a:ext cx="574232" cy="1905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1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tantia" panose="02030602050306030303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1111670" y="4974774"/>
            <a:ext cx="688511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1111670" y="5295903"/>
            <a:ext cx="699424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flipV="1">
            <a:off x="1111670" y="4308016"/>
            <a:ext cx="0" cy="74022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flipV="1">
            <a:off x="1112998" y="5244188"/>
            <a:ext cx="0" cy="74022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768809" y="5984417"/>
            <a:ext cx="699424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876942" y="6125932"/>
            <a:ext cx="46945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998779" y="6245674"/>
            <a:ext cx="16465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/>
        </p:nvSpPr>
        <p:spPr>
          <a:xfrm>
            <a:off x="3541950" y="4600127"/>
            <a:ext cx="91440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313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75F77"/>
              </a:buClr>
              <a:buSzPct val="70000"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OP1N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3581400" y="5256894"/>
            <a:ext cx="91440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313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75F77"/>
              </a:buClr>
              <a:buSzPct val="70000"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OP1P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6286499" y="2031475"/>
            <a:ext cx="849085" cy="2371415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1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tantia" panose="02030602050306030303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6338213" y="3008088"/>
            <a:ext cx="91440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313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75F77"/>
              </a:buClr>
              <a:buSzPct val="70000"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ePWM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</p:txBody>
      </p:sp>
      <p:cxnSp>
        <p:nvCxnSpPr>
          <p:cNvPr id="66" name="直接连接符 65"/>
          <p:cNvCxnSpPr/>
          <p:nvPr/>
        </p:nvCxnSpPr>
        <p:spPr>
          <a:xfrm>
            <a:off x="4430485" y="3401025"/>
            <a:ext cx="0" cy="734786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>
            <a:off x="4430485" y="3401025"/>
            <a:ext cx="968829" cy="310243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 flipV="1">
            <a:off x="4430484" y="3711268"/>
            <a:ext cx="968830" cy="424543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4501256" y="3583361"/>
            <a:ext cx="174172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>
          <a:xfrm>
            <a:off x="4479484" y="3918093"/>
            <a:ext cx="168728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 flipV="1">
            <a:off x="4572012" y="3814680"/>
            <a:ext cx="0" cy="179614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4520299" y="3496725"/>
            <a:ext cx="91440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313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75F77"/>
              </a:buClr>
              <a:buSzPct val="70000"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COMP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</p:txBody>
      </p:sp>
      <p:cxnSp>
        <p:nvCxnSpPr>
          <p:cNvPr id="74" name="直接连接符 73"/>
          <p:cNvCxnSpPr/>
          <p:nvPr/>
        </p:nvCxnSpPr>
        <p:spPr>
          <a:xfrm>
            <a:off x="3641271" y="3602410"/>
            <a:ext cx="78921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4207328" y="3914916"/>
            <a:ext cx="223156" cy="8623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矩形 75"/>
          <p:cNvSpPr/>
          <p:nvPr/>
        </p:nvSpPr>
        <p:spPr>
          <a:xfrm>
            <a:off x="3067038" y="3507159"/>
            <a:ext cx="574232" cy="1905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1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tantia" panose="02030602050306030303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3541950" y="3227763"/>
            <a:ext cx="91440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313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75F77"/>
              </a:buClr>
              <a:buSzPct val="70000"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OP1N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3581400" y="3884530"/>
            <a:ext cx="91440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313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75F77"/>
              </a:buClr>
              <a:buSzPct val="70000"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OP1P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</p:txBody>
      </p:sp>
      <p:cxnSp>
        <p:nvCxnSpPr>
          <p:cNvPr id="80" name="直接连接符 79"/>
          <p:cNvCxnSpPr/>
          <p:nvPr/>
        </p:nvCxnSpPr>
        <p:spPr>
          <a:xfrm>
            <a:off x="4429808" y="2378227"/>
            <a:ext cx="0" cy="734786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>
            <a:off x="4429808" y="2378227"/>
            <a:ext cx="968829" cy="310243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 flipV="1">
            <a:off x="4429807" y="2688470"/>
            <a:ext cx="968830" cy="424543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4500579" y="2560563"/>
            <a:ext cx="174172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>
            <a:off x="4478807" y="2895295"/>
            <a:ext cx="168728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 flipV="1">
            <a:off x="4571335" y="2791882"/>
            <a:ext cx="0" cy="179614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文本框 85"/>
          <p:cNvSpPr txBox="1"/>
          <p:nvPr/>
        </p:nvSpPr>
        <p:spPr>
          <a:xfrm>
            <a:off x="4519622" y="2473927"/>
            <a:ext cx="91440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313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75F77"/>
              </a:buClr>
              <a:buSzPct val="70000"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COMP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</p:txBody>
      </p:sp>
      <p:cxnSp>
        <p:nvCxnSpPr>
          <p:cNvPr id="88" name="直接连接符 87"/>
          <p:cNvCxnSpPr/>
          <p:nvPr/>
        </p:nvCxnSpPr>
        <p:spPr>
          <a:xfrm>
            <a:off x="3640594" y="2579612"/>
            <a:ext cx="789213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4207328" y="2900741"/>
            <a:ext cx="222479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矩形 89"/>
          <p:cNvSpPr/>
          <p:nvPr/>
        </p:nvSpPr>
        <p:spPr>
          <a:xfrm>
            <a:off x="3066361" y="2484361"/>
            <a:ext cx="574232" cy="1905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1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tantia" panose="02030602050306030303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3541273" y="2204965"/>
            <a:ext cx="91440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313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75F77"/>
              </a:buClr>
              <a:buSzPct val="70000"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OP1N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3580723" y="2861732"/>
            <a:ext cx="91440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313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75F77"/>
              </a:buClr>
              <a:buSzPct val="70000"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OP1P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</p:txBody>
      </p:sp>
      <p:cxnSp>
        <p:nvCxnSpPr>
          <p:cNvPr id="94" name="直接连接符 93"/>
          <p:cNvCxnSpPr/>
          <p:nvPr/>
        </p:nvCxnSpPr>
        <p:spPr>
          <a:xfrm>
            <a:off x="2198914" y="4528079"/>
            <a:ext cx="3744008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>
            <a:off x="5937479" y="4512279"/>
            <a:ext cx="0" cy="574075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文本框 101"/>
          <p:cNvSpPr txBox="1"/>
          <p:nvPr/>
        </p:nvSpPr>
        <p:spPr>
          <a:xfrm>
            <a:off x="3351762" y="4234308"/>
            <a:ext cx="1064023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313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75F77"/>
              </a:buClr>
              <a:buSzPct val="70000"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OP1OUT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</p:txBody>
      </p:sp>
      <p:cxnSp>
        <p:nvCxnSpPr>
          <p:cNvPr id="105" name="直接连接符 104"/>
          <p:cNvCxnSpPr/>
          <p:nvPr/>
        </p:nvCxnSpPr>
        <p:spPr>
          <a:xfrm>
            <a:off x="4207328" y="4308016"/>
            <a:ext cx="892628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矩形 106"/>
          <p:cNvSpPr/>
          <p:nvPr/>
        </p:nvSpPr>
        <p:spPr>
          <a:xfrm>
            <a:off x="5099957" y="4084941"/>
            <a:ext cx="1007174" cy="361113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1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tantia" panose="02030602050306030303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08" name="直接连接符 107"/>
          <p:cNvCxnSpPr/>
          <p:nvPr/>
        </p:nvCxnSpPr>
        <p:spPr>
          <a:xfrm flipV="1">
            <a:off x="4207328" y="3892384"/>
            <a:ext cx="0" cy="415632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直接箭头连接符 112"/>
          <p:cNvCxnSpPr/>
          <p:nvPr/>
        </p:nvCxnSpPr>
        <p:spPr>
          <a:xfrm flipV="1">
            <a:off x="5333321" y="3697661"/>
            <a:ext cx="953178" cy="136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/>
          <p:cNvCxnSpPr/>
          <p:nvPr/>
        </p:nvCxnSpPr>
        <p:spPr>
          <a:xfrm flipV="1">
            <a:off x="5358911" y="2680302"/>
            <a:ext cx="953178" cy="136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/>
          <p:cNvCxnSpPr/>
          <p:nvPr/>
        </p:nvCxnSpPr>
        <p:spPr>
          <a:xfrm>
            <a:off x="4219049" y="3334578"/>
            <a:ext cx="892628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矩形 116"/>
          <p:cNvSpPr/>
          <p:nvPr/>
        </p:nvSpPr>
        <p:spPr>
          <a:xfrm>
            <a:off x="5111677" y="3111503"/>
            <a:ext cx="969345" cy="361113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1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tantia" panose="02030602050306030303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18" name="直接连接符 117"/>
          <p:cNvCxnSpPr/>
          <p:nvPr/>
        </p:nvCxnSpPr>
        <p:spPr>
          <a:xfrm flipV="1">
            <a:off x="4219049" y="2918946"/>
            <a:ext cx="0" cy="415632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9" name="文本框 118"/>
          <p:cNvSpPr txBox="1"/>
          <p:nvPr/>
        </p:nvSpPr>
        <p:spPr>
          <a:xfrm flipH="1">
            <a:off x="5042889" y="4012924"/>
            <a:ext cx="1326869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313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75F77"/>
              </a:buClr>
              <a:buSzPct val="70000"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硬件限流点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</p:txBody>
      </p:sp>
      <p:sp>
        <p:nvSpPr>
          <p:cNvPr id="120" name="文本框 119"/>
          <p:cNvSpPr txBox="1"/>
          <p:nvPr/>
        </p:nvSpPr>
        <p:spPr>
          <a:xfrm flipH="1">
            <a:off x="5086876" y="3053892"/>
            <a:ext cx="1232806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313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75F77"/>
              </a:buClr>
              <a:buSzPct val="70000"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硬件过流点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</p:txBody>
      </p:sp>
      <p:cxnSp>
        <p:nvCxnSpPr>
          <p:cNvPr id="121" name="直接连接符 120"/>
          <p:cNvCxnSpPr/>
          <p:nvPr/>
        </p:nvCxnSpPr>
        <p:spPr>
          <a:xfrm flipV="1">
            <a:off x="2213624" y="2541660"/>
            <a:ext cx="0" cy="2011353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直接连接符 124"/>
          <p:cNvCxnSpPr>
            <a:endCxn id="90" idx="1"/>
          </p:cNvCxnSpPr>
          <p:nvPr/>
        </p:nvCxnSpPr>
        <p:spPr>
          <a:xfrm>
            <a:off x="2213624" y="2560563"/>
            <a:ext cx="852737" cy="1904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直接连接符 127"/>
          <p:cNvCxnSpPr>
            <a:endCxn id="76" idx="1"/>
          </p:cNvCxnSpPr>
          <p:nvPr/>
        </p:nvCxnSpPr>
        <p:spPr>
          <a:xfrm>
            <a:off x="2233077" y="3583361"/>
            <a:ext cx="833961" cy="1904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1" name="矩形 130"/>
          <p:cNvSpPr/>
          <p:nvPr/>
        </p:nvSpPr>
        <p:spPr>
          <a:xfrm>
            <a:off x="2742840" y="5508175"/>
            <a:ext cx="191941" cy="2786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1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tantia" panose="02030602050306030303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32" name="直接连接符 131"/>
          <p:cNvCxnSpPr/>
          <p:nvPr/>
        </p:nvCxnSpPr>
        <p:spPr>
          <a:xfrm>
            <a:off x="2597777" y="5984417"/>
            <a:ext cx="421911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直接连接符 132"/>
          <p:cNvCxnSpPr/>
          <p:nvPr/>
        </p:nvCxnSpPr>
        <p:spPr>
          <a:xfrm>
            <a:off x="2666724" y="6125932"/>
            <a:ext cx="286492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直接连接符 133"/>
          <p:cNvCxnSpPr/>
          <p:nvPr/>
        </p:nvCxnSpPr>
        <p:spPr>
          <a:xfrm>
            <a:off x="2736313" y="6245674"/>
            <a:ext cx="16465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直接连接符 140"/>
          <p:cNvCxnSpPr/>
          <p:nvPr/>
        </p:nvCxnSpPr>
        <p:spPr>
          <a:xfrm flipV="1">
            <a:off x="2836133" y="5256894"/>
            <a:ext cx="0" cy="74022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直接连接符 141"/>
          <p:cNvCxnSpPr/>
          <p:nvPr/>
        </p:nvCxnSpPr>
        <p:spPr>
          <a:xfrm flipV="1">
            <a:off x="4219049" y="2122715"/>
            <a:ext cx="0" cy="445061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直接箭头连接符 143"/>
          <p:cNvCxnSpPr/>
          <p:nvPr/>
        </p:nvCxnSpPr>
        <p:spPr>
          <a:xfrm>
            <a:off x="4207328" y="2151973"/>
            <a:ext cx="2112354" cy="777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文本框 145"/>
          <p:cNvSpPr txBox="1"/>
          <p:nvPr/>
        </p:nvSpPr>
        <p:spPr>
          <a:xfrm>
            <a:off x="5556143" y="1832398"/>
            <a:ext cx="91440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313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75F77"/>
              </a:buClr>
              <a:buSzPct val="70000"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IDC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5562613" y="2335438"/>
            <a:ext cx="91440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313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75F77"/>
              </a:buClr>
              <a:buSzPct val="70000"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TZ1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5533632" y="3400699"/>
            <a:ext cx="914400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313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75F77"/>
              </a:buClr>
              <a:buSzPct val="70000"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TZ2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</p:txBody>
      </p:sp>
      <p:pic>
        <p:nvPicPr>
          <p:cNvPr id="150" name="图片 1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8825" y="1585721"/>
            <a:ext cx="4251535" cy="3412676"/>
          </a:xfrm>
          <a:prstGeom prst="rect">
            <a:avLst/>
          </a:prstGeom>
        </p:spPr>
      </p:pic>
      <p:sp>
        <p:nvSpPr>
          <p:cNvPr id="151" name="文本框 150"/>
          <p:cNvSpPr txBox="1"/>
          <p:nvPr>
            <p:custDataLst>
              <p:tags r:id="rId2"/>
            </p:custDataLst>
          </p:nvPr>
        </p:nvSpPr>
        <p:spPr>
          <a:xfrm>
            <a:off x="315595" y="244475"/>
            <a:ext cx="7081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微软雅黑" panose="020B0503020204020204" pitchFamily="34" charset="-122"/>
                <a:cs typeface="+mn-cs"/>
                <a:sym typeface="+mn-ea"/>
              </a:rPr>
              <a:t>单电阻采样（单周期硬件限流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微软雅黑" panose="020B0503020204020204" pitchFamily="34" charset="-122"/>
                <a:cs typeface="+mn-cs"/>
                <a:sym typeface="+mn-ea"/>
              </a:rPr>
              <a:t>+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anose="02030602050306030303"/>
                <a:ea typeface="微软雅黑" panose="020B0503020204020204" pitchFamily="34" charset="-122"/>
                <a:cs typeface="+mn-cs"/>
                <a:sym typeface="+mn-ea"/>
              </a:rPr>
              <a:t>硬件过流）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tantia" panose="02030602050306030303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8073164" y="5140782"/>
            <a:ext cx="3660763" cy="1246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Autofit/>
          </a:bodyPr>
          <a:lstStyle>
            <a:lvl1pPr marL="342900" indent="-3429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0" indent="0" algn="l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zh-CN" altLang="en-US" sz="18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软件限流</a:t>
            </a:r>
            <a:r>
              <a:rPr lang="en-US" altLang="zh-CN" sz="18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50US </a:t>
            </a:r>
            <a:r>
              <a:rPr lang="zh-CN" altLang="en-US" sz="18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控制周期，缩短到</a:t>
            </a:r>
            <a:r>
              <a:rPr lang="en-US" altLang="zh-CN" sz="18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1US </a:t>
            </a:r>
            <a:r>
              <a:rPr lang="zh-CN" altLang="en-US" sz="18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以内！！！</a:t>
            </a:r>
            <a:endParaRPr lang="zh-CN" altLang="en-US" sz="1800" b="1" dirty="0">
              <a:solidFill>
                <a:srgbClr val="0070C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>
            <p:custDataLst>
              <p:tags r:id="rId1"/>
            </p:custDataLst>
          </p:nvPr>
        </p:nvSpPr>
        <p:spPr>
          <a:xfrm>
            <a:off x="315595" y="244475"/>
            <a:ext cx="4032885" cy="8528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charset="-122"/>
                <a:ea typeface="思源黑体" panose="020B0500000000000000" charset="-122"/>
              </a:rPr>
              <a:t>保护功能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思源黑体" panose="020B0500000000000000" charset="-122"/>
              <a:ea typeface="思源黑体" panose="020B05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109470" y="581660"/>
            <a:ext cx="6941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包括欠压，过压，过温，堵转，过流，短路，开路，驱动异常等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74345" y="950277"/>
            <a:ext cx="5080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 algn="just" defTabSz="266700">
              <a:spcAft>
                <a:spcPct val="0"/>
              </a:spcAft>
            </a:pP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以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ADM16F03A2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在三种情况下的保护为例</a:t>
            </a:r>
            <a:endParaRPr lang="zh-CN" altLang="en-US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Aft>
                <a:spcPct val="0"/>
              </a:spcAft>
            </a:pP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（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mos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管短接电源，短接地，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uvw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三路其中两路导通）</a:t>
            </a:r>
            <a:endParaRPr lang="zh-CN" altLang="en-US" sz="1600"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4" name="图片 1" descr="8decff1d00b23a379446fe1af4db6d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" y="1893570"/>
            <a:ext cx="3780790" cy="34036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718685" y="2021523"/>
            <a:ext cx="5080000" cy="10763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 algn="just" defTabSz="266700">
              <a:spcAft>
                <a:spcPct val="0"/>
              </a:spcAft>
            </a:pP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采集到采样电阻两端的电压经过查分运放放大后的输出送到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A0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引脚，通过和内部比较器比较，如果采样值大于设定的阈值则触发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pdp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保护，内部封波。</a:t>
            </a:r>
            <a:endParaRPr lang="zh-CN" altLang="en-US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>
              <a:spcAft>
                <a:spcPct val="0"/>
              </a:spcAft>
            </a:pP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比较器的具体阈值设定通过以下代码实现。</a:t>
            </a:r>
            <a:endParaRPr lang="zh-CN" altLang="en-US" sz="1600"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6" name="图片 2" descr="2a61403068f50c4c2944f79f206430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295" y="3098165"/>
            <a:ext cx="7213600" cy="61849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295" y="3806190"/>
            <a:ext cx="5106035" cy="28270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0">
        <p14:conveyor dir="l"/>
      </p:transition>
    </mc:Choice>
    <mc:Fallback>
      <p:transition spd="slow" advClick="0" advTm="0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8"/>
          <p:cNvSpPr txBox="1"/>
          <p:nvPr>
            <p:custDataLst>
              <p:tags r:id="rId1"/>
            </p:custDataLst>
          </p:nvPr>
        </p:nvSpPr>
        <p:spPr>
          <a:xfrm>
            <a:off x="315595" y="244475"/>
            <a:ext cx="46697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800" b="1" dirty="0">
                <a:ea typeface="思源黑体" panose="020B0500000000000000" charset="-122"/>
                <a:sym typeface="+mn-ea"/>
              </a:rPr>
              <a:t>应用解决方案</a:t>
            </a:r>
            <a:endParaRPr lang="zh-CN" altLang="en-US" sz="2800" b="1" dirty="0">
              <a:ea typeface="思源黑体" panose="020B0500000000000000" charset="-122"/>
              <a:sym typeface="+mn-ea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919874" y="1337545"/>
            <a:ext cx="5453711" cy="681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zh-CN" altLang="en-US" sz="20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</a:rPr>
              <a:t>噪音问题（单电阻采样带来的电机噪音抑制）</a:t>
            </a:r>
            <a:endParaRPr lang="zh-CN" altLang="en-US" sz="2000" b="1" dirty="0">
              <a:solidFill>
                <a:srgbClr val="0070C0"/>
              </a:solidFill>
              <a:latin typeface="思源黑体" panose="020B0500000000000000" charset="-122"/>
              <a:ea typeface="思源黑体" panose="020B0500000000000000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257116" y="2993571"/>
            <a:ext cx="97427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2231388" y="2607128"/>
            <a:ext cx="97427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V="1">
            <a:off x="3205660" y="2993571"/>
            <a:ext cx="1103812" cy="1850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2231388" y="2607128"/>
            <a:ext cx="0" cy="4049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3205660" y="2607128"/>
            <a:ext cx="0" cy="4049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257116" y="2428058"/>
            <a:ext cx="139228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2649400" y="2041615"/>
            <a:ext cx="17090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2820305" y="2428058"/>
            <a:ext cx="1489167" cy="2775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2649400" y="2041615"/>
            <a:ext cx="0" cy="4049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2820306" y="2041615"/>
            <a:ext cx="0" cy="4049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257116" y="3616787"/>
            <a:ext cx="447586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1669686" y="3211839"/>
            <a:ext cx="2027101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3696787" y="3616787"/>
            <a:ext cx="612685" cy="1850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669686" y="3211839"/>
            <a:ext cx="0" cy="4049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696787" y="3211839"/>
            <a:ext cx="0" cy="4049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3"/>
          <p:cNvSpPr>
            <a:spLocks noChangeArrowheads="1"/>
          </p:cNvSpPr>
          <p:nvPr/>
        </p:nvSpPr>
        <p:spPr bwMode="auto">
          <a:xfrm>
            <a:off x="2925169" y="1963055"/>
            <a:ext cx="280491" cy="681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en-US" altLang="zh-CN" sz="20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</a:rPr>
              <a:t>B</a:t>
            </a:r>
            <a:endParaRPr lang="zh-CN" altLang="en-US" sz="2000" b="1" dirty="0">
              <a:solidFill>
                <a:srgbClr val="0070C0"/>
              </a:solidFill>
              <a:latin typeface="思源黑体" panose="020B0500000000000000" charset="-122"/>
              <a:ea typeface="思源黑体" panose="020B0500000000000000" charset="-122"/>
            </a:endParaRPr>
          </a:p>
        </p:txBody>
      </p:sp>
      <p:sp>
        <p:nvSpPr>
          <p:cNvPr id="42" name="箭头: 右 41"/>
          <p:cNvSpPr/>
          <p:nvPr/>
        </p:nvSpPr>
        <p:spPr>
          <a:xfrm>
            <a:off x="4472902" y="2609043"/>
            <a:ext cx="711925" cy="6027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/>
          <p:cNvCxnSpPr/>
          <p:nvPr/>
        </p:nvCxnSpPr>
        <p:spPr>
          <a:xfrm>
            <a:off x="5550629" y="2993571"/>
            <a:ext cx="97427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6524901" y="2607128"/>
            <a:ext cx="97427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V="1">
            <a:off x="7499173" y="2993571"/>
            <a:ext cx="1103812" cy="1850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6524901" y="2607128"/>
            <a:ext cx="0" cy="4049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7499173" y="2607128"/>
            <a:ext cx="0" cy="4049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5569498" y="2409551"/>
            <a:ext cx="97427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6543770" y="2023108"/>
            <a:ext cx="97427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flipV="1">
            <a:off x="7518042" y="2409551"/>
            <a:ext cx="1103812" cy="1850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6543770" y="2023108"/>
            <a:ext cx="0" cy="4049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7518042" y="2023108"/>
            <a:ext cx="0" cy="4049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5550629" y="3591749"/>
            <a:ext cx="97427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6524901" y="3205306"/>
            <a:ext cx="97427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V="1">
            <a:off x="7499173" y="3591749"/>
            <a:ext cx="1103812" cy="1850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>
            <a:off x="6524901" y="3205306"/>
            <a:ext cx="0" cy="4049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7499173" y="3205306"/>
            <a:ext cx="0" cy="4049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箭头: 右 58"/>
          <p:cNvSpPr/>
          <p:nvPr/>
        </p:nvSpPr>
        <p:spPr>
          <a:xfrm rot="5400000">
            <a:off x="6550737" y="3779773"/>
            <a:ext cx="960338" cy="6027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6" name="直接连接符 75"/>
          <p:cNvCxnSpPr/>
          <p:nvPr/>
        </p:nvCxnSpPr>
        <p:spPr>
          <a:xfrm>
            <a:off x="5569498" y="5671457"/>
            <a:ext cx="97427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6543770" y="5285014"/>
            <a:ext cx="97427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 flipV="1">
            <a:off x="7518042" y="5671457"/>
            <a:ext cx="1103812" cy="1850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>
            <a:off x="6543770" y="5285014"/>
            <a:ext cx="0" cy="4049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7518042" y="5285014"/>
            <a:ext cx="0" cy="4049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>
            <a:off x="5569498" y="5087437"/>
            <a:ext cx="128705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6856548" y="4700994"/>
            <a:ext cx="97427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flipV="1">
            <a:off x="7830820" y="5096690"/>
            <a:ext cx="772165" cy="925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>
            <a:off x="6856548" y="4700994"/>
            <a:ext cx="0" cy="4049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>
            <a:off x="7830820" y="4700994"/>
            <a:ext cx="0" cy="4049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>
            <a:off x="5550629" y="6269635"/>
            <a:ext cx="614319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6164948" y="5883192"/>
            <a:ext cx="97427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7139220" y="6288140"/>
            <a:ext cx="153561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/>
        </p:nvCxnSpPr>
        <p:spPr>
          <a:xfrm>
            <a:off x="6164948" y="5883192"/>
            <a:ext cx="0" cy="4049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/>
        </p:nvCxnSpPr>
        <p:spPr>
          <a:xfrm>
            <a:off x="7139220" y="5883192"/>
            <a:ext cx="0" cy="40494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/>
          <p:cNvCxnSpPr/>
          <p:nvPr/>
        </p:nvCxnSpPr>
        <p:spPr>
          <a:xfrm flipV="1">
            <a:off x="1887583" y="2993571"/>
            <a:ext cx="0" cy="146958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/>
          <p:cNvCxnSpPr/>
          <p:nvPr/>
        </p:nvCxnSpPr>
        <p:spPr>
          <a:xfrm flipV="1">
            <a:off x="3002743" y="2555555"/>
            <a:ext cx="0" cy="176759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/>
          <p:nvPr/>
        </p:nvCxnSpPr>
        <p:spPr>
          <a:xfrm>
            <a:off x="6369412" y="5340031"/>
            <a:ext cx="0" cy="454866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/>
          <p:cNvCxnSpPr/>
          <p:nvPr/>
        </p:nvCxnSpPr>
        <p:spPr>
          <a:xfrm>
            <a:off x="7691126" y="5281252"/>
            <a:ext cx="0" cy="454866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3"/>
          <p:cNvSpPr>
            <a:spLocks noChangeArrowheads="1"/>
          </p:cNvSpPr>
          <p:nvPr/>
        </p:nvSpPr>
        <p:spPr bwMode="auto">
          <a:xfrm>
            <a:off x="4955017" y="4097269"/>
            <a:ext cx="3112939" cy="681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zh-CN" altLang="en-US" sz="20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</a:rPr>
              <a:t>移相或者挖坑</a:t>
            </a:r>
            <a:endParaRPr lang="zh-CN" altLang="en-US" sz="2000" b="1" dirty="0">
              <a:solidFill>
                <a:srgbClr val="0070C0"/>
              </a:solidFill>
              <a:latin typeface="思源黑体" panose="020B0500000000000000" charset="-122"/>
              <a:ea typeface="思源黑体" panose="020B0500000000000000" charset="-122"/>
            </a:endParaRPr>
          </a:p>
        </p:txBody>
      </p:sp>
      <p:sp>
        <p:nvSpPr>
          <p:cNvPr id="109" name="箭头: 上弧形 108"/>
          <p:cNvSpPr/>
          <p:nvPr/>
        </p:nvSpPr>
        <p:spPr>
          <a:xfrm rot="19095623" flipV="1">
            <a:off x="7446496" y="4790057"/>
            <a:ext cx="3526066" cy="68400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1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tantia" panose="02030602050306030303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0" name="Rectangle 3"/>
          <p:cNvSpPr>
            <a:spLocks noChangeArrowheads="1"/>
          </p:cNvSpPr>
          <p:nvPr/>
        </p:nvSpPr>
        <p:spPr bwMode="auto">
          <a:xfrm>
            <a:off x="9042427" y="2078254"/>
            <a:ext cx="2237410" cy="1830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zh-CN" altLang="en-US" sz="20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</a:rPr>
              <a:t>导致不对称</a:t>
            </a:r>
            <a:r>
              <a:rPr lang="en-US" altLang="zh-CN" sz="20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</a:rPr>
              <a:t>PWM</a:t>
            </a:r>
            <a:r>
              <a:rPr lang="zh-CN" altLang="en-US" sz="20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</a:rPr>
              <a:t>，零矢量分布打乱形成噪音，在电子风扇等小电感电机表现明显。</a:t>
            </a:r>
            <a:endParaRPr lang="zh-CN" altLang="en-US" sz="2000" b="1" dirty="0">
              <a:solidFill>
                <a:srgbClr val="0070C0"/>
              </a:solidFill>
              <a:latin typeface="思源黑体" panose="020B0500000000000000" charset="-122"/>
              <a:ea typeface="思源黑体" panose="020B0500000000000000" charset="-122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7151145" y="4676273"/>
            <a:ext cx="340803" cy="161404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8"/>
          <p:cNvSpPr txBox="1"/>
          <p:nvPr>
            <p:custDataLst>
              <p:tags r:id="rId1"/>
            </p:custDataLst>
          </p:nvPr>
        </p:nvSpPr>
        <p:spPr>
          <a:xfrm>
            <a:off x="315595" y="244475"/>
            <a:ext cx="46697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800" b="1" dirty="0">
                <a:ea typeface="思源黑体" panose="020B0500000000000000" charset="-122"/>
                <a:sym typeface="+mn-ea"/>
              </a:rPr>
              <a:t>应用解决方案</a:t>
            </a:r>
            <a:endParaRPr lang="zh-CN" altLang="en-US" sz="2800" b="1" dirty="0">
              <a:ea typeface="思源黑体" panose="020B0500000000000000" charset="-122"/>
              <a:sym typeface="+mn-ea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919874" y="1337545"/>
            <a:ext cx="5176125" cy="681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en-US" altLang="zh-CN" sz="20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</a:rPr>
              <a:t>EMI</a:t>
            </a:r>
            <a:r>
              <a:rPr lang="zh-CN" altLang="en-US" sz="20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</a:rPr>
              <a:t> 改善措施</a:t>
            </a:r>
            <a:endParaRPr lang="zh-CN" altLang="en-US" sz="2000" b="1" dirty="0">
              <a:solidFill>
                <a:srgbClr val="0070C0"/>
              </a:solidFill>
              <a:latin typeface="思源黑体" panose="020B0500000000000000" charset="-122"/>
              <a:ea typeface="思源黑体" panose="020B0500000000000000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730" y="1839750"/>
            <a:ext cx="3889762" cy="423105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241" y="1839751"/>
            <a:ext cx="4095810" cy="4231057"/>
          </a:xfrm>
          <a:prstGeom prst="rect">
            <a:avLst/>
          </a:prstGeom>
        </p:spPr>
      </p:pic>
      <p:sp>
        <p:nvSpPr>
          <p:cNvPr id="10" name="箭头: 右 9"/>
          <p:cNvSpPr/>
          <p:nvPr/>
        </p:nvSpPr>
        <p:spPr>
          <a:xfrm>
            <a:off x="5276088" y="3178499"/>
            <a:ext cx="1469664" cy="10567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165051" y="2809167"/>
            <a:ext cx="23525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</a:rPr>
              <a:t>谐波抑制算法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60395" y="273568"/>
            <a:ext cx="6237027" cy="40011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服务与技术支持</a:t>
            </a:r>
            <a:endParaRPr lang="zh-CN" altLang="en-US" sz="2000" b="1" dirty="0"/>
          </a:p>
        </p:txBody>
      </p:sp>
      <p:sp>
        <p:nvSpPr>
          <p:cNvPr id="3" name="Text Box 2"/>
          <p:cNvSpPr>
            <a:spLocks noChangeArrowheads="1"/>
          </p:cNvSpPr>
          <p:nvPr/>
        </p:nvSpPr>
        <p:spPr bwMode="auto">
          <a:xfrm>
            <a:off x="1191895" y="1950720"/>
            <a:ext cx="8921115" cy="2956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noAutofit/>
          </a:bodyPr>
          <a:lstStyle>
            <a:lvl1pPr marL="342900" indent="-3429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7498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l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+mj-lt"/>
              <a:buAutoNum type="arabicPeriod"/>
            </a:pPr>
            <a:r>
              <a:rPr lang="zh-CN" altLang="en-US" sz="18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芯片及工具使用培训</a:t>
            </a:r>
            <a:endParaRPr lang="zh-CN" altLang="en-US" sz="1800" b="1" dirty="0">
              <a:solidFill>
                <a:srgbClr val="0070C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+mn-ea"/>
            </a:endParaRPr>
          </a:p>
          <a:p>
            <a:pPr lvl="0" algn="l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+mj-lt"/>
              <a:buAutoNum type="arabicPeriod"/>
            </a:pPr>
            <a:r>
              <a:rPr lang="zh-CN" altLang="en-US" sz="18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核心算法的原理介绍</a:t>
            </a:r>
            <a:endParaRPr lang="zh-CN" altLang="en-US" sz="1800" b="1" dirty="0">
              <a:solidFill>
                <a:srgbClr val="0070C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+mn-ea"/>
            </a:endParaRPr>
          </a:p>
          <a:p>
            <a:pPr lvl="0" algn="l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+mj-lt"/>
              <a:buAutoNum type="arabicPeriod"/>
            </a:pPr>
            <a:r>
              <a:rPr lang="zh-CN" altLang="en-US" sz="18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完整硬件方案参考设计</a:t>
            </a:r>
            <a:endParaRPr lang="zh-CN" altLang="en-US" sz="1800" b="1" dirty="0">
              <a:solidFill>
                <a:srgbClr val="0070C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+mn-ea"/>
            </a:endParaRPr>
          </a:p>
          <a:p>
            <a:pPr lvl="0" algn="l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+mj-lt"/>
              <a:buAutoNum type="arabicPeriod"/>
            </a:pPr>
            <a:r>
              <a:rPr lang="zh-CN" altLang="en-US" sz="18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源代码级别的整个工程参考设计</a:t>
            </a:r>
            <a:endParaRPr lang="zh-CN" altLang="en-US" sz="1800" b="1" dirty="0">
              <a:solidFill>
                <a:srgbClr val="0070C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+mn-ea"/>
            </a:endParaRPr>
          </a:p>
          <a:p>
            <a:pPr lvl="0" algn="l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+mj-lt"/>
              <a:buAutoNum type="arabicPeriod"/>
            </a:pPr>
            <a:r>
              <a:rPr lang="zh-CN" altLang="en-US" sz="18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上位机调试系统，提供数据和波形及程序下载等功能</a:t>
            </a:r>
            <a:endParaRPr lang="zh-CN" altLang="en-US" sz="1800" b="1" dirty="0">
              <a:solidFill>
                <a:srgbClr val="0070C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+mn-ea"/>
            </a:endParaRPr>
          </a:p>
          <a:p>
            <a:pPr lvl="0" algn="l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+mj-lt"/>
              <a:buAutoNum type="arabicPeriod"/>
            </a:pPr>
            <a:r>
              <a:rPr lang="zh-CN" altLang="en-US" sz="1800" b="1" dirty="0">
                <a:solidFill>
                  <a:srgbClr val="0070C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rPr>
              <a:t>现场系统调试	</a:t>
            </a:r>
            <a:endParaRPr lang="zh-CN" altLang="en-US" sz="1800" b="1" dirty="0">
              <a:solidFill>
                <a:srgbClr val="0070C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 userDrawn="1">
            <p:custDataLst>
              <p:tags r:id="rId1"/>
            </p:custDataLst>
          </p:nvPr>
        </p:nvSpPr>
        <p:spPr>
          <a:xfrm>
            <a:off x="315594" y="244475"/>
            <a:ext cx="6747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电控、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OBC/DCDC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及热管理应用车型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824" y="2512585"/>
            <a:ext cx="4881139" cy="305345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49505" y="1291957"/>
            <a:ext cx="10719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n-ea"/>
              </a:rPr>
              <a:t>电驱控制器：元，宋，唐，海鸥，海豚，秦，海豹，汉，熊猫、几何</a:t>
            </a:r>
            <a:r>
              <a:rPr lang="en-US" altLang="zh-CN" dirty="0">
                <a:latin typeface="+mn-ea"/>
              </a:rPr>
              <a:t>……</a:t>
            </a:r>
            <a:endParaRPr lang="en-US" altLang="zh-CN" dirty="0">
              <a:latin typeface="+mn-ea"/>
            </a:endParaRPr>
          </a:p>
          <a:p>
            <a:r>
              <a:rPr lang="en-US" altLang="zh-CN" dirty="0">
                <a:latin typeface="+mn-ea"/>
              </a:rPr>
              <a:t>OBC/DCDC</a:t>
            </a:r>
            <a:r>
              <a:rPr lang="zh-CN" altLang="en-US" dirty="0">
                <a:latin typeface="+mn-ea"/>
              </a:rPr>
              <a:t>：比亚迪王朝系列，海洋系列，东风</a:t>
            </a:r>
            <a:r>
              <a:rPr lang="en-US" altLang="zh-CN" dirty="0">
                <a:latin typeface="+mn-ea"/>
              </a:rPr>
              <a:t>EM260</a:t>
            </a:r>
            <a:r>
              <a:rPr lang="zh-CN" altLang="en-US" dirty="0">
                <a:latin typeface="+mn-ea"/>
              </a:rPr>
              <a:t>，睿蓝，哪吒，江淮</a:t>
            </a:r>
            <a:r>
              <a:rPr lang="en-US" altLang="zh-CN" dirty="0">
                <a:latin typeface="+mn-ea"/>
              </a:rPr>
              <a:t>iEV7/6</a:t>
            </a:r>
            <a:r>
              <a:rPr lang="zh-CN" altLang="en-US" dirty="0">
                <a:latin typeface="+mn-ea"/>
              </a:rPr>
              <a:t>，五菱，零跑</a:t>
            </a:r>
            <a:r>
              <a:rPr lang="en-US" altLang="zh-CN" dirty="0">
                <a:latin typeface="+mn-ea"/>
              </a:rPr>
              <a:t>……</a:t>
            </a:r>
            <a:endParaRPr lang="zh-CN" altLang="en-US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013" y="2642301"/>
            <a:ext cx="5858656" cy="28440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 invX="1"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 userDrawn="1">
            <p:custDataLst>
              <p:tags r:id="rId1"/>
            </p:custDataLst>
          </p:nvPr>
        </p:nvSpPr>
        <p:spPr>
          <a:xfrm>
            <a:off x="315594" y="244475"/>
            <a:ext cx="42291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charset="-122"/>
                <a:ea typeface="思源黑体" panose="020B0500000000000000" charset="-122"/>
              </a:rPr>
              <a:t>汽车市场应用情况总结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思源黑体" panose="020B0500000000000000" charset="-122"/>
              <a:ea typeface="思源黑体" panose="020B0500000000000000" charset="-122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996284" y="1180531"/>
            <a:ext cx="10324532" cy="5022376"/>
          </a:xfrm>
          <a:prstGeom prst="round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+mn-ea"/>
              </a:rPr>
              <a:t>总出货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60kkpcs+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，汽车出货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20kkpcs+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OEM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部分合作伙伴：比亚迪、吉利、一汽、奇瑞、北汽、上汽、长安、零跑、东风、江淮等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Tier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部分合作伙伴：弗迪动力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科技、三花、银轮、超力、英搏尔、欣锐、陆巡、等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汽车出货 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20kkpcs+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包含型号：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ADP32F03xQP64/80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 AVP32F335QP176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 ADM16F03A1QN48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ADM16F03A2QN56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ADP32F036xxx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ADM32F036xxx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 AVP32F08QP100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 ADP16F03QP48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应用车型：秦，汉，唐，宋，元，海鸥，海豚，海豹，几何，熊猫，五菱，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EM260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，睿蓝，哪吒，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iEV7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等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30+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款混动及纯电车型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应用领域：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VCU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MCU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OBC/DCDC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BLDC Motor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 Brushed DC Motor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Stepping motor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HVAC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应用产品：新能源汽车主驱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辅驱电机控制器，车载电源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充电机，汽车热管理零部件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---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风机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风扇，水泵，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PTC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，水阀，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EXV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AGS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，空调压缩机，以及汽车天窗、尾门等产品</a:t>
            </a:r>
            <a:endParaRPr lang="zh-CN" altLang="en-US" sz="1600" dirty="0">
              <a:solidFill>
                <a:schemeClr val="tx1"/>
              </a:solidFill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 invX="1"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8590" y="2011045"/>
            <a:ext cx="1652905" cy="651510"/>
          </a:xfrm>
          <a:prstGeom prst="rect">
            <a:avLst/>
          </a:prstGeom>
        </p:spPr>
      </p:pic>
      <p:sp>
        <p:nvSpPr>
          <p:cNvPr id="101" name="文本框 100"/>
          <p:cNvSpPr txBox="1"/>
          <p:nvPr>
            <p:custDataLst>
              <p:tags r:id="rId2"/>
            </p:custDataLst>
          </p:nvPr>
        </p:nvSpPr>
        <p:spPr>
          <a:xfrm>
            <a:off x="1163955" y="2043430"/>
            <a:ext cx="1564640" cy="684530"/>
          </a:xfrm>
          <a:prstGeom prst="rect">
            <a:avLst/>
          </a:prstGeom>
          <a:noFill/>
          <a:ln w="22225" cmpd="sng">
            <a:noFill/>
            <a:prstDash val="sysDash"/>
          </a:ln>
        </p:spPr>
        <p:txBody>
          <a:bodyPr wrap="square" rtlCol="0" anchor="ctr" anchorCtr="0">
            <a:noAutofit/>
          </a:bodyPr>
          <a:lstStyle/>
          <a:p>
            <a:r>
              <a:rPr lang="zh-CN" altLang="en-US" b="1" dirty="0">
                <a:solidFill>
                  <a:srgbClr val="055BAF"/>
                </a:solidFill>
                <a:latin typeface="思源黑体" panose="020B0500000000000000" charset="-122"/>
                <a:ea typeface="思源黑体" panose="020B0500000000000000" charset="-122"/>
              </a:rPr>
              <a:t>全国产供应链</a:t>
            </a:r>
            <a:endParaRPr lang="zh-CN" altLang="en-US" b="1" dirty="0">
              <a:solidFill>
                <a:srgbClr val="055BAF"/>
              </a:solidFill>
              <a:latin typeface="思源黑体" panose="020B0500000000000000" charset="-122"/>
              <a:ea typeface="思源黑体" panose="020B0500000000000000" charset="-122"/>
            </a:endParaRPr>
          </a:p>
        </p:txBody>
      </p:sp>
      <p:grpSp>
        <p:nvGrpSpPr>
          <p:cNvPr id="124" name="组合 123"/>
          <p:cNvGrpSpPr/>
          <p:nvPr/>
        </p:nvGrpSpPr>
        <p:grpSpPr>
          <a:xfrm>
            <a:off x="10515600" y="2738755"/>
            <a:ext cx="1368425" cy="1408430"/>
            <a:chOff x="16132" y="4268"/>
            <a:chExt cx="2155" cy="2218"/>
          </a:xfrm>
        </p:grpSpPr>
        <p:pic>
          <p:nvPicPr>
            <p:cNvPr id="86" name="图片 2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6132" y="4268"/>
              <a:ext cx="2154" cy="221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7" name="TextBox 4"/>
            <p:cNvSpPr txBox="1"/>
            <p:nvPr>
              <p:custDataLst>
                <p:tags r:id="rId5"/>
              </p:custDataLst>
            </p:nvPr>
          </p:nvSpPr>
          <p:spPr>
            <a:xfrm>
              <a:off x="16247" y="4599"/>
              <a:ext cx="1145" cy="41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r>
                <a:rPr lang="en-US" altLang="zh-CN" sz="1100" dirty="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charset="0"/>
                </a:rPr>
                <a:t>Advchip</a:t>
              </a:r>
              <a:endParaRPr lang="en-US" altLang="zh-CN" sz="11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charset="0"/>
              </a:endParaRPr>
            </a:p>
          </p:txBody>
        </p:sp>
        <p:sp>
          <p:nvSpPr>
            <p:cNvPr id="88" name="TextBox 27"/>
            <p:cNvSpPr txBox="1">
              <a:spLocks noRot="1" noChangeAspect="1" noMove="1" noResize="1" noEditPoints="1" noAdjustHandles="1" noChangeArrowheads="1" noChangeShapeType="1" noTextEdit="1"/>
            </p:cNvSpPr>
            <p:nvPr>
              <p:custDataLst>
                <p:tags r:id="rId6"/>
              </p:custDataLst>
            </p:nvPr>
          </p:nvSpPr>
          <p:spPr>
            <a:xfrm>
              <a:off x="16247" y="4971"/>
              <a:ext cx="2040" cy="857"/>
            </a:xfrm>
            <a:prstGeom prst="rect">
              <a:avLst/>
            </a:prstGeom>
            <a:blipFill rotWithShape="1">
              <a:blip r:embed="rId7" cstate="screen"/>
              <a:stretch>
                <a:fillRect/>
              </a:stretch>
            </a:blipFill>
          </p:spPr>
          <p:txBody>
            <a:bodyPr/>
            <a:lstStyle/>
            <a:p>
              <a:pPr marR="0" defTabSz="914400"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kern="1200" cap="none" spc="0" normalizeH="0" baseline="0" noProof="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  <a:sym typeface="+mn-ea"/>
                </a:rPr>
                <a:t> </a:t>
              </a:r>
              <a:endParaRPr kumimoji="0" lang="zh-CN" altLang="en-US" kern="1200" cap="none" spc="0" normalizeH="0" baseline="0" noProof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</p:grpSp>
      <p:pic>
        <p:nvPicPr>
          <p:cNvPr id="100" name="图片 9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 cstate="screen"/>
          <a:stretch>
            <a:fillRect/>
          </a:stretch>
        </p:blipFill>
        <p:spPr>
          <a:xfrm>
            <a:off x="6810375" y="2113280"/>
            <a:ext cx="2308860" cy="446405"/>
          </a:xfrm>
          <a:prstGeom prst="rect">
            <a:avLst/>
          </a:prstGeom>
        </p:spPr>
      </p:pic>
      <p:pic>
        <p:nvPicPr>
          <p:cNvPr id="102" name="图片 10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 cstate="screen"/>
          <a:stretch>
            <a:fillRect/>
          </a:stretch>
        </p:blipFill>
        <p:spPr>
          <a:xfrm>
            <a:off x="2728594" y="2052320"/>
            <a:ext cx="950595" cy="624205"/>
          </a:xfrm>
          <a:prstGeom prst="rect">
            <a:avLst/>
          </a:prstGeom>
        </p:spPr>
      </p:pic>
      <p:grpSp>
        <p:nvGrpSpPr>
          <p:cNvPr id="123" name="组合 122"/>
          <p:cNvGrpSpPr/>
          <p:nvPr/>
        </p:nvGrpSpPr>
        <p:grpSpPr>
          <a:xfrm>
            <a:off x="437515" y="2998470"/>
            <a:ext cx="10078085" cy="967740"/>
            <a:chOff x="456" y="9688"/>
            <a:chExt cx="15871" cy="1524"/>
          </a:xfrm>
        </p:grpSpPr>
        <p:sp>
          <p:nvSpPr>
            <p:cNvPr id="116" name="燕尾形 115"/>
            <p:cNvSpPr/>
            <p:nvPr>
              <p:custDataLst>
                <p:tags r:id="rId12"/>
              </p:custDataLst>
            </p:nvPr>
          </p:nvSpPr>
          <p:spPr>
            <a:xfrm>
              <a:off x="456" y="9688"/>
              <a:ext cx="2747" cy="1524"/>
            </a:xfrm>
            <a:prstGeom prst="chevron">
              <a:avLst/>
            </a:prstGeom>
            <a:solidFill>
              <a:srgbClr val="425368"/>
            </a:solidFill>
            <a:ln>
              <a:noFill/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ctr" anchorCtr="0" compatLnSpc="1">
              <a:normAutofit/>
            </a:bodyPr>
            <a:lstStyle/>
            <a:p>
              <a:pPr marL="0" marR="0" indent="0" algn="ctr" defTabSz="912495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sz="1400" b="1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产品</a:t>
              </a:r>
              <a:endParaRPr kumimoji="0" sz="14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 marL="0" marR="0" indent="0" algn="ctr" defTabSz="912495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sz="1400" b="1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定义</a:t>
              </a:r>
              <a:endParaRPr kumimoji="0" sz="14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  <p:sp>
          <p:nvSpPr>
            <p:cNvPr id="117" name="燕尾形 116"/>
            <p:cNvSpPr/>
            <p:nvPr>
              <p:custDataLst>
                <p:tags r:id="rId13"/>
              </p:custDataLst>
            </p:nvPr>
          </p:nvSpPr>
          <p:spPr>
            <a:xfrm>
              <a:off x="2864" y="9688"/>
              <a:ext cx="2747" cy="1524"/>
            </a:xfrm>
            <a:prstGeom prst="chevron">
              <a:avLst/>
            </a:prstGeom>
            <a:solidFill>
              <a:srgbClr val="425368"/>
            </a:solidFill>
            <a:ln>
              <a:noFill/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ctr" anchorCtr="0" compatLnSpc="1">
              <a:normAutofit/>
            </a:bodyPr>
            <a:lstStyle/>
            <a:p>
              <a:pPr marL="0" marR="0" indent="0" algn="ctr" defTabSz="912495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sz="1400" b="1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系统设计与验证</a:t>
              </a:r>
              <a:endParaRPr kumimoji="0" sz="14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  <p:sp>
          <p:nvSpPr>
            <p:cNvPr id="118" name="燕尾形 117"/>
            <p:cNvSpPr/>
            <p:nvPr>
              <p:custDataLst>
                <p:tags r:id="rId14"/>
              </p:custDataLst>
            </p:nvPr>
          </p:nvSpPr>
          <p:spPr>
            <a:xfrm>
              <a:off x="5058" y="9688"/>
              <a:ext cx="2738" cy="1524"/>
            </a:xfrm>
            <a:prstGeom prst="chevron">
              <a:avLst/>
            </a:prstGeom>
            <a:solidFill>
              <a:srgbClr val="425368"/>
            </a:solidFill>
            <a:ln>
              <a:noFill/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ctr" anchorCtr="0" compatLnSpc="1">
              <a:normAutofit/>
            </a:bodyPr>
            <a:lstStyle/>
            <a:p>
              <a:pPr marL="0" marR="0" indent="0" algn="ctr" defTabSz="912495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sz="1400" b="1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芯片实现与验证</a:t>
              </a:r>
              <a:endParaRPr kumimoji="0" sz="14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  <p:sp>
          <p:nvSpPr>
            <p:cNvPr id="119" name="燕尾形 118"/>
            <p:cNvSpPr/>
            <p:nvPr>
              <p:custDataLst>
                <p:tags r:id="rId15"/>
              </p:custDataLst>
            </p:nvPr>
          </p:nvSpPr>
          <p:spPr>
            <a:xfrm>
              <a:off x="7269" y="9688"/>
              <a:ext cx="2738" cy="1524"/>
            </a:xfrm>
            <a:prstGeom prst="chevron">
              <a:avLst/>
            </a:prstGeom>
            <a:solidFill>
              <a:srgbClr val="DAE3F3"/>
            </a:solidFill>
            <a:ln>
              <a:noFill/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ctr" anchorCtr="0" compatLnSpc="1">
              <a:normAutofit/>
            </a:bodyPr>
            <a:lstStyle/>
            <a:p>
              <a:pPr marL="0" marR="0" indent="0" algn="ctr" defTabSz="912495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zh-CN" altLang="en-US" sz="1400" b="1" i="0" u="none" strike="noStrike" cap="none" normalizeH="0" baseline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思源黑体" panose="020B0500000000000000" charset="-122"/>
                  <a:ea typeface="思源黑体" panose="020B0500000000000000" charset="-122"/>
                  <a:cs typeface="微软雅黑" panose="020B0503020204020204" pitchFamily="34" charset="-122"/>
                </a:rPr>
                <a:t>制造</a:t>
              </a:r>
              <a:endParaRPr kumimoji="0" lang="zh-CN" altLang="en-US" sz="1400" b="1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思源黑体" panose="020B0500000000000000" charset="-122"/>
                <a:ea typeface="思源黑体" panose="020B0500000000000000" charset="-122"/>
                <a:cs typeface="微软雅黑" panose="020B0503020204020204" pitchFamily="34" charset="-122"/>
              </a:endParaRPr>
            </a:p>
          </p:txBody>
        </p:sp>
        <p:sp>
          <p:nvSpPr>
            <p:cNvPr id="120" name="燕尾形 119"/>
            <p:cNvSpPr/>
            <p:nvPr>
              <p:custDataLst>
                <p:tags r:id="rId16"/>
              </p:custDataLst>
            </p:nvPr>
          </p:nvSpPr>
          <p:spPr>
            <a:xfrm>
              <a:off x="9473" y="9688"/>
              <a:ext cx="2747" cy="1524"/>
            </a:xfrm>
            <a:prstGeom prst="chevron">
              <a:avLst/>
            </a:prstGeom>
            <a:solidFill>
              <a:srgbClr val="DAE3F3"/>
            </a:solidFill>
            <a:ln>
              <a:noFill/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ctr" anchorCtr="0" compatLnSpc="1">
              <a:normAutofit/>
            </a:bodyPr>
            <a:lstStyle/>
            <a:p>
              <a:pPr marL="0" marR="0" indent="0" algn="ctr" defTabSz="912495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zh-CN" altLang="en-US" sz="1400" b="1" i="0" u="none" strike="noStrike" cap="none" normalizeH="0" baseline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思源黑体" panose="020B0500000000000000" charset="-122"/>
                  <a:ea typeface="思源黑体" panose="020B0500000000000000" charset="-122"/>
                  <a:cs typeface="微软雅黑" panose="020B0503020204020204" pitchFamily="34" charset="-122"/>
                </a:rPr>
                <a:t>封装</a:t>
              </a:r>
              <a:endParaRPr kumimoji="0" lang="zh-CN" altLang="en-US" sz="1400" b="1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思源黑体" panose="020B0500000000000000" charset="-122"/>
                <a:ea typeface="思源黑体" panose="020B0500000000000000" charset="-122"/>
                <a:cs typeface="微软雅黑" panose="020B0503020204020204" pitchFamily="34" charset="-122"/>
              </a:endParaRPr>
            </a:p>
          </p:txBody>
        </p:sp>
        <p:sp>
          <p:nvSpPr>
            <p:cNvPr id="121" name="燕尾形 120"/>
            <p:cNvSpPr/>
            <p:nvPr>
              <p:custDataLst>
                <p:tags r:id="rId17"/>
              </p:custDataLst>
            </p:nvPr>
          </p:nvSpPr>
          <p:spPr>
            <a:xfrm>
              <a:off x="11665" y="9688"/>
              <a:ext cx="2747" cy="1524"/>
            </a:xfrm>
            <a:prstGeom prst="chevron">
              <a:avLst/>
            </a:prstGeom>
            <a:gradFill flip="none">
              <a:gsLst>
                <a:gs pos="0">
                  <a:srgbClr val="606B79"/>
                </a:gs>
                <a:gs pos="37000">
                  <a:srgbClr val="5E6E80"/>
                </a:gs>
                <a:gs pos="100000">
                  <a:srgbClr val="FAFAFA"/>
                </a:gs>
              </a:gsLst>
              <a:lin ang="10800000"/>
            </a:gradFill>
            <a:ln>
              <a:noFill/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ctr" anchorCtr="0" compatLnSpc="1">
              <a:normAutofit/>
            </a:bodyPr>
            <a:lstStyle/>
            <a:p>
              <a:pPr marL="0" marR="0" indent="0" algn="ctr" defTabSz="912495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zh-CN" altLang="en-US" sz="1400" b="1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思源黑体" panose="020B0500000000000000" charset="-122"/>
                  <a:ea typeface="思源黑体" panose="020B0500000000000000" charset="-122"/>
                  <a:cs typeface="微软雅黑" panose="020B0503020204020204" pitchFamily="34" charset="-122"/>
                </a:rPr>
                <a:t>测试</a:t>
              </a:r>
              <a:endParaRPr kumimoji="0" lang="zh-CN" altLang="en-US" sz="14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思源黑体" panose="020B0500000000000000" charset="-122"/>
                <a:ea typeface="思源黑体" panose="020B0500000000000000" charset="-122"/>
                <a:cs typeface="微软雅黑" panose="020B0503020204020204" pitchFamily="34" charset="-122"/>
              </a:endParaRPr>
            </a:p>
          </p:txBody>
        </p:sp>
        <p:sp>
          <p:nvSpPr>
            <p:cNvPr id="122" name="燕尾形 121"/>
            <p:cNvSpPr/>
            <p:nvPr>
              <p:custDataLst>
                <p:tags r:id="rId18"/>
              </p:custDataLst>
            </p:nvPr>
          </p:nvSpPr>
          <p:spPr>
            <a:xfrm>
              <a:off x="13859" y="9688"/>
              <a:ext cx="2468" cy="1524"/>
            </a:xfrm>
            <a:prstGeom prst="chevron">
              <a:avLst/>
            </a:prstGeom>
            <a:solidFill>
              <a:srgbClr val="425368"/>
            </a:solidFill>
            <a:ln>
              <a:noFill/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ctr" anchorCtr="0" compatLnSpc="1">
              <a:normAutofit/>
            </a:bodyPr>
            <a:lstStyle/>
            <a:p>
              <a:pPr marL="0" marR="0" indent="0" algn="ctr" defTabSz="912495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zh-CN" altLang="en-US" sz="1400" b="1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思源黑体" panose="020B0500000000000000" charset="-122"/>
                  <a:ea typeface="思源黑体" panose="020B0500000000000000" charset="-122"/>
                  <a:cs typeface="微软雅黑" panose="020B0503020204020204" pitchFamily="34" charset="-122"/>
                </a:rPr>
                <a:t>出货</a:t>
              </a:r>
              <a:endParaRPr kumimoji="0" lang="zh-CN" altLang="en-US" sz="14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思源黑体" panose="020B0500000000000000" charset="-122"/>
                <a:ea typeface="思源黑体" panose="020B0500000000000000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91795" y="1200785"/>
            <a:ext cx="11414760" cy="559435"/>
            <a:chOff x="668" y="1891"/>
            <a:chExt cx="17976" cy="881"/>
          </a:xfrm>
        </p:grpSpPr>
        <p:sp>
          <p:nvSpPr>
            <p:cNvPr id="3" name="圆角矩形 2"/>
            <p:cNvSpPr/>
            <p:nvPr>
              <p:custDataLst>
                <p:tags r:id="rId19"/>
              </p:custDataLst>
            </p:nvPr>
          </p:nvSpPr>
          <p:spPr>
            <a:xfrm>
              <a:off x="668" y="1891"/>
              <a:ext cx="17976" cy="881"/>
            </a:xfrm>
            <a:prstGeom prst="roundRect">
              <a:avLst/>
            </a:prstGeom>
            <a:solidFill>
              <a:srgbClr val="DAE3F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1266" y="2057"/>
              <a:ext cx="16772" cy="580"/>
              <a:chOff x="1301" y="2057"/>
              <a:chExt cx="16772" cy="580"/>
            </a:xfrm>
          </p:grpSpPr>
          <p:sp>
            <p:nvSpPr>
              <p:cNvPr id="4" name="平行四边形 3"/>
              <p:cNvSpPr/>
              <p:nvPr>
                <p:custDataLst>
                  <p:tags r:id="rId20"/>
                </p:custDataLst>
              </p:nvPr>
            </p:nvSpPr>
            <p:spPr>
              <a:xfrm>
                <a:off x="1301" y="2057"/>
                <a:ext cx="1795" cy="580"/>
              </a:xfrm>
              <a:prstGeom prst="parallelogram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b="1">
                    <a:latin typeface="思源黑体" panose="020B0500000000000000" charset="-122"/>
                    <a:ea typeface="思源黑体" panose="020B0500000000000000" charset="-122"/>
                    <a:sym typeface="+mn-ea"/>
                  </a:rPr>
                  <a:t>芯片</a:t>
                </a:r>
                <a:endParaRPr lang="zh-CN" altLang="en-US" b="1">
                  <a:latin typeface="思源黑体" panose="020B0500000000000000" charset="-122"/>
                  <a:ea typeface="思源黑体" panose="020B0500000000000000" charset="-122"/>
                  <a:sym typeface="+mn-ea"/>
                </a:endParaRPr>
              </a:p>
            </p:txBody>
          </p:sp>
          <p:sp>
            <p:nvSpPr>
              <p:cNvPr id="5" name="圆角矩形 4"/>
              <p:cNvSpPr/>
              <p:nvPr>
                <p:custDataLst>
                  <p:tags r:id="rId21"/>
                </p:custDataLst>
              </p:nvPr>
            </p:nvSpPr>
            <p:spPr>
              <a:xfrm>
                <a:off x="3768" y="2057"/>
                <a:ext cx="2231" cy="58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b="1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sym typeface="+mn-ea"/>
                  </a:rPr>
                  <a:t>基础工具</a:t>
                </a:r>
                <a:endParaRPr lang="zh-CN" altLang="en-US" b="1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sym typeface="+mn-ea"/>
                </a:endParaRPr>
              </a:p>
            </p:txBody>
          </p:sp>
          <p:sp>
            <p:nvSpPr>
              <p:cNvPr id="6" name="圆角矩形 5"/>
              <p:cNvSpPr/>
              <p:nvPr>
                <p:custDataLst>
                  <p:tags r:id="rId22"/>
                </p:custDataLst>
              </p:nvPr>
            </p:nvSpPr>
            <p:spPr>
              <a:xfrm>
                <a:off x="6670" y="2057"/>
                <a:ext cx="2231" cy="58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b="1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sym typeface="+mn-ea"/>
                  </a:rPr>
                  <a:t>软件平台</a:t>
                </a:r>
                <a:endParaRPr lang="zh-CN" altLang="en-US" b="1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sym typeface="+mn-ea"/>
                </a:endParaRPr>
              </a:p>
            </p:txBody>
          </p:sp>
          <p:sp>
            <p:nvSpPr>
              <p:cNvPr id="7" name="圆角矩形 6"/>
              <p:cNvSpPr/>
              <p:nvPr>
                <p:custDataLst>
                  <p:tags r:id="rId23"/>
                </p:custDataLst>
              </p:nvPr>
            </p:nvSpPr>
            <p:spPr>
              <a:xfrm>
                <a:off x="9598" y="2057"/>
                <a:ext cx="2231" cy="58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b="1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sym typeface="+mn-ea"/>
                  </a:rPr>
                  <a:t>硬件平台</a:t>
                </a:r>
                <a:endParaRPr lang="zh-CN" altLang="en-US" b="1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sym typeface="+mn-ea"/>
                </a:endParaRPr>
              </a:p>
            </p:txBody>
          </p:sp>
          <p:sp>
            <p:nvSpPr>
              <p:cNvPr id="8" name="圆角矩形 7"/>
              <p:cNvSpPr/>
              <p:nvPr>
                <p:custDataLst>
                  <p:tags r:id="rId24"/>
                </p:custDataLst>
              </p:nvPr>
            </p:nvSpPr>
            <p:spPr>
              <a:xfrm>
                <a:off x="12526" y="2057"/>
                <a:ext cx="3085" cy="58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b="1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sym typeface="+mn-ea"/>
                  </a:rPr>
                  <a:t>可靠性检测</a:t>
                </a:r>
                <a:endParaRPr lang="zh-CN" altLang="en-US" b="1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sym typeface="+mn-ea"/>
                </a:endParaRPr>
              </a:p>
            </p:txBody>
          </p:sp>
          <p:sp>
            <p:nvSpPr>
              <p:cNvPr id="9" name="圆角矩形 8"/>
              <p:cNvSpPr/>
              <p:nvPr>
                <p:custDataLst>
                  <p:tags r:id="rId25"/>
                </p:custDataLst>
              </p:nvPr>
            </p:nvSpPr>
            <p:spPr>
              <a:xfrm>
                <a:off x="16307" y="2057"/>
                <a:ext cx="1766" cy="580"/>
              </a:xfrm>
              <a:prstGeom prst="roundRect">
                <a:avLst/>
              </a:prstGeom>
              <a:noFill/>
              <a:ln>
                <a:solidFill>
                  <a:srgbClr val="475F77"/>
                </a:solidFill>
                <a:prstDash val="sys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b="1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sym typeface="+mn-ea"/>
                  </a:rPr>
                  <a:t>产品</a:t>
                </a:r>
                <a:endParaRPr lang="zh-CN" altLang="en-US" b="1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sym typeface="+mn-ea"/>
                </a:endParaRPr>
              </a:p>
            </p:txBody>
          </p:sp>
        </p:grpSp>
      </p:grpSp>
      <p:pic>
        <p:nvPicPr>
          <p:cNvPr id="12" name="图片 11" descr="图片7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 cstate="screen"/>
          <a:stretch>
            <a:fillRect/>
          </a:stretch>
        </p:blipFill>
        <p:spPr>
          <a:xfrm>
            <a:off x="5273040" y="2176145"/>
            <a:ext cx="1478280" cy="406400"/>
          </a:xfrm>
          <a:prstGeom prst="rect">
            <a:avLst/>
          </a:prstGeom>
        </p:spPr>
      </p:pic>
      <p:grpSp>
        <p:nvGrpSpPr>
          <p:cNvPr id="21" name="组合 20"/>
          <p:cNvGrpSpPr/>
          <p:nvPr/>
        </p:nvGrpSpPr>
        <p:grpSpPr>
          <a:xfrm>
            <a:off x="955040" y="4251960"/>
            <a:ext cx="7418705" cy="1786890"/>
            <a:chOff x="944" y="6696"/>
            <a:chExt cx="11683" cy="2814"/>
          </a:xfrm>
        </p:grpSpPr>
        <p:pic>
          <p:nvPicPr>
            <p:cNvPr id="29740" name="图片 10" descr="图片 2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29" cstate="screen"/>
            <a:stretch>
              <a:fillRect/>
            </a:stretch>
          </p:blipFill>
          <p:spPr>
            <a:xfrm>
              <a:off x="944" y="7251"/>
              <a:ext cx="2239" cy="2221"/>
            </a:xfrm>
            <a:prstGeom prst="rect">
              <a:avLst/>
            </a:prstGeom>
            <a:noFill/>
            <a:ln w="12700">
              <a:noFill/>
            </a:ln>
          </p:spPr>
        </p:pic>
        <p:sp>
          <p:nvSpPr>
            <p:cNvPr id="13" name="矩形 12"/>
            <p:cNvSpPr/>
            <p:nvPr>
              <p:custDataLst>
                <p:tags r:id="rId30"/>
              </p:custDataLst>
            </p:nvPr>
          </p:nvSpPr>
          <p:spPr>
            <a:xfrm>
              <a:off x="944" y="7214"/>
              <a:ext cx="2226" cy="2296"/>
            </a:xfrm>
            <a:prstGeom prst="rect">
              <a:avLst/>
            </a:prstGeom>
            <a:solidFill>
              <a:srgbClr val="3B485A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5645" name="图片 11" descr="图片 2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32" cstate="screen"/>
            <a:stretch>
              <a:fillRect/>
            </a:stretch>
          </p:blipFill>
          <p:spPr>
            <a:xfrm>
              <a:off x="3980" y="7214"/>
              <a:ext cx="2222" cy="2258"/>
            </a:xfrm>
            <a:prstGeom prst="rect">
              <a:avLst/>
            </a:prstGeom>
            <a:noFill/>
            <a:ln w="12700">
              <a:noFill/>
            </a:ln>
          </p:spPr>
        </p:pic>
        <p:sp>
          <p:nvSpPr>
            <p:cNvPr id="34" name="文本框 33"/>
            <p:cNvSpPr txBox="1"/>
            <p:nvPr>
              <p:custDataLst>
                <p:tags r:id="rId33"/>
              </p:custDataLst>
            </p:nvPr>
          </p:nvSpPr>
          <p:spPr>
            <a:xfrm>
              <a:off x="944" y="6731"/>
              <a:ext cx="210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200">
                  <a:solidFill>
                    <a:srgbClr val="184ECA"/>
                  </a:solidFill>
                  <a:latin typeface="思源黑体" panose="020B0500000000000000" charset="-122"/>
                  <a:ea typeface="思源黑体" panose="020B0500000000000000" charset="-122"/>
                  <a:cs typeface="思源黑体 CN Bold" panose="020B0800000000000000" charset="-122"/>
                  <a:sym typeface="+mn-ea"/>
                </a:rPr>
                <a:t>180nm平台</a:t>
              </a:r>
              <a:endParaRPr lang="en-US" altLang="zh-CN" sz="1200">
                <a:solidFill>
                  <a:srgbClr val="184ECA"/>
                </a:solidFill>
                <a:latin typeface="思源黑体" panose="020B0500000000000000" charset="-122"/>
                <a:ea typeface="思源黑体" panose="020B0500000000000000" charset="-122"/>
                <a:cs typeface="思源黑体 CN Bold" panose="020B0800000000000000" charset="-122"/>
                <a:sym typeface="+mn-ea"/>
              </a:endParaRPr>
            </a:p>
          </p:txBody>
        </p:sp>
        <p:sp>
          <p:nvSpPr>
            <p:cNvPr id="41" name="文本框 40"/>
            <p:cNvSpPr txBox="1"/>
            <p:nvPr>
              <p:custDataLst>
                <p:tags r:id="rId34"/>
              </p:custDataLst>
            </p:nvPr>
          </p:nvSpPr>
          <p:spPr>
            <a:xfrm>
              <a:off x="7005" y="6731"/>
              <a:ext cx="210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200">
                  <a:solidFill>
                    <a:srgbClr val="184ECA"/>
                  </a:solidFill>
                  <a:latin typeface="思源黑体" panose="020B0500000000000000" charset="-122"/>
                  <a:ea typeface="思源黑体" panose="020B0500000000000000" charset="-122"/>
                  <a:cs typeface="思源黑体 CN Bold" panose="020B0800000000000000" charset="-122"/>
                  <a:sym typeface="+mn-ea"/>
                </a:rPr>
                <a:t>55nm平台</a:t>
              </a:r>
              <a:endParaRPr lang="en-US" altLang="zh-CN" sz="1200">
                <a:solidFill>
                  <a:srgbClr val="184ECA"/>
                </a:solidFill>
                <a:latin typeface="思源黑体" panose="020B0500000000000000" charset="-122"/>
                <a:ea typeface="思源黑体" panose="020B0500000000000000" charset="-122"/>
                <a:cs typeface="思源黑体 CN Bold" panose="020B0800000000000000" charset="-122"/>
                <a:sym typeface="+mn-ea"/>
              </a:endParaRPr>
            </a:p>
          </p:txBody>
        </p:sp>
        <p:sp>
          <p:nvSpPr>
            <p:cNvPr id="45" name="文本框 44"/>
            <p:cNvSpPr txBox="1"/>
            <p:nvPr>
              <p:custDataLst>
                <p:tags r:id="rId35"/>
              </p:custDataLst>
            </p:nvPr>
          </p:nvSpPr>
          <p:spPr>
            <a:xfrm>
              <a:off x="9976" y="6745"/>
              <a:ext cx="265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200">
                  <a:solidFill>
                    <a:srgbClr val="184ECA"/>
                  </a:solidFill>
                  <a:latin typeface="思源黑体" panose="020B0500000000000000" charset="-122"/>
                  <a:ea typeface="思源黑体" panose="020B0500000000000000" charset="-122"/>
                  <a:cs typeface="思源黑体 CN Bold" panose="020B0800000000000000" charset="-122"/>
                  <a:sym typeface="+mn-ea"/>
                </a:rPr>
                <a:t>40nm平台</a:t>
              </a:r>
              <a:endParaRPr lang="en-US" altLang="zh-CN" sz="1200">
                <a:solidFill>
                  <a:srgbClr val="184ECA"/>
                </a:solidFill>
                <a:latin typeface="思源黑体" panose="020B0500000000000000" charset="-122"/>
                <a:ea typeface="思源黑体" panose="020B0500000000000000" charset="-122"/>
                <a:cs typeface="思源黑体 CN Bold" panose="020B0800000000000000" charset="-122"/>
                <a:sym typeface="+mn-ea"/>
              </a:endParaRPr>
            </a:p>
          </p:txBody>
        </p:sp>
        <p:pic>
          <p:nvPicPr>
            <p:cNvPr id="15" name="图片 14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37" cstate="screen"/>
            <a:stretch>
              <a:fillRect/>
            </a:stretch>
          </p:blipFill>
          <p:spPr>
            <a:xfrm>
              <a:off x="7011" y="7187"/>
              <a:ext cx="2252" cy="2264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39" cstate="screen"/>
            <a:stretch>
              <a:fillRect/>
            </a:stretch>
          </p:blipFill>
          <p:spPr>
            <a:xfrm>
              <a:off x="10154" y="7177"/>
              <a:ext cx="2316" cy="2267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>
              <p:custDataLst>
                <p:tags r:id="rId40"/>
              </p:custDataLst>
            </p:nvPr>
          </p:nvSpPr>
          <p:spPr>
            <a:xfrm>
              <a:off x="1051" y="7954"/>
              <a:ext cx="2026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 CN Bold" panose="020B0800000000000000" charset="-122"/>
                  <a:sym typeface="+mn-ea"/>
                </a:rPr>
                <a:t>ADP32F10/12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 CN Bold" panose="020B0800000000000000" charset="-122"/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 CN Bold" panose="020B0800000000000000" charset="-122"/>
                  <a:sym typeface="+mn-ea"/>
                </a:rPr>
                <a:t>ADP16F01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 CN Bold" panose="020B0800000000000000" charset="-122"/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 CN Bold" panose="020B0800000000000000" charset="-122"/>
                  <a:sym typeface="+mn-ea"/>
                </a:rPr>
                <a:t>ADP16F02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 CN Bold" panose="020B0800000000000000" charset="-122"/>
                <a:sym typeface="+mn-ea"/>
              </a:endParaRPr>
            </a:p>
          </p:txBody>
        </p:sp>
        <p:sp>
          <p:nvSpPr>
            <p:cNvPr id="36" name="文本框 35"/>
            <p:cNvSpPr txBox="1"/>
            <p:nvPr>
              <p:custDataLst>
                <p:tags r:id="rId41"/>
              </p:custDataLst>
            </p:nvPr>
          </p:nvSpPr>
          <p:spPr>
            <a:xfrm>
              <a:off x="4075" y="6696"/>
              <a:ext cx="210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200">
                  <a:solidFill>
                    <a:srgbClr val="184ECA"/>
                  </a:solidFill>
                  <a:latin typeface="思源黑体" panose="020B0500000000000000" charset="-122"/>
                  <a:ea typeface="思源黑体" panose="020B0500000000000000" charset="-122"/>
                  <a:cs typeface="思源黑体 CN Bold" panose="020B0800000000000000" charset="-122"/>
                  <a:sym typeface="+mn-ea"/>
                </a:rPr>
                <a:t>130nm平台</a:t>
              </a:r>
              <a:endParaRPr lang="en-US" altLang="zh-CN" sz="1200">
                <a:solidFill>
                  <a:srgbClr val="184ECA"/>
                </a:solidFill>
                <a:latin typeface="思源黑体" panose="020B0500000000000000" charset="-122"/>
                <a:ea typeface="思源黑体" panose="020B0500000000000000" charset="-122"/>
                <a:cs typeface="思源黑体 CN Bold" panose="020B0800000000000000" charset="-122"/>
                <a:sym typeface="+mn-ea"/>
              </a:endParaRPr>
            </a:p>
          </p:txBody>
        </p:sp>
        <p:sp>
          <p:nvSpPr>
            <p:cNvPr id="14" name="矩形 13"/>
            <p:cNvSpPr/>
            <p:nvPr>
              <p:custDataLst>
                <p:tags r:id="rId42"/>
              </p:custDataLst>
            </p:nvPr>
          </p:nvSpPr>
          <p:spPr>
            <a:xfrm>
              <a:off x="3981" y="7185"/>
              <a:ext cx="2226" cy="2296"/>
            </a:xfrm>
            <a:prstGeom prst="rect">
              <a:avLst/>
            </a:prstGeom>
            <a:solidFill>
              <a:srgbClr val="3B485A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>
              <p:custDataLst>
                <p:tags r:id="rId43"/>
              </p:custDataLst>
            </p:nvPr>
          </p:nvSpPr>
          <p:spPr>
            <a:xfrm>
              <a:off x="4084" y="7767"/>
              <a:ext cx="2026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 CN Bold" panose="020B0800000000000000" charset="-122"/>
                  <a:sym typeface="+mn-ea"/>
                </a:rPr>
                <a:t>ADP32F034/5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 CN Bold" panose="020B0800000000000000" charset="-122"/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 CN Bold" panose="020B0800000000000000" charset="-122"/>
                  <a:sym typeface="+mn-ea"/>
                </a:rPr>
                <a:t>ADP32F08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 CN Bold" panose="020B0800000000000000" charset="-122"/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 CN Bold" panose="020B0800000000000000" charset="-122"/>
                  <a:sym typeface="+mn-ea"/>
                </a:rPr>
                <a:t>AVP32F335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 CN Bold" panose="020B0800000000000000" charset="-122"/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 CN Bold" panose="020B0800000000000000" charset="-122"/>
                  <a:sym typeface="+mn-ea"/>
                </a:rPr>
                <a:t>AVP32F08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 CN Bold" panose="020B0800000000000000" charset="-122"/>
                <a:sym typeface="+mn-ea"/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44"/>
              </p:custDataLst>
            </p:nvPr>
          </p:nvSpPr>
          <p:spPr>
            <a:xfrm>
              <a:off x="7018" y="7214"/>
              <a:ext cx="2226" cy="2296"/>
            </a:xfrm>
            <a:prstGeom prst="rect">
              <a:avLst/>
            </a:prstGeom>
            <a:solidFill>
              <a:srgbClr val="3B485A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>
              <p:custDataLst>
                <p:tags r:id="rId45"/>
              </p:custDataLst>
            </p:nvPr>
          </p:nvSpPr>
          <p:spPr>
            <a:xfrm>
              <a:off x="7024" y="7884"/>
              <a:ext cx="2227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 CN Bold" panose="020B0800000000000000" charset="-122"/>
                  <a:sym typeface="+mn-ea"/>
                </a:rPr>
                <a:t>ADP16F03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 CN Bold" panose="020B0800000000000000" charset="-122"/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 CN Bold" panose="020B0800000000000000" charset="-122"/>
                  <a:sym typeface="+mn-ea"/>
                </a:rPr>
                <a:t>ADP32F035B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 CN Bold" panose="020B0800000000000000" charset="-122"/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 CN Bold" panose="020B0800000000000000" charset="-122"/>
                  <a:sym typeface="+mn-ea"/>
                </a:rPr>
                <a:t>ADP32F036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 CN Bold" panose="020B0800000000000000" charset="-122"/>
                <a:sym typeface="+mn-ea"/>
              </a:endParaRPr>
            </a:p>
          </p:txBody>
        </p:sp>
        <p:sp>
          <p:nvSpPr>
            <p:cNvPr id="19" name="矩形 18"/>
            <p:cNvSpPr/>
            <p:nvPr>
              <p:custDataLst>
                <p:tags r:id="rId46"/>
              </p:custDataLst>
            </p:nvPr>
          </p:nvSpPr>
          <p:spPr>
            <a:xfrm>
              <a:off x="10179" y="7185"/>
              <a:ext cx="2226" cy="2296"/>
            </a:xfrm>
            <a:prstGeom prst="rect">
              <a:avLst/>
            </a:prstGeom>
            <a:solidFill>
              <a:srgbClr val="3B485A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>
              <p:custDataLst>
                <p:tags r:id="rId47"/>
              </p:custDataLst>
            </p:nvPr>
          </p:nvSpPr>
          <p:spPr>
            <a:xfrm>
              <a:off x="10165" y="7655"/>
              <a:ext cx="2223" cy="18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000" b="1" dirty="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 CN Bold" panose="020B0800000000000000" charset="-122"/>
                  <a:sym typeface="+mn-ea"/>
                </a:rPr>
                <a:t>AVP32F069</a:t>
              </a:r>
              <a:endParaRPr lang="en-US" altLang="zh-CN" sz="1000" b="1" dirty="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 CN Bold" panose="020B0800000000000000" charset="-122"/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en-US" altLang="zh-CN" sz="1000" b="1" dirty="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 CN Bold" panose="020B0800000000000000" charset="-122"/>
                  <a:sym typeface="+mn-ea"/>
                </a:rPr>
                <a:t>AVP32F0049</a:t>
              </a:r>
              <a:endParaRPr lang="en-US" altLang="zh-CN" sz="1000" b="1" dirty="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 CN Bold" panose="020B0800000000000000" charset="-122"/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en-US" altLang="zh-CN" sz="1000" b="1" dirty="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 CN Bold" panose="020B0800000000000000" charset="-122"/>
                  <a:sym typeface="+mn-ea"/>
                </a:rPr>
                <a:t>AVP32F0039</a:t>
              </a:r>
              <a:endParaRPr lang="en-US" altLang="zh-CN" sz="1000" b="1" dirty="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 CN Bold" panose="020B0800000000000000" charset="-122"/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en-US" altLang="zh-CN" sz="1000" b="1" dirty="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 CN Bold" panose="020B0800000000000000" charset="-122"/>
                  <a:sym typeface="+mn-ea"/>
                </a:rPr>
                <a:t>AVP32F379D</a:t>
              </a:r>
              <a:endParaRPr lang="en-US" altLang="zh-CN" sz="1000" b="1" dirty="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 CN Bold" panose="020B0800000000000000" charset="-122"/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en-US" altLang="zh-CN" sz="1000" b="1" dirty="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 CN Bold" panose="020B0800000000000000" charset="-122"/>
                  <a:sym typeface="+mn-ea"/>
                </a:rPr>
                <a:t>AVP32F0025</a:t>
              </a:r>
              <a:endParaRPr lang="en-US" altLang="zh-CN" sz="1000" b="1" dirty="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 CN Bold" panose="020B0800000000000000" charset="-122"/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en-US" altLang="zh-CN" sz="1000" b="1" dirty="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 CN Bold" panose="020B0800000000000000" charset="-122"/>
                  <a:sym typeface="+mn-ea"/>
                </a:rPr>
                <a:t>AVP32F00157</a:t>
              </a:r>
              <a:endParaRPr lang="en-US" altLang="zh-CN" sz="1000" b="1" dirty="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 CN Bold" panose="020B0800000000000000" charset="-122"/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en-US" altLang="zh-CN" sz="1000" b="1" dirty="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 CN Bold" panose="020B0800000000000000" charset="-122"/>
                  <a:sym typeface="+mn-ea"/>
                </a:rPr>
                <a:t>…………</a:t>
              </a:r>
              <a:endParaRPr lang="en-US" altLang="zh-CN" sz="1000" b="1" dirty="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 CN Bold" panose="020B0800000000000000" charset="-122"/>
                <a:sym typeface="+mn-ea"/>
              </a:endParaRPr>
            </a:p>
          </p:txBody>
        </p:sp>
      </p:grpSp>
      <p:pic>
        <p:nvPicPr>
          <p:cNvPr id="23" name="图片 22" descr="图片8"/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49" cstate="screen"/>
          <a:stretch>
            <a:fillRect/>
          </a:stretch>
        </p:blipFill>
        <p:spPr>
          <a:xfrm>
            <a:off x="3831273" y="2045970"/>
            <a:ext cx="1297305" cy="666750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>
            <p:custDataLst>
              <p:tags r:id="rId50"/>
            </p:custDataLst>
          </p:nvPr>
        </p:nvSpPr>
        <p:spPr>
          <a:xfrm>
            <a:off x="403224" y="187960"/>
            <a:ext cx="5110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sym typeface="+mn-ea"/>
              </a:rPr>
              <a:t>安全供应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sym typeface="+mn-ea"/>
              </a:rPr>
              <a:t>--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sym typeface="+mn-ea"/>
              </a:rPr>
              <a:t>全国产化平台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sym typeface="+mn-ea"/>
            </a:endParaRPr>
          </a:p>
        </p:txBody>
      </p:sp>
    </p:spTree>
  </p:cSld>
  <p:clrMapOvr>
    <a:masterClrMapping/>
  </p:clrMapOvr>
  <p:transition spd="slow">
    <p:blinds dir="vert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6"/>
          <p:cNvSpPr txBox="1"/>
          <p:nvPr>
            <p:custDataLst>
              <p:tags r:id="rId1"/>
            </p:custDataLst>
          </p:nvPr>
        </p:nvSpPr>
        <p:spPr>
          <a:xfrm>
            <a:off x="517089" y="113027"/>
            <a:ext cx="3275681" cy="621031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ym typeface="+mn-ea"/>
              </a:rPr>
              <a:t>供应保障</a:t>
            </a:r>
            <a:r>
              <a:rPr lang="en-US" altLang="zh-CN" sz="2400" b="1" dirty="0">
                <a:sym typeface="+mn-ea"/>
              </a:rPr>
              <a:t>--</a:t>
            </a:r>
            <a:r>
              <a:rPr lang="zh-CN" altLang="en-US" sz="2400" b="1" dirty="0">
                <a:sym typeface="+mn-ea"/>
              </a:rPr>
              <a:t>产业链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4" name="直角三角形 3"/>
          <p:cNvSpPr/>
          <p:nvPr>
            <p:custDataLst>
              <p:tags r:id="rId2"/>
            </p:custDataLst>
          </p:nvPr>
        </p:nvSpPr>
        <p:spPr>
          <a:xfrm flipH="1" flipV="1">
            <a:off x="598078" y="2413999"/>
            <a:ext cx="187881" cy="386248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7"/>
          <p:cNvSpPr/>
          <p:nvPr>
            <p:custDataLst>
              <p:tags r:id="rId3"/>
            </p:custDataLst>
          </p:nvPr>
        </p:nvSpPr>
        <p:spPr>
          <a:xfrm>
            <a:off x="753116" y="2033906"/>
            <a:ext cx="5072660" cy="1591010"/>
          </a:xfrm>
          <a:prstGeom prst="roundRect">
            <a:avLst>
              <a:gd name="adj" fmla="val 8073"/>
            </a:avLst>
          </a:prstGeom>
          <a:solidFill>
            <a:schemeClr val="bg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" name="正文"/>
          <p:cNvSpPr txBox="1"/>
          <p:nvPr>
            <p:custDataLst>
              <p:tags r:id="rId4"/>
            </p:custDataLst>
          </p:nvPr>
        </p:nvSpPr>
        <p:spPr>
          <a:xfrm>
            <a:off x="836262" y="2413999"/>
            <a:ext cx="4864542" cy="1211330"/>
          </a:xfrm>
          <a:prstGeom prst="rect">
            <a:avLst/>
          </a:prstGeom>
          <a:noFill/>
        </p:spPr>
        <p:txBody>
          <a:bodyPr wrap="square" lIns="90000" tIns="0" rIns="90000" bIns="46800" rtlCol="0" anchor="ctr" anchorCtr="0">
            <a:norm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华虹宏力、中芯国际、长电科技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7" name="直角三角形 6"/>
          <p:cNvSpPr/>
          <p:nvPr>
            <p:custDataLst>
              <p:tags r:id="rId5"/>
            </p:custDataLst>
          </p:nvPr>
        </p:nvSpPr>
        <p:spPr>
          <a:xfrm flipH="1" flipV="1">
            <a:off x="6170073" y="2413999"/>
            <a:ext cx="187881" cy="386248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56"/>
          <p:cNvSpPr/>
          <p:nvPr>
            <p:custDataLst>
              <p:tags r:id="rId6"/>
            </p:custDataLst>
          </p:nvPr>
        </p:nvSpPr>
        <p:spPr>
          <a:xfrm>
            <a:off x="6324486" y="2033906"/>
            <a:ext cx="5072660" cy="1591010"/>
          </a:xfrm>
          <a:prstGeom prst="roundRect">
            <a:avLst>
              <a:gd name="adj" fmla="val 8073"/>
            </a:avLst>
          </a:prstGeom>
          <a:solidFill>
            <a:schemeClr val="bg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" name="正文"/>
          <p:cNvSpPr txBox="1"/>
          <p:nvPr>
            <p:custDataLst>
              <p:tags r:id="rId7"/>
            </p:custDataLst>
          </p:nvPr>
        </p:nvSpPr>
        <p:spPr>
          <a:xfrm>
            <a:off x="6407873" y="2413912"/>
            <a:ext cx="3452749" cy="1211337"/>
          </a:xfrm>
          <a:prstGeom prst="rect">
            <a:avLst/>
          </a:prstGeom>
          <a:noFill/>
        </p:spPr>
        <p:txBody>
          <a:bodyPr wrap="square" lIns="90000" tIns="0" rIns="90000" bIns="46800" rtlCol="0" anchor="ctr" anchorCtr="0">
            <a:norm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五所（赛宝）签订框架合作协议、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+mn-ea"/>
              </a:rPr>
              <a:t>战略合作协议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10" name="直角三角形 9"/>
          <p:cNvSpPr/>
          <p:nvPr>
            <p:custDataLst>
              <p:tags r:id="rId8"/>
            </p:custDataLst>
          </p:nvPr>
        </p:nvSpPr>
        <p:spPr>
          <a:xfrm flipH="1" flipV="1">
            <a:off x="3104423" y="4859764"/>
            <a:ext cx="187881" cy="386248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63"/>
          <p:cNvSpPr/>
          <p:nvPr>
            <p:custDataLst>
              <p:tags r:id="rId9"/>
            </p:custDataLst>
          </p:nvPr>
        </p:nvSpPr>
        <p:spPr>
          <a:xfrm>
            <a:off x="3259461" y="4480295"/>
            <a:ext cx="5072660" cy="1591010"/>
          </a:xfrm>
          <a:prstGeom prst="roundRect">
            <a:avLst>
              <a:gd name="adj" fmla="val 8073"/>
            </a:avLst>
          </a:prstGeom>
          <a:solidFill>
            <a:schemeClr val="bg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sz="2400" b="1" spc="300">
              <a:solidFill>
                <a:schemeClr val="l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" name="正文"/>
          <p:cNvSpPr txBox="1"/>
          <p:nvPr>
            <p:custDataLst>
              <p:tags r:id="rId10"/>
            </p:custDataLst>
          </p:nvPr>
        </p:nvSpPr>
        <p:spPr>
          <a:xfrm>
            <a:off x="3342607" y="4859764"/>
            <a:ext cx="4864542" cy="1211330"/>
          </a:xfrm>
          <a:prstGeom prst="rect">
            <a:avLst/>
          </a:prstGeom>
          <a:noFill/>
        </p:spPr>
        <p:txBody>
          <a:bodyPr wrap="square" lIns="90000" tIns="0" rIns="90000" bIns="46800" rtlCol="0" anchor="ctr" anchorCtr="0">
            <a:normAutofit fontScale="92500" lnSpcReduction="10000"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+mn-ea"/>
              </a:rPr>
              <a:t>晶圆累计生产超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+mn-ea"/>
              </a:rPr>
              <a:t>20000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+mn-ea"/>
              </a:rPr>
              <a:t>片；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sym typeface="+mn-ea"/>
            </a:endParaRP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+mn-ea"/>
              </a:rPr>
              <a:t>DSP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+mn-ea"/>
              </a:rPr>
              <a:t>芯片出货数量超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+mn-ea"/>
              </a:rPr>
              <a:t>6000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+mn-ea"/>
              </a:rPr>
              <a:t>万颗，国内第一；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sym typeface="+mn-ea"/>
            </a:endParaRP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+mn-ea"/>
              </a:rPr>
              <a:t>年产能可达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+mn-ea"/>
              </a:rPr>
              <a:t>3000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+mn-ea"/>
              </a:rPr>
              <a:t>万颗以上。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13" name="矩形: 单圆角 21"/>
          <p:cNvSpPr/>
          <p:nvPr>
            <p:custDataLst>
              <p:tags r:id="rId11"/>
            </p:custDataLst>
          </p:nvPr>
        </p:nvSpPr>
        <p:spPr>
          <a:xfrm>
            <a:off x="598170" y="1791335"/>
            <a:ext cx="3481705" cy="621030"/>
          </a:xfrm>
          <a:prstGeom prst="round1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indent="452755"/>
            <a:r>
              <a:rPr lang="zh-CN" altLang="en-US" sz="2400" b="1" spc="300" dirty="0">
                <a:solidFill>
                  <a:schemeClr val="tx1"/>
                </a:solidFill>
                <a:latin typeface="+mj-ea"/>
              </a:rPr>
              <a:t>FAB等战略入股</a:t>
            </a:r>
            <a:endParaRPr lang="zh-CN" altLang="en-US" sz="2400" b="1" spc="3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4" name="矩形 13"/>
          <p:cNvSpPr/>
          <p:nvPr>
            <p:custDataLst>
              <p:tags r:id="rId12"/>
            </p:custDataLst>
          </p:nvPr>
        </p:nvSpPr>
        <p:spPr>
          <a:xfrm>
            <a:off x="3192801" y="1474394"/>
            <a:ext cx="1067595" cy="876684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 fontScale="97500" lnSpcReduction="10000"/>
          </a:bodyPr>
          <a:lstStyle/>
          <a:p>
            <a:pPr algn="ctr"/>
            <a:r>
              <a:rPr lang="en-US" altLang="zh-CN" sz="6000" b="1" dirty="0">
                <a:ln w="12700">
                  <a:solidFill>
                    <a:schemeClr val="accent1"/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A</a:t>
            </a:r>
            <a:endParaRPr lang="en-US" altLang="zh-CN" sz="6000" b="1" dirty="0">
              <a:ln w="12700">
                <a:solidFill>
                  <a:schemeClr val="accent1"/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15" name="矩形: 单圆角 23"/>
          <p:cNvSpPr/>
          <p:nvPr>
            <p:custDataLst>
              <p:tags r:id="rId13"/>
            </p:custDataLst>
          </p:nvPr>
        </p:nvSpPr>
        <p:spPr>
          <a:xfrm>
            <a:off x="6162040" y="1791335"/>
            <a:ext cx="3649345" cy="621030"/>
          </a:xfrm>
          <a:prstGeom prst="round1Rect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rgbClr val="FFFFFF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indent="452755"/>
            <a:r>
              <a:rPr lang="zh-CN" altLang="en-US" sz="2600" b="1" spc="300" dirty="0">
                <a:solidFill>
                  <a:schemeClr val="tx1"/>
                </a:solidFill>
                <a:latin typeface="+mj-ea"/>
              </a:rPr>
              <a:t>战略合作</a:t>
            </a:r>
            <a:endParaRPr lang="zh-CN" altLang="en-US" sz="2600" b="1" spc="3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6" name="矩形 15"/>
          <p:cNvSpPr/>
          <p:nvPr>
            <p:custDataLst>
              <p:tags r:id="rId14"/>
            </p:custDataLst>
          </p:nvPr>
        </p:nvSpPr>
        <p:spPr>
          <a:xfrm>
            <a:off x="8848626" y="1473759"/>
            <a:ext cx="1067595" cy="876684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 fontScale="97500" lnSpcReduction="10000"/>
          </a:bodyPr>
          <a:lstStyle/>
          <a:p>
            <a:pPr algn="ctr"/>
            <a:r>
              <a:rPr lang="en-US" altLang="zh-CN" sz="6000" b="1" dirty="0">
                <a:ln w="12700">
                  <a:solidFill>
                    <a:schemeClr val="accent1"/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B</a:t>
            </a:r>
            <a:endParaRPr lang="zh-CN" altLang="en-US" sz="6000" b="1" dirty="0">
              <a:ln w="12700">
                <a:solidFill>
                  <a:schemeClr val="accent1"/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17" name="矩形: 单圆角 25"/>
          <p:cNvSpPr/>
          <p:nvPr>
            <p:custDataLst>
              <p:tags r:id="rId15"/>
            </p:custDataLst>
          </p:nvPr>
        </p:nvSpPr>
        <p:spPr>
          <a:xfrm>
            <a:off x="3104515" y="4240530"/>
            <a:ext cx="3481705" cy="621030"/>
          </a:xfrm>
          <a:prstGeom prst="round1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0">
            <a:srgbClr val="FFFFFF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indent="452755"/>
            <a:r>
              <a:rPr lang="zh-CN" altLang="en-US" sz="2000" b="1" spc="300" dirty="0">
                <a:solidFill>
                  <a:schemeClr val="tx1"/>
                </a:solidFill>
                <a:latin typeface="+mj-ea"/>
                <a:sym typeface="+mn-ea"/>
              </a:rPr>
              <a:t>大规模量产经验</a:t>
            </a:r>
            <a:endParaRPr lang="zh-CN" altLang="en-US" sz="2000" b="1" spc="3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8" name="矩形 17"/>
          <p:cNvSpPr/>
          <p:nvPr>
            <p:custDataLst>
              <p:tags r:id="rId16"/>
            </p:custDataLst>
          </p:nvPr>
        </p:nvSpPr>
        <p:spPr>
          <a:xfrm>
            <a:off x="5739786" y="3811599"/>
            <a:ext cx="1067595" cy="876684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 fontScale="97500" lnSpcReduction="10000"/>
          </a:bodyPr>
          <a:lstStyle/>
          <a:p>
            <a:pPr algn="ctr"/>
            <a:r>
              <a:rPr lang="en-US" altLang="zh-CN" sz="6000" b="1" dirty="0">
                <a:ln w="12700">
                  <a:solidFill>
                    <a:schemeClr val="accent1"/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C</a:t>
            </a:r>
            <a:endParaRPr lang="zh-CN" altLang="en-US" sz="6000" b="1" dirty="0">
              <a:ln w="12700">
                <a:solidFill>
                  <a:schemeClr val="accent1"/>
                </a:solidFill>
              </a:ln>
              <a:solidFill>
                <a:schemeClr val="bg1"/>
              </a:solidFill>
              <a:latin typeface="+mj-lt"/>
              <a:ea typeface="+mj-ea"/>
            </a:endParaRPr>
          </a:p>
        </p:txBody>
      </p:sp>
      <p:pic>
        <p:nvPicPr>
          <p:cNvPr id="19" name="图片 18" descr="图片7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57980" y="2229485"/>
            <a:ext cx="1567180" cy="570865"/>
          </a:xfrm>
          <a:prstGeom prst="rect">
            <a:avLst/>
          </a:prstGeom>
        </p:spPr>
      </p:pic>
      <p:pic>
        <p:nvPicPr>
          <p:cNvPr id="20" name="图片 19" descr="图片8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4399915" y="2935605"/>
            <a:ext cx="1262380" cy="648970"/>
          </a:xfrm>
          <a:prstGeom prst="rect">
            <a:avLst/>
          </a:prstGeom>
        </p:spPr>
      </p:pic>
      <p:pic>
        <p:nvPicPr>
          <p:cNvPr id="21" name="图片 20" descr="图片3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10166985" y="2157095"/>
            <a:ext cx="1123950" cy="35115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10170160" y="2598420"/>
            <a:ext cx="971550" cy="557530"/>
          </a:xfrm>
          <a:prstGeom prst="rect">
            <a:avLst/>
          </a:prstGeom>
        </p:spPr>
      </p:pic>
      <p:pic>
        <p:nvPicPr>
          <p:cNvPr id="23" name="图片 2"/>
          <p:cNvPicPr>
            <a:picLocks noChangeAspect="1" noChangeArrowheads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804" y="5541665"/>
            <a:ext cx="728345" cy="437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3424" y="5052888"/>
            <a:ext cx="786211" cy="439209"/>
          </a:xfrm>
          <a:prstGeom prst="rect">
            <a:avLst/>
          </a:prstGeom>
        </p:spPr>
      </p:pic>
      <p:pic>
        <p:nvPicPr>
          <p:cNvPr id="25" name="图片 24" descr="图片4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10067925" y="3155950"/>
            <a:ext cx="1169670" cy="4191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741166" y="4547716"/>
            <a:ext cx="1309654" cy="341649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331436" y="4906143"/>
            <a:ext cx="1082147" cy="3444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摄图网_600406843_数据存储芯片（企业商用）"/>
          <p:cNvPicPr>
            <a:picLocks noChangeAspect="1"/>
          </p:cNvPicPr>
          <p:nvPr/>
        </p:nvPicPr>
        <p:blipFill>
          <a:blip r:embed="rId1"/>
          <a:srcRect t="6570" b="9062"/>
          <a:stretch>
            <a:fillRect/>
          </a:stretch>
        </p:blipFill>
        <p:spPr>
          <a:xfrm>
            <a:off x="0" y="0"/>
            <a:ext cx="12192635" cy="6858000"/>
          </a:xfrm>
          <a:prstGeom prst="rect">
            <a:avLst/>
          </a:prstGeom>
        </p:spPr>
      </p:pic>
      <p:sp>
        <p:nvSpPr>
          <p:cNvPr id="38" name="矩形 37"/>
          <p:cNvSpPr/>
          <p:nvPr userDrawn="1">
            <p:custDataLst>
              <p:tags r:id="rId2"/>
            </p:custDataLst>
          </p:nvPr>
        </p:nvSpPr>
        <p:spPr>
          <a:xfrm rot="16200000" flipH="1">
            <a:off x="2666365" y="-2667635"/>
            <a:ext cx="6858000" cy="12192635"/>
          </a:xfrm>
          <a:prstGeom prst="rect">
            <a:avLst/>
          </a:prstGeom>
          <a:solidFill>
            <a:srgbClr val="53708B">
              <a:alpha val="73000"/>
            </a:srgbClr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 userDrawn="1">
            <p:custDataLst>
              <p:tags r:id="rId3"/>
            </p:custDataLst>
          </p:nvPr>
        </p:nvSpPr>
        <p:spPr>
          <a:xfrm rot="16200000" flipH="1">
            <a:off x="407035" y="930275"/>
            <a:ext cx="5235575" cy="48037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ea typeface="微软雅黑" panose="020B0503020204020204" pitchFamily="34" charset="-122"/>
            </a:endParaRPr>
          </a:p>
        </p:txBody>
      </p:sp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think-cell Slide" r:id="rId5" imgW="3175" imgH="3175" progId="TCLayout.ActiveDocument.1">
                  <p:embed/>
                </p:oleObj>
              </mc:Choice>
              <mc:Fallback>
                <p:oleObj name="think-cell Slide" r:id="rId5" imgW="3175" imgH="3175" progId="TCLayout.ActiveDocument.1">
                  <p:embed/>
                  <p:pic>
                    <p:nvPicPr>
                      <p:cNvPr id="0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" name="组合 38"/>
          <p:cNvGrpSpPr/>
          <p:nvPr/>
        </p:nvGrpSpPr>
        <p:grpSpPr>
          <a:xfrm>
            <a:off x="1298893" y="1111250"/>
            <a:ext cx="3452495" cy="4356100"/>
            <a:chOff x="2003" y="2009"/>
            <a:chExt cx="5437" cy="6860"/>
          </a:xfrm>
        </p:grpSpPr>
        <p:grpSp>
          <p:nvGrpSpPr>
            <p:cNvPr id="11" name="组合 10"/>
            <p:cNvGrpSpPr/>
            <p:nvPr/>
          </p:nvGrpSpPr>
          <p:grpSpPr>
            <a:xfrm>
              <a:off x="2168" y="3163"/>
              <a:ext cx="5241" cy="1734"/>
              <a:chOff x="11972" y="2784"/>
              <a:chExt cx="5241" cy="1734"/>
            </a:xfrm>
          </p:grpSpPr>
          <p:sp>
            <p:nvSpPr>
              <p:cNvPr id="19" name="Rectangle 59"/>
              <p:cNvSpPr/>
              <p:nvPr>
                <p:custDataLst>
                  <p:tags r:id="rId7"/>
                </p:custDataLst>
              </p:nvPr>
            </p:nvSpPr>
            <p:spPr>
              <a:xfrm>
                <a:off x="12416" y="2784"/>
                <a:ext cx="2253" cy="769"/>
              </a:xfrm>
              <a:prstGeom prst="rect">
                <a:avLst/>
              </a:prstGeom>
            </p:spPr>
            <p:txBody>
              <a:bodyPr wrap="none" lIns="243797" tIns="121899" rIns="243797" bIns="121899">
                <a:spAutoFit/>
              </a:bodyPr>
              <a:lstStyle/>
              <a:p>
                <a:r>
                  <a:rPr lang="zh-CN" altLang="en-US" sz="1600" b="1" dirty="0">
                    <a:solidFill>
                      <a:srgbClr val="037DD3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电邮</a:t>
                </a:r>
                <a:r>
                  <a:rPr lang="en-US" altLang="zh-CN" sz="1600" b="1" dirty="0">
                    <a:solidFill>
                      <a:srgbClr val="037DD3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/</a:t>
                </a:r>
                <a:r>
                  <a:rPr lang="zh-CN" altLang="en-US" sz="1600" b="1" dirty="0">
                    <a:solidFill>
                      <a:srgbClr val="037DD3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网址</a:t>
                </a:r>
                <a:r>
                  <a:rPr lang="en-US" altLang="zh-CN" sz="1600" b="1" dirty="0">
                    <a:solidFill>
                      <a:srgbClr val="037DD3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 </a:t>
                </a:r>
                <a:endParaRPr lang="en-US" altLang="zh-CN" sz="1600" b="1" dirty="0">
                  <a:solidFill>
                    <a:srgbClr val="037DD3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lt"/>
                </a:endParaRPr>
              </a:p>
            </p:txBody>
          </p:sp>
          <p:sp>
            <p:nvSpPr>
              <p:cNvPr id="23" name="Freeform 185"/>
              <p:cNvSpPr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972" y="2966"/>
                <a:ext cx="575" cy="440"/>
              </a:xfrm>
              <a:custGeom>
                <a:avLst/>
                <a:gdLst>
                  <a:gd name="T0" fmla="*/ 545 w 619"/>
                  <a:gd name="T1" fmla="*/ 0 h 472"/>
                  <a:gd name="T2" fmla="*/ 545 w 619"/>
                  <a:gd name="T3" fmla="*/ 0 h 472"/>
                  <a:gd name="T4" fmla="*/ 73 w 619"/>
                  <a:gd name="T5" fmla="*/ 0 h 472"/>
                  <a:gd name="T6" fmla="*/ 0 w 619"/>
                  <a:gd name="T7" fmla="*/ 73 h 472"/>
                  <a:gd name="T8" fmla="*/ 0 w 619"/>
                  <a:gd name="T9" fmla="*/ 397 h 472"/>
                  <a:gd name="T10" fmla="*/ 73 w 619"/>
                  <a:gd name="T11" fmla="*/ 471 h 472"/>
                  <a:gd name="T12" fmla="*/ 545 w 619"/>
                  <a:gd name="T13" fmla="*/ 471 h 472"/>
                  <a:gd name="T14" fmla="*/ 618 w 619"/>
                  <a:gd name="T15" fmla="*/ 397 h 472"/>
                  <a:gd name="T16" fmla="*/ 618 w 619"/>
                  <a:gd name="T17" fmla="*/ 73 h 472"/>
                  <a:gd name="T18" fmla="*/ 545 w 619"/>
                  <a:gd name="T19" fmla="*/ 0 h 472"/>
                  <a:gd name="T20" fmla="*/ 559 w 619"/>
                  <a:gd name="T21" fmla="*/ 44 h 472"/>
                  <a:gd name="T22" fmla="*/ 559 w 619"/>
                  <a:gd name="T23" fmla="*/ 44 h 472"/>
                  <a:gd name="T24" fmla="*/ 309 w 619"/>
                  <a:gd name="T25" fmla="*/ 235 h 472"/>
                  <a:gd name="T26" fmla="*/ 59 w 619"/>
                  <a:gd name="T27" fmla="*/ 44 h 472"/>
                  <a:gd name="T28" fmla="*/ 559 w 619"/>
                  <a:gd name="T29" fmla="*/ 44 h 472"/>
                  <a:gd name="T30" fmla="*/ 29 w 619"/>
                  <a:gd name="T31" fmla="*/ 397 h 472"/>
                  <a:gd name="T32" fmla="*/ 29 w 619"/>
                  <a:gd name="T33" fmla="*/ 397 h 472"/>
                  <a:gd name="T34" fmla="*/ 29 w 619"/>
                  <a:gd name="T35" fmla="*/ 73 h 472"/>
                  <a:gd name="T36" fmla="*/ 206 w 619"/>
                  <a:gd name="T37" fmla="*/ 221 h 472"/>
                  <a:gd name="T38" fmla="*/ 29 w 619"/>
                  <a:gd name="T39" fmla="*/ 397 h 472"/>
                  <a:gd name="T40" fmla="*/ 59 w 619"/>
                  <a:gd name="T41" fmla="*/ 427 h 472"/>
                  <a:gd name="T42" fmla="*/ 59 w 619"/>
                  <a:gd name="T43" fmla="*/ 427 h 472"/>
                  <a:gd name="T44" fmla="*/ 236 w 619"/>
                  <a:gd name="T45" fmla="*/ 235 h 472"/>
                  <a:gd name="T46" fmla="*/ 309 w 619"/>
                  <a:gd name="T47" fmla="*/ 294 h 472"/>
                  <a:gd name="T48" fmla="*/ 368 w 619"/>
                  <a:gd name="T49" fmla="*/ 235 h 472"/>
                  <a:gd name="T50" fmla="*/ 559 w 619"/>
                  <a:gd name="T51" fmla="*/ 427 h 472"/>
                  <a:gd name="T52" fmla="*/ 59 w 619"/>
                  <a:gd name="T53" fmla="*/ 427 h 472"/>
                  <a:gd name="T54" fmla="*/ 589 w 619"/>
                  <a:gd name="T55" fmla="*/ 397 h 472"/>
                  <a:gd name="T56" fmla="*/ 589 w 619"/>
                  <a:gd name="T57" fmla="*/ 397 h 472"/>
                  <a:gd name="T58" fmla="*/ 589 w 619"/>
                  <a:gd name="T59" fmla="*/ 397 h 472"/>
                  <a:gd name="T60" fmla="*/ 412 w 619"/>
                  <a:gd name="T61" fmla="*/ 221 h 472"/>
                  <a:gd name="T62" fmla="*/ 589 w 619"/>
                  <a:gd name="T63" fmla="*/ 73 h 472"/>
                  <a:gd name="T64" fmla="*/ 589 w 619"/>
                  <a:gd name="T65" fmla="*/ 397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19" h="472">
                    <a:moveTo>
                      <a:pt x="545" y="0"/>
                    </a:moveTo>
                    <a:lnTo>
                      <a:pt x="545" y="0"/>
                    </a:lnTo>
                    <a:cubicBezTo>
                      <a:pt x="73" y="0"/>
                      <a:pt x="73" y="0"/>
                      <a:pt x="73" y="0"/>
                    </a:cubicBezTo>
                    <a:cubicBezTo>
                      <a:pt x="29" y="0"/>
                      <a:pt x="0" y="30"/>
                      <a:pt x="0" y="73"/>
                    </a:cubicBezTo>
                    <a:cubicBezTo>
                      <a:pt x="0" y="397"/>
                      <a:pt x="0" y="397"/>
                      <a:pt x="0" y="397"/>
                    </a:cubicBezTo>
                    <a:cubicBezTo>
                      <a:pt x="0" y="442"/>
                      <a:pt x="29" y="471"/>
                      <a:pt x="73" y="471"/>
                    </a:cubicBezTo>
                    <a:cubicBezTo>
                      <a:pt x="545" y="471"/>
                      <a:pt x="545" y="471"/>
                      <a:pt x="545" y="471"/>
                    </a:cubicBezTo>
                    <a:cubicBezTo>
                      <a:pt x="589" y="471"/>
                      <a:pt x="618" y="442"/>
                      <a:pt x="618" y="397"/>
                    </a:cubicBezTo>
                    <a:cubicBezTo>
                      <a:pt x="618" y="73"/>
                      <a:pt x="618" y="73"/>
                      <a:pt x="618" y="73"/>
                    </a:cubicBezTo>
                    <a:cubicBezTo>
                      <a:pt x="618" y="30"/>
                      <a:pt x="589" y="0"/>
                      <a:pt x="545" y="0"/>
                    </a:cubicBezTo>
                    <a:close/>
                    <a:moveTo>
                      <a:pt x="559" y="44"/>
                    </a:moveTo>
                    <a:lnTo>
                      <a:pt x="559" y="44"/>
                    </a:lnTo>
                    <a:cubicBezTo>
                      <a:pt x="309" y="235"/>
                      <a:pt x="309" y="235"/>
                      <a:pt x="309" y="235"/>
                    </a:cubicBezTo>
                    <a:cubicBezTo>
                      <a:pt x="59" y="44"/>
                      <a:pt x="59" y="44"/>
                      <a:pt x="59" y="44"/>
                    </a:cubicBezTo>
                    <a:lnTo>
                      <a:pt x="559" y="44"/>
                    </a:lnTo>
                    <a:close/>
                    <a:moveTo>
                      <a:pt x="29" y="397"/>
                    </a:moveTo>
                    <a:lnTo>
                      <a:pt x="29" y="397"/>
                    </a:lnTo>
                    <a:cubicBezTo>
                      <a:pt x="29" y="73"/>
                      <a:pt x="29" y="73"/>
                      <a:pt x="29" y="73"/>
                    </a:cubicBezTo>
                    <a:cubicBezTo>
                      <a:pt x="206" y="221"/>
                      <a:pt x="206" y="221"/>
                      <a:pt x="206" y="221"/>
                    </a:cubicBezTo>
                    <a:cubicBezTo>
                      <a:pt x="29" y="397"/>
                      <a:pt x="29" y="397"/>
                      <a:pt x="29" y="397"/>
                    </a:cubicBezTo>
                    <a:close/>
                    <a:moveTo>
                      <a:pt x="59" y="427"/>
                    </a:moveTo>
                    <a:lnTo>
                      <a:pt x="59" y="427"/>
                    </a:lnTo>
                    <a:cubicBezTo>
                      <a:pt x="236" y="235"/>
                      <a:pt x="236" y="235"/>
                      <a:pt x="236" y="235"/>
                    </a:cubicBezTo>
                    <a:cubicBezTo>
                      <a:pt x="309" y="294"/>
                      <a:pt x="309" y="294"/>
                      <a:pt x="309" y="294"/>
                    </a:cubicBezTo>
                    <a:cubicBezTo>
                      <a:pt x="368" y="235"/>
                      <a:pt x="368" y="235"/>
                      <a:pt x="368" y="235"/>
                    </a:cubicBezTo>
                    <a:cubicBezTo>
                      <a:pt x="559" y="427"/>
                      <a:pt x="559" y="427"/>
                      <a:pt x="559" y="427"/>
                    </a:cubicBezTo>
                    <a:cubicBezTo>
                      <a:pt x="545" y="427"/>
                      <a:pt x="73" y="427"/>
                      <a:pt x="59" y="427"/>
                    </a:cubicBezTo>
                    <a:close/>
                    <a:moveTo>
                      <a:pt x="589" y="397"/>
                    </a:moveTo>
                    <a:lnTo>
                      <a:pt x="589" y="397"/>
                    </a:lnTo>
                    <a:lnTo>
                      <a:pt x="589" y="397"/>
                    </a:lnTo>
                    <a:cubicBezTo>
                      <a:pt x="412" y="221"/>
                      <a:pt x="412" y="221"/>
                      <a:pt x="412" y="221"/>
                    </a:cubicBezTo>
                    <a:cubicBezTo>
                      <a:pt x="589" y="73"/>
                      <a:pt x="589" y="73"/>
                      <a:pt x="589" y="73"/>
                    </a:cubicBezTo>
                    <a:lnTo>
                      <a:pt x="589" y="397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en-US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TextBox 14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12696" y="3357"/>
                <a:ext cx="4517" cy="11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Email</a:t>
                </a:r>
                <a:r>
                  <a:rPr lang="zh-CN" altLang="en-US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：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sales@advancechip.com</a:t>
                </a:r>
                <a:endParaRPr lang="en-US" altLang="zh-CN" sz="14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lt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en-US" altLang="zh-CN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WEB</a:t>
                </a:r>
                <a:r>
                  <a:rPr lang="zh-CN" altLang="en-US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：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www.advancechip.com</a:t>
                </a:r>
                <a:endParaRPr lang="en-US" altLang="zh-CN" sz="14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lt"/>
                </a:endParaRPr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2241" y="5064"/>
              <a:ext cx="4317" cy="1761"/>
              <a:chOff x="9182" y="5765"/>
              <a:chExt cx="4317" cy="1761"/>
            </a:xfrm>
          </p:grpSpPr>
          <p:sp>
            <p:nvSpPr>
              <p:cNvPr id="29" name="Rectangle 58"/>
              <p:cNvSpPr/>
              <p:nvPr>
                <p:custDataLst>
                  <p:tags r:id="rId10"/>
                </p:custDataLst>
              </p:nvPr>
            </p:nvSpPr>
            <p:spPr>
              <a:xfrm>
                <a:off x="9606" y="5765"/>
                <a:ext cx="2046" cy="769"/>
              </a:xfrm>
              <a:prstGeom prst="rect">
                <a:avLst/>
              </a:prstGeom>
            </p:spPr>
            <p:txBody>
              <a:bodyPr wrap="none" lIns="243797" tIns="121899" rIns="243797" bIns="121899">
                <a:spAutoFit/>
              </a:bodyPr>
              <a:lstStyle/>
              <a:p>
                <a:r>
                  <a:rPr lang="zh-CN" altLang="en-US" sz="1600" b="1" dirty="0">
                    <a:solidFill>
                      <a:srgbClr val="037DD3"/>
                    </a:solidFill>
                    <a:latin typeface="思源黑体" panose="020B0500000000000000" charset="-122"/>
                    <a:ea typeface="思源黑体" panose="020B0500000000000000" charset="-122"/>
                    <a:cs typeface="+mn-ea"/>
                    <a:sym typeface="+mn-lt"/>
                  </a:rPr>
                  <a:t>公司地址</a:t>
                </a:r>
                <a:endParaRPr lang="zh-CN" altLang="en-US" sz="1600" b="1" dirty="0">
                  <a:solidFill>
                    <a:srgbClr val="037DD3"/>
                  </a:solidFill>
                  <a:latin typeface="思源黑体" panose="020B0500000000000000" charset="-122"/>
                  <a:ea typeface="思源黑体" panose="020B0500000000000000" charset="-122"/>
                  <a:cs typeface="+mn-ea"/>
                  <a:sym typeface="+mn-lt"/>
                </a:endParaRPr>
              </a:p>
            </p:txBody>
          </p:sp>
          <p:sp>
            <p:nvSpPr>
              <p:cNvPr id="30" name="Freeform 161"/>
              <p:cNvSpPr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9182" y="5881"/>
                <a:ext cx="502" cy="653"/>
              </a:xfrm>
              <a:custGeom>
                <a:avLst/>
                <a:gdLst>
                  <a:gd name="T0" fmla="*/ 236 w 472"/>
                  <a:gd name="T1" fmla="*/ 0 h 619"/>
                  <a:gd name="T2" fmla="*/ 236 w 472"/>
                  <a:gd name="T3" fmla="*/ 0 h 619"/>
                  <a:gd name="T4" fmla="*/ 0 w 472"/>
                  <a:gd name="T5" fmla="*/ 235 h 619"/>
                  <a:gd name="T6" fmla="*/ 236 w 472"/>
                  <a:gd name="T7" fmla="*/ 618 h 619"/>
                  <a:gd name="T8" fmla="*/ 471 w 472"/>
                  <a:gd name="T9" fmla="*/ 235 h 619"/>
                  <a:gd name="T10" fmla="*/ 236 w 472"/>
                  <a:gd name="T11" fmla="*/ 0 h 619"/>
                  <a:gd name="T12" fmla="*/ 236 w 472"/>
                  <a:gd name="T13" fmla="*/ 559 h 619"/>
                  <a:gd name="T14" fmla="*/ 236 w 472"/>
                  <a:gd name="T15" fmla="*/ 559 h 619"/>
                  <a:gd name="T16" fmla="*/ 45 w 472"/>
                  <a:gd name="T17" fmla="*/ 235 h 619"/>
                  <a:gd name="T18" fmla="*/ 236 w 472"/>
                  <a:gd name="T19" fmla="*/ 29 h 619"/>
                  <a:gd name="T20" fmla="*/ 427 w 472"/>
                  <a:gd name="T21" fmla="*/ 235 h 619"/>
                  <a:gd name="T22" fmla="*/ 236 w 472"/>
                  <a:gd name="T23" fmla="*/ 559 h 619"/>
                  <a:gd name="T24" fmla="*/ 236 w 472"/>
                  <a:gd name="T25" fmla="*/ 132 h 619"/>
                  <a:gd name="T26" fmla="*/ 236 w 472"/>
                  <a:gd name="T27" fmla="*/ 132 h 619"/>
                  <a:gd name="T28" fmla="*/ 133 w 472"/>
                  <a:gd name="T29" fmla="*/ 235 h 619"/>
                  <a:gd name="T30" fmla="*/ 236 w 472"/>
                  <a:gd name="T31" fmla="*/ 323 h 619"/>
                  <a:gd name="T32" fmla="*/ 339 w 472"/>
                  <a:gd name="T33" fmla="*/ 235 h 619"/>
                  <a:gd name="T34" fmla="*/ 236 w 472"/>
                  <a:gd name="T35" fmla="*/ 132 h 619"/>
                  <a:gd name="T36" fmla="*/ 236 w 472"/>
                  <a:gd name="T37" fmla="*/ 294 h 619"/>
                  <a:gd name="T38" fmla="*/ 236 w 472"/>
                  <a:gd name="T39" fmla="*/ 294 h 619"/>
                  <a:gd name="T40" fmla="*/ 177 w 472"/>
                  <a:gd name="T41" fmla="*/ 235 h 619"/>
                  <a:gd name="T42" fmla="*/ 236 w 472"/>
                  <a:gd name="T43" fmla="*/ 176 h 619"/>
                  <a:gd name="T44" fmla="*/ 295 w 472"/>
                  <a:gd name="T45" fmla="*/ 235 h 619"/>
                  <a:gd name="T46" fmla="*/ 236 w 472"/>
                  <a:gd name="T47" fmla="*/ 294 h 6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472" h="619">
                    <a:moveTo>
                      <a:pt x="236" y="0"/>
                    </a:moveTo>
                    <a:lnTo>
                      <a:pt x="236" y="0"/>
                    </a:lnTo>
                    <a:cubicBezTo>
                      <a:pt x="104" y="0"/>
                      <a:pt x="0" y="103"/>
                      <a:pt x="0" y="235"/>
                    </a:cubicBezTo>
                    <a:cubicBezTo>
                      <a:pt x="0" y="323"/>
                      <a:pt x="192" y="618"/>
                      <a:pt x="236" y="618"/>
                    </a:cubicBezTo>
                    <a:cubicBezTo>
                      <a:pt x="280" y="618"/>
                      <a:pt x="471" y="323"/>
                      <a:pt x="471" y="235"/>
                    </a:cubicBezTo>
                    <a:cubicBezTo>
                      <a:pt x="471" y="103"/>
                      <a:pt x="368" y="0"/>
                      <a:pt x="236" y="0"/>
                    </a:cubicBezTo>
                    <a:close/>
                    <a:moveTo>
                      <a:pt x="236" y="559"/>
                    </a:moveTo>
                    <a:lnTo>
                      <a:pt x="236" y="559"/>
                    </a:lnTo>
                    <a:cubicBezTo>
                      <a:pt x="207" y="559"/>
                      <a:pt x="45" y="309"/>
                      <a:pt x="45" y="235"/>
                    </a:cubicBezTo>
                    <a:cubicBezTo>
                      <a:pt x="45" y="117"/>
                      <a:pt x="133" y="29"/>
                      <a:pt x="236" y="29"/>
                    </a:cubicBezTo>
                    <a:cubicBezTo>
                      <a:pt x="339" y="29"/>
                      <a:pt x="427" y="117"/>
                      <a:pt x="427" y="235"/>
                    </a:cubicBezTo>
                    <a:cubicBezTo>
                      <a:pt x="427" y="309"/>
                      <a:pt x="266" y="559"/>
                      <a:pt x="236" y="559"/>
                    </a:cubicBezTo>
                    <a:close/>
                    <a:moveTo>
                      <a:pt x="236" y="132"/>
                    </a:moveTo>
                    <a:lnTo>
                      <a:pt x="236" y="132"/>
                    </a:lnTo>
                    <a:cubicBezTo>
                      <a:pt x="177" y="132"/>
                      <a:pt x="133" y="176"/>
                      <a:pt x="133" y="235"/>
                    </a:cubicBezTo>
                    <a:cubicBezTo>
                      <a:pt x="133" y="279"/>
                      <a:pt x="177" y="323"/>
                      <a:pt x="236" y="323"/>
                    </a:cubicBezTo>
                    <a:cubicBezTo>
                      <a:pt x="295" y="323"/>
                      <a:pt x="339" y="279"/>
                      <a:pt x="339" y="235"/>
                    </a:cubicBezTo>
                    <a:cubicBezTo>
                      <a:pt x="339" y="176"/>
                      <a:pt x="295" y="132"/>
                      <a:pt x="236" y="132"/>
                    </a:cubicBezTo>
                    <a:close/>
                    <a:moveTo>
                      <a:pt x="236" y="294"/>
                    </a:moveTo>
                    <a:lnTo>
                      <a:pt x="236" y="294"/>
                    </a:lnTo>
                    <a:cubicBezTo>
                      <a:pt x="207" y="294"/>
                      <a:pt x="177" y="264"/>
                      <a:pt x="177" y="235"/>
                    </a:cubicBezTo>
                    <a:cubicBezTo>
                      <a:pt x="177" y="191"/>
                      <a:pt x="207" y="176"/>
                      <a:pt x="236" y="176"/>
                    </a:cubicBezTo>
                    <a:cubicBezTo>
                      <a:pt x="266" y="176"/>
                      <a:pt x="295" y="191"/>
                      <a:pt x="295" y="235"/>
                    </a:cubicBezTo>
                    <a:cubicBezTo>
                      <a:pt x="295" y="264"/>
                      <a:pt x="266" y="294"/>
                      <a:pt x="236" y="294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en-US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31" name="TextBox 14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9851" y="6365"/>
                <a:ext cx="3648" cy="11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长沙市</a:t>
                </a:r>
                <a:r>
                  <a:rPr lang="zh-CN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湘江新</a:t>
                </a:r>
                <a:r>
                  <a:rPr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区东方红街道</a:t>
                </a:r>
                <a:endParaRPr sz="14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lt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北斗产业园·黄金园A5栋  </a:t>
                </a:r>
                <a:endParaRPr sz="14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lt"/>
                </a:endParaRPr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2241" y="7081"/>
              <a:ext cx="5199" cy="1788"/>
              <a:chOff x="2484" y="7433"/>
              <a:chExt cx="5199" cy="1788"/>
            </a:xfrm>
          </p:grpSpPr>
          <p:sp>
            <p:nvSpPr>
              <p:cNvPr id="33" name="Rectangle 60"/>
              <p:cNvSpPr/>
              <p:nvPr>
                <p:custDataLst>
                  <p:tags r:id="rId13"/>
                </p:custDataLst>
              </p:nvPr>
            </p:nvSpPr>
            <p:spPr>
              <a:xfrm>
                <a:off x="2932" y="7433"/>
                <a:ext cx="2046" cy="769"/>
              </a:xfrm>
              <a:prstGeom prst="rect">
                <a:avLst/>
              </a:prstGeom>
            </p:spPr>
            <p:txBody>
              <a:bodyPr wrap="none" lIns="243797" tIns="121899" rIns="243797" bIns="121899">
                <a:spAutoFit/>
              </a:bodyPr>
              <a:lstStyle/>
              <a:p>
                <a:r>
                  <a:rPr lang="zh-CN" altLang="en-US" sz="1600" b="1" dirty="0">
                    <a:solidFill>
                      <a:srgbClr val="037DD3"/>
                    </a:solidFill>
                    <a:latin typeface="思源黑体" panose="020B0500000000000000" charset="-122"/>
                    <a:ea typeface="思源黑体" panose="020B0500000000000000" charset="-122"/>
                    <a:cs typeface="+mn-ea"/>
                    <a:sym typeface="+mn-lt"/>
                  </a:rPr>
                  <a:t>联系电话</a:t>
                </a:r>
                <a:endParaRPr lang="zh-CN" altLang="en-US" sz="1600" b="1" dirty="0">
                  <a:solidFill>
                    <a:srgbClr val="037DD3"/>
                  </a:solidFill>
                  <a:latin typeface="思源黑体" panose="020B0500000000000000" charset="-122"/>
                  <a:ea typeface="思源黑体" panose="020B0500000000000000" charset="-122"/>
                  <a:cs typeface="+mn-ea"/>
                  <a:sym typeface="+mn-lt"/>
                </a:endParaRPr>
              </a:p>
            </p:txBody>
          </p:sp>
          <p:sp>
            <p:nvSpPr>
              <p:cNvPr id="34" name="Freeform 178"/>
              <p:cNvSpPr>
                <a:spLocks noChangeArrowhead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2484" y="7580"/>
                <a:ext cx="580" cy="563"/>
              </a:xfrm>
              <a:custGeom>
                <a:avLst/>
                <a:gdLst>
                  <a:gd name="T0" fmla="*/ 603 w 634"/>
                  <a:gd name="T1" fmla="*/ 74 h 619"/>
                  <a:gd name="T2" fmla="*/ 603 w 634"/>
                  <a:gd name="T3" fmla="*/ 74 h 619"/>
                  <a:gd name="T4" fmla="*/ 545 w 634"/>
                  <a:gd name="T5" fmla="*/ 15 h 619"/>
                  <a:gd name="T6" fmla="*/ 486 w 634"/>
                  <a:gd name="T7" fmla="*/ 15 h 619"/>
                  <a:gd name="T8" fmla="*/ 412 w 634"/>
                  <a:gd name="T9" fmla="*/ 133 h 619"/>
                  <a:gd name="T10" fmla="*/ 412 w 634"/>
                  <a:gd name="T11" fmla="*/ 191 h 619"/>
                  <a:gd name="T12" fmla="*/ 441 w 634"/>
                  <a:gd name="T13" fmla="*/ 221 h 619"/>
                  <a:gd name="T14" fmla="*/ 353 w 634"/>
                  <a:gd name="T15" fmla="*/ 324 h 619"/>
                  <a:gd name="T16" fmla="*/ 235 w 634"/>
                  <a:gd name="T17" fmla="*/ 427 h 619"/>
                  <a:gd name="T18" fmla="*/ 191 w 634"/>
                  <a:gd name="T19" fmla="*/ 397 h 619"/>
                  <a:gd name="T20" fmla="*/ 132 w 634"/>
                  <a:gd name="T21" fmla="*/ 397 h 619"/>
                  <a:gd name="T22" fmla="*/ 29 w 634"/>
                  <a:gd name="T23" fmla="*/ 486 h 619"/>
                  <a:gd name="T24" fmla="*/ 29 w 634"/>
                  <a:gd name="T25" fmla="*/ 530 h 619"/>
                  <a:gd name="T26" fmla="*/ 88 w 634"/>
                  <a:gd name="T27" fmla="*/ 589 h 619"/>
                  <a:gd name="T28" fmla="*/ 191 w 634"/>
                  <a:gd name="T29" fmla="*/ 589 h 619"/>
                  <a:gd name="T30" fmla="*/ 427 w 634"/>
                  <a:gd name="T31" fmla="*/ 412 h 619"/>
                  <a:gd name="T32" fmla="*/ 603 w 634"/>
                  <a:gd name="T33" fmla="*/ 191 h 619"/>
                  <a:gd name="T34" fmla="*/ 603 w 634"/>
                  <a:gd name="T35" fmla="*/ 74 h 619"/>
                  <a:gd name="T36" fmla="*/ 574 w 634"/>
                  <a:gd name="T37" fmla="*/ 162 h 619"/>
                  <a:gd name="T38" fmla="*/ 574 w 634"/>
                  <a:gd name="T39" fmla="*/ 162 h 619"/>
                  <a:gd name="T40" fmla="*/ 412 w 634"/>
                  <a:gd name="T41" fmla="*/ 383 h 619"/>
                  <a:gd name="T42" fmla="*/ 162 w 634"/>
                  <a:gd name="T43" fmla="*/ 559 h 619"/>
                  <a:gd name="T44" fmla="*/ 103 w 634"/>
                  <a:gd name="T45" fmla="*/ 559 h 619"/>
                  <a:gd name="T46" fmla="*/ 73 w 634"/>
                  <a:gd name="T47" fmla="*/ 530 h 619"/>
                  <a:gd name="T48" fmla="*/ 73 w 634"/>
                  <a:gd name="T49" fmla="*/ 486 h 619"/>
                  <a:gd name="T50" fmla="*/ 147 w 634"/>
                  <a:gd name="T51" fmla="*/ 442 h 619"/>
                  <a:gd name="T52" fmla="*/ 177 w 634"/>
                  <a:gd name="T53" fmla="*/ 442 h 619"/>
                  <a:gd name="T54" fmla="*/ 221 w 634"/>
                  <a:gd name="T55" fmla="*/ 486 h 619"/>
                  <a:gd name="T56" fmla="*/ 500 w 634"/>
                  <a:gd name="T57" fmla="*/ 221 h 619"/>
                  <a:gd name="T58" fmla="*/ 441 w 634"/>
                  <a:gd name="T59" fmla="*/ 176 h 619"/>
                  <a:gd name="T60" fmla="*/ 441 w 634"/>
                  <a:gd name="T61" fmla="*/ 133 h 619"/>
                  <a:gd name="T62" fmla="*/ 500 w 634"/>
                  <a:gd name="T63" fmla="*/ 59 h 619"/>
                  <a:gd name="T64" fmla="*/ 545 w 634"/>
                  <a:gd name="T65" fmla="*/ 59 h 619"/>
                  <a:gd name="T66" fmla="*/ 574 w 634"/>
                  <a:gd name="T67" fmla="*/ 103 h 619"/>
                  <a:gd name="T68" fmla="*/ 574 w 634"/>
                  <a:gd name="T69" fmla="*/ 162 h 6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634" h="619">
                    <a:moveTo>
                      <a:pt x="603" y="74"/>
                    </a:moveTo>
                    <a:lnTo>
                      <a:pt x="603" y="74"/>
                    </a:lnTo>
                    <a:cubicBezTo>
                      <a:pt x="545" y="15"/>
                      <a:pt x="545" y="15"/>
                      <a:pt x="545" y="15"/>
                    </a:cubicBezTo>
                    <a:cubicBezTo>
                      <a:pt x="530" y="0"/>
                      <a:pt x="500" y="0"/>
                      <a:pt x="486" y="15"/>
                    </a:cubicBezTo>
                    <a:cubicBezTo>
                      <a:pt x="412" y="133"/>
                      <a:pt x="412" y="133"/>
                      <a:pt x="412" y="133"/>
                    </a:cubicBezTo>
                    <a:cubicBezTo>
                      <a:pt x="398" y="147"/>
                      <a:pt x="398" y="176"/>
                      <a:pt x="412" y="191"/>
                    </a:cubicBezTo>
                    <a:cubicBezTo>
                      <a:pt x="441" y="221"/>
                      <a:pt x="441" y="221"/>
                      <a:pt x="441" y="221"/>
                    </a:cubicBezTo>
                    <a:cubicBezTo>
                      <a:pt x="412" y="250"/>
                      <a:pt x="382" y="294"/>
                      <a:pt x="353" y="324"/>
                    </a:cubicBezTo>
                    <a:cubicBezTo>
                      <a:pt x="309" y="368"/>
                      <a:pt x="265" y="397"/>
                      <a:pt x="235" y="427"/>
                    </a:cubicBezTo>
                    <a:cubicBezTo>
                      <a:pt x="191" y="397"/>
                      <a:pt x="191" y="397"/>
                      <a:pt x="191" y="397"/>
                    </a:cubicBezTo>
                    <a:cubicBezTo>
                      <a:pt x="177" y="383"/>
                      <a:pt x="162" y="383"/>
                      <a:pt x="132" y="397"/>
                    </a:cubicBezTo>
                    <a:cubicBezTo>
                      <a:pt x="29" y="486"/>
                      <a:pt x="29" y="486"/>
                      <a:pt x="29" y="486"/>
                    </a:cubicBezTo>
                    <a:cubicBezTo>
                      <a:pt x="0" y="500"/>
                      <a:pt x="15" y="515"/>
                      <a:pt x="29" y="530"/>
                    </a:cubicBezTo>
                    <a:cubicBezTo>
                      <a:pt x="88" y="589"/>
                      <a:pt x="88" y="589"/>
                      <a:pt x="88" y="589"/>
                    </a:cubicBezTo>
                    <a:cubicBezTo>
                      <a:pt x="118" y="618"/>
                      <a:pt x="147" y="618"/>
                      <a:pt x="191" y="589"/>
                    </a:cubicBezTo>
                    <a:cubicBezTo>
                      <a:pt x="191" y="589"/>
                      <a:pt x="324" y="530"/>
                      <a:pt x="427" y="412"/>
                    </a:cubicBezTo>
                    <a:cubicBezTo>
                      <a:pt x="530" y="324"/>
                      <a:pt x="603" y="191"/>
                      <a:pt x="603" y="191"/>
                    </a:cubicBezTo>
                    <a:cubicBezTo>
                      <a:pt x="618" y="147"/>
                      <a:pt x="633" y="103"/>
                      <a:pt x="603" y="74"/>
                    </a:cubicBezTo>
                    <a:close/>
                    <a:moveTo>
                      <a:pt x="574" y="162"/>
                    </a:moveTo>
                    <a:lnTo>
                      <a:pt x="574" y="162"/>
                    </a:lnTo>
                    <a:cubicBezTo>
                      <a:pt x="545" y="221"/>
                      <a:pt x="471" y="324"/>
                      <a:pt x="412" y="383"/>
                    </a:cubicBezTo>
                    <a:cubicBezTo>
                      <a:pt x="339" y="456"/>
                      <a:pt x="162" y="559"/>
                      <a:pt x="162" y="559"/>
                    </a:cubicBezTo>
                    <a:cubicBezTo>
                      <a:pt x="147" y="574"/>
                      <a:pt x="118" y="574"/>
                      <a:pt x="103" y="559"/>
                    </a:cubicBezTo>
                    <a:cubicBezTo>
                      <a:pt x="73" y="530"/>
                      <a:pt x="73" y="530"/>
                      <a:pt x="73" y="530"/>
                    </a:cubicBezTo>
                    <a:cubicBezTo>
                      <a:pt x="59" y="515"/>
                      <a:pt x="59" y="500"/>
                      <a:pt x="73" y="486"/>
                    </a:cubicBezTo>
                    <a:cubicBezTo>
                      <a:pt x="147" y="442"/>
                      <a:pt x="147" y="442"/>
                      <a:pt x="147" y="442"/>
                    </a:cubicBezTo>
                    <a:cubicBezTo>
                      <a:pt x="162" y="427"/>
                      <a:pt x="177" y="427"/>
                      <a:pt x="177" y="442"/>
                    </a:cubicBezTo>
                    <a:cubicBezTo>
                      <a:pt x="221" y="486"/>
                      <a:pt x="221" y="486"/>
                      <a:pt x="221" y="486"/>
                    </a:cubicBezTo>
                    <a:cubicBezTo>
                      <a:pt x="235" y="471"/>
                      <a:pt x="398" y="368"/>
                      <a:pt x="500" y="221"/>
                    </a:cubicBezTo>
                    <a:cubicBezTo>
                      <a:pt x="441" y="176"/>
                      <a:pt x="441" y="176"/>
                      <a:pt x="441" y="176"/>
                    </a:cubicBezTo>
                    <a:cubicBezTo>
                      <a:pt x="441" y="162"/>
                      <a:pt x="441" y="147"/>
                      <a:pt x="441" y="133"/>
                    </a:cubicBezTo>
                    <a:cubicBezTo>
                      <a:pt x="500" y="59"/>
                      <a:pt x="500" y="59"/>
                      <a:pt x="500" y="59"/>
                    </a:cubicBezTo>
                    <a:cubicBezTo>
                      <a:pt x="515" y="44"/>
                      <a:pt x="530" y="59"/>
                      <a:pt x="545" y="59"/>
                    </a:cubicBezTo>
                    <a:cubicBezTo>
                      <a:pt x="574" y="103"/>
                      <a:pt x="574" y="103"/>
                      <a:pt x="574" y="103"/>
                    </a:cubicBezTo>
                    <a:cubicBezTo>
                      <a:pt x="589" y="117"/>
                      <a:pt x="589" y="147"/>
                      <a:pt x="574" y="162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en-US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35" name="TextBox 14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3230" y="8060"/>
                <a:ext cx="4453" cy="11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0731-88731027</a:t>
                </a:r>
                <a:r>
                  <a:rPr lang="zh-CN" altLang="en-US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（长沙总部）</a:t>
                </a:r>
                <a:endParaRPr lang="en-US" altLang="zh-CN" sz="14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lt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en-US" altLang="zh-CN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025-66051670</a:t>
                </a:r>
                <a:r>
                  <a:rPr lang="zh-CN" altLang="en-US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（南京销售中心）</a:t>
                </a:r>
                <a:endParaRPr lang="zh-CN" altLang="en-US" sz="14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lt"/>
                </a:endParaRPr>
              </a:p>
            </p:txBody>
          </p:sp>
        </p:grpSp>
        <p:sp>
          <p:nvSpPr>
            <p:cNvPr id="37" name="文本框 36"/>
            <p:cNvSpPr txBox="1"/>
            <p:nvPr>
              <p:custDataLst>
                <p:tags r:id="rId16"/>
              </p:custDataLst>
            </p:nvPr>
          </p:nvSpPr>
          <p:spPr>
            <a:xfrm>
              <a:off x="2003" y="2009"/>
              <a:ext cx="3111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zh-CN" sz="2800" b="1">
                  <a:solidFill>
                    <a:srgbClr val="037DD3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联系我们</a:t>
              </a:r>
              <a:endParaRPr lang="zh-CN" altLang="zh-CN" sz="2800" b="1">
                <a:solidFill>
                  <a:srgbClr val="037DD3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</p:grpSp>
      <p:sp>
        <p:nvSpPr>
          <p:cNvPr id="40" name="矩形 39"/>
          <p:cNvSpPr/>
          <p:nvPr userDrawn="1">
            <p:custDataLst>
              <p:tags r:id="rId17"/>
            </p:custDataLst>
          </p:nvPr>
        </p:nvSpPr>
        <p:spPr>
          <a:xfrm rot="16200000" flipH="1">
            <a:off x="5838825" y="301625"/>
            <a:ext cx="5235575" cy="6060440"/>
          </a:xfrm>
          <a:prstGeom prst="rect">
            <a:avLst/>
          </a:prstGeom>
          <a:noFill/>
          <a:ln w="12700" cmpd="sng">
            <a:solidFill>
              <a:schemeClr val="bg1"/>
            </a:solidFill>
            <a:prstDash val="sysDot"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186488" y="1919288"/>
            <a:ext cx="4540250" cy="2825115"/>
            <a:chOff x="9742" y="2999"/>
            <a:chExt cx="7150" cy="4449"/>
          </a:xfrm>
        </p:grpSpPr>
        <p:sp>
          <p:nvSpPr>
            <p:cNvPr id="44" name="文本框 43"/>
            <p:cNvSpPr txBox="1"/>
            <p:nvPr userDrawn="1">
              <p:custDataLst>
                <p:tags r:id="rId18"/>
              </p:custDataLst>
            </p:nvPr>
          </p:nvSpPr>
          <p:spPr>
            <a:xfrm>
              <a:off x="9742" y="2999"/>
              <a:ext cx="7151" cy="346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algn="ctr">
                <a:defRPr sz="5400">
                  <a:solidFill>
                    <a:srgbClr val="A43975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  <a:cs typeface="+mn-ea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zh-CN" sz="36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COMPANY PROFILE</a:t>
              </a:r>
              <a:endParaRPr lang="en-US" altLang="zh-CN" sz="3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endParaRPr>
            </a:p>
            <a:p>
              <a:pPr algn="ctr">
                <a:lnSpc>
                  <a:spcPct val="100000"/>
                </a:lnSpc>
              </a:pPr>
              <a:r>
                <a:rPr lang="zh-CN" altLang="en-US" sz="7200" b="1" dirty="0">
                  <a:solidFill>
                    <a:srgbClr val="00B0F0"/>
                  </a:solidFill>
                  <a:latin typeface="思源黑体" panose="020B0500000000000000" charset="-122"/>
                  <a:ea typeface="思源黑体" panose="020B0500000000000000" charset="-122"/>
                  <a:sym typeface="+mn-lt"/>
                </a:rPr>
                <a:t>感谢观看</a:t>
              </a:r>
              <a:endParaRPr lang="zh-CN" altLang="en-US" sz="7200" b="1" dirty="0">
                <a:solidFill>
                  <a:srgbClr val="00B0F0"/>
                </a:solidFill>
                <a:latin typeface="思源黑体" panose="020B0500000000000000" charset="-122"/>
                <a:ea typeface="思源黑体" panose="020B0500000000000000" charset="-122"/>
                <a:sym typeface="+mn-lt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12183" y="6438"/>
              <a:ext cx="2269" cy="1010"/>
              <a:chOff x="12104" y="6438"/>
              <a:chExt cx="2269" cy="1010"/>
            </a:xfrm>
          </p:grpSpPr>
          <p:pic>
            <p:nvPicPr>
              <p:cNvPr id="3" name="图片 2" descr="官网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3363" y="6438"/>
                <a:ext cx="1011" cy="1011"/>
              </a:xfrm>
              <a:prstGeom prst="rect">
                <a:avLst/>
              </a:prstGeom>
            </p:spPr>
          </p:pic>
          <p:pic>
            <p:nvPicPr>
              <p:cNvPr id="8" name="图片 7" descr="微信公众号"/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2104" y="6438"/>
                <a:ext cx="996" cy="996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PLACING_PICTURE_USER_VIEWPORT" val="{&quot;height&quot;:10801,&quot;width&quot;:19200}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THINKCELLSHAPEDONOTDELETE" val="thinkcellActiveDocDoNotDelete"/>
</p:tagLst>
</file>

<file path=ppt/tags/tag12.xml><?xml version="1.0" encoding="utf-8"?>
<p:tagLst xmlns:p="http://schemas.openxmlformats.org/presentationml/2006/main">
  <p:tag name="THINKCELLSHAPEDONOTDELETE" val="tHKRBZtSHR3OuSJzhCtKm3g"/>
</p:tagLst>
</file>

<file path=ppt/tags/tag1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4824_3*a*1"/>
  <p:tag name="KSO_WM_TEMPLATE_CATEGORY" val="diagram"/>
  <p:tag name="KSO_WM_TEMPLATE_INDEX" val="20234824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PICID" val="{44e3e076-fa9d-4b9e-a03d-3dd05ca05e2a}"/>
</p:tagLst>
</file>

<file path=ppt/tags/tag32.xml><?xml version="1.0" encoding="utf-8"?>
<p:tagLst xmlns:p="http://schemas.openxmlformats.org/presentationml/2006/main">
  <p:tag name="KSO_WM_BEAUTIFY_FLAG" val="#wm#"/>
  <p:tag name="KSO_WM_UNIT_INDEX" val="1"/>
  <p:tag name="KSO_WM_UNIT_TYPE" val="a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#wm#"/>
  <p:tag name="KSO_WM_UNIT_INDEX" val="1"/>
  <p:tag name="KSO_WM_UNIT_TYPE" val="a"/>
</p:tagLst>
</file>

<file path=ppt/tags/tag65.xml><?xml version="1.0" encoding="utf-8"?>
<p:tagLst xmlns:p="http://schemas.openxmlformats.org/presentationml/2006/main">
  <p:tag name="PICID" val="{9be3d77f-e1b9-41f0-a86f-bfe7f6737a74}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TABLE_ENDDRAG_ORIGIN_RECT" val="355*382"/>
  <p:tag name="TABLE_ENDDRAG_RECT" val="64*104*355*382"/>
  <p:tag name="KSO_WM_BEAUTIFY_FLAG" val=""/>
</p:tagLst>
</file>

<file path=ppt/tags/tag128.xml><?xml version="1.0" encoding="utf-8"?>
<p:tagLst xmlns:p="http://schemas.openxmlformats.org/presentationml/2006/main">
  <p:tag name="TABLE_ENDDRAG_ORIGIN_RECT" val="362*385"/>
  <p:tag name="TABLE_ENDDRAG_RECT" val="60*108*362*385"/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TABLE_ENDDRAG_ORIGIN_RECT" val="362*367"/>
  <p:tag name="TABLE_ENDDRAG_RECT" val="61*117*362*367"/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TABLE_ENDDRAG_ORIGIN_RECT" val="362*369"/>
  <p:tag name="TABLE_ENDDRAG_RECT" val="61*115*362*369"/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TABLE_ENDDRAG_ORIGIN_RECT" val="362*375"/>
  <p:tag name="TABLE_ENDDRAG_RECT" val="61*109*362*375"/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TABLE_ENDDRAG_ORIGIN_RECT" val="332*356"/>
  <p:tag name="TABLE_ENDDRAG_RECT" val="61*126*332*356"/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TABLE_ENDDRAG_ORIGIN_RECT" val="328*344"/>
  <p:tag name="TABLE_ENDDRAG_RECT" val="61*139*328*344"/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4824_3*a*1"/>
  <p:tag name="KSO_WM_TEMPLATE_CATEGORY" val="diagram"/>
  <p:tag name="KSO_WM_TEMPLATE_INDEX" val="20234824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84_2*l_h_i*884_1_1"/>
  <p:tag name="KSO_WM_TEMPLATE_CATEGORY" val="diagram"/>
  <p:tag name="KSO_WM_TEMPLATE_INDEX" val="2023168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884_1_1"/>
  <p:tag name="KSO_WM_UNIT_FILL_TYPE" val="1"/>
  <p:tag name="KSO_WM_UNIT_FILL_FORE_SCHEMECOLOR_INDEX" val="5"/>
  <p:tag name="KSO_WM_UNIT_FILL_FORE_SCHEMECOLOR_INDEX_BRIGHTNESS" val="-0.5"/>
  <p:tag name="KSO_WM_DIAGRAM_MAX_ITEMCNT" val="6"/>
  <p:tag name="KSO_WM_DIAGRAM_MIN_ITEMCNT" val="2"/>
  <p:tag name="KSO_WM_DIAGRAM_VIRTUALLY_FRAME" val="{&quot;height&quot;:381,&quot;left&quot;:40.327925592857994,&quot;top&quot;:101.37476377952753,&quot;width&quot;:863.8499755859375}"/>
  <p:tag name="KSO_WM_DIAGRAM_COLOR_MATCH_VALUE" val="{&quot;shape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84_2*l_h_i*884_1_2"/>
  <p:tag name="KSO_WM_TEMPLATE_CATEGORY" val="diagram"/>
  <p:tag name="KSO_WM_TEMPLATE_INDEX" val="2023168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884_1_2"/>
  <p:tag name="KSO_WM_UNIT_FILL_TYPE" val="1"/>
  <p:tag name="KSO_WM_UNIT_FILL_FORE_SCHEMECOLOR_INDEX" val="14"/>
  <p:tag name="KSO_WM_UNIT_FILL_FORE_SCHEMECOLOR_INDEX_BRIGHTNESS" val="0"/>
  <p:tag name="KSO_WM_UNIT_LINE_FORE_SCHEMECOLOR_INDEX" val="5"/>
  <p:tag name="KSO_WM_DIAGRAM_MAX_ITEMCNT" val="6"/>
  <p:tag name="KSO_WM_DIAGRAM_MIN_ITEMCNT" val="2"/>
  <p:tag name="KSO_WM_DIAGRAM_VIRTUALLY_FRAME" val="{&quot;height&quot;:381,&quot;left&quot;:40.327925592857994,&quot;top&quot;:101.37476377952753,&quot;width&quot;:863.8499755859375}"/>
  <p:tag name="KSO_WM_DIAGRAM_COLOR_MATCH_VALUE" val="{&quot;shape&quot;:{&quot;fill&quot;:{&quot;solid&quot;:{&quot;brightness&quot;:0,&quot;colorType&quot;:1,&quot;foreColorIndex&quot;:14,&quot;transparency&quot;:0},&quot;type&quot;:1},&quot;glow&quot;:{&quot;colorType&quot;:0},&quot;line&quot;:{&quot;solidLine&quot;:{&quot;brightness&quot;:0.800000011920929,&quot;colorType&quot;:1,&quot;foreColorIndex&quot;:5,&quot;transparency&quot;:0},&quot;type&quot;:1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21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884_1_1"/>
  <p:tag name="KSO_WM_UNIT_ID" val="diagram20231684_2*l_h_f*884_1_1"/>
  <p:tag name="KSO_WM_TEMPLATE_CATEGORY" val="diagram"/>
  <p:tag name="KSO_WM_TEMPLATE_INDEX" val="2023168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输入你的)智能图形项正文，文字是您思想的提炼，请尽量言简意赅"/>
  <p:tag name="KSO_WM_UNIT_TEXT_FILL_FORE_SCHEMECOLOR_INDEX" val="1"/>
  <p:tag name="KSO_WM_UNIT_TEXT_FILL_TYPE" val="1"/>
  <p:tag name="KSO_WM_DIAGRAM_MAX_ITEMCNT" val="6"/>
  <p:tag name="KSO_WM_DIAGRAM_MIN_ITEMCNT" val="2"/>
  <p:tag name="KSO_WM_DIAGRAM_VIRTUALLY_FRAME" val="{&quot;height&quot;:381,&quot;left&quot;:40.327925592857994,&quot;top&quot;:101.37476377952753,&quot;width&quot;:863.8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84_2*l_h_i*884_2_1"/>
  <p:tag name="KSO_WM_TEMPLATE_CATEGORY" val="diagram"/>
  <p:tag name="KSO_WM_TEMPLATE_INDEX" val="2023168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884_2_1"/>
  <p:tag name="KSO_WM_UNIT_FILL_TYPE" val="1"/>
  <p:tag name="KSO_WM_UNIT_FILL_FORE_SCHEMECOLOR_INDEX" val="5"/>
  <p:tag name="KSO_WM_UNIT_FILL_FORE_SCHEMECOLOR_INDEX_BRIGHTNESS" val="-0.5"/>
  <p:tag name="KSO_WM_DIAGRAM_MAX_ITEMCNT" val="6"/>
  <p:tag name="KSO_WM_DIAGRAM_MIN_ITEMCNT" val="2"/>
  <p:tag name="KSO_WM_DIAGRAM_VIRTUALLY_FRAME" val="{&quot;height&quot;:381,&quot;left&quot;:40.327925592857994,&quot;top&quot;:101.37476377952753,&quot;width&quot;:863.8499755859375}"/>
  <p:tag name="KSO_WM_DIAGRAM_COLOR_MATCH_VALUE" val="{&quot;shape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84_2*l_h_i*884_2_2"/>
  <p:tag name="KSO_WM_TEMPLATE_CATEGORY" val="diagram"/>
  <p:tag name="KSO_WM_TEMPLATE_INDEX" val="2023168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884_2_2"/>
  <p:tag name="KSO_WM_UNIT_FILL_TYPE" val="1"/>
  <p:tag name="KSO_WM_UNIT_FILL_FORE_SCHEMECOLOR_INDEX" val="14"/>
  <p:tag name="KSO_WM_UNIT_FILL_FORE_SCHEMECOLOR_INDEX_BRIGHTNESS" val="0"/>
  <p:tag name="KSO_WM_UNIT_LINE_FORE_SCHEMECOLOR_INDEX" val="5"/>
  <p:tag name="KSO_WM_DIAGRAM_MAX_ITEMCNT" val="6"/>
  <p:tag name="KSO_WM_DIAGRAM_MIN_ITEMCNT" val="2"/>
  <p:tag name="KSO_WM_DIAGRAM_VIRTUALLY_FRAME" val="{&quot;height&quot;:381,&quot;left&quot;:40.327925592857994,&quot;top&quot;:101.37476377952753,&quot;width&quot;:863.8499755859375}"/>
  <p:tag name="KSO_WM_DIAGRAM_COLOR_MATCH_VALUE" val="{&quot;shape&quot;:{&quot;fill&quot;:{&quot;solid&quot;:{&quot;brightness&quot;:0,&quot;colorType&quot;:1,&quot;foreColorIndex&quot;:14,&quot;transparency&quot;:0},&quot;type&quot;:1},&quot;glow&quot;:{&quot;colorType&quot;:0},&quot;line&quot;:{&quot;solidLine&quot;:{&quot;brightness&quot;:0.800000011920929,&quot;colorType&quot;:1,&quot;foreColorIndex&quot;:5,&quot;transparency&quot;:0},&quot;type&quot;:1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21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884_2_1"/>
  <p:tag name="KSO_WM_UNIT_ID" val="diagram20231684_2*l_h_f*884_2_1"/>
  <p:tag name="KSO_WM_TEMPLATE_CATEGORY" val="diagram"/>
  <p:tag name="KSO_WM_TEMPLATE_INDEX" val="2023168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输入你的)智能图形项正文，文字是您思想的提炼，请尽量言简意赅"/>
  <p:tag name="KSO_WM_UNIT_TEXT_FILL_FORE_SCHEMECOLOR_INDEX" val="1"/>
  <p:tag name="KSO_WM_UNIT_TEXT_FILL_TYPE" val="1"/>
  <p:tag name="KSO_WM_DIAGRAM_MAX_ITEMCNT" val="6"/>
  <p:tag name="KSO_WM_DIAGRAM_MIN_ITEMCNT" val="2"/>
  <p:tag name="KSO_WM_DIAGRAM_VIRTUALLY_FRAME" val="{&quot;height&quot;:381,&quot;left&quot;:40.327925592857994,&quot;top&quot;:101.37476377952753,&quot;width&quot;:863.8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84_2*l_h_i*884_3_1"/>
  <p:tag name="KSO_WM_TEMPLATE_CATEGORY" val="diagram"/>
  <p:tag name="KSO_WM_TEMPLATE_INDEX" val="2023168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884_3_1"/>
  <p:tag name="KSO_WM_UNIT_FILL_TYPE" val="1"/>
  <p:tag name="KSO_WM_UNIT_FILL_FORE_SCHEMECOLOR_INDEX" val="5"/>
  <p:tag name="KSO_WM_UNIT_FILL_FORE_SCHEMECOLOR_INDEX_BRIGHTNESS" val="-0.5"/>
  <p:tag name="KSO_WM_DIAGRAM_MAX_ITEMCNT" val="6"/>
  <p:tag name="KSO_WM_DIAGRAM_MIN_ITEMCNT" val="2"/>
  <p:tag name="KSO_WM_DIAGRAM_VIRTUALLY_FRAME" val="{&quot;height&quot;:381,&quot;left&quot;:40.327925592857994,&quot;top&quot;:101.37476377952753,&quot;width&quot;:863.8499755859375}"/>
  <p:tag name="KSO_WM_DIAGRAM_COLOR_MATCH_VALUE" val="{&quot;shape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84_2*l_h_i*884_3_2"/>
  <p:tag name="KSO_WM_TEMPLATE_CATEGORY" val="diagram"/>
  <p:tag name="KSO_WM_TEMPLATE_INDEX" val="2023168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884_3_2"/>
  <p:tag name="KSO_WM_UNIT_FILL_TYPE" val="1"/>
  <p:tag name="KSO_WM_UNIT_FILL_FORE_SCHEMECOLOR_INDEX" val="14"/>
  <p:tag name="KSO_WM_UNIT_FILL_FORE_SCHEMECOLOR_INDEX_BRIGHTNESS" val="0"/>
  <p:tag name="KSO_WM_UNIT_LINE_FORE_SCHEMECOLOR_INDEX" val="5"/>
  <p:tag name="KSO_WM_DIAGRAM_MAX_ITEMCNT" val="6"/>
  <p:tag name="KSO_WM_DIAGRAM_MIN_ITEMCNT" val="2"/>
  <p:tag name="KSO_WM_DIAGRAM_VIRTUALLY_FRAME" val="{&quot;height&quot;:381,&quot;left&quot;:40.327925592857994,&quot;top&quot;:101.37476377952753,&quot;width&quot;:863.8499755859375}"/>
  <p:tag name="KSO_WM_DIAGRAM_COLOR_MATCH_VALUE" val="{&quot;shape&quot;:{&quot;fill&quot;:{&quot;solid&quot;:{&quot;brightness&quot;:0,&quot;colorType&quot;:1,&quot;foreColorIndex&quot;:14,&quot;transparency&quot;:0},&quot;type&quot;:1},&quot;glow&quot;:{&quot;colorType&quot;:0},&quot;line&quot;:{&quot;solidLine&quot;:{&quot;brightness&quot;:0.800000011920929,&quot;colorType&quot;:1,&quot;foreColorIndex&quot;:5,&quot;transparency&quot;:0},&quot;type&quot;:1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21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884_3_1"/>
  <p:tag name="KSO_WM_UNIT_ID" val="diagram20231684_2*l_h_f*884_3_1"/>
  <p:tag name="KSO_WM_TEMPLATE_CATEGORY" val="diagram"/>
  <p:tag name="KSO_WM_TEMPLATE_INDEX" val="2023168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输入你的)智能图形项正文，文字是您思想的提炼，请尽量言简意赅"/>
  <p:tag name="KSO_WM_UNIT_TEXT_FILL_FORE_SCHEMECOLOR_INDEX" val="1"/>
  <p:tag name="KSO_WM_UNIT_TEXT_FILL_TYPE" val="1"/>
  <p:tag name="KSO_WM_DIAGRAM_MAX_ITEMCNT" val="6"/>
  <p:tag name="KSO_WM_DIAGRAM_MIN_ITEMCNT" val="2"/>
  <p:tag name="KSO_WM_DIAGRAM_VIRTUALLY_FRAME" val="{&quot;height&quot;:381,&quot;left&quot;:40.327925592857994,&quot;top&quot;:101.37476377952753,&quot;width&quot;:863.8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1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884_1_1"/>
  <p:tag name="KSO_WM_UNIT_ID" val="diagram20231684_2*l_h_a*884_1_1"/>
  <p:tag name="KSO_WM_TEMPLATE_CATEGORY" val="diagram"/>
  <p:tag name="KSO_WM_TEMPLATE_INDEX" val="2023168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PRESET_TEXT" val="添加标题"/>
  <p:tag name="KSO_WM_UNIT_FILL_TYPE" val="3"/>
  <p:tag name="KSO_WM_UNIT_TEXT_FILL_FORE_SCHEMECOLOR_INDEX" val="1"/>
  <p:tag name="KSO_WM_UNIT_TEXT_FILL_TYPE" val="1"/>
  <p:tag name="KSO_WM_DIAGRAM_MAX_ITEMCNT" val="6"/>
  <p:tag name="KSO_WM_DIAGRAM_MIN_ITEMCNT" val="2"/>
  <p:tag name="KSO_WM_DIAGRAM_VIRTUALLY_FRAME" val="{&quot;height&quot;:381,&quot;left&quot;:40.327925592857994,&quot;top&quot;:101.37476377952753,&quot;width&quot;:863.8499755859375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USESOURCEFORMAT_APPLY" val="1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84_2*l_h_i*884_1_3"/>
  <p:tag name="KSO_WM_TEMPLATE_CATEGORY" val="diagram"/>
  <p:tag name="KSO_WM_TEMPLATE_INDEX" val="2023168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884_1_3"/>
  <p:tag name="KSO_WM_UNIT_SUBTYPE" val="d"/>
  <p:tag name="KSO_WM_UNIT_PRESET_TEXT" val="A"/>
  <p:tag name="KSO_WM_UNIT_TEXT_FILL_FORE_SCHEMECOLOR_INDEX" val="1"/>
  <p:tag name="KSO_WM_UNIT_TEXT_FILL_TYPE" val="1"/>
  <p:tag name="KSO_WM_DIAGRAM_MAX_ITEMCNT" val="6"/>
  <p:tag name="KSO_WM_DIAGRAM_MIN_ITEMCNT" val="2"/>
  <p:tag name="KSO_WM_DIAGRAM_VIRTUALLY_FRAME" val="{&quot;height&quot;:381,&quot;left&quot;:40.327925592857994,&quot;top&quot;:101.37476377952753,&quot;width&quot;:863.8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}"/>
  <p:tag name="KSO_WM_UNIT_TEXT_FORE_SCHEMECOLOR_INDEX" val="5"/>
  <p:tag name="KSO_WM_UNIT_TEXT_LINE_FILL_TYPE" val="2"/>
  <p:tag name="KSO_WM_UNIT_USESOURCEFORMAT_APPLY" val="1"/>
</p:tagLst>
</file>

<file path=ppt/tags/tag21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884_2_1"/>
  <p:tag name="KSO_WM_UNIT_ID" val="diagram20231684_2*l_h_a*884_2_1"/>
  <p:tag name="KSO_WM_TEMPLATE_CATEGORY" val="diagram"/>
  <p:tag name="KSO_WM_TEMPLATE_INDEX" val="2023168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PRESET_TEXT" val="添加标题"/>
  <p:tag name="KSO_WM_UNIT_FILL_TYPE" val="3"/>
  <p:tag name="KSO_WM_UNIT_TEXT_FILL_FORE_SCHEMECOLOR_INDEX" val="1"/>
  <p:tag name="KSO_WM_UNIT_TEXT_FILL_TYPE" val="1"/>
  <p:tag name="KSO_WM_DIAGRAM_MAX_ITEMCNT" val="6"/>
  <p:tag name="KSO_WM_DIAGRAM_MIN_ITEMCNT" val="2"/>
  <p:tag name="KSO_WM_DIAGRAM_VIRTUALLY_FRAME" val="{&quot;height&quot;:381,&quot;left&quot;:40.327925592857994,&quot;top&quot;:101.37476377952753,&quot;width&quot;:863.8499755859375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USESOURCEFORMAT_APPLY" val="1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84_2*l_h_i*884_2_3"/>
  <p:tag name="KSO_WM_TEMPLATE_CATEGORY" val="diagram"/>
  <p:tag name="KSO_WM_TEMPLATE_INDEX" val="2023168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884_2_3"/>
  <p:tag name="KSO_WM_UNIT_SUBTYPE" val="d"/>
  <p:tag name="KSO_WM_UNIT_PRESET_TEXT" val="B"/>
  <p:tag name="KSO_WM_UNIT_TEXT_FILL_FORE_SCHEMECOLOR_INDEX" val="1"/>
  <p:tag name="KSO_WM_UNIT_TEXT_FILL_TYPE" val="1"/>
  <p:tag name="KSO_WM_DIAGRAM_MAX_ITEMCNT" val="6"/>
  <p:tag name="KSO_WM_DIAGRAM_MIN_ITEMCNT" val="2"/>
  <p:tag name="KSO_WM_DIAGRAM_VIRTUALLY_FRAME" val="{&quot;height&quot;:381,&quot;left&quot;:40.327925592857994,&quot;top&quot;:101.37476377952753,&quot;width&quot;:863.8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}"/>
  <p:tag name="KSO_WM_UNIT_TEXT_FORE_SCHEMECOLOR_INDEX" val="5"/>
  <p:tag name="KSO_WM_UNIT_TEXT_LINE_FILL_TYPE" val="2"/>
  <p:tag name="KSO_WM_UNIT_USESOURCEFORMAT_APPLY" val="1"/>
</p:tagLst>
</file>

<file path=ppt/tags/tag22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884_3_1"/>
  <p:tag name="KSO_WM_UNIT_ID" val="diagram20231684_2*l_h_a*884_3_1"/>
  <p:tag name="KSO_WM_TEMPLATE_CATEGORY" val="diagram"/>
  <p:tag name="KSO_WM_TEMPLATE_INDEX" val="2023168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PRESET_TEXT" val="添加标题"/>
  <p:tag name="KSO_WM_UNIT_FILL_TYPE" val="3"/>
  <p:tag name="KSO_WM_UNIT_TEXT_FILL_FORE_SCHEMECOLOR_INDEX" val="1"/>
  <p:tag name="KSO_WM_UNIT_TEXT_FILL_TYPE" val="1"/>
  <p:tag name="KSO_WM_DIAGRAM_MAX_ITEMCNT" val="6"/>
  <p:tag name="KSO_WM_DIAGRAM_MIN_ITEMCNT" val="2"/>
  <p:tag name="KSO_WM_DIAGRAM_VIRTUALLY_FRAME" val="{&quot;height&quot;:381,&quot;left&quot;:40.327925592857994,&quot;top&quot;:101.37476377952753,&quot;width&quot;:863.8499755859375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USESOURCEFORMAT_APPLY" val="1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84_2*l_h_i*884_3_3"/>
  <p:tag name="KSO_WM_TEMPLATE_CATEGORY" val="diagram"/>
  <p:tag name="KSO_WM_TEMPLATE_INDEX" val="2023168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884_3_3"/>
  <p:tag name="KSO_WM_UNIT_SUBTYPE" val="d"/>
  <p:tag name="KSO_WM_UNIT_PRESET_TEXT" val="C"/>
  <p:tag name="KSO_WM_UNIT_TEXT_FILL_FORE_SCHEMECOLOR_INDEX" val="1"/>
  <p:tag name="KSO_WM_UNIT_TEXT_FILL_TYPE" val="1"/>
  <p:tag name="KSO_WM_DIAGRAM_MAX_ITEMCNT" val="6"/>
  <p:tag name="KSO_WM_DIAGRAM_MIN_ITEMCNT" val="2"/>
  <p:tag name="KSO_WM_DIAGRAM_VIRTUALLY_FRAME" val="{&quot;height&quot;:381,&quot;left&quot;:40.327925592857994,&quot;top&quot;:101.37476377952753,&quot;width&quot;:863.8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}"/>
  <p:tag name="KSO_WM_UNIT_TEXT_FORE_SCHEMECOLOR_INDEX" val="5"/>
  <p:tag name="KSO_WM_UNIT_TEXT_LINE_FILL_TYPE" val="2"/>
  <p:tag name="KSO_WM_UNIT_USESOURCEFORMAT_APPLY" val="1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DIAGRAM_VIRTUALLY_FRAME" val="{&quot;height&quot;:365.69574803149607,&quot;left&quot;:22.15,&quot;top&quot;:133.50007874015748,&quot;width&quot;:908.3693700787402}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THINKCELLSHAPEDONOTDELETE" val="thinkcellActiveDocDoNotDelete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ISPRING_ULTRA_SCORM_COURSE_ID" val="76911CB8-0FF1-4403-B446-35EEB9DD7CA9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AQlGkkVDq0oZAQAAAcRAAAdAAAAdW5pdmVyc2FsL2NvbW1vbl9tZXNzYWdlcy5sbmetWG1v2zYQ/l6g/4EQUGADtrQd0KIYEge0xNhEZMmV6DjZCwRGYmwilJjpxW32ab9mP2y/ZEfKTuK+QFISwDZMyvfc8e6eu6MPjz/nCm1EWUldHDlvD944SBSpzmSxOnIW7OTnDw6qal5kXOlCHDmFdtDx6OWLQ8WLVcNXAr6/fIHQYS6qCpbVyKzu10hmR858nLjhbI6Di8QPJ2EyphNn5Or8hhe3yNcr/Uf5wy/vP3x+++79j4evt5J9gOIZ9v19KGSR3r3pARSwKPQTQCN+EpBz5ozM5zC5cMF8GhBntP0yTHoekTNnZD475RZRRAKWxD71SELjJAiZ9YVPGPGc0YVu0JpvBKo12kjxCdVrAZGsZSlQpWRmH6QaNopGdCnzwhmmQRKRmEXUZTQMnFGsy/L2JwvLm3qtS1BXoUxW/FKJzOqEnLHPb0pRgWpeQ04heNVrCb/UOZfFQafqCC9pMElYGPpxQgJvt+OMSJEhr+RGzUCUCMckAoCSV6J8hGxis8yKI6zUMIQpnUx9eDNjwlSu1gre9VA75gRiMBdFlxTkCIkgu+J4GUaecRqoQhzd8Kr6pMtsLz8eBqoLmAZuCCnosgfgzGDsgCHGEipHWYq07gKbkTjGE5KMw3NIZOBdOEQiPAW6nQ6RuCAxUITEXTIBPqMTbBLeUGyX/zt+pdyks7pFPE1BzrhvI3VTwY5xKbDAMq06GKYmJh8XEDaK/e/QuEUF79rVSm4E2FFmouxUBJXFJZ7Joo8L+ltygqlPvATSyguXCbMlz2jM+S0qdI14tuFFKtClSHkDuX4LzzKZ2Wcmzlb/X438G/F6W1VebQtS4JHzV0Pt2ath3zCrqcCmuhb5Td2l2jhsa/5jrDA5/V0T+hz9cfpjlwQ4ouHzRKaSeaPaqvvk+NxZNjRGnUY80VP9o/XclsRtbR1TKFhjqftLEOimpn9AA1T9pWhwAormbYmGGk6LqwE6g3ALEGj0WIwzcNWeCWfgwgHySzKOKYPZaCkuK1l3jh2WjW2Avh3aFOY8JWpxT8ZLcaVhwlGCb9rpA7qQjXRnQB8MN3utglHmg8kBAK7a5AFIJXOwP+uBuZiRnQfaAr93kqVuVGbJq+S1LfLg2yYXX49NV6XO7a7i1S552yZz/BQr2sNFrdL5gPZ/x7/e8XlAv8dHKSY4cqeJiwOXmEHfcFX1FAIKGFf4LE58PDbiwIWc1+kamumVboqsJ1A7q3vkBAPY9syx4GW6/u+ff3tifGFJu4u2u78OAgFimypI7sB+D3Qtqj+7QBge78vZRR+p7d1mJ9fzqsMoZOGz3CF421pyncPWQbdeSPJt0DBj2J3OgAexTXvdlDC6DUGY4egUapmdwp3RjJfXUAiZ1moQinW1ScB6mPb762VTK1mIIbJPayXmwIzOE+x59q4N5FMyvW57ZgY3inR76VZw6e4L5k5xAHX2CzyRyXogoG1NuyoERG/X9zTffN2p7laV/cvi8PWDfzD+B1BLAwQUAAIACAAEJRpJzRbB6igDAACGDAAAJwAAAHVuaXZlcnNhbC9mbGFzaF9wdWJsaXNoaW5nX3NldHRpbmdzLnhtbNVX3W7aMBS+5yksT70soR1dOxSopgIaaguosK29qkxsiFXHzmIbSq/2NHuwPcmOY6Cgdl36g7QhIeLz853/ExMe3yYCTVmmuZJ1vFeuYMRkpCiXkzr+MmzvHmGkDZGUCCVZHUuF0XGjFKZ2JLiOB8wYENUIYKSupaaOY2PSWhDMZrMy12nmuEpYA/i6HKkkSDOmmTQsC1JB5vBj5inTeIFQAAC+iZILtUaphFDokc4VtYIhTsFzyV1QRLQF0TEOvNiIRDeTTFlJT5RQGcomozp+V8k/SxkP1eQJky4nugFERzY1Qil3XhAx4HcMxYxPYnD3sIrRjFMT1/F+1aGAdPAQJcf2oROHcqIgB9Is4BNmCCWG+KO3Z9it0UuCJ9G5JAmPhsBBLv46bg6vP1/1Wxdnne7p9bDXOxt2+t6JXCfYxAmDTUMhOKRsFrGVnZAYQ6IY/AadMRGahcE6aSk2VnLDOXdGIyUg97kWtFEyYrRLErZWjcENl22Q3MNoDIGIeR1/yjgRGHFDBI9WytqOtOEmr3p7XRIBFrQnQ+cDfG/eZyeKSabZultLjnY5jxrflBUUzZVFgt8wZBSC+G0CTzFD68VB40wlORXaxyAtOFiccjZj9DjP6QLwT4auwERiQRN6NRXMeAvfLb9DIzZWGeAyMoXOBjrXHr/8LOCUaH0PSpY+7gzOOs3WdafbbF3uuAAJnRIZPRMcCs6S1GwFn8yRVGapB+mIiNUsLwrlNOcVia388jJonljhy/zWxViD3mJJtmPlOYX5qweFzcZkmg+iG64cGkaQQ0k8JjAiWBdcWlYUMCISKSnmiESw1rQb6ylXVgPFD7CH1i/30OsjLvPTBFYbWMwoywpBVvb231cPPhwefayVg18/fu4+qbRY+H1BnDm/8U+eXPmrtf9wG4aB29KPL22T2X9zZ/cvWl+L5LXbuhwWKmlrUAiuV0Sqd1pE6sK/ZPprL5hCLsBSmvghg7UkeMINo2/ZYi9ok1e9232PbadNthjza0bjvwnZn1bXxI17YRg8enF1nIRLnkAi3Epc3XYbB9UK3DQfZZVKgLb536FR+g1QSwMEFAACAAgABCUaSSVTHtKxAgAAVwoAACEAAAB1bml2ZXJzYWwvZmxhc2hfc2tpbl9zZXR0aW5ncy54bWyVVttO4zAQfecrqu47Ya+wkqkEpUhI7IIA8e4k08SqY0e2U7Z/v57EwXbbkNARUj1zzng8t0L0honFyWxGMsmlegZjmCg0anrdjOWX87QxRorTTAoDwpwKqSrK54svNxcoJGmRYyy5BWU5t+1nhLOmGfhrvt+iTKG4O36eowwRMlnVVOzuZSFPU5ptCiUbkY+GVu5qUJyJjUWe/T5frgYv4EybOwNVFNPqAmUapVagNWBIv1YooyxOU+D9TWftZyLHX/Xx6/doW6aZaWlXX1GGaDUtIE7yx9HZwljvnyYY+GewUb6hDEI53YH6lHNZN/VneqRWssCExpyPi/jO4ZLmdvxwrs5QRgn4ILxotAouPT9uUAKQ+xrOPcFxVZI/Yl73FgIWPeWwMKoBkvSnzqZL+fbQGDsfsFhTri0gVHnQow36kTY6gnmlBz7BGxN5iHIaD3mVvKlg2UXswjrUe/xyed0ui9Dpuy4IUcHWKb3PQOmRf21iD5CB0iOfOcvhQfDdYQT7po7UV/maunoGBXDkqALWDILaY+5C6U+9Fa+6x+HVQaxO0WMqmcNCYzwvrAKsHElaXRdTchAUEXTLCmqYFH8Ql+7a12iS7Blctx3vLWKY4XCs5doY7aIO89WeT0YTQrofBv+47jwzdo9fzqkxNCsr+8Ok5zPHu5y3fubJcQquSosHdSfWciqpomoD6kVKPvkeIQ1MBstuwIbgJAmyQJLjeSbOybECiKZKQa1s3Rj0jRPrOlzJipLbP/PK4A3ymDBg7JimtO4EZe99GShcEwBVWdl3bXfoLFXDDeOwhX76A0X74KGXEW27dKjhrsw9rE3Yck4zqSfdsvCtEi26yHCE8GrjkvHaCQ0T2t7QVLcviya/X8Tec7Sa+32GrReusvbsOilybO2HGbRK/IfyP1BLAwQUAAIACAAEJRpJLE+2i/0CAACXCwAAJgAAAHVuaXZlcnNhbC9odG1sX3B1Ymxpc2hpbmdfc2V0dGluZ3MueG1szZbdUhoxFIDveYpMOl7KqrXVMrs4HcHRqRVGaKtXTtgENmM22eYHxKs+TR+sT9KTDSCMlq6OdMoMAznJ+c5fcpL46C4XaMy04UomeLe+gxGTqaJcjhL8pX+yfYiRsURSIpRkCZYKo6NmLS7cQHCT9Zi1sNQgwEjTKGyCM2uLRhRNJpM6N4X2s0o4C3xTT1UeFZoZJi3TUSHIFH7stGAGzwgVAPDNlZypNWs1hOJA+qyoEwxxCp5L7oMi4tTmAkdh1YCktyOtnKTHSiiN9GiQ4Dc75We+JpBaPGfSp8Q0QejFtkEo5d4JInr8nqGM8VEG3h7sYzTh1GYJ3tv3FFgdPaaU7BA58ZRjBSmQdobPmSWUWBKGwZ5ld9bMBUFEp5LkPO3DDPLhJ7jVvzm97rYvz88uPt30O53z/lk3OFHqRKucOFo1FINDyumULezExFqSZuA36AyJMCyOlkXzZUMlV5zzYzRQAlJfamE0BE/FNMEfNScCI26J4Oli1hI9YvaEC4jB6+7Wh9LiB2CIN82INmzZ0HzG+CymzW/KCYqmyiHBbxmyCkFELod/GUPL6UZDrfJSKoixyAhOGRpzNmH0qMzSDPgnQ9dgInegCZuvEMwGC98dv0cDNlQauIyMYauCnJvArz8LXBBjHqBk7uNW7/ys1b45u2i1r7Z8gISOiUyfCYcSsrywG+GTKZLKzvUgHSlxhpVFoZyWc1Viq7+8DIbnToQyv3YxltAbLMlmrDynMH/1oLLZjIzLg+gPV4mGI8ihJIEJEykcdy4dqwpMiURKiikiKTQq44/1mCtnQBIOcECbl3sY9BGX5WgENwdY1JTpSsid3b23++/eHxx+aNSjXz9+bq9VmrXwriDeXOjhx2ub+KKRP+6GceR759Nt2Gr3r7pw97L9tUqmLtpX/UpFavcq4TpVVnU+VVl1Ga6N7tKVUckFaDOjcGyg0Qiec8voa26aFxR+/f0btsUrFX6DUazdvv9vEGG0eG6tvK/i6MkHYA3kq4/pZu03UEsDBBQAAgAIAAQlGknHREcDgQEAAAMGAAAfAAAAdW5pdmVyc2FsL2h0bWxfc2tpbl9zZXR0aW5ncy5qc42UTW/CMAyG7/yKqrtOiH2y7TYNkCZxmLTdph3SYkpFmkRJ2tEh/vvqUqBJ3Y34Ql49vI6dOttBUK0wDoOnYFv/rvdv7r7WADWrc7h0dd6jZ6iHhqcL+Egz4KmA0EMKRJaMGzjquxNCOYeido3Kd/Q1LcNQHs1aoqJETfgaCiwI8JvQNtSff9zimsL2RbVaHeXWSjGMpbAg7FBInbGaCS8mDxjtGj1YFqD36KxeBLpkMTimNzOMPvLkeDfGaHOxzBQT5VwmchixeJ1omYtFX/5VqUBXl77eA6PH8cvUseOpsa8WMj/x9AGjn1QajIEm7/0Ug4Q5i4C3fEf1+gN1jLsFeXSRmtQe6OcrjDatWAKdLnWPUDW08jqXs7CxzS1eYzgEZyXoc6ykytUZF6i0TLAjHbTb8yPKJVukImk+3xEGyeFh0bave6dCbycYoTNC0huhFTGSWd/bQc29p9mD5mQ1XtY5NfScEqm8ktBU7xvUfUas/4zg/jP4+u8svt1g9wtQSwMEFAACAAgABCUaST08L9HBAAAA5QEAABoAAAB1bml2ZXJzYWwvaTE4bl9wcmVzZXRzLnhtbJ2RsQrCMBCG9z5FuN3EbqUkdRPcHHSWmqYaaS8ll1of35SKdJGAQyD/8X0/JCd3r75jT+PJOlSQ8y0wg9o1Fm8Kzqf9pgBGocam7hwaBeiA7apM2rzAozdkArFYgaTgHsJQCjFNE7c0+NhArhtDLCauXS/i6R2K2RTDosLilvYv+zODKssYk9fRduGAVbzHtCCMvFYwOxeN3GLrQPwCGpMATKrBUAJofQJ4DAnAjytAiu+b56RHCvGjYpBitZ4qewNQSwMEFAACAAgABCUaSZQTsyJpAAAAbgAAABwAAAB1bml2ZXJzYWwvbG9jYWxfc2V0dGluZ3MueG1sDcwxDoMwDEDRnVNY3int1oHAxlaW0gNYxEWRHBuRgOD2ZPvD02/7MwocvKVg6vD1eCKwzuaDLg5/01C/EVIm9SSm7FANoe+qVmwm+XLOBSZYhS7eJo4lMo8Uixx2EajhU17/wB6brroBUEsDBBQAAgAIAESUV0cjtE77+wIAALAIAAAUAAAAdW5pdmVyc2FsL3BsYXllci54bWytVd9P2zAQfi7S/ofI79gtHQOqBMSQ0B7GhNSx7a0yiZt4TeLMdgjlr9/Zzu+lbEh7aJWc7/vufPfdxb96zlLviUnFRR6gBZ4jj+WhiHgeB+jh6+3xObq6fHfkFyndM+nxKEBlzg2ApsiLmAolLzSA76lOAtQzYGBGXiG5kFzvgfsUuNtIJ0v07mgGLrkKUKJ1sSKkqirMFSDyWIm0NCQKhyIjhWSK5ZpJ4tJAXoNd6b+j4ZeJnOh9wVQPWei3B65JWo5nxQck1RILGZOT+XxBftx9XocJy+gxz5WmeciQB5Wc2VI+0nB3J6IyZcrYZr5Lcs20NklY28zXK744zz0lwwA5h03GlKIxUzjNY0QclkyA/W1KVVLzqAGt4VU7XvNav4153zRutnOkcy7Kx5SrBI76kM46CfTJMKqf2etaBT00Cro1TMiT7FfJJYvs67dWjPMFcgFbxdk8sapCOICnWxpqIfc3AAMV1R3EbdOwaxq2oJYDt9HXHQVqbrtlVJeSNaWa+U88YuILlZIaWVxqWTKfjIw1lgzBPnFXrpvUNcRPdJae/kNvjN+oNT/Va52xgP/RmE9A1NaE5xF7vuXgo1kGNdUMim1sWBcpNjG7nFT5mPV0PTC5HOumwEU8TWXMYAwjqinp7OQQlEmqwCUs5QjbOzgITnicpPDTkwzj04M0GZW7SYbewUFwKsLdBLQ1t2Uk4zqOxNQqyCcT68QPS6VFxl+sPAd7Rq+sDl8buebouuDtwdn8j1EcxGgGc4smVpd56u2r5vDezKlWnc+mcJaBWmEemC4L59XMQlmMfCK2pWWqb/o5NfuwBx3lPDUd01zfQe+iWvMX5lU8Ml+6xdLUJGFGMwH6cL7sMUA/YbsMwlvToYhbkTd1wJjYN/dvK9ps+bp1ruuHOuxDDZ84qxzGzdRHUEcsRZlHox7iovuIqBR22rVk1EvZFm60OAGRiiJA7+GhvvPF6UV35bPFRYO1ed27wC6XN6z0OuFOQaTWdXsRv94N8PgbUEsDBBQAAgAIAAQlGkk129mtaAEAAPMCAAApAAAAdW5pdmVyc2FsL3NraW5fY3VzdG9taXphdGlvbl9zZXR0aW5ncy54bWyNUttqGzEQfc9XiPyAJY1uC1uDrsWQh0IT8rz1qmGJoy0rhYSij682rXHcurSap5lz5gwzOn1+nJJ9zmV+mr4PZZrT51jKlB7y9gqhfj8f5uXTEnMseXOq3E9pnF926eu81lo1lyGNwzLaFc1bjMLbQ0pq5VTLmGEUSeapV8h5bhvWgevANsxRYvvNbxI/dZe4j6lcVu03Z+ifDbuU41J2aYyvWzhnv4fON/i4DOPUeHkr2Br1OLU6tgZihEvuK9UAIJDljjhcpeykJshjxjFUoyhQQIRz0olKJOXQstCJpsJ8JxCTjFFXqaetG2ltHLVVQkeIbtO86mwNwUiMESEEmKtcQDAYNTY0DQ1qPSA4MCCqNpooQMEGE1j1zgvLkaJeYFyZMYDx6bin7d6f61T973WO5/yH4MUvuIiu3tpcMFe/f16WRr6NT98OQ4noy5DjbvxwHe5ubq5/efLNv0fGatS28V99/QNQSwMEFAACAAgABSUaSQj37reyCAAAYh0AABcAAAB1bml2ZXJzYWwvdW5pdmVyc2FsLnBuZ+2Z+VdTZxrHg1Jr3cCxgxs1rUTsnClwrI0QIWGQzZwWqVuRSBKtSzpGlhAiBLK41FoLEoVx2MlQj4JQEx2qARIIPVNZqt6MBbliIGEJXCAnhHBJQva5CfW3+RNyz7k3ue/nPe/z3O/7LD+81788kLh21ZZVKBRqLXF/3CEUypeIQi3PXLkCGflI8u0U8uPDPJS4DyUCAqeRF19aTFIMCvVIsNp+8h3k/b2s/alMFGrdf9y3T3dmw2kUKtBMjIs5kkfRDdc170gZFZ1s3O65/IP813/vvo59FrD+6o6AxLqXxx5GrLoRv6FwPLmiAOxPn+2oV+FpwRWjzn/LoSN41lmVql2aothFTzITotls2Dicq263T1ZlUngOIyi2a3ZG+yBO5G0CK7tTXRHaDyVUVyrGYlJmMmnI+MVE1kCsSJxSiOE7YSF8FRlCCWZ/KpSRMBaz3FUT5h44ZjjH1URdObzVvdJXMhKabRiLz/D1EP5AYn4Q8q+zvMg9lf7pMuT5U+9K5Pkw2AMqvcALvMALvMALvMALvMALvMALvMALvMALvMALvMAL/g+Y8ycsjlwpC6PI8iwWSCi3W7Vi/s+ABR1tG1RQbtzvIgF0BQF0GlXRAZBdIZ9QFrlCzviiUBfR7QKCdWqijMqr2DCLbhZ3WGdevT73XALQAboWz3sOyKerilwFPYskSVOWfuyaTtbNP4lF7F/8CM1bHI0NvZnGc8JCqCWzBuzvEIzYlbX88S1mv5sGEXOZnvnnGZm5YBMGcTEW4HfyDU834vQcDNZ0/LEiCOfq0i+eLSzK5ZoGaeyv9b/jEj7YisxU/co+VDdZJbjXxWsysT+D1G1dTvwZmVZu+KTvjym1TELTj5OVgoYuvnsKbe3oBzwCsUs6863q2t49yAQZwF4YuxV9TXO/bYXknDAxZ5v0voHvt1nfWMpGz7x2S7ZXYI+5e1f0y4M30MEaKjMNHAk5I2s6oOE2nFqO6IoX8qx/B8LQqeRrbmdtmtLk+b2yq0W5r4hRkB9/MdbEd2ipgwKPuX+YHVXHXPWNdAbizmn9SPjkWWSpsVqqfWxjmMskkQ+T1zzaj+xdp3Quljestwgc9Ty4Sm2n2cL4lmcumlLPd9nK5E6jmOqcSZHnm7jFaqdJ4mILYEjJLYYpNKXFmaNkzpCGGrm1TGCiyPCEDOV1MZw85KYAJqYDEGaKxxkq80IzJUuqOKyGSGm8Eaj0NOLIv6p9HLDQxXnsP5+zS2OVxv8J8ZnXAKe+jxVzDoMy43163cjzTLrNUCa3TwyaceF+1Tow0PKJf5otEHFMTTXSfcbS+40tR21R0F698uoPzVkMpWjr9t8GeQE3AaGiXGyofae0T6RlIKahPAirBv0WOSWIWr+EYR8+6wOHeWGs84jVFqOhGw1Vz6dXt05jGdHAWE+6NICYsXOWFjOOdi12N/FCMqK4wnrnQn10e/4LHXkLTd0H7OvV0dVHyKXITjABSyCNkyKV7M9ODwMJtCFanYaEyW/blENWg2Spftx+vh/LTkBiobNsd0OBSGds73/kg0KNDEgX0/fQMqw5l3nDwwxnWiGm220wxUGKaDC3sobJDOmH2SE9/aciMn8U9SJRgYM4oWC5XLG9l0Hu1hqTxaOGjgAioEggl9IQVddxcFfaoDcU9eeekMx4xZlPr2mdrngu7LUyQnjVkWjApCTaKzToZCqzPbmVvKllltBKUGhIcXnWlUBVIz0bCRYAJ9w9wMygcSBAUFCIScaTp1oCvitWRh7OaBfHl9wR9e7+VHX03fa05WGgyUrxhG5W02RpprZSQmBxp6aw1+UBEcXNeVkEgcb08laTsNf5QCmNEz29DTvy+yejirPT+cdZSRmvCAoclAPYtpg3Q+3xJUrGNlqaRM+ylb8Y5El1X9/S9JoPda9A8vo4lWc5A/xF3VVRpVIRs0N800REOyux5/GJuZyYkZ+hYKsE/U0+/hy8EN4pu9EWjKQXNFQ8bg28DZthR9seUJ1p/ivt0oRslnSizRH1z2csrtq4vdcy2ECfL0IC4lIY7UtzFHdY99ZetGM6mXnAsgcYWmBtWKhH9sVY/rxPnQEHb3AoIw/N4i/P35up9MR9JCJMTLEkFYPL/W+aniWNyMGfy2FTCzEQ7a1SoeBvbyYuKI3mesdXS7XCaocVTIrl3tL6JEzrtts40dUrMJQ/NDldQM29GZisT2AfZ+GXNGIVAKB4Fl8bWjJUbMgOiAGMOHCsZRuxrYsbUC4yE1TdyMdUNGgNK9zm5NCaBRKjUWe2HvR8Tb2nEFO5xqNAiPrXimp5xqOxL6wKeq1zReXu6WgHKQrH74AuyJu/yUJyatTWqGV4okBcD45HXWBaWRt7Bnk3Ru/DlcwkQCgkUJjtCl1QAmh01K1OKIObs3jBM/myS4iO78mAViy05smTVIw7vMmLi+MCZoZlylMitg3vFHJKwLG17pI28rakIf2hxzIR1KTNcpcpIdeUSrkmQSr13uvmuuK1iFZi+OlGqiYQPvgK6071Rlh5ntd5ak8ZYu66zM+TwHk1ftH2uXe5hF5BEvkKkpB3rFN3BPNbZHeLch3hvNfArqXyWg1XvI8FOXFYp7t8Whf6kpl2dWyXFIDxrH363yPzvnM3kZOuG61al6+nIdxhd9NXbtbnqyWhNWZC95LPVZ7dU1k+BmhZ/X80mTH7VrCFf7FIzKqF2ejo8xBe/XJ3HGK0qGBBsZNdGvnxNktxpTmnND4BGVx8Gela7/p+9Y7Mtr/NNayOp32hnw4uXOqaKrDP3yWX6Q5v0o7zP9/sPrcbOO05sCtdjzxPJLkXuBiC6DbllgcVRHkg4MAvwls99GmT8Za+wxYa7mnKeY8J8/N8Ptemk1iWeY4McwfiAbApvgQ2StWOUKq7ac81APk9RqPQPQgi5X4CpPJrIt12o35odjIGYpx68FmZa3Whfd2ZSJXELTiKGH8gTrTvxOX/AVBLAwQUAAIACAAFJRpJKwvAbUoAAABrAAAAGwAAAHVuaXZlcnNhbC91bml2ZXJzYWwucG5nLnhtbLOxr8jNUShLLSrOzM+zVTLUM1Cyt+PlsikoSi3LTC1XqACKGekZQICSQiUqtzwzpSQDKGRgbowQzEjNTM8osVWyMDCFC+oDzQQAUEsBAgAAFAACAAgABCUaSRUOrShkBAAABxEAAB0AAAAAAAAAAQAAAAAAAAAAAHVuaXZlcnNhbC9jb21tb25fbWVzc2FnZXMubG5nUEsBAgAAFAACAAgABCUaSc0WweooAwAAhgwAACcAAAAAAAAAAQAAAAAAnwQAAHVuaXZlcnNhbC9mbGFzaF9wdWJsaXNoaW5nX3NldHRpbmdzLnhtbFBLAQIAABQAAgAIAAQlGkklUx7SsQIAAFcKAAAhAAAAAAAAAAEAAAAAAAwIAAB1bml2ZXJzYWwvZmxhc2hfc2tpbl9zZXR0aW5ncy54bWxQSwECAAAUAAIACAAEJRpJLE+2i/0CAACXCwAAJgAAAAAAAAABAAAAAAD8CgAAdW5pdmVyc2FsL2h0bWxfcHVibGlzaGluZ19zZXR0aW5ncy54bWxQSwECAAAUAAIACAAEJRpJx0RHA4EBAAADBgAAHwAAAAAAAAABAAAAAAA9DgAAdW5pdmVyc2FsL2h0bWxfc2tpbl9zZXR0aW5ncy5qc1BLAQIAABQAAgAIAAQlGkk9PC/RwQAAAOUBAAAaAAAAAAAAAAEAAAAAAPsPAAB1bml2ZXJzYWwvaTE4bl9wcmVzZXRzLnhtbFBLAQIAABQAAgAIAAQlGkmUE7MiaQAAAG4AAAAcAAAAAAAAAAEAAAAAAPQQAAB1bml2ZXJzYWwvbG9jYWxfc2V0dGluZ3MueG1sUEsBAgAAFAACAAgARJRXRyO0Tvv7AgAAsAgAABQAAAAAAAAAAQAAAAAAlxEAAHVuaXZlcnNhbC9wbGF5ZXIueG1sUEsBAgAAFAACAAgABCUaSTXb2a1oAQAA8wIAACkAAAAAAAAAAQAAAAAAxBQAAHVuaXZlcnNhbC9za2luX2N1c3RvbWl6YXRpb25fc2V0dGluZ3MueG1sUEsBAgAAFAACAAgABSUaSQj37reyCAAAYh0AABcAAAAAAAAAAAAAAAAAcxYAAHVuaXZlcnNhbC91bml2ZXJzYWwucG5nUEsBAgAAFAACAAgABSUaSSsLwG1KAAAAawAAABsAAAAAAAAAAQAAAAAAWh8AAHVuaXZlcnNhbC91bml2ZXJzYWwucG5nLnhtbFBLBQYAAAAACwALAEkDAADdHwAAAAA="/>
  <p:tag name="ISPRING_PRESENTATION_TITLE" val="新建 Microsoft PowerPoint 演示文稿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KSO_WPP_MARK_KEY" val="6912d944-50db-4c91-99d5-b11f4c3572dc"/>
  <p:tag name="COMMONDATA" val="eyJoZGlkIjoiNzRmY2RkNjIwYjE1Y2NmMjk1ZTY3NjQ3MDY3ODA3ODkifQ==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75F77"/>
      </a:accent1>
      <a:accent2>
        <a:srgbClr val="D74B4B"/>
      </a:accent2>
      <a:accent3>
        <a:srgbClr val="A7AA9D"/>
      </a:accent3>
      <a:accent4>
        <a:srgbClr val="2192BC"/>
      </a:accent4>
      <a:accent5>
        <a:srgbClr val="354B5E"/>
      </a:accent5>
      <a:accent6>
        <a:srgbClr val="BFBFBF"/>
      </a:accent6>
      <a:hlink>
        <a:srgbClr val="D74B4B"/>
      </a:hlink>
      <a:folHlink>
        <a:srgbClr val="869FB7"/>
      </a:folHlink>
    </a:clrScheme>
    <a:fontScheme name="Constantia 标宋">
      <a:majorFont>
        <a:latin typeface="Constantia"/>
        <a:ea typeface="微软简标宋"/>
        <a:cs typeface=""/>
      </a:majorFont>
      <a:minorFont>
        <a:latin typeface="Constantia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6754</Words>
  <Application>WPS 演示</Application>
  <PresentationFormat>宽屏</PresentationFormat>
  <Paragraphs>914</Paragraphs>
  <Slides>52</Slides>
  <Notes>23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52</vt:i4>
      </vt:variant>
    </vt:vector>
  </HeadingPairs>
  <TitlesOfParts>
    <vt:vector size="79" baseType="lpstr">
      <vt:lpstr>Arial</vt:lpstr>
      <vt:lpstr>宋体</vt:lpstr>
      <vt:lpstr>Wingdings</vt:lpstr>
      <vt:lpstr>微软雅黑</vt:lpstr>
      <vt:lpstr>方正正黑简体</vt:lpstr>
      <vt:lpstr>黑体</vt:lpstr>
      <vt:lpstr>Calibri</vt:lpstr>
      <vt:lpstr>思源黑体</vt:lpstr>
      <vt:lpstr>Wingdings</vt:lpstr>
      <vt:lpstr>Calibri Light</vt:lpstr>
      <vt:lpstr>思源黑体 Medium</vt:lpstr>
      <vt:lpstr>Constantia</vt:lpstr>
      <vt:lpstr>Arial Unicode MS</vt:lpstr>
      <vt:lpstr>微软简标宋</vt:lpstr>
      <vt:lpstr>Calibri</vt:lpstr>
      <vt:lpstr>Times New Roman</vt:lpstr>
      <vt:lpstr>Constantia</vt:lpstr>
      <vt:lpstr>思源黑体 CN Bold</vt:lpstr>
      <vt:lpstr>第一PPT，www.1ppt.com</vt:lpstr>
      <vt:lpstr>TCLayout.ActiveDocument.1</vt:lpstr>
      <vt:lpstr>Visio.Drawing.11</vt:lpstr>
      <vt:lpstr>Visio.Drawing.11</vt:lpstr>
      <vt:lpstr>Visio.Drawing.11</vt:lpstr>
      <vt:lpstr>Visio.Drawing.11</vt:lpstr>
      <vt:lpstr>Visio.Drawing.11</vt:lpstr>
      <vt:lpstr>Visio.Drawing.15</vt:lpstr>
      <vt:lpstr>TCLayout.ActiveDocument.1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大气企业简介</dc:title>
  <dc:creator>第一PPT</dc:creator>
  <cp:keywords>www.1ppt.com</cp:keywords>
  <dc:description>www.1ppt.com</dc:description>
  <cp:lastModifiedBy>WPS_1609236828</cp:lastModifiedBy>
  <cp:revision>731</cp:revision>
  <dcterms:created xsi:type="dcterms:W3CDTF">2016-09-05T14:08:00Z</dcterms:created>
  <dcterms:modified xsi:type="dcterms:W3CDTF">2025-04-08T02:51:21Z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EE28157B942443BA87532EE4AC87CDF0_13</vt:lpwstr>
  </property>
  <property fmtid="{D5CDD505-2E9C-101B-9397-08002B2CF9AE}" pid="3" name="KSOProductBuildVer">
    <vt:lpwstr>2052-12.1.0.20305</vt:lpwstr>
  </property>
</Properties>
</file>