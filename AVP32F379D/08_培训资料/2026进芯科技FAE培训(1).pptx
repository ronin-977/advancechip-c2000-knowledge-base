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31"/>
  </p:handoutMasterIdLst>
  <p:sldIdLst>
    <p:sldId id="807" r:id="rId3"/>
    <p:sldId id="813" r:id="rId5"/>
    <p:sldId id="832" r:id="rId6"/>
    <p:sldId id="872" r:id="rId7"/>
    <p:sldId id="874" r:id="rId8"/>
    <p:sldId id="873" r:id="rId9"/>
    <p:sldId id="878" r:id="rId10"/>
    <p:sldId id="879" r:id="rId11"/>
    <p:sldId id="880" r:id="rId12"/>
    <p:sldId id="887" r:id="rId13"/>
    <p:sldId id="882" r:id="rId14"/>
    <p:sldId id="883" r:id="rId15"/>
    <p:sldId id="884" r:id="rId16"/>
    <p:sldId id="886" r:id="rId17"/>
    <p:sldId id="881" r:id="rId18"/>
    <p:sldId id="853" r:id="rId19"/>
    <p:sldId id="848" r:id="rId20"/>
    <p:sldId id="849" r:id="rId21"/>
    <p:sldId id="875" r:id="rId22"/>
    <p:sldId id="876" r:id="rId23"/>
    <p:sldId id="877" r:id="rId24"/>
    <p:sldId id="834" r:id="rId25"/>
    <p:sldId id="850" r:id="rId26"/>
    <p:sldId id="851" r:id="rId27"/>
    <p:sldId id="852" r:id="rId28"/>
    <p:sldId id="602" r:id="rId29"/>
    <p:sldId id="854" r:id="rId30"/>
  </p:sldIdLst>
  <p:sldSz cx="12192000" cy="6858000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6" userDrawn="1">
          <p15:clr>
            <a:srgbClr val="A4A3A4"/>
          </p15:clr>
        </p15:guide>
        <p15:guide id="2" pos="385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ebron James" initials="LJ" lastIdx="1" clrIdx="0"/>
  <p:cmAuthor id="7" name="赵传东" initials="赵传东" lastIdx="1" clrIdx="4"/>
  <p:cmAuthor id="1" name="Administrator" initials="A" lastIdx="1" clrIdx="0"/>
  <p:cmAuthor id="2" name="未知用户1" initials="未" lastIdx="1" clrIdx="1"/>
  <p:cmAuthor id="3" name="章元军" initials="章" lastIdx="1" clrIdx="2"/>
  <p:cmAuthor id="4" name="00827" initials="0" lastIdx="1" clrIdx="3"/>
  <p:cmAuthor id="6" name="传东 赵" initials="传东" lastIdx="4" clrIdx="3"/>
  <p:cmAuthor id="8" name="shuxiang" initials="s" lastIdx="1" clrIdx="5"/>
  <p:cmAuthor id="9" name="WPS_1679281038" initials="W" lastIdx="0" clrIdx="8"/>
  <p:cmAuthor id="10" name="参谋长sama" initials="参" lastIdx="0" clrIdx="9"/>
  <p:cmAuthor id="11" name="宋洁然" initials="宋" lastIdx="0" clrIdx="1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01CAA6"/>
    <a:srgbClr val="171A1C"/>
    <a:srgbClr val="949393"/>
    <a:srgbClr val="D7010F"/>
    <a:srgbClr val="595757"/>
    <a:srgbClr val="C8161D"/>
    <a:srgbClr val="D7000F"/>
    <a:srgbClr val="555251"/>
    <a:srgbClr val="3B48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31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108" y="468"/>
      </p:cViewPr>
      <p:guideLst>
        <p:guide orient="horz" pos="2056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tags" Target="tags/tag60.xml"/><Relationship Id="rId35" Type="http://schemas.openxmlformats.org/officeDocument/2006/relationships/commentAuthors" Target="commentAuthors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8BBBFD-C8C8-4725-9EAB-14606A2015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664D7-DA3C-4151-A821-956FF933012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A664D7-DA3C-4151-A821-956FF93301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664D7-DA3C-4151-A821-956FF933012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Photos by </a:t>
            </a:r>
            <a:r>
              <a:rPr lang="en-US" dirty="0" err="1"/>
              <a:t>Freepik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D225FB8-320C-4083-8A3A-856629D1AEA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tags" Target="../tags/tag3.xml"/><Relationship Id="rId4" Type="http://schemas.openxmlformats.org/officeDocument/2006/relationships/image" Target="../media/image4.jpeg"/><Relationship Id="rId3" Type="http://schemas.openxmlformats.org/officeDocument/2006/relationships/oleObject" Target="../embeddings/oleObject1.bin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资源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75" y="0"/>
            <a:ext cx="1218882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70" y="0"/>
            <a:ext cx="12190730" cy="6858000"/>
          </a:xfrm>
          <a:prstGeom prst="rect">
            <a:avLst/>
          </a:prstGeom>
        </p:spPr>
      </p:pic>
      <p:pic>
        <p:nvPicPr>
          <p:cNvPr id="8" name="图片 7" descr="进芯科技-logo_画板 1"/>
          <p:cNvPicPr>
            <a:picLocks noChangeAspect="1"/>
          </p:cNvPicPr>
          <p:nvPr userDrawn="1"/>
        </p:nvPicPr>
        <p:blipFill>
          <a:blip r:embed="rId3"/>
          <a:srcRect l="12857" t="19965" r="10226" b="24205"/>
          <a:stretch>
            <a:fillRect/>
          </a:stretch>
        </p:blipFill>
        <p:spPr>
          <a:xfrm>
            <a:off x="9744075" y="280035"/>
            <a:ext cx="2058035" cy="635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742315" y="0"/>
            <a:ext cx="342900" cy="977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进芯科技-logo_画板 1"/>
          <p:cNvPicPr>
            <a:picLocks noChangeAspect="1"/>
          </p:cNvPicPr>
          <p:nvPr userDrawn="1"/>
        </p:nvPicPr>
        <p:blipFill>
          <a:blip r:embed="rId3"/>
          <a:srcRect l="12857" t="19965" r="10226" b="24205"/>
          <a:stretch>
            <a:fillRect/>
          </a:stretch>
        </p:blipFill>
        <p:spPr>
          <a:xfrm>
            <a:off x="9744075" y="280035"/>
            <a:ext cx="2058035" cy="635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1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F7E1A-B868-4300-A759-796F7896C4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Slide" r:id="rId3" imgW="3175" imgH="3175" progId="TCLayout.ActiveDocument.1">
                  <p:embed/>
                </p:oleObj>
              </mc:Choice>
              <mc:Fallback>
                <p:oleObj name="think-cell Slide" r:id="rId3" imgW="3175" imgH="3175" progId="TCLayout.ActiveDocument.1">
                  <p:embed/>
                  <p:pic>
                    <p:nvPicPr>
                      <p:cNvPr id="0" name="Objec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/>
          <p:cNvSpPr/>
          <p:nvPr userDrawn="1">
            <p:custDataLst>
              <p:tags r:id="rId5"/>
            </p:custDataLst>
          </p:nvPr>
        </p:nvSpPr>
        <p:spPr>
          <a:xfrm>
            <a:off x="1" y="0"/>
            <a:ext cx="158751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/>
            <a:endParaRPr lang="en-US" sz="3600" b="1" i="0" baseline="0" dirty="0">
              <a:latin typeface="Calibri" panose="020F0502020204030204" charset="0"/>
              <a:ea typeface="+mj-ea"/>
              <a:cs typeface="+mj-cs"/>
              <a:sym typeface="Calibri" panose="020F0502020204030204" charset="0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609600" y="365126"/>
            <a:ext cx="10972800" cy="775612"/>
          </a:xfrm>
        </p:spPr>
        <p:txBody>
          <a:bodyPr lIns="0" tIns="0" rIns="0" bIns="0" anchor="ctr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09600" y="1330859"/>
            <a:ext cx="10972800" cy="4846104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999" y="597227"/>
            <a:ext cx="11244575" cy="455509"/>
          </a:xfrm>
        </p:spPr>
        <p:txBody>
          <a:bodyPr/>
          <a:lstStyle/>
          <a:p>
            <a:r>
              <a:rPr lang="ja-JP" altLang="en-US" noProof="0"/>
              <a:t>マスター タイトルの書式設定</a:t>
            </a:r>
            <a:endParaRPr lang="ja-JP" altLang="en-US" noProof="0" dirty="0"/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67999" y="1424991"/>
            <a:ext cx="5436506" cy="1887696"/>
          </a:xfrm>
        </p:spPr>
        <p:txBody>
          <a:bodyPr wrap="square">
            <a:spAutoFit/>
          </a:bodyPr>
          <a:lstStyle/>
          <a:p>
            <a:pPr lvl="0"/>
            <a:r>
              <a:rPr lang="ja-JP" altLang="en-US" noProof="0"/>
              <a:t>マスター テキストの書式設定</a:t>
            </a:r>
            <a:endParaRPr lang="ja-JP" altLang="en-US" noProof="0"/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  <a:endParaRPr lang="ja-JP" altLang="en-US" noProof="0"/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  <a:endParaRPr lang="ja-JP" altLang="en-US" noProof="0"/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  <a:endParaRPr lang="ja-JP" altLang="en-US" noProof="0"/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en-US" noProof="0" dirty="0"/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5"/>
          </p:nvPr>
        </p:nvSpPr>
        <p:spPr>
          <a:xfrm>
            <a:off x="6276068" y="1424991"/>
            <a:ext cx="5436506" cy="1887696"/>
          </a:xfrm>
        </p:spPr>
        <p:txBody>
          <a:bodyPr wrap="square">
            <a:spAutoFit/>
          </a:bodyPr>
          <a:lstStyle/>
          <a:p>
            <a:pPr lvl="0"/>
            <a:r>
              <a:rPr lang="ja-JP" altLang="en-US" noProof="0"/>
              <a:t>マスター テキストの書式設定</a:t>
            </a:r>
            <a:endParaRPr lang="ja-JP" altLang="en-US" noProof="0"/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  <a:endParaRPr lang="ja-JP" altLang="en-US" noProof="0"/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  <a:endParaRPr lang="ja-JP" altLang="en-US" noProof="0"/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  <a:endParaRPr lang="ja-JP" altLang="en-US" noProof="0"/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lang="en-US" noProof="0" dirty="0"/>
          </a:p>
        </p:txBody>
      </p:sp>
      <p:cxnSp>
        <p:nvCxnSpPr>
          <p:cNvPr id="7" name="Gerade Verbindung 4"/>
          <p:cNvCxnSpPr/>
          <p:nvPr userDrawn="1"/>
        </p:nvCxnSpPr>
        <p:spPr>
          <a:xfrm>
            <a:off x="468000" y="1136991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 userDrawn="1"/>
        </p:nvSpPr>
        <p:spPr>
          <a:xfrm>
            <a:off x="5668715" y="6463074"/>
            <a:ext cx="6126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dirty="0">
                <a:solidFill>
                  <a:schemeClr val="tx2"/>
                </a:solidFill>
                <a:latin typeface="+mj-lt"/>
              </a:rPr>
              <a:t>Page </a:t>
            </a:r>
            <a:fld id="{7E07E68C-CA28-4DD4-ABB0-0D9CE8D6A15A}" type="slidenum">
              <a:rPr kumimoji="1" lang="ja-JP" altLang="en-US" sz="1050" b="1" smtClean="0">
                <a:solidFill>
                  <a:schemeClr val="tx2"/>
                </a:solidFill>
                <a:latin typeface="+mj-lt"/>
              </a:rPr>
            </a:fld>
            <a:endParaRPr kumimoji="1" lang="ja-JP" altLang="en-US" sz="1050" b="1" dirty="0">
              <a:solidFill>
                <a:schemeClr val="tx2"/>
              </a:solidFill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右上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742315" y="0"/>
            <a:ext cx="342900" cy="977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进芯科技-logo_画板 1"/>
          <p:cNvPicPr>
            <a:picLocks noChangeAspect="1"/>
          </p:cNvPicPr>
          <p:nvPr userDrawn="1"/>
        </p:nvPicPr>
        <p:blipFill>
          <a:blip r:embed="rId3"/>
          <a:srcRect l="12857" t="19965" r="10226" b="24205"/>
          <a:stretch>
            <a:fillRect/>
          </a:stretch>
        </p:blipFill>
        <p:spPr>
          <a:xfrm>
            <a:off x="9744075" y="280035"/>
            <a:ext cx="2058035" cy="635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1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0F7E1A-B868-4300-A759-796F7896C4E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3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tags" Target="../tags/tag20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2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2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1" Type="http://schemas.openxmlformats.org/officeDocument/2006/relationships/tags" Target="../tags/tag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1" Type="http://schemas.openxmlformats.org/officeDocument/2006/relationships/tags" Target="../tags/tag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5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5.png"/><Relationship Id="rId1" Type="http://schemas.openxmlformats.org/officeDocument/2006/relationships/tags" Target="../tags/tag26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6.png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1" Type="http://schemas.openxmlformats.org/officeDocument/2006/relationships/tags" Target="../tags/tag3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8.png"/><Relationship Id="rId1" Type="http://schemas.openxmlformats.org/officeDocument/2006/relationships/tags" Target="../tags/tag34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1.jpeg"/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tags" Target="../tags/tag3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2.png"/><Relationship Id="rId1" Type="http://schemas.openxmlformats.org/officeDocument/2006/relationships/tags" Target="../tags/tag36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tags" Target="../tags/tag39.xml"/><Relationship Id="rId4" Type="http://schemas.openxmlformats.org/officeDocument/2006/relationships/image" Target="../media/image24.png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5.png"/><Relationship Id="rId1" Type="http://schemas.openxmlformats.org/officeDocument/2006/relationships/tags" Target="../tags/tag4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4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6.png"/><Relationship Id="rId1" Type="http://schemas.openxmlformats.org/officeDocument/2006/relationships/tags" Target="../tags/tag4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7.png"/><Relationship Id="rId1" Type="http://schemas.openxmlformats.org/officeDocument/2006/relationships/tags" Target="../tags/tag43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image" Target="../media/image4.jpeg"/><Relationship Id="rId4" Type="http://schemas.openxmlformats.org/officeDocument/2006/relationships/oleObject" Target="../embeddings/oleObject2.bin"/><Relationship Id="rId3" Type="http://schemas.openxmlformats.org/officeDocument/2006/relationships/tags" Target="../tags/tag46.xml"/><Relationship Id="rId22" Type="http://schemas.openxmlformats.org/officeDocument/2006/relationships/notesSlide" Target="../notesSlides/notesSlide3.xml"/><Relationship Id="rId21" Type="http://schemas.openxmlformats.org/officeDocument/2006/relationships/vmlDrawing" Target="../drawings/vmlDrawing2.v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45.xml"/><Relationship Id="rId19" Type="http://schemas.openxmlformats.org/officeDocument/2006/relationships/image" Target="../media/image29.png"/><Relationship Id="rId18" Type="http://schemas.openxmlformats.org/officeDocument/2006/relationships/image" Target="../media/image28.jpeg"/><Relationship Id="rId17" Type="http://schemas.openxmlformats.org/officeDocument/2006/relationships/tags" Target="../tags/tag58.xml"/><Relationship Id="rId16" Type="http://schemas.openxmlformats.org/officeDocument/2006/relationships/tags" Target="../tags/tag57.xml"/><Relationship Id="rId15" Type="http://schemas.openxmlformats.org/officeDocument/2006/relationships/tags" Target="../tags/tag56.xml"/><Relationship Id="rId14" Type="http://schemas.openxmlformats.org/officeDocument/2006/relationships/tags" Target="../tags/tag55.xml"/><Relationship Id="rId13" Type="http://schemas.openxmlformats.org/officeDocument/2006/relationships/tags" Target="../tags/tag54.xml"/><Relationship Id="rId12" Type="http://schemas.openxmlformats.org/officeDocument/2006/relationships/tags" Target="../tags/tag53.xml"/><Relationship Id="rId11" Type="http://schemas.openxmlformats.org/officeDocument/2006/relationships/tags" Target="../tags/tag52.xml"/><Relationship Id="rId10" Type="http://schemas.openxmlformats.org/officeDocument/2006/relationships/tags" Target="../tags/tag51.xml"/><Relationship Id="rId1" Type="http://schemas.openxmlformats.org/officeDocument/2006/relationships/tags" Target="../tags/tag4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0.png"/><Relationship Id="rId1" Type="http://schemas.openxmlformats.org/officeDocument/2006/relationships/tags" Target="../tags/tag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20250324进芯BP （转曲）-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720" y="3051810"/>
            <a:ext cx="5580000" cy="86251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9720" y="6055995"/>
            <a:ext cx="13119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2026</a:t>
            </a:r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年</a:t>
            </a:r>
            <a:r>
              <a:rPr lang="en-US" altLang="zh-CN" sz="1600" b="1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05</a:t>
            </a:r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rPr>
              <a:t>月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99720" y="3314700"/>
            <a:ext cx="37382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00000"/>
              </a:lnSpc>
            </a:pPr>
            <a:r>
              <a:rPr lang="en-US" sz="3200" spc="-300" dirty="0">
                <a:solidFill>
                  <a:srgbClr val="595757"/>
                </a:solidFill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lt"/>
              </a:rPr>
              <a:t>2026</a:t>
            </a:r>
            <a:r>
              <a:rPr lang="zh-CN" altLang="en-US" sz="3200" spc="-300" dirty="0">
                <a:solidFill>
                  <a:srgbClr val="595757"/>
                </a:solidFill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lt"/>
              </a:rPr>
              <a:t>进芯科技</a:t>
            </a:r>
            <a:r>
              <a:rPr lang="en-US" altLang="zh-CN" sz="3200" spc="-300" dirty="0">
                <a:solidFill>
                  <a:srgbClr val="595757"/>
                </a:solidFill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lt"/>
              </a:rPr>
              <a:t>FAE</a:t>
            </a:r>
            <a:r>
              <a:rPr lang="zh-CN" altLang="en-US" sz="3200" spc="-300" dirty="0">
                <a:solidFill>
                  <a:srgbClr val="595757"/>
                </a:solidFill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lt"/>
              </a:rPr>
              <a:t>培训</a:t>
            </a:r>
            <a:endParaRPr lang="zh-CN" altLang="en-US" sz="3200" spc="-300" dirty="0">
              <a:solidFill>
                <a:srgbClr val="595757"/>
              </a:solidFill>
              <a:uFillTx/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41935" y="2044700"/>
            <a:ext cx="7851140" cy="10071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5400" b="1" dirty="0">
                <a:solidFill>
                  <a:srgbClr val="C8161D"/>
                </a:solidFill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lt"/>
              </a:rPr>
              <a:t>与时俱进</a:t>
            </a:r>
            <a:r>
              <a:rPr lang="en-US" altLang="zh-CN" sz="5400" b="1" dirty="0">
                <a:solidFill>
                  <a:srgbClr val="C8161D"/>
                </a:solidFill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lt"/>
              </a:rPr>
              <a:t>  </a:t>
            </a:r>
            <a:r>
              <a:rPr lang="zh-CN" altLang="en-US" sz="5400" b="1" dirty="0">
                <a:solidFill>
                  <a:srgbClr val="C8161D"/>
                </a:solidFill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lt"/>
              </a:rPr>
              <a:t>持续创芯</a:t>
            </a:r>
            <a:endParaRPr lang="zh-CN" altLang="en-US" sz="5400" b="1" dirty="0">
              <a:solidFill>
                <a:srgbClr val="C8161D"/>
              </a:solidFill>
              <a:uFillTx/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31"/>
          <p:cNvSpPr txBox="1"/>
          <p:nvPr/>
        </p:nvSpPr>
        <p:spPr>
          <a:xfrm>
            <a:off x="275590" y="322580"/>
            <a:ext cx="1417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D7000F"/>
                </a:solidFill>
                <a:latin typeface="+mj-lt"/>
                <a:ea typeface="思源黑体 CN Medium" panose="020B0600000000000000" charset="-122"/>
              </a:rPr>
              <a:t>产品规划图</a:t>
            </a:r>
            <a:endParaRPr lang="zh-CN" altLang="en-US" b="1">
              <a:solidFill>
                <a:srgbClr val="D7000F"/>
              </a:solidFill>
              <a:latin typeface="+mj-lt"/>
              <a:ea typeface="思源黑体 CN Medium" panose="020B06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51305" y="322580"/>
            <a:ext cx="1411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en-US" altLang="zh-CN" b="1">
                <a:solidFill>
                  <a:srgbClr val="625F60"/>
                </a:solidFill>
                <a:latin typeface="+mj-lt"/>
                <a:ea typeface="思源黑体 CN Medium" panose="020B0600000000000000" charset="-122"/>
                <a:cs typeface="+mj-lt"/>
              </a:rPr>
              <a:t>/ ADVCHIP</a:t>
            </a:r>
            <a:endParaRPr lang="en-US" altLang="zh-CN" b="1">
              <a:solidFill>
                <a:srgbClr val="625F60"/>
              </a:solidFill>
              <a:latin typeface="+mj-lt"/>
              <a:ea typeface="思源黑体 CN Medium" panose="020B0600000000000000" charset="-122"/>
              <a:cs typeface="+mj-lt"/>
            </a:endParaRPr>
          </a:p>
        </p:txBody>
      </p:sp>
      <p:grpSp>
        <p:nvGrpSpPr>
          <p:cNvPr id="116" name="组合 115"/>
          <p:cNvGrpSpPr/>
          <p:nvPr/>
        </p:nvGrpSpPr>
        <p:grpSpPr>
          <a:xfrm>
            <a:off x="273685" y="951865"/>
            <a:ext cx="11680825" cy="5752465"/>
            <a:chOff x="434" y="1409"/>
            <a:chExt cx="18395" cy="9059"/>
          </a:xfrm>
        </p:grpSpPr>
        <p:sp>
          <p:nvSpPr>
            <p:cNvPr id="4" name="圆角矩形 3"/>
            <p:cNvSpPr/>
            <p:nvPr/>
          </p:nvSpPr>
          <p:spPr>
            <a:xfrm>
              <a:off x="441" y="2683"/>
              <a:ext cx="1099" cy="58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latin typeface="思源黑体 CN Bold" panose="020B0800000000000000" charset="-122"/>
                  <a:ea typeface="思源黑体 CN Bold" panose="020B0800000000000000" charset="-122"/>
                </a:rPr>
                <a:t>DSP</a:t>
              </a:r>
              <a:endParaRPr lang="en-US" altLang="zh-CN">
                <a:latin typeface="思源黑体 CN Bold" panose="020B0800000000000000" charset="-122"/>
                <a:ea typeface="思源黑体 CN Bold" panose="020B0800000000000000" charset="-122"/>
              </a:endParaRPr>
            </a:p>
          </p:txBody>
        </p:sp>
        <p:sp>
          <p:nvSpPr>
            <p:cNvPr id="5" name="圆角矩形 4"/>
            <p:cNvSpPr/>
            <p:nvPr/>
          </p:nvSpPr>
          <p:spPr>
            <a:xfrm>
              <a:off x="434" y="8133"/>
              <a:ext cx="1099" cy="580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latin typeface="思源黑体 CN Bold" panose="020B0800000000000000" charset="-122"/>
                  <a:ea typeface="思源黑体 CN Bold" panose="020B0800000000000000" charset="-122"/>
                </a:rPr>
                <a:t>SOC</a:t>
              </a:r>
              <a:endParaRPr lang="en-US" altLang="zh-CN">
                <a:latin typeface="思源黑体 CN Bold" panose="020B0800000000000000" charset="-122"/>
                <a:ea typeface="思源黑体 CN Bold" panose="020B0800000000000000" charset="-122"/>
              </a:endParaRP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2368" y="2608"/>
              <a:ext cx="1054" cy="550"/>
            </a:xfrm>
            <a:prstGeom prst="roundRect">
              <a:avLst/>
            </a:prstGeom>
            <a:solidFill>
              <a:srgbClr val="94939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900" b="1" spc="-50">
                <a:solidFill>
                  <a:schemeClr val="bg1"/>
                </a:solidFill>
                <a:uFillTx/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2368" y="5078"/>
              <a:ext cx="1054" cy="550"/>
            </a:xfrm>
            <a:prstGeom prst="roundRect">
              <a:avLst/>
            </a:prstGeom>
            <a:solidFill>
              <a:srgbClr val="94939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90000"/>
                </a:lnSpc>
              </a:pPr>
              <a:endParaRPr lang="zh-CN" altLang="en-US" sz="800">
                <a:latin typeface="思源黑体" panose="020B0500000000000000" charset="-122"/>
                <a:ea typeface="思源黑体" panose="020B0500000000000000" charset="-122"/>
              </a:endParaRPr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2368" y="6513"/>
              <a:ext cx="1054" cy="550"/>
            </a:xfrm>
            <a:prstGeom prst="roundRect">
              <a:avLst/>
            </a:prstGeom>
            <a:solidFill>
              <a:srgbClr val="94939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90000"/>
                </a:lnSpc>
              </a:pPr>
              <a:endParaRPr lang="zh-CN" altLang="en-US" sz="800">
                <a:latin typeface="思源黑体" panose="020B0500000000000000" charset="-122"/>
                <a:ea typeface="思源黑体" panose="020B0500000000000000" charset="-122"/>
              </a:endParaRPr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2368" y="8133"/>
              <a:ext cx="1054" cy="550"/>
            </a:xfrm>
            <a:prstGeom prst="roundRect">
              <a:avLst/>
            </a:prstGeom>
            <a:solidFill>
              <a:srgbClr val="94939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90000"/>
                </a:lnSpc>
              </a:pPr>
              <a:endParaRPr lang="zh-CN" altLang="en-US" sz="800">
                <a:latin typeface="思源黑体" panose="020B0500000000000000" charset="-122"/>
                <a:ea typeface="思源黑体" panose="020B0500000000000000" charset="-122"/>
              </a:endParaRPr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2368" y="9691"/>
              <a:ext cx="1054" cy="550"/>
            </a:xfrm>
            <a:prstGeom prst="roundRect">
              <a:avLst/>
            </a:prstGeom>
            <a:solidFill>
              <a:srgbClr val="94939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90000"/>
                </a:lnSpc>
              </a:pPr>
              <a:endParaRPr lang="zh-CN" altLang="en-US" sz="800">
                <a:latin typeface="思源黑体" panose="020B0500000000000000" charset="-122"/>
                <a:ea typeface="思源黑体" panose="020B0500000000000000" charset="-122"/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3529" y="2837"/>
              <a:ext cx="120" cy="1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3529" y="5292"/>
              <a:ext cx="120" cy="1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3529" y="6757"/>
              <a:ext cx="120" cy="1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3529" y="8347"/>
              <a:ext cx="120" cy="1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45" name="直接连接符 44"/>
            <p:cNvCxnSpPr/>
            <p:nvPr/>
          </p:nvCxnSpPr>
          <p:spPr>
            <a:xfrm>
              <a:off x="3570" y="2898"/>
              <a:ext cx="498" cy="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>
              <a:off x="3570" y="5353"/>
              <a:ext cx="498" cy="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>
              <a:off x="3570" y="6818"/>
              <a:ext cx="498" cy="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3570" y="8408"/>
              <a:ext cx="498" cy="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>
              <a:off x="3570" y="9992"/>
              <a:ext cx="498" cy="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4" name="椭圆 53"/>
            <p:cNvSpPr/>
            <p:nvPr/>
          </p:nvSpPr>
          <p:spPr>
            <a:xfrm>
              <a:off x="3529" y="9931"/>
              <a:ext cx="120" cy="1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55" name="直接连接符 54"/>
            <p:cNvCxnSpPr/>
            <p:nvPr/>
          </p:nvCxnSpPr>
          <p:spPr>
            <a:xfrm>
              <a:off x="1720" y="9992"/>
              <a:ext cx="648" cy="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V="1">
              <a:off x="1720" y="9998"/>
              <a:ext cx="5" cy="2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>
              <a:off x="1720" y="8408"/>
              <a:ext cx="650" cy="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8" name="椭圆 57"/>
            <p:cNvSpPr/>
            <p:nvPr/>
          </p:nvSpPr>
          <p:spPr>
            <a:xfrm>
              <a:off x="1662" y="8347"/>
              <a:ext cx="120" cy="1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61" name="直接连接符 60"/>
            <p:cNvCxnSpPr>
              <a:endCxn id="58" idx="4"/>
            </p:cNvCxnSpPr>
            <p:nvPr/>
          </p:nvCxnSpPr>
          <p:spPr>
            <a:xfrm flipH="1" flipV="1">
              <a:off x="1722" y="8467"/>
              <a:ext cx="6" cy="1526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>
              <a:off x="1718" y="6757"/>
              <a:ext cx="650" cy="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flipH="1" flipV="1">
              <a:off x="1718" y="2928"/>
              <a:ext cx="16" cy="3829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>
              <a:off x="1718" y="5353"/>
              <a:ext cx="650" cy="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>
              <a:off x="1689" y="2928"/>
              <a:ext cx="650" cy="0"/>
            </a:xfrm>
            <a:prstGeom prst="line">
              <a:avLst/>
            </a:prstGeom>
            <a:ln w="12700"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23" name="圆角矩形 322"/>
            <p:cNvSpPr/>
            <p:nvPr/>
          </p:nvSpPr>
          <p:spPr>
            <a:xfrm rot="16200000">
              <a:off x="10937" y="2577"/>
              <a:ext cx="1049" cy="14732"/>
            </a:xfrm>
            <a:prstGeom prst="roundRect">
              <a:avLst>
                <a:gd name="adj" fmla="val 3655"/>
              </a:avLst>
            </a:prstGeom>
            <a:solidFill>
              <a:srgbClr val="F7F7F9"/>
            </a:solidFill>
            <a:ln>
              <a:gradFill>
                <a:gsLst>
                  <a:gs pos="28000">
                    <a:schemeClr val="bg1">
                      <a:lumMod val="65000"/>
                    </a:schemeClr>
                  </a:gs>
                  <a:gs pos="100000">
                    <a:schemeClr val="bg1">
                      <a:lumMod val="85000"/>
                      <a:alpha val="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324" name="圆角矩形 323"/>
            <p:cNvSpPr/>
            <p:nvPr/>
          </p:nvSpPr>
          <p:spPr>
            <a:xfrm rot="16200000">
              <a:off x="10514" y="1011"/>
              <a:ext cx="1893" cy="14730"/>
            </a:xfrm>
            <a:prstGeom prst="roundRect">
              <a:avLst>
                <a:gd name="adj" fmla="val 3655"/>
              </a:avLst>
            </a:prstGeom>
            <a:solidFill>
              <a:srgbClr val="F7F7F9"/>
            </a:solidFill>
            <a:ln>
              <a:gradFill>
                <a:gsLst>
                  <a:gs pos="28000">
                    <a:schemeClr val="bg1">
                      <a:lumMod val="65000"/>
                    </a:schemeClr>
                  </a:gs>
                  <a:gs pos="100000">
                    <a:schemeClr val="bg1">
                      <a:lumMod val="85000"/>
                      <a:alpha val="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48" name="圆角矩形 247"/>
            <p:cNvSpPr/>
            <p:nvPr/>
          </p:nvSpPr>
          <p:spPr>
            <a:xfrm rot="16200000">
              <a:off x="10828" y="-701"/>
              <a:ext cx="1241" cy="14761"/>
            </a:xfrm>
            <a:prstGeom prst="roundRect">
              <a:avLst>
                <a:gd name="adj" fmla="val 3655"/>
              </a:avLst>
            </a:prstGeom>
            <a:solidFill>
              <a:srgbClr val="F7F7F9"/>
            </a:solidFill>
            <a:ln>
              <a:gradFill>
                <a:gsLst>
                  <a:gs pos="28000">
                    <a:schemeClr val="bg1">
                      <a:lumMod val="65000"/>
                    </a:schemeClr>
                  </a:gs>
                  <a:gs pos="100000">
                    <a:schemeClr val="bg1">
                      <a:lumMod val="85000"/>
                      <a:alpha val="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41" name="圆角矩形 240"/>
            <p:cNvSpPr/>
            <p:nvPr/>
          </p:nvSpPr>
          <p:spPr>
            <a:xfrm rot="16200000">
              <a:off x="10828" y="-2101"/>
              <a:ext cx="1241" cy="14761"/>
            </a:xfrm>
            <a:prstGeom prst="roundRect">
              <a:avLst>
                <a:gd name="adj" fmla="val 3655"/>
              </a:avLst>
            </a:prstGeom>
            <a:solidFill>
              <a:srgbClr val="F7F7F9"/>
            </a:solidFill>
            <a:ln>
              <a:gradFill>
                <a:gsLst>
                  <a:gs pos="28000">
                    <a:schemeClr val="bg1">
                      <a:lumMod val="65000"/>
                    </a:schemeClr>
                  </a:gs>
                  <a:gs pos="100000">
                    <a:schemeClr val="bg1">
                      <a:lumMod val="85000"/>
                      <a:alpha val="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8" name="圆角矩形 17"/>
            <p:cNvSpPr/>
            <p:nvPr/>
          </p:nvSpPr>
          <p:spPr>
            <a:xfrm rot="16200000">
              <a:off x="9868" y="-4392"/>
              <a:ext cx="3160" cy="14761"/>
            </a:xfrm>
            <a:prstGeom prst="roundRect">
              <a:avLst>
                <a:gd name="adj" fmla="val 3655"/>
              </a:avLst>
            </a:prstGeom>
            <a:solidFill>
              <a:srgbClr val="F7F7F9"/>
            </a:solidFill>
            <a:ln>
              <a:gradFill>
                <a:gsLst>
                  <a:gs pos="28000">
                    <a:schemeClr val="bg1">
                      <a:lumMod val="65000"/>
                    </a:schemeClr>
                  </a:gs>
                  <a:gs pos="100000">
                    <a:schemeClr val="bg1">
                      <a:lumMod val="85000"/>
                      <a:alpha val="0"/>
                    </a:schemeClr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92" name="灰 91"/>
            <p:cNvSpPr/>
            <p:nvPr/>
          </p:nvSpPr>
          <p:spPr>
            <a:xfrm>
              <a:off x="6782" y="2310"/>
              <a:ext cx="2162" cy="692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93" name="灰 92"/>
            <p:cNvSpPr/>
            <p:nvPr/>
          </p:nvSpPr>
          <p:spPr>
            <a:xfrm>
              <a:off x="6782" y="3154"/>
              <a:ext cx="2162" cy="718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60" name="灰 59"/>
            <p:cNvSpPr/>
            <p:nvPr/>
          </p:nvSpPr>
          <p:spPr>
            <a:xfrm>
              <a:off x="4288" y="3155"/>
              <a:ext cx="2221" cy="875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4289" y="3155"/>
              <a:ext cx="2269" cy="826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AVP32F08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150MHz,256K*16bit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34K*16bit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87" name="灰"/>
            <p:cNvSpPr/>
            <p:nvPr/>
          </p:nvSpPr>
          <p:spPr>
            <a:xfrm>
              <a:off x="4289" y="2080"/>
              <a:ext cx="2221" cy="875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88" name="文本框 87"/>
            <p:cNvSpPr txBox="1"/>
            <p:nvPr/>
          </p:nvSpPr>
          <p:spPr>
            <a:xfrm>
              <a:off x="4288" y="2105"/>
              <a:ext cx="2290" cy="826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AVP32F335 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150MHz,256K*16bit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34K*16bit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90" name="圆角矩形 89"/>
            <p:cNvSpPr/>
            <p:nvPr/>
          </p:nvSpPr>
          <p:spPr>
            <a:xfrm>
              <a:off x="5603" y="2770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5549" y="2699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95" name="圆角矩形 94"/>
            <p:cNvSpPr/>
            <p:nvPr/>
          </p:nvSpPr>
          <p:spPr>
            <a:xfrm>
              <a:off x="5560" y="3805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96" name="文本框 95"/>
            <p:cNvSpPr txBox="1"/>
            <p:nvPr/>
          </p:nvSpPr>
          <p:spPr>
            <a:xfrm>
              <a:off x="5506" y="3734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97" name="文本框 96"/>
            <p:cNvSpPr txBox="1"/>
            <p:nvPr/>
          </p:nvSpPr>
          <p:spPr>
            <a:xfrm>
              <a:off x="6764" y="3154"/>
              <a:ext cx="2290" cy="668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AVP32F035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90MHz,128K*16bit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50K*16bit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6764" y="2333"/>
              <a:ext cx="2289" cy="668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AVP32F069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90MHz,128K*16bit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50K*16bit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09" name="灰 108"/>
            <p:cNvSpPr/>
            <p:nvPr/>
          </p:nvSpPr>
          <p:spPr>
            <a:xfrm>
              <a:off x="9089" y="2635"/>
              <a:ext cx="2221" cy="886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10" name="文本框 109"/>
            <p:cNvSpPr txBox="1"/>
            <p:nvPr/>
          </p:nvSpPr>
          <p:spPr>
            <a:xfrm>
              <a:off x="9078" y="2659"/>
              <a:ext cx="2298" cy="836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AVP32F0049</a:t>
              </a:r>
              <a:r>
                <a:rPr lang="en-US" altLang="zh-CN" sz="9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 </a:t>
              </a:r>
              <a:endParaRPr lang="en-US" altLang="zh-CN" sz="9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100MHz,128K*16bit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50K*16bit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21" name="圆角矩形 120"/>
            <p:cNvSpPr/>
            <p:nvPr/>
          </p:nvSpPr>
          <p:spPr>
            <a:xfrm>
              <a:off x="10360" y="3301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22" name="文本框 121"/>
            <p:cNvSpPr txBox="1"/>
            <p:nvPr/>
          </p:nvSpPr>
          <p:spPr>
            <a:xfrm>
              <a:off x="10306" y="3230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125" name="灰 124"/>
            <p:cNvSpPr/>
            <p:nvPr/>
          </p:nvSpPr>
          <p:spPr>
            <a:xfrm>
              <a:off x="11482" y="3155"/>
              <a:ext cx="2221" cy="875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35" name="文本框 134"/>
            <p:cNvSpPr txBox="1"/>
            <p:nvPr/>
          </p:nvSpPr>
          <p:spPr>
            <a:xfrm>
              <a:off x="11494" y="3180"/>
              <a:ext cx="2269" cy="826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AVP32F0025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120MHz,64K*16bit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12K*16bit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43" name="灰 142"/>
            <p:cNvSpPr/>
            <p:nvPr/>
          </p:nvSpPr>
          <p:spPr>
            <a:xfrm>
              <a:off x="11455" y="2144"/>
              <a:ext cx="2221" cy="875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44" name="文本框 143"/>
            <p:cNvSpPr txBox="1"/>
            <p:nvPr/>
          </p:nvSpPr>
          <p:spPr>
            <a:xfrm>
              <a:off x="11454" y="2169"/>
              <a:ext cx="2290" cy="826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AVP32F0039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120MHz,192K*16bit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34.5K*16bit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46" name="圆角矩形 145"/>
            <p:cNvSpPr/>
            <p:nvPr/>
          </p:nvSpPr>
          <p:spPr>
            <a:xfrm>
              <a:off x="12726" y="2811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47" name="文本框 146"/>
            <p:cNvSpPr txBox="1"/>
            <p:nvPr/>
          </p:nvSpPr>
          <p:spPr>
            <a:xfrm>
              <a:off x="12672" y="2740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163" name="圆角矩形 162"/>
            <p:cNvSpPr/>
            <p:nvPr/>
          </p:nvSpPr>
          <p:spPr>
            <a:xfrm>
              <a:off x="12732" y="3805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64" name="文本框 163"/>
            <p:cNvSpPr txBox="1"/>
            <p:nvPr/>
          </p:nvSpPr>
          <p:spPr>
            <a:xfrm>
              <a:off x="12678" y="3734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167" name="灰 166"/>
            <p:cNvSpPr/>
            <p:nvPr/>
          </p:nvSpPr>
          <p:spPr>
            <a:xfrm>
              <a:off x="13877" y="2610"/>
              <a:ext cx="2210" cy="875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68" name="文本框 167"/>
            <p:cNvSpPr txBox="1"/>
            <p:nvPr/>
          </p:nvSpPr>
          <p:spPr>
            <a:xfrm>
              <a:off x="13863" y="2635"/>
              <a:ext cx="2422" cy="826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AVP32F00157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120MHz,128K*16bit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18K*16bit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90" name="灰 189"/>
            <p:cNvSpPr/>
            <p:nvPr/>
          </p:nvSpPr>
          <p:spPr>
            <a:xfrm>
              <a:off x="13877" y="1607"/>
              <a:ext cx="2162" cy="875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91" name="文本框 190"/>
            <p:cNvSpPr txBox="1"/>
            <p:nvPr/>
          </p:nvSpPr>
          <p:spPr>
            <a:xfrm>
              <a:off x="13876" y="1632"/>
              <a:ext cx="2326" cy="826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AVP32F379D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200MHz,512K*16bit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102K*16bit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93" name="灰"/>
            <p:cNvSpPr/>
            <p:nvPr/>
          </p:nvSpPr>
          <p:spPr>
            <a:xfrm>
              <a:off x="13888" y="3649"/>
              <a:ext cx="2170" cy="748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94" name="文本框 193"/>
            <p:cNvSpPr txBox="1"/>
            <p:nvPr/>
          </p:nvSpPr>
          <p:spPr>
            <a:xfrm>
              <a:off x="13900" y="3670"/>
              <a:ext cx="2385" cy="706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AVP32F00137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120MHz,128K*16bit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18K*16bit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96" name="圆角矩形 195"/>
            <p:cNvSpPr/>
            <p:nvPr/>
          </p:nvSpPr>
          <p:spPr>
            <a:xfrm>
              <a:off x="15206" y="2269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197" name="文本框 196"/>
            <p:cNvSpPr txBox="1"/>
            <p:nvPr/>
          </p:nvSpPr>
          <p:spPr>
            <a:xfrm>
              <a:off x="15152" y="2198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199" name="圆角矩形 198"/>
            <p:cNvSpPr/>
            <p:nvPr/>
          </p:nvSpPr>
          <p:spPr>
            <a:xfrm>
              <a:off x="15206" y="3272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00" name="文本框 199"/>
            <p:cNvSpPr txBox="1"/>
            <p:nvPr/>
          </p:nvSpPr>
          <p:spPr>
            <a:xfrm>
              <a:off x="15152" y="3201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202" name="灰"/>
            <p:cNvSpPr/>
            <p:nvPr/>
          </p:nvSpPr>
          <p:spPr>
            <a:xfrm>
              <a:off x="16360" y="2012"/>
              <a:ext cx="2221" cy="886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03" name="文本框 202"/>
            <p:cNvSpPr txBox="1"/>
            <p:nvPr/>
          </p:nvSpPr>
          <p:spPr>
            <a:xfrm>
              <a:off x="16360" y="2012"/>
              <a:ext cx="2298" cy="836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AVP32F28P65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200MHz; lockstep 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Flash:1.28MB RAM:248KB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05" name="圆角矩形 204"/>
            <p:cNvSpPr/>
            <p:nvPr/>
          </p:nvSpPr>
          <p:spPr>
            <a:xfrm>
              <a:off x="17630" y="2699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06" name="文本框 205"/>
            <p:cNvSpPr txBox="1"/>
            <p:nvPr/>
          </p:nvSpPr>
          <p:spPr>
            <a:xfrm>
              <a:off x="17576" y="2659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220" name="灰"/>
            <p:cNvSpPr/>
            <p:nvPr/>
          </p:nvSpPr>
          <p:spPr>
            <a:xfrm>
              <a:off x="4295" y="4869"/>
              <a:ext cx="2221" cy="892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21" name="文本框 220"/>
            <p:cNvSpPr txBox="1"/>
            <p:nvPr/>
          </p:nvSpPr>
          <p:spPr>
            <a:xfrm>
              <a:off x="4265" y="4901"/>
              <a:ext cx="2313" cy="852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11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ADP32F1X</a:t>
              </a:r>
              <a:r>
                <a:rPr lang="en-US" altLang="zh-CN" sz="10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 </a:t>
              </a:r>
              <a:endParaRPr lang="en-US" altLang="zh-CN" sz="10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150MHz,128K*16bit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18K*16bit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23" name="灰"/>
            <p:cNvSpPr/>
            <p:nvPr/>
          </p:nvSpPr>
          <p:spPr>
            <a:xfrm>
              <a:off x="6770" y="4877"/>
              <a:ext cx="2221" cy="892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24" name="文本框 223"/>
            <p:cNvSpPr txBox="1"/>
            <p:nvPr/>
          </p:nvSpPr>
          <p:spPr>
            <a:xfrm>
              <a:off x="6740" y="4909"/>
              <a:ext cx="2313" cy="852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11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ADP32F08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100MHz,64K*16bit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18K*16bit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26" name="灰"/>
            <p:cNvSpPr/>
            <p:nvPr/>
          </p:nvSpPr>
          <p:spPr>
            <a:xfrm>
              <a:off x="9128" y="4845"/>
              <a:ext cx="2221" cy="908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27" name="文本框 226"/>
            <p:cNvSpPr txBox="1"/>
            <p:nvPr/>
          </p:nvSpPr>
          <p:spPr>
            <a:xfrm>
              <a:off x="9167" y="4871"/>
              <a:ext cx="2143" cy="624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11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ADP32F03X</a:t>
              </a:r>
              <a:r>
                <a:rPr lang="en-US" altLang="zh-CN" sz="10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 </a:t>
              </a:r>
              <a:endParaRPr lang="en-US" altLang="zh-CN" sz="10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60MHz,64K*16bit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10K*16bit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29" name="灰"/>
            <p:cNvSpPr/>
            <p:nvPr/>
          </p:nvSpPr>
          <p:spPr>
            <a:xfrm>
              <a:off x="11524" y="4845"/>
              <a:ext cx="2221" cy="892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30" name="文本框 229"/>
            <p:cNvSpPr txBox="1"/>
            <p:nvPr/>
          </p:nvSpPr>
          <p:spPr>
            <a:xfrm>
              <a:off x="11494" y="4877"/>
              <a:ext cx="2313" cy="852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11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ADP32F03XB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100MHz,64K*16bit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18K*16bit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32" name="灰"/>
            <p:cNvSpPr/>
            <p:nvPr/>
          </p:nvSpPr>
          <p:spPr>
            <a:xfrm>
              <a:off x="13905" y="4869"/>
              <a:ext cx="2221" cy="859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33" name="文本框 232"/>
            <p:cNvSpPr txBox="1"/>
            <p:nvPr/>
          </p:nvSpPr>
          <p:spPr>
            <a:xfrm>
              <a:off x="13944" y="4845"/>
              <a:ext cx="2143" cy="609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11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ADP32F036</a:t>
              </a:r>
              <a:r>
                <a:rPr lang="en-US" altLang="zh-CN" sz="10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 </a:t>
              </a:r>
              <a:endParaRPr lang="en-US" altLang="zh-CN" sz="10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100MHz,64K*16bit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18K*16bit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36" name="圆角矩形 235"/>
            <p:cNvSpPr/>
            <p:nvPr/>
          </p:nvSpPr>
          <p:spPr>
            <a:xfrm>
              <a:off x="10419" y="5583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37" name="文本框 236"/>
            <p:cNvSpPr txBox="1"/>
            <p:nvPr/>
          </p:nvSpPr>
          <p:spPr>
            <a:xfrm>
              <a:off x="10365" y="5512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239" name="圆角矩形 238"/>
            <p:cNvSpPr/>
            <p:nvPr/>
          </p:nvSpPr>
          <p:spPr>
            <a:xfrm>
              <a:off x="15260" y="5566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40" name="文本框 239"/>
            <p:cNvSpPr txBox="1"/>
            <p:nvPr/>
          </p:nvSpPr>
          <p:spPr>
            <a:xfrm>
              <a:off x="15206" y="5495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243" name="灰"/>
            <p:cNvSpPr/>
            <p:nvPr/>
          </p:nvSpPr>
          <p:spPr>
            <a:xfrm>
              <a:off x="4256" y="6186"/>
              <a:ext cx="2221" cy="1009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44" name="文本框 243"/>
            <p:cNvSpPr txBox="1"/>
            <p:nvPr/>
          </p:nvSpPr>
          <p:spPr>
            <a:xfrm>
              <a:off x="4295" y="6215"/>
              <a:ext cx="2143" cy="888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11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ADP16F03</a:t>
              </a:r>
              <a:r>
                <a:rPr lang="en-US" altLang="zh-CN" sz="10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 </a:t>
              </a:r>
              <a:endParaRPr lang="en-US" altLang="zh-CN" sz="10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150MHz,32K*16bit Flash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2K*16bit SARAM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46" name="圆角矩形 245"/>
            <p:cNvSpPr/>
            <p:nvPr/>
          </p:nvSpPr>
          <p:spPr>
            <a:xfrm>
              <a:off x="5526" y="6969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47" name="文本框 246"/>
            <p:cNvSpPr txBox="1"/>
            <p:nvPr/>
          </p:nvSpPr>
          <p:spPr>
            <a:xfrm>
              <a:off x="5472" y="6898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277" name="前面都是灰色"/>
            <p:cNvSpPr/>
            <p:nvPr>
              <p:custDataLst>
                <p:tags r:id="rId1"/>
              </p:custDataLst>
            </p:nvPr>
          </p:nvSpPr>
          <p:spPr>
            <a:xfrm>
              <a:off x="4276" y="8499"/>
              <a:ext cx="2162" cy="753"/>
            </a:xfrm>
            <a:prstGeom prst="roundRect">
              <a:avLst/>
            </a:prstGeom>
            <a:solidFill>
              <a:srgbClr val="01CAA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78" name="文本框 277"/>
            <p:cNvSpPr txBox="1"/>
            <p:nvPr>
              <p:custDataLst>
                <p:tags r:id="rId2"/>
              </p:custDataLst>
            </p:nvPr>
          </p:nvSpPr>
          <p:spPr>
            <a:xfrm>
              <a:off x="4307" y="8511"/>
              <a:ext cx="2101" cy="709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ADM16F03A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LDO40V/12V,LD012V/5V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3</a:t>
              </a:r>
              <a:r>
                <a:rPr lang="zh-CN" altLang="en-US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个半桥驱动</a:t>
              </a: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/LIN</a:t>
              </a:r>
              <a:r>
                <a:rPr lang="zh-CN" altLang="en-US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收发器</a:t>
              </a:r>
              <a:endParaRPr lang="zh-CN" altLang="en-US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  <p:sp>
          <p:nvSpPr>
            <p:cNvPr id="280" name="圆角矩形 279"/>
            <p:cNvSpPr/>
            <p:nvPr>
              <p:custDataLst>
                <p:tags r:id="rId3"/>
              </p:custDataLst>
            </p:nvPr>
          </p:nvSpPr>
          <p:spPr>
            <a:xfrm>
              <a:off x="6709" y="8214"/>
              <a:ext cx="2162" cy="867"/>
            </a:xfrm>
            <a:prstGeom prst="roundRect">
              <a:avLst/>
            </a:prstGeom>
            <a:solidFill>
              <a:srgbClr val="01CAA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81" name="文本框 280"/>
            <p:cNvSpPr txBox="1"/>
            <p:nvPr>
              <p:custDataLst>
                <p:tags r:id="rId4"/>
              </p:custDataLst>
            </p:nvPr>
          </p:nvSpPr>
          <p:spPr>
            <a:xfrm>
              <a:off x="6740" y="8228"/>
              <a:ext cx="2101" cy="687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9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ADM16F03A1Q</a:t>
              </a:r>
              <a:endParaRPr lang="en-US" altLang="zh-CN" sz="9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LDO40V/12V,LD012V/5V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3</a:t>
              </a:r>
              <a:r>
                <a:rPr lang="zh-CN" altLang="en-US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个半桥驱动</a:t>
              </a: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/LIN</a:t>
              </a:r>
              <a:r>
                <a:rPr lang="zh-CN" altLang="en-US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收发器</a:t>
              </a:r>
              <a:endParaRPr lang="zh-CN" altLang="en-US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  <p:sp>
          <p:nvSpPr>
            <p:cNvPr id="283" name="圆角矩形 282"/>
            <p:cNvSpPr/>
            <p:nvPr>
              <p:custDataLst>
                <p:tags r:id="rId5"/>
              </p:custDataLst>
            </p:nvPr>
          </p:nvSpPr>
          <p:spPr>
            <a:xfrm>
              <a:off x="9036" y="8002"/>
              <a:ext cx="2162" cy="867"/>
            </a:xfrm>
            <a:prstGeom prst="roundRect">
              <a:avLst/>
            </a:prstGeom>
            <a:solidFill>
              <a:srgbClr val="01CAA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84" name="文本框 283"/>
            <p:cNvSpPr txBox="1"/>
            <p:nvPr>
              <p:custDataLst>
                <p:tags r:id="rId6"/>
              </p:custDataLst>
            </p:nvPr>
          </p:nvSpPr>
          <p:spPr>
            <a:xfrm>
              <a:off x="9067" y="8016"/>
              <a:ext cx="2101" cy="687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9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ADM16F03A2Q</a:t>
              </a:r>
              <a:endParaRPr lang="en-US" altLang="zh-CN" sz="9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LDO40V/12V,LD012V/5V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3</a:t>
              </a:r>
              <a:r>
                <a:rPr lang="zh-CN" altLang="en-US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个半桥驱动</a:t>
              </a: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/LIN</a:t>
              </a:r>
              <a:r>
                <a:rPr lang="zh-CN" altLang="en-US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收发器</a:t>
              </a:r>
              <a:endParaRPr lang="zh-CN" altLang="en-US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  <p:sp>
          <p:nvSpPr>
            <p:cNvPr id="286" name="圆角矩形 285"/>
            <p:cNvSpPr/>
            <p:nvPr>
              <p:custDataLst>
                <p:tags r:id="rId7"/>
              </p:custDataLst>
            </p:nvPr>
          </p:nvSpPr>
          <p:spPr>
            <a:xfrm>
              <a:off x="11402" y="7723"/>
              <a:ext cx="2162" cy="1026"/>
            </a:xfrm>
            <a:prstGeom prst="roundRect">
              <a:avLst/>
            </a:prstGeom>
            <a:solidFill>
              <a:srgbClr val="01CAA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87" name="文本框 286"/>
            <p:cNvSpPr txBox="1"/>
            <p:nvPr>
              <p:custDataLst>
                <p:tags r:id="rId8"/>
              </p:custDataLst>
            </p:nvPr>
          </p:nvSpPr>
          <p:spPr>
            <a:xfrm>
              <a:off x="11433" y="7728"/>
              <a:ext cx="2101" cy="853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9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ADM32F036Q</a:t>
              </a:r>
              <a:endParaRPr lang="en-US" altLang="zh-CN" sz="9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LDO60V/12V,LD012V/5V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3</a:t>
              </a:r>
              <a:r>
                <a:rPr lang="zh-CN" altLang="en-US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个半桥驱动</a:t>
              </a:r>
              <a:endParaRPr lang="zh-CN" altLang="en-US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LIN_PHY/CAN_FD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  <p:sp>
          <p:nvSpPr>
            <p:cNvPr id="289" name="圆角矩形 288"/>
            <p:cNvSpPr/>
            <p:nvPr/>
          </p:nvSpPr>
          <p:spPr>
            <a:xfrm>
              <a:off x="13732" y="7581"/>
              <a:ext cx="2162" cy="1026"/>
            </a:xfrm>
            <a:prstGeom prst="roundRect">
              <a:avLst/>
            </a:prstGeom>
            <a:solidFill>
              <a:srgbClr val="01CAA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90" name="文本框 289"/>
            <p:cNvSpPr txBox="1"/>
            <p:nvPr/>
          </p:nvSpPr>
          <p:spPr>
            <a:xfrm>
              <a:off x="13763" y="7586"/>
              <a:ext cx="2101" cy="844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9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ADM32F036A2Q</a:t>
              </a:r>
              <a:endParaRPr lang="en-US" altLang="zh-CN" sz="9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LDO40V/12V,LD012V/5V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3</a:t>
              </a:r>
              <a:r>
                <a:rPr lang="zh-CN" altLang="en-US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个半桥驱动</a:t>
              </a:r>
              <a:endParaRPr lang="zh-CN" altLang="en-US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LIN_PHY/CAN_FD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  <p:sp>
          <p:nvSpPr>
            <p:cNvPr id="292" name="圆角矩形 291"/>
            <p:cNvSpPr/>
            <p:nvPr/>
          </p:nvSpPr>
          <p:spPr>
            <a:xfrm>
              <a:off x="16126" y="7510"/>
              <a:ext cx="2162" cy="1026"/>
            </a:xfrm>
            <a:prstGeom prst="roundRect">
              <a:avLst/>
            </a:prstGeom>
            <a:solidFill>
              <a:srgbClr val="01CAA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93" name="文本框 292"/>
            <p:cNvSpPr txBox="1"/>
            <p:nvPr/>
          </p:nvSpPr>
          <p:spPr>
            <a:xfrm>
              <a:off x="16157" y="7515"/>
              <a:ext cx="2101" cy="844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 sz="9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ADM32F036A3Q</a:t>
              </a:r>
              <a:endParaRPr lang="en-US" altLang="zh-CN" sz="9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LDO60V/12V,LD012V/5V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3</a:t>
              </a:r>
              <a:r>
                <a:rPr lang="zh-CN" altLang="en-US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个半桥驱动</a:t>
              </a:r>
              <a:endParaRPr lang="zh-CN" altLang="en-US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LIN_PHY/CAN_FD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  <p:sp>
          <p:nvSpPr>
            <p:cNvPr id="295" name="圆角矩形 294"/>
            <p:cNvSpPr/>
            <p:nvPr>
              <p:custDataLst>
                <p:tags r:id="rId9"/>
              </p:custDataLst>
            </p:nvPr>
          </p:nvSpPr>
          <p:spPr>
            <a:xfrm>
              <a:off x="4306" y="9494"/>
              <a:ext cx="2162" cy="867"/>
            </a:xfrm>
            <a:prstGeom prst="roundRect">
              <a:avLst/>
            </a:prstGeom>
            <a:solidFill>
              <a:srgbClr val="01CAA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96" name="文本框 295"/>
            <p:cNvSpPr txBox="1"/>
            <p:nvPr>
              <p:custDataLst>
                <p:tags r:id="rId10"/>
              </p:custDataLst>
            </p:nvPr>
          </p:nvSpPr>
          <p:spPr>
            <a:xfrm>
              <a:off x="4337" y="9507"/>
              <a:ext cx="1430" cy="709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ADM735DQ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2*AVP32F335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2*AVP32F035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98" name="圆角矩形 297"/>
            <p:cNvSpPr/>
            <p:nvPr>
              <p:custDataLst>
                <p:tags r:id="rId11"/>
              </p:custDataLst>
            </p:nvPr>
          </p:nvSpPr>
          <p:spPr>
            <a:xfrm>
              <a:off x="6678" y="9481"/>
              <a:ext cx="2162" cy="867"/>
            </a:xfrm>
            <a:prstGeom prst="roundRect">
              <a:avLst/>
            </a:prstGeom>
            <a:solidFill>
              <a:srgbClr val="01CAA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299" name="文本框 298"/>
            <p:cNvSpPr txBox="1"/>
            <p:nvPr>
              <p:custDataLst>
                <p:tags r:id="rId12"/>
              </p:custDataLst>
            </p:nvPr>
          </p:nvSpPr>
          <p:spPr>
            <a:xfrm>
              <a:off x="6709" y="9494"/>
              <a:ext cx="1550" cy="709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altLang="zh-CN" sz="10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ADM735EQ</a:t>
              </a:r>
              <a:endPara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2*AVP32F335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8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</a:rPr>
                <a:t>3*AVP32F035</a:t>
              </a:r>
              <a:endPara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302" name="前面都是红色"/>
            <p:cNvSpPr/>
            <p:nvPr/>
          </p:nvSpPr>
          <p:spPr>
            <a:xfrm>
              <a:off x="5552" y="10148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303" name="文本框 302"/>
            <p:cNvSpPr txBox="1"/>
            <p:nvPr/>
          </p:nvSpPr>
          <p:spPr>
            <a:xfrm>
              <a:off x="5498" y="10077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305" name="圆角矩形 304"/>
            <p:cNvSpPr/>
            <p:nvPr/>
          </p:nvSpPr>
          <p:spPr>
            <a:xfrm>
              <a:off x="7921" y="10136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306" name="文本框 305"/>
            <p:cNvSpPr txBox="1"/>
            <p:nvPr/>
          </p:nvSpPr>
          <p:spPr>
            <a:xfrm>
              <a:off x="7867" y="10065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308" name="圆角矩形 307"/>
            <p:cNvSpPr/>
            <p:nvPr/>
          </p:nvSpPr>
          <p:spPr>
            <a:xfrm>
              <a:off x="7891" y="8880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309" name="文本框 308"/>
            <p:cNvSpPr txBox="1"/>
            <p:nvPr/>
          </p:nvSpPr>
          <p:spPr>
            <a:xfrm>
              <a:off x="7837" y="8809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311" name="圆角矩形 310"/>
            <p:cNvSpPr/>
            <p:nvPr/>
          </p:nvSpPr>
          <p:spPr>
            <a:xfrm>
              <a:off x="10248" y="8690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312" name="文本框 311"/>
            <p:cNvSpPr txBox="1"/>
            <p:nvPr/>
          </p:nvSpPr>
          <p:spPr>
            <a:xfrm>
              <a:off x="10194" y="8619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314" name="圆角矩形 313"/>
            <p:cNvSpPr/>
            <p:nvPr/>
          </p:nvSpPr>
          <p:spPr>
            <a:xfrm>
              <a:off x="12613" y="8534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315" name="文本框 314"/>
            <p:cNvSpPr txBox="1"/>
            <p:nvPr/>
          </p:nvSpPr>
          <p:spPr>
            <a:xfrm>
              <a:off x="12559" y="8463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317" name="圆角矩形 316"/>
            <p:cNvSpPr/>
            <p:nvPr/>
          </p:nvSpPr>
          <p:spPr>
            <a:xfrm>
              <a:off x="14944" y="8394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318" name="文本框 317"/>
            <p:cNvSpPr txBox="1"/>
            <p:nvPr/>
          </p:nvSpPr>
          <p:spPr>
            <a:xfrm>
              <a:off x="14890" y="8323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320" name="圆角矩形 319"/>
            <p:cNvSpPr/>
            <p:nvPr/>
          </p:nvSpPr>
          <p:spPr>
            <a:xfrm>
              <a:off x="17350" y="8335"/>
              <a:ext cx="808" cy="160"/>
            </a:xfrm>
            <a:prstGeom prst="roundRect">
              <a:avLst/>
            </a:prstGeom>
            <a:solidFill>
              <a:srgbClr val="D7000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思源黑体" panose="020B0500000000000000" charset="-122"/>
                <a:ea typeface="思源黑体" panose="020B0500000000000000" charset="-122"/>
                <a:cs typeface="+mj-lt"/>
              </a:endParaRPr>
            </a:p>
          </p:txBody>
        </p:sp>
        <p:sp>
          <p:nvSpPr>
            <p:cNvPr id="321" name="文本框 320"/>
            <p:cNvSpPr txBox="1"/>
            <p:nvPr/>
          </p:nvSpPr>
          <p:spPr>
            <a:xfrm>
              <a:off x="17296" y="8264"/>
              <a:ext cx="1005" cy="29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sz="70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+mj-lt"/>
                  <a:sym typeface="+mn-ea"/>
                </a:rPr>
                <a:t>AEC-Q100</a:t>
              </a:r>
              <a:endPara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endParaRPr>
            </a:p>
          </p:txBody>
        </p:sp>
        <p:sp>
          <p:nvSpPr>
            <p:cNvPr id="106" name="文本框 105"/>
            <p:cNvSpPr txBox="1"/>
            <p:nvPr/>
          </p:nvSpPr>
          <p:spPr>
            <a:xfrm>
              <a:off x="2180" y="2596"/>
              <a:ext cx="1390" cy="6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altLang="zh-CN" sz="11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32</a:t>
              </a:r>
              <a:r>
                <a:rPr lang="zh-CN" altLang="en-US" sz="11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位浮点</a:t>
              </a:r>
              <a:endParaRPr lang="zh-CN" altLang="en-US" sz="11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1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DSP</a:t>
              </a:r>
              <a:endParaRPr lang="en-US" altLang="zh-CN" sz="11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  <p:sp>
          <p:nvSpPr>
            <p:cNvPr id="107" name="文本框 106"/>
            <p:cNvSpPr txBox="1"/>
            <p:nvPr/>
          </p:nvSpPr>
          <p:spPr>
            <a:xfrm>
              <a:off x="2180" y="5044"/>
              <a:ext cx="1390" cy="6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altLang="zh-CN" sz="11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32</a:t>
              </a:r>
              <a:r>
                <a:rPr lang="zh-CN" altLang="en-US" sz="11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位定点</a:t>
              </a:r>
              <a:endParaRPr lang="zh-CN" altLang="en-US" sz="11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1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DSP</a:t>
              </a:r>
              <a:endParaRPr lang="en-US" altLang="zh-CN" sz="11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  <p:sp>
          <p:nvSpPr>
            <p:cNvPr id="108" name="文本框 107"/>
            <p:cNvSpPr txBox="1"/>
            <p:nvPr/>
          </p:nvSpPr>
          <p:spPr>
            <a:xfrm>
              <a:off x="2191" y="6492"/>
              <a:ext cx="1390" cy="6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90000"/>
                </a:lnSpc>
              </a:pPr>
              <a:r>
                <a:rPr lang="en-US" altLang="zh-CN" sz="11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16</a:t>
              </a:r>
              <a:r>
                <a:rPr lang="zh-CN" altLang="en-US" sz="11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位定点</a:t>
              </a:r>
              <a:endParaRPr lang="zh-CN" altLang="en-US" sz="11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1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DSP</a:t>
              </a:r>
              <a:endParaRPr lang="en-US" altLang="zh-CN" sz="11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  <p:sp>
          <p:nvSpPr>
            <p:cNvPr id="111" name="文本框 110"/>
            <p:cNvSpPr txBox="1"/>
            <p:nvPr/>
          </p:nvSpPr>
          <p:spPr>
            <a:xfrm>
              <a:off x="2191" y="8102"/>
              <a:ext cx="1390" cy="6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90000"/>
                </a:lnSpc>
              </a:pPr>
              <a:r>
                <a:rPr lang="zh-CN" altLang="en-US" sz="11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单核</a:t>
              </a:r>
              <a:endParaRPr lang="zh-CN" altLang="en-US" sz="11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1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SoC</a:t>
              </a:r>
              <a:endParaRPr lang="en-US" altLang="zh-CN" sz="11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  <p:sp>
          <p:nvSpPr>
            <p:cNvPr id="112" name="文本框 111"/>
            <p:cNvSpPr txBox="1"/>
            <p:nvPr/>
          </p:nvSpPr>
          <p:spPr>
            <a:xfrm>
              <a:off x="2191" y="9671"/>
              <a:ext cx="1390" cy="6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90000"/>
                </a:lnSpc>
              </a:pPr>
              <a:r>
                <a:rPr lang="zh-CN" altLang="en-US" sz="11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多核</a:t>
              </a:r>
              <a:endParaRPr lang="zh-CN" altLang="en-US" sz="11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1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SoC</a:t>
              </a:r>
              <a:endParaRPr lang="en-US" altLang="zh-CN" sz="11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</p:grpSp>
      <p:sp>
        <p:nvSpPr>
          <p:cNvPr id="3" name="灰"/>
          <p:cNvSpPr/>
          <p:nvPr/>
        </p:nvSpPr>
        <p:spPr>
          <a:xfrm>
            <a:off x="10388600" y="2002790"/>
            <a:ext cx="1410335" cy="56261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  <a:latin typeface="思源黑体" panose="020B0500000000000000" charset="-122"/>
              <a:ea typeface="思源黑体" panose="020B0500000000000000" charset="-122"/>
              <a:cs typeface="+mj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426700" y="2019300"/>
            <a:ext cx="1459230" cy="530860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90000"/>
              </a:lnSpc>
            </a:pPr>
            <a:r>
              <a:rPr lang="en-US" altLang="zh-CN" sz="10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rPr>
              <a:t>AVP32F28P55</a:t>
            </a:r>
            <a:endParaRPr lang="en-US" altLang="zh-CN" sz="1000" b="1">
              <a:solidFill>
                <a:schemeClr val="bg1"/>
              </a:solidFill>
              <a:latin typeface="思源黑体" panose="020B0500000000000000" charset="-122"/>
              <a:ea typeface="思源黑体" panose="020B0500000000000000" charset="-122"/>
              <a:cs typeface="+mj-lt"/>
            </a:endParaRPr>
          </a:p>
          <a:p>
            <a:pPr>
              <a:lnSpc>
                <a:spcPct val="90000"/>
              </a:lnSpc>
            </a:pPr>
            <a:r>
              <a: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rPr>
              <a:t>150MHz; </a:t>
            </a:r>
            <a:r>
              <a: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rPr>
              <a:t>lockstep</a:t>
            </a:r>
            <a:endParaRPr lang="en-US" altLang="zh-CN" sz="800">
              <a:solidFill>
                <a:schemeClr val="bg1"/>
              </a:solidFill>
              <a:latin typeface="思源黑体" panose="020B0500000000000000" charset="-122"/>
              <a:ea typeface="思源黑体" panose="020B0500000000000000" charset="-122"/>
              <a:cs typeface="+mj-lt"/>
            </a:endParaRPr>
          </a:p>
          <a:p>
            <a:pPr>
              <a:lnSpc>
                <a:spcPct val="90000"/>
              </a:lnSpc>
            </a:pPr>
            <a:r>
              <a:rPr lang="en-US" altLang="zh-CN" sz="8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</a:rPr>
              <a:t>Flash:1.0MB RAM:133KB</a:t>
            </a:r>
            <a:endParaRPr lang="en-US" altLang="zh-CN" sz="800">
              <a:solidFill>
                <a:schemeClr val="bg1"/>
              </a:solidFill>
              <a:latin typeface="思源黑体" panose="020B0500000000000000" charset="-122"/>
              <a:ea typeface="思源黑体" panose="020B0500000000000000" charset="-122"/>
              <a:cs typeface="+mj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1160760" y="2416175"/>
            <a:ext cx="547370" cy="14224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t">
            <a:noAutofit/>
          </a:bodyPr>
          <a:p>
            <a:pPr>
              <a:lnSpc>
                <a:spcPct val="90000"/>
              </a:lnSpc>
            </a:pPr>
            <a:r>
              <a:rPr lang="en-US" altLang="zh-CN" sz="70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+mj-lt"/>
                <a:sym typeface="+mn-ea"/>
              </a:rPr>
              <a:t>AEC-Q100</a:t>
            </a:r>
            <a:endParaRPr lang="en-US" altLang="zh-CN" sz="700">
              <a:solidFill>
                <a:schemeClr val="bg1"/>
              </a:solidFill>
              <a:latin typeface="思源黑体" panose="020B0500000000000000" charset="-122"/>
              <a:ea typeface="思源黑体" panose="020B0500000000000000" charset="-122"/>
              <a:cs typeface="+mj-lt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68935" y="905510"/>
          <a:ext cx="11453495" cy="572135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94205"/>
                <a:gridCol w="1393825"/>
                <a:gridCol w="1416685"/>
                <a:gridCol w="1438910"/>
                <a:gridCol w="1360170"/>
                <a:gridCol w="1337310"/>
                <a:gridCol w="1360170"/>
                <a:gridCol w="1252220"/>
              </a:tblGrid>
              <a:tr h="304800">
                <a:tc>
                  <a:txBody>
                    <a:bodyPr/>
                    <a:p>
                      <a:r>
                        <a:rPr lang="zh-CN" altLang="en-US" sz="14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型号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AVP32F28P65X</a:t>
                      </a:r>
                      <a:endParaRPr lang="en-US" altLang="zh-CN" sz="1400" b="1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AVP32F28P55X</a:t>
                      </a:r>
                      <a:endParaRPr lang="en-US" altLang="zh-CN" sz="1400" b="1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AVP32F0049</a:t>
                      </a:r>
                      <a:endParaRPr lang="en-US" altLang="zh-CN" sz="14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AVP32F0039</a:t>
                      </a:r>
                      <a:endParaRPr lang="en-US" altLang="zh-CN" sz="14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AVP32F0025</a:t>
                      </a:r>
                      <a:endParaRPr lang="en-US" altLang="zh-CN" sz="14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AVP32F00157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AVP32F00137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7975">
                <a:tc>
                  <a:txBody>
                    <a:bodyPr/>
                    <a:p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CPU(Mhz</a:t>
                      </a:r>
                      <a:r>
                        <a:rPr lang="zh-CN" altLang="en-US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）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200+200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150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100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120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100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120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120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5435">
                <a:tc>
                  <a:txBody>
                    <a:bodyPr/>
                    <a:p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FPU32</a:t>
                      </a:r>
                      <a:endParaRPr lang="en-US" altLang="zh-CN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YES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YES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YES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YES+FastDIV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YES+FastDIV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YES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YES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327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TMU32/DMA</a:t>
                      </a:r>
                      <a:endParaRPr lang="en-US" altLang="zh-CN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Type1/Type0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Type1/Type0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Type0/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Type1/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Type1/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Type1/-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Type1/-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36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CLA</a:t>
                      </a:r>
                      <a:endParaRPr lang="en-US" altLang="zh-CN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Type2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Type2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Type2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Type2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-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-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-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73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CLB</a:t>
                      </a:r>
                      <a:endParaRPr lang="en-US" altLang="zh-CN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6-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Type3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2-Type3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4-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Type2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4-Type3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2-Type2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-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-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88925">
                <a:tc>
                  <a:txBody>
                    <a:bodyPr/>
                    <a:p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RAM/Flash (8 bit)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248Kb/1.28Mb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133Kb/1Mb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100.5Kb/256kb</a:t>
                      </a:r>
                      <a:endParaRPr lang="en-US" altLang="zh-CN" sz="1100" baseline="0" dirty="0">
                        <a:solidFill>
                          <a:srgbClr val="FF0000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69Kb/384Kb</a:t>
                      </a:r>
                      <a:endParaRPr lang="en-US" altLang="zh-CN" sz="1100" baseline="0" dirty="0">
                        <a:solidFill>
                          <a:srgbClr val="FF0000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24Kb/128Kb</a:t>
                      </a:r>
                      <a:endParaRPr lang="en-US" altLang="zh-CN" sz="1100" baseline="0" dirty="0">
                        <a:solidFill>
                          <a:srgbClr val="FF0000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36Kb/256Kb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36Kb/256Kb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55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PWM/HRPWM</a:t>
                      </a:r>
                      <a:endParaRPr lang="en-US" altLang="zh-CN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36/36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(Type5)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24/12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16/16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(Type4)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16/8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14/8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14/4</a:t>
                      </a:r>
                      <a:endParaRPr lang="en-US" altLang="zh-CN" sz="1100" baseline="0" dirty="0">
                        <a:solidFill>
                          <a:srgbClr val="FF0000"/>
                        </a:solidFill>
                        <a:latin typeface="Calibri" panose="020F0502020204030204" charset="0"/>
                        <a:ea typeface="华文楷体" panose="02010600040101010101" pitchFamily="2" charset="-122"/>
                        <a:sym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14/2</a:t>
                      </a:r>
                      <a:endParaRPr lang="en-US" altLang="zh-CN" sz="1100" baseline="0" dirty="0">
                        <a:solidFill>
                          <a:srgbClr val="FF0000"/>
                        </a:solidFill>
                        <a:latin typeface="Calibri" panose="020F0502020204030204" charset="0"/>
                        <a:ea typeface="华文楷体" panose="02010600040101010101" pitchFamily="2" charset="-122"/>
                        <a:sym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473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ECAP/HRCAP/EQEP</a:t>
                      </a:r>
                      <a:endParaRPr lang="en-US" altLang="zh-CN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7/2/6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2/2/2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7/2/2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3/1/2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3/1/2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3/0/2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2/0/1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92735">
                <a:tc>
                  <a:txBody>
                    <a:bodyPr/>
                    <a:p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ADC MSPS/</a:t>
                      </a:r>
                      <a:r>
                        <a:rPr lang="en-US" altLang="zh-CN" sz="1200" baseline="0" dirty="0" err="1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C</a:t>
                      </a:r>
                      <a:r>
                        <a:rPr lang="en-US" altLang="zh-CN" sz="1200" baseline="0" dirty="0" err="1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hannels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3.5MSPS/40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3.9MSPS/39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3.45MSPS/21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4MSPS/23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3.45MSPS/16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4MSPS/21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4MSPS/21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5595">
                <a:tc>
                  <a:txBody>
                    <a:bodyPr/>
                    <a:p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PGA/CMPSS/DAC/EMIF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0/11/2/1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3/4/1/0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7/7/2/0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0/4/2/0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0/4/0/0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0/1/1/0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0/1/1/0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67030">
                <a:tc>
                  <a:txBody>
                    <a:bodyPr/>
                    <a:p>
                      <a:r>
                        <a:rPr lang="en-US" altLang="zh-CN" sz="1200" baseline="0" dirty="0" err="1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Spi</a:t>
                      </a:r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/Sci/CAN/I2C/LIN/USB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4/2+2/1/2/2/1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2/3/2/2/1/1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2/2/2/1/1/0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2/2/1/2/2/0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2/1/1/2/2/0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1/3/1/2/</a:t>
                      </a:r>
                      <a:r>
                        <a:rPr lang="en-US" altLang="zh-CN" sz="1100" baseline="0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</a:t>
                      </a: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1/3/1/2/</a:t>
                      </a:r>
                      <a:r>
                        <a:rPr lang="en-US" altLang="zh-CN" sz="1100" baseline="0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0</a:t>
                      </a: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48615">
                <a:tc>
                  <a:txBody>
                    <a:bodyPr/>
                    <a:p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FSI/CANFD/PMBUS/SDFM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2/2/1/16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1/2/1/0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1/0/1/4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1/1/1/8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1/0/1/0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0/</a:t>
                      </a:r>
                      <a:r>
                        <a:rPr lang="en-US" altLang="zh-CN" sz="1100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/</a:t>
                      </a:r>
                      <a:r>
                        <a:rPr lang="en-US" altLang="zh-CN" sz="1100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0/</a:t>
                      </a:r>
                      <a:r>
                        <a:rPr lang="en-US" altLang="zh-CN" sz="1100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0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/</a:t>
                      </a:r>
                      <a:r>
                        <a:rPr lang="en-US" altLang="zh-CN" sz="1100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0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333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HIC/LFU/AES/JTAG Lock</a:t>
                      </a:r>
                      <a:endParaRPr lang="en-US" altLang="zh-CN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0/1/1/1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0/1/1/1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0/1/0/0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1/1/1/1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1/0/0/0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0/0/0/1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0/0/0/1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88925">
                <a:tc>
                  <a:txBody>
                    <a:bodyPr/>
                    <a:p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GPIO/AIO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185/18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65/17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35/10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51/23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43/16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52/10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37/10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4320">
                <a:tc>
                  <a:txBody>
                    <a:bodyPr/>
                    <a:p>
                      <a:r>
                        <a:rPr lang="zh-CN" altLang="en-US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供电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3.3V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3.3V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3.3V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3.3V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3.3V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3.3V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3.3V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90525">
                <a:tc>
                  <a:txBody>
                    <a:bodyPr/>
                    <a:p>
                      <a:pPr algn="l"/>
                      <a:r>
                        <a:rPr lang="zh-CN" altLang="en-US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封装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BGA256/169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LQFP176/100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LQFP128/100/80/64/QFN56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LQFP100/64/QFN56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LQFP100/80/64/48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0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LQFP80/64/48</a:t>
                      </a:r>
                      <a:endParaRPr lang="zh-CN" altLang="en-US" sz="10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0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LQFP80/64/48/32</a:t>
                      </a:r>
                      <a:endParaRPr lang="zh-CN" altLang="en-US" sz="10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LQFP64/48/32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11" name="组合 10"/>
          <p:cNvGrpSpPr/>
          <p:nvPr/>
        </p:nvGrpSpPr>
        <p:grpSpPr>
          <a:xfrm>
            <a:off x="275590" y="322580"/>
            <a:ext cx="2458720" cy="368300"/>
            <a:chOff x="2329" y="4165"/>
            <a:chExt cx="3872" cy="580"/>
          </a:xfrm>
        </p:grpSpPr>
        <p:sp>
          <p:nvSpPr>
            <p:cNvPr id="12" name="文本框 11"/>
            <p:cNvSpPr txBox="1"/>
            <p:nvPr/>
          </p:nvSpPr>
          <p:spPr>
            <a:xfrm>
              <a:off x="2329" y="4165"/>
              <a:ext cx="174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>
                  <a:solidFill>
                    <a:srgbClr val="D7000F"/>
                  </a:solidFill>
                  <a:latin typeface="+mj-lt"/>
                  <a:ea typeface="思源黑体 CN Medium" panose="020B0600000000000000" charset="-122"/>
                </a:rPr>
                <a:t>产品参数</a:t>
              </a:r>
              <a:endParaRPr lang="zh-CN" altLang="en-US" b="1">
                <a:solidFill>
                  <a:srgbClr val="D7000F"/>
                </a:solidFill>
                <a:latin typeface="+mj-lt"/>
                <a:ea typeface="思源黑体 CN Medium" panose="020B0600000000000000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978" y="4165"/>
              <a:ext cx="222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dist"/>
              <a:r>
                <a:rPr lang="en-US" altLang="zh-CN" b="1">
                  <a:solidFill>
                    <a:srgbClr val="625F60"/>
                  </a:solidFill>
                  <a:latin typeface="+mj-lt"/>
                  <a:ea typeface="思源黑体 CN Medium" panose="020B0600000000000000" charset="-122"/>
                  <a:cs typeface="+mj-lt"/>
                </a:rPr>
                <a:t>/ ADVCHIP</a:t>
              </a:r>
              <a:endParaRPr lang="en-US" altLang="zh-CN" b="1">
                <a:solidFill>
                  <a:srgbClr val="625F60"/>
                </a:solidFill>
                <a:latin typeface="+mj-lt"/>
                <a:ea typeface="思源黑体 CN Medium" panose="020B0600000000000000" charset="-122"/>
                <a:cs typeface="+mj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50545" y="917575"/>
          <a:ext cx="11090910" cy="566229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65045"/>
                <a:gridCol w="1913255"/>
                <a:gridCol w="1748790"/>
                <a:gridCol w="1663700"/>
                <a:gridCol w="1730375"/>
                <a:gridCol w="1769640"/>
              </a:tblGrid>
              <a:tr h="290195">
                <a:tc>
                  <a:txBody>
                    <a:bodyPr/>
                    <a:p>
                      <a:r>
                        <a:rPr lang="zh-CN" altLang="en-US" sz="14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型号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AVP32F379D/377D</a:t>
                      </a:r>
                      <a:endParaRPr lang="en-US" altLang="zh-CN" sz="1400" b="1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AVP32F379S/377S</a:t>
                      </a:r>
                      <a:endParaRPr lang="en-US" altLang="zh-CN" sz="1400" b="1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AVP32F374S</a:t>
                      </a:r>
                      <a:endParaRPr lang="en-US" altLang="zh-CN" sz="1400" b="1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AVP32F076/F075</a:t>
                      </a:r>
                      <a:endParaRPr lang="en-US" altLang="zh-CN" sz="14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AVP32F335</a:t>
                      </a:r>
                      <a:endParaRPr lang="en-US" altLang="zh-CN" sz="14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7975">
                <a:tc>
                  <a:txBody>
                    <a:bodyPr/>
                    <a:p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CPU(Mhz</a:t>
                      </a:r>
                      <a:r>
                        <a:rPr lang="zh-CN" altLang="en-US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）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200+200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200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200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120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150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5435">
                <a:tc>
                  <a:txBody>
                    <a:bodyPr/>
                    <a:p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FPU32</a:t>
                      </a:r>
                      <a:endParaRPr lang="en-US" altLang="zh-CN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YES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YES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YES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YES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YES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327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TMU32/DMA</a:t>
                      </a:r>
                      <a:endParaRPr lang="en-US" altLang="zh-CN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Type0/Type0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Type0/Type0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Type0/Type0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Type0/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-/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36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CLA</a:t>
                      </a:r>
                      <a:endParaRPr lang="en-US" altLang="zh-CN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Type2-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Type2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Type2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Type2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Type2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-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073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CLB</a:t>
                      </a:r>
                      <a:endParaRPr lang="en-US" altLang="zh-CN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4-Type2/-</a:t>
                      </a:r>
                      <a:endParaRPr lang="zh-CN" altLang="en-US" sz="1100" baseline="0" dirty="0">
                        <a:solidFill>
                          <a:srgbClr val="FF0000"/>
                        </a:solidFill>
                        <a:latin typeface="Calibri" panose="020F0502020204030204" charset="0"/>
                        <a:ea typeface="华文楷体" panose="02010600040101010101" pitchFamily="2" charset="-122"/>
                        <a:sym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4-Type2/-</a:t>
                      </a:r>
                      <a:endParaRPr lang="en-US" altLang="zh-CN" sz="1100" baseline="0" dirty="0">
                        <a:solidFill>
                          <a:srgbClr val="FF0000"/>
                        </a:solidFill>
                        <a:latin typeface="Calibri" panose="020F0502020204030204" charset="0"/>
                        <a:ea typeface="华文楷体" panose="02010600040101010101" pitchFamily="2" charset="-122"/>
                        <a:sym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-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baseline="0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4-</a:t>
                      </a:r>
                      <a:r>
                        <a:rPr lang="en-US" altLang="zh-CN" sz="1100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Type2/-</a:t>
                      </a:r>
                      <a:endParaRPr lang="en-US" altLang="zh-CN" sz="1100" baseline="0" dirty="0">
                        <a:solidFill>
                          <a:srgbClr val="FF0000"/>
                        </a:solidFill>
                        <a:latin typeface="Calibri" panose="020F0502020204030204" charset="0"/>
                        <a:ea typeface="华文楷体" panose="02010600040101010101" pitchFamily="2" charset="-122"/>
                        <a:sym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-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88925">
                <a:tc>
                  <a:txBody>
                    <a:bodyPr/>
                    <a:p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RAM/Flash (8 bit)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rgbClr val="00B0F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204Kb/1.0Mb</a:t>
                      </a:r>
                      <a:endParaRPr lang="en-US" altLang="zh-CN" sz="1100" baseline="0" dirty="0">
                        <a:solidFill>
                          <a:srgbClr val="00B0F0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rgbClr val="00B0F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164Kb/1.0Mb</a:t>
                      </a:r>
                      <a:endParaRPr lang="en-US" altLang="zh-CN" sz="1100" baseline="0" dirty="0">
                        <a:solidFill>
                          <a:srgbClr val="00B0F0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rgbClr val="00B0F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132Kb/512Kb</a:t>
                      </a:r>
                      <a:endParaRPr lang="en-US" altLang="zh-CN" sz="1100" baseline="0" dirty="0">
                        <a:solidFill>
                          <a:srgbClr val="00B0F0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rgbClr val="00B0F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100Kb/512kb</a:t>
                      </a:r>
                      <a:endParaRPr lang="en-US" altLang="zh-CN" sz="1100" baseline="0" dirty="0">
                        <a:solidFill>
                          <a:srgbClr val="00B0F0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dirty="0">
                          <a:solidFill>
                            <a:srgbClr val="00B0F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68Kb/512kb</a:t>
                      </a:r>
                      <a:endParaRPr lang="en-US" altLang="zh-CN" sz="1100" baseline="0" dirty="0">
                        <a:solidFill>
                          <a:srgbClr val="00B0F0"/>
                        </a:solidFill>
                        <a:latin typeface="Calibri" panose="020F0502020204030204" charset="0"/>
                        <a:ea typeface="华文楷体" panose="02010600040101010101" pitchFamily="2" charset="-122"/>
                        <a:sym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55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PWM/HRPWM</a:t>
                      </a:r>
                      <a:endParaRPr lang="en-US" altLang="zh-CN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24/16(Type4)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24/16(Type4)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24/16(Type4)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24/16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(Type4)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18/6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34645">
                <a:tc>
                  <a:txBody>
                    <a:bodyPr/>
                    <a:p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12-ADC MSPS/</a:t>
                      </a:r>
                      <a:r>
                        <a:rPr lang="en-US" altLang="zh-CN" sz="1200" baseline="0" dirty="0" err="1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C</a:t>
                      </a:r>
                      <a:r>
                        <a:rPr lang="en-US" altLang="zh-CN" sz="1200" baseline="0" dirty="0" err="1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hannels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3.5MSPS/24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3.5MSPS/24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3.5MSPS/24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3.1MSPS/17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12.5MSPS/16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90195">
                <a:tc>
                  <a:txBody>
                    <a:bodyPr/>
                    <a:p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16-ADC MSPS/</a:t>
                      </a:r>
                      <a:r>
                        <a:rPr lang="en-US" altLang="zh-CN" sz="1200" baseline="0" dirty="0" err="1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C</a:t>
                      </a:r>
                      <a:r>
                        <a:rPr lang="en-US" altLang="zh-CN" sz="1200" baseline="0" dirty="0" err="1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hannels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1.1MSPS/24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1.1MSPS/24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-/-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-/-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-/-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927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ECAP/HRCAP/EQEP</a:t>
                      </a:r>
                      <a:endParaRPr lang="en-US" altLang="zh-CN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6/0/3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6/0/3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6/0/3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6/0/3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6/0/2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15595">
                <a:tc>
                  <a:txBody>
                    <a:bodyPr/>
                    <a:p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PGA/CMPSS/DAC/EMIF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0/8/3/1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0/8/3/1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0/8/3/1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0/8/3/1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0/0/0/0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56235">
                <a:tc>
                  <a:txBody>
                    <a:bodyPr/>
                    <a:p>
                      <a:r>
                        <a:rPr lang="en-US" altLang="zh-CN" sz="1200" baseline="0" dirty="0" err="1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Spi</a:t>
                      </a:r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/Sci/CAN/I2C/LIN/USB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3/4/</a:t>
                      </a:r>
                      <a:r>
                        <a:rPr lang="en-US" altLang="zh-CN" sz="1100" dirty="0">
                          <a:solidFill>
                            <a:srgbClr val="00B05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/2/0/1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3/4/</a:t>
                      </a:r>
                      <a:r>
                        <a:rPr lang="en-US" altLang="zh-CN" sz="1100" dirty="0">
                          <a:solidFill>
                            <a:srgbClr val="00B05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/2/0/1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3/4/</a:t>
                      </a:r>
                      <a:r>
                        <a:rPr lang="en-US" altLang="zh-CN" sz="1100" dirty="0">
                          <a:solidFill>
                            <a:srgbClr val="00B05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/2/0/1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3/4/</a:t>
                      </a:r>
                      <a:r>
                        <a:rPr lang="en-US" altLang="zh-CN" sz="1100" baseline="0" dirty="0">
                          <a:solidFill>
                            <a:srgbClr val="00B05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2</a:t>
                      </a: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/2/0/1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1/3/</a:t>
                      </a:r>
                      <a:r>
                        <a:rPr lang="en-US" altLang="zh-CN" sz="1100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/1/0/0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48615">
                <a:tc>
                  <a:txBody>
                    <a:bodyPr/>
                    <a:p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MCBSP/CANFD/PMBUS/SDFM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2/</a:t>
                      </a:r>
                      <a:r>
                        <a:rPr lang="en-US" altLang="zh-CN" sz="1100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0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/0/6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2/</a:t>
                      </a:r>
                      <a:r>
                        <a:rPr lang="en-US" altLang="zh-CN" sz="1100" dirty="0">
                          <a:solidFill>
                            <a:srgbClr val="FF0000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0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/0/8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2/0/0/8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2/0/0/8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2/0/0/0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333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uPP/LFU/AES/JTAG Lock</a:t>
                      </a:r>
                      <a:endParaRPr lang="en-US" altLang="zh-CN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1/0/0/1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1/0/0/1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1/0/0/1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0/0/0/1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0/0/0/0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88925">
                <a:tc>
                  <a:txBody>
                    <a:bodyPr/>
                    <a:p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GPIO/AIO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169/0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169/0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169/0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97/0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88/0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74320">
                <a:tc>
                  <a:txBody>
                    <a:bodyPr/>
                    <a:p>
                      <a:r>
                        <a:rPr lang="zh-CN" altLang="en-US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供电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3.3V/1.1V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3.3V/1.1V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3.3V/1.1V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3.3V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3.3V/1.65V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90525">
                <a:tc>
                  <a:txBody>
                    <a:bodyPr/>
                    <a:p>
                      <a:pPr algn="l"/>
                      <a:r>
                        <a:rPr lang="zh-CN" altLang="en-US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封装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BGA337/LQFP176/100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BGA337/LQFP176/100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BGA337/LQFP176/100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LQFP176/100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LQFP176/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BGA179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11" name="组合 10"/>
          <p:cNvGrpSpPr/>
          <p:nvPr/>
        </p:nvGrpSpPr>
        <p:grpSpPr>
          <a:xfrm>
            <a:off x="275590" y="322580"/>
            <a:ext cx="2458720" cy="368300"/>
            <a:chOff x="2329" y="4165"/>
            <a:chExt cx="3872" cy="580"/>
          </a:xfrm>
        </p:grpSpPr>
        <p:sp>
          <p:nvSpPr>
            <p:cNvPr id="12" name="文本框 11"/>
            <p:cNvSpPr txBox="1"/>
            <p:nvPr/>
          </p:nvSpPr>
          <p:spPr>
            <a:xfrm>
              <a:off x="2329" y="4165"/>
              <a:ext cx="174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>
                  <a:solidFill>
                    <a:srgbClr val="D7000F"/>
                  </a:solidFill>
                  <a:latin typeface="+mj-lt"/>
                  <a:ea typeface="思源黑体 CN Medium" panose="020B0600000000000000" charset="-122"/>
                </a:rPr>
                <a:t>产品参数</a:t>
              </a:r>
              <a:endParaRPr lang="zh-CN" altLang="en-US" b="1">
                <a:solidFill>
                  <a:srgbClr val="D7000F"/>
                </a:solidFill>
                <a:latin typeface="+mj-lt"/>
                <a:ea typeface="思源黑体 CN Medium" panose="020B0600000000000000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978" y="4165"/>
              <a:ext cx="222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dist"/>
              <a:r>
                <a:rPr lang="en-US" altLang="zh-CN" b="1">
                  <a:solidFill>
                    <a:srgbClr val="625F60"/>
                  </a:solidFill>
                  <a:latin typeface="+mj-lt"/>
                  <a:ea typeface="思源黑体 CN Medium" panose="020B0600000000000000" charset="-122"/>
                  <a:cs typeface="+mj-lt"/>
                </a:rPr>
                <a:t>/ ADVCHIP</a:t>
              </a:r>
              <a:endParaRPr lang="en-US" altLang="zh-CN" b="1">
                <a:solidFill>
                  <a:srgbClr val="625F60"/>
                </a:solidFill>
                <a:latin typeface="+mj-lt"/>
                <a:ea typeface="思源黑体 CN Medium" panose="020B0600000000000000" charset="-122"/>
                <a:cs typeface="+mj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5590" y="322580"/>
            <a:ext cx="4255135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AVP32F379x - 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资源差异对比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099185" y="1666240"/>
          <a:ext cx="9369425" cy="3193415"/>
        </p:xfrm>
        <a:graphic>
          <a:graphicData uri="http://schemas.openxmlformats.org/drawingml/2006/table">
            <a:tbl>
              <a:tblPr/>
              <a:tblGrid>
                <a:gridCol w="2896870"/>
                <a:gridCol w="3087370"/>
                <a:gridCol w="3385185"/>
              </a:tblGrid>
              <a:tr h="5753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项点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F28379D</a:t>
                      </a:r>
                      <a:endParaRPr lang="en-US" altLang="en-US" sz="11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AVP32F379D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373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芯片主频</a:t>
                      </a: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（MAX）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</a:t>
                      </a: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Mhz @ CORE1.2V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</a:t>
                      </a: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Mhz @ CORE1.1V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24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芯片功耗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（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VREG)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840</a:t>
                      </a:r>
                      <a:r>
                        <a:rPr lang="en-US" sz="11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mW @ </a:t>
                      </a: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20</a:t>
                      </a: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0</a:t>
                      </a:r>
                      <a:r>
                        <a:rPr lang="en-US" sz="11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Mhz</a:t>
                      </a:r>
                      <a:endParaRPr 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？</a:t>
                      </a: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 @ </a:t>
                      </a: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</a:t>
                      </a: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Mhz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27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片内L</a:t>
                      </a: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DO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无</a:t>
                      </a:r>
                      <a:endParaRPr lang="zh-CN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3.3/1.1 VREG</a:t>
                      </a:r>
                      <a:endParaRPr 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91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FLASH</a:t>
                      </a:r>
                      <a:r>
                        <a:rPr lang="zh-CN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随机等待配置</a:t>
                      </a:r>
                      <a:endParaRPr lang="zh-CN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</a:t>
                      </a:r>
                      <a:endParaRPr lang="en-US" altLang="zh-CN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N+3</a:t>
                      </a:r>
                      <a:endParaRPr lang="en-US" altLang="zh-CN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12750" y="927100"/>
            <a:ext cx="5282565" cy="967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¢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描述：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GS12RAM-GS15RAM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为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379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、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379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、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377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、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375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独有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F076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和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F075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的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RAM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没有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GS8RAM~GS15RAM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5590" y="322580"/>
            <a:ext cx="4765040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AVP32F37x - RAM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分配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90" y="2078355"/>
            <a:ext cx="5506085" cy="38322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365" y="847725"/>
            <a:ext cx="5045710" cy="54540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689100" y="5989955"/>
            <a:ext cx="2202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F28076</a:t>
            </a:r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F28075</a:t>
            </a:r>
            <a:endParaRPr lang="en-US" altLang="zh-CN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93810" y="6358255"/>
            <a:ext cx="10610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F28379</a:t>
            </a:r>
            <a:endParaRPr lang="en-US" altLang="zh-CN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5590" y="322580"/>
            <a:ext cx="4765040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AVP32F37x - </a:t>
            </a:r>
            <a:r>
              <a:rPr lang="zh-CN" sz="2400" b="1">
                <a:solidFill>
                  <a:srgbClr val="D7000F"/>
                </a:solidFill>
                <a:latin typeface="+mn-ea"/>
                <a:cs typeface="+mj-lt"/>
              </a:rPr>
              <a:t>单核和双核差异</a:t>
            </a:r>
            <a:endParaRPr lang="zh-CN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790" y="2270760"/>
            <a:ext cx="5146675" cy="35845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5310" y="2376170"/>
            <a:ext cx="6184900" cy="347599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247900" y="5920105"/>
            <a:ext cx="120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F2837xD</a:t>
            </a:r>
            <a:endParaRPr lang="en-US" altLang="zh-CN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481060" y="5920105"/>
            <a:ext cx="1200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F2837xS</a:t>
            </a:r>
            <a:endParaRPr lang="en-US" altLang="zh-CN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内容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09600" y="897890"/>
            <a:ext cx="6633845" cy="13735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¢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替换</a:t>
            </a:r>
            <a:r>
              <a:rPr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F37xD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的场景主要考虑</a:t>
            </a:r>
            <a:r>
              <a:rPr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FLASH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的执行效率。</a:t>
            </a:r>
            <a:endParaRPr lang="zh-CN" altLang="en-US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替换</a:t>
            </a:r>
            <a:r>
              <a:rPr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F37xS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的场景考虑</a:t>
            </a:r>
            <a:r>
              <a:rPr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FLASH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的空间。</a:t>
            </a:r>
            <a:endParaRPr lang="zh-CN" altLang="en-US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替换</a:t>
            </a:r>
            <a:r>
              <a:rPr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F075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的场景主要是拿出单核来匹配。</a:t>
            </a:r>
            <a:endParaRPr lang="zh-CN" altLang="en-US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    </a:t>
            </a:r>
            <a:endParaRPr lang="zh-CN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5590" y="322580"/>
            <a:ext cx="4765040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AVP32F37x - flash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配置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395" y="2606040"/>
            <a:ext cx="6034405" cy="35902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9125" y="2606040"/>
            <a:ext cx="4219575" cy="341185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327265" y="6041390"/>
            <a:ext cx="4152265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rgbClr val="D7000F"/>
                </a:solidFill>
                <a:latin typeface="+mj-lt"/>
                <a:ea typeface="思源黑体 CN Medium" panose="020B0600000000000000" charset="-122"/>
              </a:rPr>
              <a:t>使能预取缓冲和数据缓冲提升代码效率</a:t>
            </a:r>
            <a:endParaRPr lang="zh-CN" altLang="en-US" b="1">
              <a:solidFill>
                <a:srgbClr val="D7000F"/>
              </a:solidFill>
              <a:latin typeface="+mj-lt"/>
              <a:ea typeface="思源黑体 CN Medium" panose="020B0600000000000000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09600" y="897890"/>
            <a:ext cx="10579100" cy="170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¢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单核系列的FLASH执行速度比双核快，我司在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FRDCNTL[RWAIT]上面默认+3</a:t>
            </a:r>
            <a:endParaRPr lang="zh-CN" altLang="en-US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标准读取模式和复位后的默认读取模式，每次对闪存的读取访问将在</a:t>
            </a:r>
            <a:r>
              <a:rPr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RWAIT+1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个时钟周期后返回</a:t>
            </a:r>
            <a:endParaRPr lang="zh-CN" altLang="en-US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Prefetch mode:</a:t>
            </a:r>
            <a:r>
              <a:rPr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提升线性代码的执行效率</a:t>
            </a:r>
            <a:r>
              <a:rPr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</a:t>
            </a:r>
            <a:r>
              <a:rPr lang="en-US" altLang="zh-CN" sz="1600" dirty="0">
                <a:solidFill>
                  <a:srgbClr val="00B0F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Data cache:</a:t>
            </a:r>
            <a:r>
              <a:rPr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提升数据空间读取性能</a:t>
            </a:r>
            <a:endParaRPr lang="zh-CN" altLang="en-US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当</a:t>
            </a:r>
            <a:r>
              <a:rPr lang="en-US" altLang="zh-CN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RWAIT</a:t>
            </a: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为零时，预取和数据缓存均被绕过</a:t>
            </a:r>
            <a:endParaRPr lang="zh-CN" altLang="en-US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    </a:t>
            </a:r>
            <a:endParaRPr lang="zh-CN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768600" y="6196330"/>
            <a:ext cx="1922780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D7000F"/>
                </a:solidFill>
                <a:latin typeface="+mj-lt"/>
                <a:ea typeface="思源黑体 CN Medium" panose="020B0600000000000000" charset="-122"/>
              </a:rPr>
              <a:t>FLASH</a:t>
            </a:r>
            <a:r>
              <a:rPr lang="zh-CN" altLang="en-US" b="1">
                <a:solidFill>
                  <a:srgbClr val="D7000F"/>
                </a:solidFill>
                <a:latin typeface="+mj-lt"/>
                <a:ea typeface="思源黑体 CN Medium" panose="020B0600000000000000" charset="-122"/>
              </a:rPr>
              <a:t>预取</a:t>
            </a:r>
            <a:r>
              <a:rPr lang="zh-CN" altLang="en-US" b="1">
                <a:solidFill>
                  <a:srgbClr val="D7000F"/>
                </a:solidFill>
                <a:latin typeface="+mj-lt"/>
                <a:ea typeface="思源黑体 CN Medium" panose="020B0600000000000000" charset="-122"/>
              </a:rPr>
              <a:t>模式</a:t>
            </a:r>
            <a:endParaRPr lang="zh-CN" altLang="en-US" b="1">
              <a:solidFill>
                <a:srgbClr val="D7000F"/>
              </a:solidFill>
              <a:latin typeface="+mj-lt"/>
              <a:ea typeface="思源黑体 CN Medium" panose="020B06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5590" y="322580"/>
            <a:ext cx="4765040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AVP32F37x - 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内核电压差异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9600" y="897890"/>
            <a:ext cx="10579100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¢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内核电压差异，硬件需要更改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VDD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的供电电压</a:t>
            </a:r>
            <a:endParaRPr lang="en-US" altLang="zh-CN" sz="1600" dirty="0"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F075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集成了内部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LDO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，支持单电源供电，所以此差异可以忽略</a:t>
            </a:r>
            <a:endParaRPr lang="zh-CN" altLang="en-US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    </a:t>
            </a:r>
            <a:endParaRPr lang="zh-CN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1075" y="1925955"/>
            <a:ext cx="6685915" cy="4645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5590" y="322580"/>
            <a:ext cx="4077970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AVP32F37x - 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芯片区分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33375" y="1007745"/>
            <a:ext cx="8753475" cy="895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¢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通过读取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Unique ID 0x700E8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地址的数据区分我司芯片和竞品芯片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      TI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为固定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0xFFFFFFFF          ADVCHIP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为非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FFFFFFFF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   </a:t>
            </a:r>
            <a:endParaRPr lang="zh-CN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325" y="2397125"/>
            <a:ext cx="10329545" cy="34270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5590" y="322580"/>
            <a:ext cx="4280535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F335 to F37X - 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引导模式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8095" y="2148840"/>
            <a:ext cx="6446520" cy="4450715"/>
          </a:xfrm>
          <a:prstGeom prst="rect">
            <a:avLst/>
          </a:prstGeom>
        </p:spPr>
      </p:pic>
      <p:sp>
        <p:nvSpPr>
          <p:cNvPr id="6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09600" y="897890"/>
            <a:ext cx="110236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¢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F2837xD/S/07x 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器件通过对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BOOTCTRL 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寄存器进行编程，能够使用替代方案或减少引导模式选择引脚，具有极大的灵活性，而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F2833x/23x 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引导模式引脚则采用硬编码，提供预定的引导选项，丝毫不灵活。</a:t>
            </a:r>
            <a:endParaRPr lang="zh-CN" altLang="en-US" sz="1600" dirty="0"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在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F2833x/23x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器件上，闪存入口点为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0x33FFF6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。在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F2837xD/S/07x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器件上，入口点为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0x00080000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。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    </a:t>
            </a:r>
            <a:endParaRPr lang="zh-CN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5590" y="322580"/>
            <a:ext cx="4280535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F335 to F37X - 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上电时序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9600" y="897890"/>
            <a:ext cx="11023600" cy="1123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¢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在为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F2837xD/S/07x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器件供电之前，不能对任何数字引脚施加比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VDDIO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高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0.3V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以上的电压，也不能对任何模拟引脚（包括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VREFHI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）施加比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VDDA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高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0.3V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以上的电压。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3.3V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电源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VDDIO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和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VDDA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应一起上电，在正常工作期间彼此之间的差值应保持在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0.3V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以内。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VDD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时序要求由器件负责处理。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F2833x/23x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器件没有特定电源时序要求，但要求避免干扰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GPIO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引脚。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    </a:t>
            </a:r>
            <a:endParaRPr lang="zh-CN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3605" y="2137410"/>
            <a:ext cx="7588885" cy="41255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5590" y="322580"/>
            <a:ext cx="5372735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F335 to F37X - 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原理图未使用的引脚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9600" y="897890"/>
            <a:ext cx="11023600" cy="507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¢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F2837xD/S/07x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器件不支持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VREG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，进芯的芯片支持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VREG      </a:t>
            </a:r>
            <a:endParaRPr lang="zh-CN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文本框 133"/>
          <p:cNvSpPr txBox="1"/>
          <p:nvPr>
            <p:custDataLst>
              <p:tags r:id="rId2"/>
            </p:custDataLst>
          </p:nvPr>
        </p:nvSpPr>
        <p:spPr>
          <a:xfrm>
            <a:off x="4940935" y="6315075"/>
            <a:ext cx="1247775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defTabSz="1219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F2837X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6890" y="1362075"/>
            <a:ext cx="5179695" cy="4911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5590" y="322580"/>
            <a:ext cx="5372735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F335 to F37X - CAN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模块差异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9600" y="1037590"/>
            <a:ext cx="11023600" cy="418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¢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以下是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F2837xD/S/07x DCAN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具备但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F2833x/23x eCAN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不具备的特性：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       -- 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所有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RAM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模块的奇偶校验机制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      -- 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可以禁用自动重发（仲裁失败时）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  -- 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静默模式（节点被动侦听）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  -- 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邮箱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RAM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可以组合形成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FIFO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缓冲器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  -- 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可以在自检模式下在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CANTX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引脚上监测数据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以下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是 F2833x/23x eCAN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具备但 F2837xD/S/07x DCAN 不具备的特性：</a:t>
            </a: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       -- 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消息时间戳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      -- 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传输优先级配置（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TPL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）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       --  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数据字节顺序配置（</a:t>
            </a: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DBO</a:t>
            </a:r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altLang="zh-CN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5590" y="322580"/>
            <a:ext cx="5208905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eCAN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、</a:t>
            </a:r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D</a:t>
            </a:r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CAN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和</a:t>
            </a:r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M</a:t>
            </a:r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CAN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差异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9600" y="897890"/>
            <a:ext cx="10579100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¢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均符合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CAN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协议标准，但彼此之间</a:t>
            </a:r>
            <a:r>
              <a:rPr lang="zh-CN" altLang="en-US" sz="1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软件不兼容</a:t>
            </a:r>
            <a:endParaRPr lang="en-US" altLang="zh-CN" sz="1600" dirty="0"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采用完全不同的架构，寄存器和位也不相同，在迁移的过程中需要不同的编程方法</a:t>
            </a:r>
            <a:endParaRPr lang="zh-CN" altLang="en-US" sz="16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    </a:t>
            </a:r>
            <a:endParaRPr lang="zh-CN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5" name="表格 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02615" y="2101215"/>
          <a:ext cx="10849610" cy="428307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66415"/>
                <a:gridCol w="2296795"/>
                <a:gridCol w="2517140"/>
                <a:gridCol w="2969260"/>
              </a:tblGrid>
              <a:tr h="353695">
                <a:tc>
                  <a:txBody>
                    <a:bodyPr/>
                    <a:p>
                      <a:r>
                        <a:rPr lang="zh-CN" altLang="en-US" sz="14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功能</a:t>
                      </a:r>
                      <a:endParaRPr lang="zh-CN" altLang="en-US" sz="14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ECAN</a:t>
                      </a:r>
                      <a:endParaRPr lang="en-US" altLang="zh-CN" sz="1400" b="1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DCAN</a:t>
                      </a:r>
                      <a:endParaRPr lang="en-US" altLang="zh-CN" sz="1400" b="1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MCAN</a:t>
                      </a:r>
                      <a:endParaRPr lang="en-US" altLang="zh-CN" sz="1400" b="1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58470">
                <a:tc>
                  <a:txBody>
                    <a:bodyPr/>
                    <a:p>
                      <a:r>
                        <a:rPr 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芯片型号</a:t>
                      </a:r>
                      <a:endParaRPr lang="zh-CN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F280X/F281X/F03X/F335/F06X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F004X/F003X/F37X/F0013X/F0015X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F38X/F0039/F00157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5021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比特率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整个帧使用固定比特率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整个帧使用固定比特率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可使用两种比特率：用于标称段的较慢比特率和用于数据段的较快比特率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4975">
                <a:tc>
                  <a:txBody>
                    <a:bodyPr/>
                    <a:p>
                      <a:r>
                        <a:rPr lang="zh-CN" altLang="en-US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发送速度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上限为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1Mbps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上限为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1Mbps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  <a:sym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最高</a:t>
                      </a: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1Mbps(</a:t>
                      </a: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标称段</a:t>
                      </a: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)</a:t>
                      </a: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、最高</a:t>
                      </a: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5Mbps(</a:t>
                      </a: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数据段</a:t>
                      </a: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)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4958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每帧发送的字节数（有效负载能力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可以发送</a:t>
                      </a:r>
                      <a:r>
                        <a:rPr lang="en-US" altLang="zh-CN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0-8</a:t>
                      </a: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的任意数量的字节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可以发送</a:t>
                      </a: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0-8</a:t>
                      </a: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的任意数量的字节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除</a:t>
                      </a: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0-8</a:t>
                      </a: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字节外，还可以发送</a:t>
                      </a: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12/16/20/24/32/48/64</a:t>
                      </a: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数据字节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16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数据存储元素的命名规则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数据存储在消息对象中，邮箱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数据存储在消息对象中，邮箱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数据存储在与过滤器元素相关的缓冲器中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5847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数据存储元素的数量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固定</a:t>
                      </a: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32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  <a:sym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固定</a:t>
                      </a: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32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缓冲器的数量是灵活的（具体取决于元素的配置）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84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CRC</a:t>
                      </a:r>
                      <a:r>
                        <a:rPr lang="zh-CN" altLang="en-US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字段长度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15</a:t>
                      </a: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位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15</a:t>
                      </a: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位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15</a:t>
                      </a: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、</a:t>
                      </a: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17</a:t>
                      </a: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或</a:t>
                      </a: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21</a:t>
                      </a: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位</a:t>
                      </a:r>
                      <a:r>
                        <a:rPr lang="en-US" altLang="zh-CN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CRC</a:t>
                      </a:r>
                      <a:endParaRPr lang="en-US" altLang="zh-CN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878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时间戳支持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有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  <a:sym typeface="+mn-ea"/>
                        </a:rPr>
                        <a:t>否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  <a:sym typeface="+mn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有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3878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发送器延迟补偿（</a:t>
                      </a:r>
                      <a:r>
                        <a:rPr lang="en-US" altLang="zh-CN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TDC</a:t>
                      </a:r>
                      <a:r>
                        <a:rPr lang="zh-CN" altLang="en-US" sz="12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）</a:t>
                      </a:r>
                      <a:endParaRPr lang="zh-CN" altLang="en-US" sz="12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不需要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不需要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baseline="0" dirty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华文楷体" panose="02010600040101010101" pitchFamily="2" charset="-122"/>
                        </a:rPr>
                        <a:t>在数据段实现更快的比特率的需要</a:t>
                      </a:r>
                      <a:endParaRPr lang="zh-CN" altLang="en-US" sz="1100" baseline="0" dirty="0">
                        <a:solidFill>
                          <a:schemeClr val="tx1"/>
                        </a:solidFill>
                        <a:latin typeface="Calibri" panose="020F0502020204030204" charset="0"/>
                        <a:ea typeface="华文楷体" panose="02010600040101010101" pitchFamily="2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5590" y="322580"/>
            <a:ext cx="4255135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AVP32F003x - 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资源差异对比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829945" y="1214755"/>
          <a:ext cx="10159365" cy="4911090"/>
        </p:xfrm>
        <a:graphic>
          <a:graphicData uri="http://schemas.openxmlformats.org/drawingml/2006/table">
            <a:tbl>
              <a:tblPr/>
              <a:tblGrid>
                <a:gridCol w="3259455"/>
                <a:gridCol w="3290570"/>
                <a:gridCol w="3609340"/>
              </a:tblGrid>
              <a:tr h="63690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项点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F280039</a:t>
                      </a:r>
                      <a:endParaRPr lang="en-US" altLang="en-US" sz="11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AVP32F0039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73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芯片主频</a:t>
                      </a: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（MAX）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120</a:t>
                      </a: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Mhz @ CORE1.2V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120</a:t>
                      </a: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Mhz @ CORE1.1V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4422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芯片功耗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（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VREG)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274</a:t>
                      </a:r>
                      <a:r>
                        <a:rPr lang="en-US" sz="11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mW @ </a:t>
                      </a: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120</a:t>
                      </a:r>
                      <a:r>
                        <a:rPr lang="en-US" sz="11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Mhz</a:t>
                      </a:r>
                      <a:endParaRPr 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236</a:t>
                      </a: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mW @ </a:t>
                      </a: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120</a:t>
                      </a: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Mhz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2453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片内L</a:t>
                      </a: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DO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3.3/1.2 VREG</a:t>
                      </a:r>
                      <a:endParaRPr 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3.3/1.1 VREG</a:t>
                      </a:r>
                      <a:endParaRPr 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5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开机自检差异</a:t>
                      </a:r>
                      <a:r>
                        <a:rPr lang="en-US" altLang="zh-CN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MPOST</a:t>
                      </a:r>
                      <a:endParaRPr lang="en-US" altLang="zh-CN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支持</a:t>
                      </a:r>
                      <a:endParaRPr lang="zh-CN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1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sym typeface="+mn-ea"/>
                        </a:rPr>
                        <a:t>MPOST</a:t>
                      </a:r>
                      <a:r>
                        <a:rPr lang="zh-CN" altLang="en-US" sz="11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sym typeface="+mn-ea"/>
                        </a:rPr>
                        <a:t>模式</a:t>
                      </a:r>
                      <a:r>
                        <a:rPr lang="en-US" altLang="zh-CN" sz="11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sym typeface="+mn-ea"/>
                        </a:rPr>
                        <a:t>1</a:t>
                      </a:r>
                      <a:r>
                        <a:rPr lang="zh-CN" altLang="en-US" sz="11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Arial Narrow" panose="020B0606020202030204" pitchFamily="34" charset="0"/>
                          <a:sym typeface="+mn-ea"/>
                        </a:rPr>
                        <a:t>不可用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643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GPIO</a:t>
                      </a:r>
                      <a:r>
                        <a:rPr lang="zh-CN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端口负压差异</a:t>
                      </a:r>
                      <a:endParaRPr lang="zh-CN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大于</a:t>
                      </a:r>
                      <a:r>
                        <a:rPr lang="en-US" altLang="zh-CN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-1.8V</a:t>
                      </a:r>
                      <a:r>
                        <a:rPr lang="zh-CN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芯片复位</a:t>
                      </a:r>
                      <a:endParaRPr lang="zh-CN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大于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-0.9V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芯片复位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5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ADC</a:t>
                      </a:r>
                      <a:r>
                        <a:rPr lang="zh-CN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时钟频率</a:t>
                      </a:r>
                      <a:endParaRPr lang="zh-CN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120MHZ</a:t>
                      </a:r>
                      <a:r>
                        <a:rPr lang="zh-CN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性能无下降</a:t>
                      </a:r>
                      <a:endParaRPr lang="zh-CN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120MHZ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出现部分采样点偏差大</a:t>
                      </a:r>
                      <a:endParaRPr lang="zh-CN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5590" y="322580"/>
            <a:ext cx="4765040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AVP32F003x - 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开机自检差异项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sp>
        <p:nvSpPr>
          <p:cNvPr id="2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12750" y="927100"/>
            <a:ext cx="10562590" cy="1355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¢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描述：客户启动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 MPOST 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可以通过配置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 DCSM OTP 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位置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 Z1-OTP-BOOT-GPREG2 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或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 Z2-OTP-BOOT GPREG2 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寄存器的相应值，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MPOST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模式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1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不可用。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说明：规避此模式的配置，详情参考我司提供的《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AVP32F003x 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的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 MPOST 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应用说明》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 Narrow" panose="020B0606020202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  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 Narrow" panose="020B060602020203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745" y="2282190"/>
            <a:ext cx="5373370" cy="43167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5590" y="322580"/>
            <a:ext cx="4765040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AVP32F003x - GPIO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端口负压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sp>
        <p:nvSpPr>
          <p:cNvPr id="2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12750" y="927100"/>
            <a:ext cx="10562590" cy="967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¢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描述：当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GPIO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端口有高于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-0.9V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的负压注入的时候，我司芯片复位，竞品不会。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说明：手册最大负压是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-0.3V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，超出手册范围的极限阈值差异。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  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 Narrow" panose="020B060602020203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165" y="2084705"/>
            <a:ext cx="9039225" cy="36429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5590" y="322580"/>
            <a:ext cx="4765040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AVP32F003x - 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引导模式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sp>
        <p:nvSpPr>
          <p:cNvPr id="2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12750" y="927100"/>
            <a:ext cx="10562590" cy="9664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¢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描述：硬件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GPIO32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引脚未强制上拉，温度升高后芯片进入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CAN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引导模式。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说明：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 GPIO24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和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GPIO32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芯片内部引脚都未加上拉。可参考《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AVP32F0039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零引脚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BOOT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配置应用笔记》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412750" y="2221230"/>
            <a:ext cx="6325235" cy="3024505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3"/>
          <a:stretch>
            <a:fillRect/>
          </a:stretch>
        </p:blipFill>
        <p:spPr>
          <a:xfrm>
            <a:off x="6927850" y="2084705"/>
            <a:ext cx="5079365" cy="2324735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4"/>
          <a:stretch>
            <a:fillRect/>
          </a:stretch>
        </p:blipFill>
        <p:spPr>
          <a:xfrm>
            <a:off x="5549900" y="4819015"/>
            <a:ext cx="6399530" cy="1530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5590" y="322580"/>
            <a:ext cx="4765040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AVP32F003x - 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复位源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sp>
        <p:nvSpPr>
          <p:cNvPr id="2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12750" y="927100"/>
            <a:ext cx="10562590" cy="1341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¢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芯片级复位：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XRS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、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POR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、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BOR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、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WDRS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、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SIMRESET.XRS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、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NMIWDRS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，复位全部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系统级复位：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SYSRS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、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  <a:sym typeface="+mn-ea"/>
              </a:rPr>
              <a:t>SIMRESET.CPU1RS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  <a:sym typeface="+mn-ea"/>
              </a:rPr>
              <a:t>、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  <a:sym typeface="+mn-ea"/>
              </a:rPr>
              <a:t>SCCRESET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特殊复位（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HWBISTRS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和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TRSTS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）：使能器件的特定功能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 Narrow" panose="020B060602020203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460" y="2402205"/>
            <a:ext cx="9437370" cy="38703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5590" y="322580"/>
            <a:ext cx="4765040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AVP32F003x - FLASH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闪存参数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750" y="2421255"/>
            <a:ext cx="6297930" cy="2787650"/>
          </a:xfrm>
          <a:prstGeom prst="rect">
            <a:avLst/>
          </a:prstGeom>
        </p:spPr>
      </p:pic>
      <p:sp>
        <p:nvSpPr>
          <p:cNvPr id="6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12750" y="927100"/>
            <a:ext cx="10562590" cy="1039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¢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描述：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FLASH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的擦除和编程存在差异，我司比竞品偏慢。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说明：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 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关注客户程序编程超时的机制，建议采用最大的时间。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22" name="文本框 133"/>
          <p:cNvSpPr txBox="1"/>
          <p:nvPr>
            <p:custDataLst>
              <p:tags r:id="rId3"/>
            </p:custDataLst>
          </p:nvPr>
        </p:nvSpPr>
        <p:spPr>
          <a:xfrm>
            <a:off x="2524760" y="5457825"/>
            <a:ext cx="1845310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defTabSz="1219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手册闪存参数</a:t>
            </a:r>
            <a:endParaRPr lang="zh-CN" sz="2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8005" y="2498090"/>
            <a:ext cx="4953000" cy="2710815"/>
          </a:xfrm>
          <a:prstGeom prst="rect">
            <a:avLst/>
          </a:prstGeom>
        </p:spPr>
      </p:pic>
      <p:sp>
        <p:nvSpPr>
          <p:cNvPr id="8" name="文本框 133"/>
          <p:cNvSpPr txBox="1"/>
          <p:nvPr>
            <p:custDataLst>
              <p:tags r:id="rId5"/>
            </p:custDataLst>
          </p:nvPr>
        </p:nvSpPr>
        <p:spPr>
          <a:xfrm>
            <a:off x="8884285" y="5457825"/>
            <a:ext cx="1772285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defTabSz="1219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实测数据对比</a:t>
            </a:r>
            <a:endParaRPr lang="zh-CN" sz="2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5590" y="322580"/>
            <a:ext cx="4077970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AVP32F003x - 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芯片区分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33375" y="1007745"/>
            <a:ext cx="6554470" cy="927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¢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通过读取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0x700E8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地址的数据区分我司芯片和竞品芯片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      TI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为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0xFFFFFFFF          ADVCHIP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为非全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FF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   </a:t>
            </a:r>
            <a:endParaRPr lang="zh-CN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840" y="2099945"/>
            <a:ext cx="8318500" cy="43516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5590" y="322580"/>
            <a:ext cx="4255135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AVP32F004x - 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资源差异对比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944245" y="1297305"/>
          <a:ext cx="9219565" cy="4845685"/>
        </p:xfrm>
        <a:graphic>
          <a:graphicData uri="http://schemas.openxmlformats.org/drawingml/2006/table">
            <a:tbl>
              <a:tblPr/>
              <a:tblGrid>
                <a:gridCol w="2957830"/>
                <a:gridCol w="2986405"/>
                <a:gridCol w="3275330"/>
              </a:tblGrid>
              <a:tr h="54102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项点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TMS320F280049</a:t>
                      </a:r>
                      <a:endParaRPr lang="en-US" altLang="en-US" sz="11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AVP32F0049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35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芯片主频</a:t>
                      </a: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（MAX）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100</a:t>
                      </a: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Mhz @ CORE1.2V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100</a:t>
                      </a: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Mhz @ CORE1.1V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24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芯片功耗</a:t>
                      </a:r>
                      <a:r>
                        <a:rPr lang="zh-CN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（</a:t>
                      </a:r>
                      <a:r>
                        <a:rPr lang="en-US" altLang="zh-CN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VREG)</a:t>
                      </a:r>
                      <a:endParaRPr lang="en-US" altLang="zh-CN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298</a:t>
                      </a:r>
                      <a:r>
                        <a:rPr lang="en-US" sz="11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mW @ </a:t>
                      </a: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100</a:t>
                      </a:r>
                      <a:r>
                        <a:rPr lang="en-US" sz="11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Mhz</a:t>
                      </a:r>
                      <a:endParaRPr 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249</a:t>
                      </a: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mW @ </a:t>
                      </a: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100</a:t>
                      </a: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Mhz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40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片内L</a:t>
                      </a:r>
                      <a:r>
                        <a:rPr lang="en-US" sz="11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DO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3.3/1.2 VREG</a:t>
                      </a:r>
                      <a:endParaRPr 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3.3/1.1 VREG</a:t>
                      </a:r>
                      <a:endParaRPr 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22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TZ</a:t>
                      </a:r>
                      <a:r>
                        <a:rPr lang="zh-CN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关断时间</a:t>
                      </a:r>
                      <a:endParaRPr lang="zh-CN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25ns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35ns</a:t>
                      </a:r>
                      <a:endParaRPr lang="en-US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22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ADC</a:t>
                      </a:r>
                      <a:r>
                        <a:rPr lang="zh-CN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时钟频率</a:t>
                      </a:r>
                      <a:endParaRPr lang="zh-CN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100MHZ</a:t>
                      </a:r>
                      <a:r>
                        <a:rPr lang="zh-CN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性能无下降</a:t>
                      </a:r>
                      <a:endParaRPr lang="zh-CN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100MHZ</a:t>
                      </a:r>
                      <a:r>
                        <a:rPr lang="zh-CN" alt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出现部分采样点偏差大</a:t>
                      </a:r>
                      <a:endParaRPr lang="zh-CN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22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无源晶体起振时间</a:t>
                      </a:r>
                      <a:endParaRPr lang="zh-CN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1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AVP32F004X器件相较于F28004x无源晶振起振时间稍长，幅值偏低</a:t>
                      </a:r>
                      <a:endParaRPr 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76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FLASH API</a:t>
                      </a:r>
                      <a:r>
                        <a:rPr lang="zh-CN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操作</a:t>
                      </a:r>
                      <a:endParaRPr lang="zh-CN" altLang="en-US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支持</a:t>
                      </a:r>
                      <a:r>
                        <a:rPr lang="en-US" altLang="zh-CN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bank0</a:t>
                      </a:r>
                      <a:r>
                        <a:rPr lang="zh-CN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直接操作</a:t>
                      </a:r>
                      <a:r>
                        <a:rPr lang="en-US" altLang="zh-CN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bank1</a:t>
                      </a:r>
                      <a:endParaRPr lang="en-US" altLang="zh-CN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不能直接操作，需要搬到</a:t>
                      </a:r>
                      <a:r>
                        <a:rPr lang="en-US" altLang="zh-CN" sz="11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RAM</a:t>
                      </a:r>
                      <a:endParaRPr lang="en-US" altLang="zh-CN" sz="11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12750" y="927100"/>
            <a:ext cx="10562590" cy="967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¢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描述：</a:t>
            </a:r>
            <a:r>
              <a:rPr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  <a:sym typeface="+mn-ea"/>
              </a:rPr>
              <a:t>AVP32F004X器件相较于F28004x无源晶振起振时间稍长，幅值偏低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。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说明：</a:t>
            </a:r>
            <a:r>
              <a:rPr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  <a:sym typeface="+mn-ea"/>
              </a:rPr>
              <a:t>如有异常请加大无源晶振切换的等待时间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。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  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5590" y="322580"/>
            <a:ext cx="5645150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AVP32F004x - 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无源晶体起振时间差异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840" y="1894205"/>
            <a:ext cx="5930265" cy="42900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12750" y="927100"/>
            <a:ext cx="10562590" cy="955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¢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描述：</a:t>
            </a:r>
            <a:r>
              <a:rPr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  <a:sym typeface="+mn-ea"/>
              </a:rPr>
              <a:t>请勿在FLASH某一个BANK里运行FLASH擦除编程本BANK和另外一个BANK的代码</a:t>
            </a:r>
            <a:r>
              <a:rPr 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  <a:sym typeface="+mn-ea"/>
              </a:rPr>
              <a:t>。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 Narrow" panose="020B060602020203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说明：</a:t>
            </a:r>
            <a:r>
              <a:rPr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  <a:sym typeface="+mn-ea"/>
              </a:rPr>
              <a:t>如有此类使用请将FLASH API搬移到RAM中运行，搬移只需改动CMD文件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。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 Narrow" panose="020B0606020202030204" pitchFamily="34" charset="0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Arial Narrow" panose="020B0606020202030204" pitchFamily="34" charset="0"/>
              </a:rPr>
              <a:t> GSACD2602</a:t>
            </a:r>
            <a:r>
              <a:rPr lang="zh-CN" altLang="en-US" sz="1600" dirty="0">
                <a:solidFill>
                  <a:srgbClr val="FF0000"/>
                </a:solidFill>
                <a:latin typeface="Arial Narrow" panose="020B0606020202030204" pitchFamily="34" charset="0"/>
              </a:rPr>
              <a:t>批次后优化此问题</a:t>
            </a:r>
            <a:endParaRPr lang="zh-CN" altLang="en-US" sz="1600" dirty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5590" y="322580"/>
            <a:ext cx="4139565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AVP32F004x - FLASH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编程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pic>
        <p:nvPicPr>
          <p:cNvPr id="44723408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150" y="2281555"/>
            <a:ext cx="9537065" cy="35756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/>
          <p:cNvSpPr/>
          <p:nvPr userDrawn="1">
            <p:custDataLst>
              <p:tags r:id="rId1"/>
            </p:custDataLst>
          </p:nvPr>
        </p:nvSpPr>
        <p:spPr>
          <a:xfrm rot="16200000" flipH="1">
            <a:off x="2666365" y="-2667000"/>
            <a:ext cx="6858000" cy="12191365"/>
          </a:xfrm>
          <a:prstGeom prst="rect">
            <a:avLst/>
          </a:prstGeom>
          <a:solidFill>
            <a:schemeClr val="tx1">
              <a:lumMod val="75000"/>
              <a:lumOff val="25000"/>
              <a:alpha val="78000"/>
            </a:schemeClr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ea typeface="微软雅黑" panose="020B0503020204020204" charset="-122"/>
            </a:endParaRPr>
          </a:p>
        </p:txBody>
      </p:sp>
      <p:sp>
        <p:nvSpPr>
          <p:cNvPr id="20" name="矩形 19"/>
          <p:cNvSpPr/>
          <p:nvPr userDrawn="1">
            <p:custDataLst>
              <p:tags r:id="rId2"/>
            </p:custDataLst>
          </p:nvPr>
        </p:nvSpPr>
        <p:spPr>
          <a:xfrm rot="16200000" flipH="1">
            <a:off x="407035" y="930275"/>
            <a:ext cx="5235575" cy="48037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ea typeface="微软雅黑" panose="020B0503020204020204" charset="-122"/>
            </a:endParaRPr>
          </a:p>
        </p:txBody>
      </p:sp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Slide" r:id="rId4" imgW="3175" imgH="3175" progId="TCLayout.ActiveDocument.1">
                  <p:embed/>
                </p:oleObj>
              </mc:Choice>
              <mc:Fallback>
                <p:oleObj name="think-cell Slide" r:id="rId4" imgW="3175" imgH="3175" progId="TCLayout.ActiveDocument.1">
                  <p:embed/>
                  <p:pic>
                    <p:nvPicPr>
                      <p:cNvPr id="0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" name="组合 38"/>
          <p:cNvGrpSpPr/>
          <p:nvPr/>
        </p:nvGrpSpPr>
        <p:grpSpPr>
          <a:xfrm>
            <a:off x="1298893" y="1111250"/>
            <a:ext cx="3452495" cy="4356100"/>
            <a:chOff x="2003" y="2009"/>
            <a:chExt cx="5437" cy="6860"/>
          </a:xfrm>
        </p:grpSpPr>
        <p:grpSp>
          <p:nvGrpSpPr>
            <p:cNvPr id="11" name="组合 10"/>
            <p:cNvGrpSpPr/>
            <p:nvPr/>
          </p:nvGrpSpPr>
          <p:grpSpPr>
            <a:xfrm>
              <a:off x="2168" y="3163"/>
              <a:ext cx="5241" cy="1734"/>
              <a:chOff x="11972" y="2784"/>
              <a:chExt cx="5241" cy="1734"/>
            </a:xfrm>
          </p:grpSpPr>
          <p:sp>
            <p:nvSpPr>
              <p:cNvPr id="19" name="Rectangle 59"/>
              <p:cNvSpPr/>
              <p:nvPr>
                <p:custDataLst>
                  <p:tags r:id="rId6"/>
                </p:custDataLst>
              </p:nvPr>
            </p:nvSpPr>
            <p:spPr>
              <a:xfrm>
                <a:off x="12416" y="2784"/>
                <a:ext cx="2253" cy="769"/>
              </a:xfrm>
              <a:prstGeom prst="rect">
                <a:avLst/>
              </a:prstGeom>
            </p:spPr>
            <p:txBody>
              <a:bodyPr wrap="none" lIns="243797" tIns="121899" rIns="243797" bIns="121899">
                <a:spAutoFit/>
              </a:bodyPr>
              <a:lstStyle/>
              <a:p>
                <a:r>
                  <a:rPr lang="zh-CN" altLang="en-US" sz="1600" b="1" dirty="0">
                    <a:solidFill>
                      <a:srgbClr val="D7010F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电邮</a:t>
                </a:r>
                <a:r>
                  <a:rPr lang="en-US" altLang="zh-CN" sz="1600" b="1" dirty="0">
                    <a:solidFill>
                      <a:srgbClr val="D7010F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/</a:t>
                </a:r>
                <a:r>
                  <a:rPr lang="zh-CN" altLang="en-US" sz="1600" b="1" dirty="0">
                    <a:solidFill>
                      <a:srgbClr val="D7010F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网址</a:t>
                </a:r>
                <a:r>
                  <a:rPr lang="en-US" altLang="zh-CN" sz="1600" b="1" dirty="0">
                    <a:solidFill>
                      <a:srgbClr val="D7010F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 </a:t>
                </a:r>
                <a:endParaRPr lang="en-US" altLang="zh-CN" sz="1600" b="1" dirty="0">
                  <a:solidFill>
                    <a:srgbClr val="D7010F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lt"/>
                </a:endParaRPr>
              </a:p>
            </p:txBody>
          </p:sp>
          <p:sp>
            <p:nvSpPr>
              <p:cNvPr id="23" name="Freeform 185"/>
              <p:cNvSpPr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11972" y="2966"/>
                <a:ext cx="575" cy="440"/>
              </a:xfrm>
              <a:custGeom>
                <a:avLst/>
                <a:gdLst>
                  <a:gd name="T0" fmla="*/ 545 w 619"/>
                  <a:gd name="T1" fmla="*/ 0 h 472"/>
                  <a:gd name="T2" fmla="*/ 545 w 619"/>
                  <a:gd name="T3" fmla="*/ 0 h 472"/>
                  <a:gd name="T4" fmla="*/ 73 w 619"/>
                  <a:gd name="T5" fmla="*/ 0 h 472"/>
                  <a:gd name="T6" fmla="*/ 0 w 619"/>
                  <a:gd name="T7" fmla="*/ 73 h 472"/>
                  <a:gd name="T8" fmla="*/ 0 w 619"/>
                  <a:gd name="T9" fmla="*/ 397 h 472"/>
                  <a:gd name="T10" fmla="*/ 73 w 619"/>
                  <a:gd name="T11" fmla="*/ 471 h 472"/>
                  <a:gd name="T12" fmla="*/ 545 w 619"/>
                  <a:gd name="T13" fmla="*/ 471 h 472"/>
                  <a:gd name="T14" fmla="*/ 618 w 619"/>
                  <a:gd name="T15" fmla="*/ 397 h 472"/>
                  <a:gd name="T16" fmla="*/ 618 w 619"/>
                  <a:gd name="T17" fmla="*/ 73 h 472"/>
                  <a:gd name="T18" fmla="*/ 545 w 619"/>
                  <a:gd name="T19" fmla="*/ 0 h 472"/>
                  <a:gd name="T20" fmla="*/ 559 w 619"/>
                  <a:gd name="T21" fmla="*/ 44 h 472"/>
                  <a:gd name="T22" fmla="*/ 559 w 619"/>
                  <a:gd name="T23" fmla="*/ 44 h 472"/>
                  <a:gd name="T24" fmla="*/ 309 w 619"/>
                  <a:gd name="T25" fmla="*/ 235 h 472"/>
                  <a:gd name="T26" fmla="*/ 59 w 619"/>
                  <a:gd name="T27" fmla="*/ 44 h 472"/>
                  <a:gd name="T28" fmla="*/ 559 w 619"/>
                  <a:gd name="T29" fmla="*/ 44 h 472"/>
                  <a:gd name="T30" fmla="*/ 29 w 619"/>
                  <a:gd name="T31" fmla="*/ 397 h 472"/>
                  <a:gd name="T32" fmla="*/ 29 w 619"/>
                  <a:gd name="T33" fmla="*/ 397 h 472"/>
                  <a:gd name="T34" fmla="*/ 29 w 619"/>
                  <a:gd name="T35" fmla="*/ 73 h 472"/>
                  <a:gd name="T36" fmla="*/ 206 w 619"/>
                  <a:gd name="T37" fmla="*/ 221 h 472"/>
                  <a:gd name="T38" fmla="*/ 29 w 619"/>
                  <a:gd name="T39" fmla="*/ 397 h 472"/>
                  <a:gd name="T40" fmla="*/ 59 w 619"/>
                  <a:gd name="T41" fmla="*/ 427 h 472"/>
                  <a:gd name="T42" fmla="*/ 59 w 619"/>
                  <a:gd name="T43" fmla="*/ 427 h 472"/>
                  <a:gd name="T44" fmla="*/ 236 w 619"/>
                  <a:gd name="T45" fmla="*/ 235 h 472"/>
                  <a:gd name="T46" fmla="*/ 309 w 619"/>
                  <a:gd name="T47" fmla="*/ 294 h 472"/>
                  <a:gd name="T48" fmla="*/ 368 w 619"/>
                  <a:gd name="T49" fmla="*/ 235 h 472"/>
                  <a:gd name="T50" fmla="*/ 559 w 619"/>
                  <a:gd name="T51" fmla="*/ 427 h 472"/>
                  <a:gd name="T52" fmla="*/ 59 w 619"/>
                  <a:gd name="T53" fmla="*/ 427 h 472"/>
                  <a:gd name="T54" fmla="*/ 589 w 619"/>
                  <a:gd name="T55" fmla="*/ 397 h 472"/>
                  <a:gd name="T56" fmla="*/ 589 w 619"/>
                  <a:gd name="T57" fmla="*/ 397 h 472"/>
                  <a:gd name="T58" fmla="*/ 589 w 619"/>
                  <a:gd name="T59" fmla="*/ 397 h 472"/>
                  <a:gd name="T60" fmla="*/ 412 w 619"/>
                  <a:gd name="T61" fmla="*/ 221 h 472"/>
                  <a:gd name="T62" fmla="*/ 589 w 619"/>
                  <a:gd name="T63" fmla="*/ 73 h 472"/>
                  <a:gd name="T64" fmla="*/ 589 w 619"/>
                  <a:gd name="T65" fmla="*/ 397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19" h="472">
                    <a:moveTo>
                      <a:pt x="545" y="0"/>
                    </a:moveTo>
                    <a:lnTo>
                      <a:pt x="545" y="0"/>
                    </a:lnTo>
                    <a:cubicBezTo>
                      <a:pt x="73" y="0"/>
                      <a:pt x="73" y="0"/>
                      <a:pt x="73" y="0"/>
                    </a:cubicBezTo>
                    <a:cubicBezTo>
                      <a:pt x="29" y="0"/>
                      <a:pt x="0" y="30"/>
                      <a:pt x="0" y="73"/>
                    </a:cubicBezTo>
                    <a:cubicBezTo>
                      <a:pt x="0" y="397"/>
                      <a:pt x="0" y="397"/>
                      <a:pt x="0" y="397"/>
                    </a:cubicBezTo>
                    <a:cubicBezTo>
                      <a:pt x="0" y="442"/>
                      <a:pt x="29" y="471"/>
                      <a:pt x="73" y="471"/>
                    </a:cubicBezTo>
                    <a:cubicBezTo>
                      <a:pt x="545" y="471"/>
                      <a:pt x="545" y="471"/>
                      <a:pt x="545" y="471"/>
                    </a:cubicBezTo>
                    <a:cubicBezTo>
                      <a:pt x="589" y="471"/>
                      <a:pt x="618" y="442"/>
                      <a:pt x="618" y="397"/>
                    </a:cubicBezTo>
                    <a:cubicBezTo>
                      <a:pt x="618" y="73"/>
                      <a:pt x="618" y="73"/>
                      <a:pt x="618" y="73"/>
                    </a:cubicBezTo>
                    <a:cubicBezTo>
                      <a:pt x="618" y="30"/>
                      <a:pt x="589" y="0"/>
                      <a:pt x="545" y="0"/>
                    </a:cubicBezTo>
                    <a:close/>
                    <a:moveTo>
                      <a:pt x="559" y="44"/>
                    </a:moveTo>
                    <a:lnTo>
                      <a:pt x="559" y="44"/>
                    </a:lnTo>
                    <a:cubicBezTo>
                      <a:pt x="309" y="235"/>
                      <a:pt x="309" y="235"/>
                      <a:pt x="309" y="235"/>
                    </a:cubicBezTo>
                    <a:cubicBezTo>
                      <a:pt x="59" y="44"/>
                      <a:pt x="59" y="44"/>
                      <a:pt x="59" y="44"/>
                    </a:cubicBezTo>
                    <a:lnTo>
                      <a:pt x="559" y="44"/>
                    </a:lnTo>
                    <a:close/>
                    <a:moveTo>
                      <a:pt x="29" y="397"/>
                    </a:moveTo>
                    <a:lnTo>
                      <a:pt x="29" y="397"/>
                    </a:lnTo>
                    <a:cubicBezTo>
                      <a:pt x="29" y="73"/>
                      <a:pt x="29" y="73"/>
                      <a:pt x="29" y="73"/>
                    </a:cubicBezTo>
                    <a:cubicBezTo>
                      <a:pt x="206" y="221"/>
                      <a:pt x="206" y="221"/>
                      <a:pt x="206" y="221"/>
                    </a:cubicBezTo>
                    <a:cubicBezTo>
                      <a:pt x="29" y="397"/>
                      <a:pt x="29" y="397"/>
                      <a:pt x="29" y="397"/>
                    </a:cubicBezTo>
                    <a:close/>
                    <a:moveTo>
                      <a:pt x="59" y="427"/>
                    </a:moveTo>
                    <a:lnTo>
                      <a:pt x="59" y="427"/>
                    </a:lnTo>
                    <a:cubicBezTo>
                      <a:pt x="236" y="235"/>
                      <a:pt x="236" y="235"/>
                      <a:pt x="236" y="235"/>
                    </a:cubicBezTo>
                    <a:cubicBezTo>
                      <a:pt x="309" y="294"/>
                      <a:pt x="309" y="294"/>
                      <a:pt x="309" y="294"/>
                    </a:cubicBezTo>
                    <a:cubicBezTo>
                      <a:pt x="368" y="235"/>
                      <a:pt x="368" y="235"/>
                      <a:pt x="368" y="235"/>
                    </a:cubicBezTo>
                    <a:cubicBezTo>
                      <a:pt x="559" y="427"/>
                      <a:pt x="559" y="427"/>
                      <a:pt x="559" y="427"/>
                    </a:cubicBezTo>
                    <a:cubicBezTo>
                      <a:pt x="545" y="427"/>
                      <a:pt x="73" y="427"/>
                      <a:pt x="59" y="427"/>
                    </a:cubicBezTo>
                    <a:close/>
                    <a:moveTo>
                      <a:pt x="589" y="397"/>
                    </a:moveTo>
                    <a:lnTo>
                      <a:pt x="589" y="397"/>
                    </a:lnTo>
                    <a:lnTo>
                      <a:pt x="589" y="397"/>
                    </a:lnTo>
                    <a:cubicBezTo>
                      <a:pt x="412" y="221"/>
                      <a:pt x="412" y="221"/>
                      <a:pt x="412" y="221"/>
                    </a:cubicBezTo>
                    <a:cubicBezTo>
                      <a:pt x="589" y="73"/>
                      <a:pt x="589" y="73"/>
                      <a:pt x="589" y="73"/>
                    </a:cubicBezTo>
                    <a:lnTo>
                      <a:pt x="589" y="397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en-US">
                  <a:solidFill>
                    <a:schemeClr val="lt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6" name="TextBox 14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2696" y="3357"/>
                <a:ext cx="4517" cy="11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altLang="zh-CN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Email</a:t>
                </a:r>
                <a:r>
                  <a:rPr lang="zh-CN" altLang="en-US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：</a:t>
                </a:r>
                <a:r>
                  <a:rPr lang="en-US" altLang="zh-CN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sales@advancechip.com</a:t>
                </a:r>
                <a:endParaRPr lang="en-US" altLang="zh-CN" sz="14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lt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lang="en-US" altLang="zh-CN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WEB</a:t>
                </a:r>
                <a:r>
                  <a:rPr lang="zh-CN" altLang="en-US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：</a:t>
                </a:r>
                <a:r>
                  <a:rPr lang="en-US" altLang="zh-CN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www.advancechip.com</a:t>
                </a:r>
                <a:endParaRPr lang="en-US" altLang="zh-CN" sz="14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lt"/>
                </a:endParaRPr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2241" y="5064"/>
              <a:ext cx="4317" cy="1761"/>
              <a:chOff x="9182" y="5765"/>
              <a:chExt cx="4317" cy="1761"/>
            </a:xfrm>
          </p:grpSpPr>
          <p:sp>
            <p:nvSpPr>
              <p:cNvPr id="29" name="Rectangle 58"/>
              <p:cNvSpPr/>
              <p:nvPr>
                <p:custDataLst>
                  <p:tags r:id="rId9"/>
                </p:custDataLst>
              </p:nvPr>
            </p:nvSpPr>
            <p:spPr>
              <a:xfrm>
                <a:off x="9606" y="5765"/>
                <a:ext cx="2046" cy="769"/>
              </a:xfrm>
              <a:prstGeom prst="rect">
                <a:avLst/>
              </a:prstGeom>
            </p:spPr>
            <p:txBody>
              <a:bodyPr wrap="none" lIns="243797" tIns="121899" rIns="243797" bIns="121899">
                <a:spAutoFit/>
              </a:bodyPr>
              <a:lstStyle/>
              <a:p>
                <a:r>
                  <a:rPr lang="zh-CN" altLang="en-US" sz="1600" b="1" dirty="0">
                    <a:solidFill>
                      <a:srgbClr val="D7010F"/>
                    </a:solidFill>
                    <a:latin typeface="思源黑体" panose="020B0500000000000000" charset="-122"/>
                    <a:ea typeface="思源黑体" panose="020B0500000000000000" charset="-122"/>
                    <a:cs typeface="+mn-ea"/>
                    <a:sym typeface="+mn-lt"/>
                  </a:rPr>
                  <a:t>公司地址</a:t>
                </a:r>
                <a:endParaRPr lang="zh-CN" altLang="en-US" sz="1600" b="1" dirty="0">
                  <a:solidFill>
                    <a:srgbClr val="D7010F"/>
                  </a:solidFill>
                  <a:latin typeface="思源黑体" panose="020B0500000000000000" charset="-122"/>
                  <a:ea typeface="思源黑体" panose="020B0500000000000000" charset="-122"/>
                  <a:cs typeface="+mn-ea"/>
                  <a:sym typeface="+mn-lt"/>
                </a:endParaRPr>
              </a:p>
            </p:txBody>
          </p:sp>
          <p:sp>
            <p:nvSpPr>
              <p:cNvPr id="30" name="Freeform 161"/>
              <p:cNvSpPr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9182" y="5881"/>
                <a:ext cx="502" cy="653"/>
              </a:xfrm>
              <a:custGeom>
                <a:avLst/>
                <a:gdLst>
                  <a:gd name="T0" fmla="*/ 236 w 472"/>
                  <a:gd name="T1" fmla="*/ 0 h 619"/>
                  <a:gd name="T2" fmla="*/ 236 w 472"/>
                  <a:gd name="T3" fmla="*/ 0 h 619"/>
                  <a:gd name="T4" fmla="*/ 0 w 472"/>
                  <a:gd name="T5" fmla="*/ 235 h 619"/>
                  <a:gd name="T6" fmla="*/ 236 w 472"/>
                  <a:gd name="T7" fmla="*/ 618 h 619"/>
                  <a:gd name="T8" fmla="*/ 471 w 472"/>
                  <a:gd name="T9" fmla="*/ 235 h 619"/>
                  <a:gd name="T10" fmla="*/ 236 w 472"/>
                  <a:gd name="T11" fmla="*/ 0 h 619"/>
                  <a:gd name="T12" fmla="*/ 236 w 472"/>
                  <a:gd name="T13" fmla="*/ 559 h 619"/>
                  <a:gd name="T14" fmla="*/ 236 w 472"/>
                  <a:gd name="T15" fmla="*/ 559 h 619"/>
                  <a:gd name="T16" fmla="*/ 45 w 472"/>
                  <a:gd name="T17" fmla="*/ 235 h 619"/>
                  <a:gd name="T18" fmla="*/ 236 w 472"/>
                  <a:gd name="T19" fmla="*/ 29 h 619"/>
                  <a:gd name="T20" fmla="*/ 427 w 472"/>
                  <a:gd name="T21" fmla="*/ 235 h 619"/>
                  <a:gd name="T22" fmla="*/ 236 w 472"/>
                  <a:gd name="T23" fmla="*/ 559 h 619"/>
                  <a:gd name="T24" fmla="*/ 236 w 472"/>
                  <a:gd name="T25" fmla="*/ 132 h 619"/>
                  <a:gd name="T26" fmla="*/ 236 w 472"/>
                  <a:gd name="T27" fmla="*/ 132 h 619"/>
                  <a:gd name="T28" fmla="*/ 133 w 472"/>
                  <a:gd name="T29" fmla="*/ 235 h 619"/>
                  <a:gd name="T30" fmla="*/ 236 w 472"/>
                  <a:gd name="T31" fmla="*/ 323 h 619"/>
                  <a:gd name="T32" fmla="*/ 339 w 472"/>
                  <a:gd name="T33" fmla="*/ 235 h 619"/>
                  <a:gd name="T34" fmla="*/ 236 w 472"/>
                  <a:gd name="T35" fmla="*/ 132 h 619"/>
                  <a:gd name="T36" fmla="*/ 236 w 472"/>
                  <a:gd name="T37" fmla="*/ 294 h 619"/>
                  <a:gd name="T38" fmla="*/ 236 w 472"/>
                  <a:gd name="T39" fmla="*/ 294 h 619"/>
                  <a:gd name="T40" fmla="*/ 177 w 472"/>
                  <a:gd name="T41" fmla="*/ 235 h 619"/>
                  <a:gd name="T42" fmla="*/ 236 w 472"/>
                  <a:gd name="T43" fmla="*/ 176 h 619"/>
                  <a:gd name="T44" fmla="*/ 295 w 472"/>
                  <a:gd name="T45" fmla="*/ 235 h 619"/>
                  <a:gd name="T46" fmla="*/ 236 w 472"/>
                  <a:gd name="T47" fmla="*/ 294 h 6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472" h="619">
                    <a:moveTo>
                      <a:pt x="236" y="0"/>
                    </a:moveTo>
                    <a:lnTo>
                      <a:pt x="236" y="0"/>
                    </a:lnTo>
                    <a:cubicBezTo>
                      <a:pt x="104" y="0"/>
                      <a:pt x="0" y="103"/>
                      <a:pt x="0" y="235"/>
                    </a:cubicBezTo>
                    <a:cubicBezTo>
                      <a:pt x="0" y="323"/>
                      <a:pt x="192" y="618"/>
                      <a:pt x="236" y="618"/>
                    </a:cubicBezTo>
                    <a:cubicBezTo>
                      <a:pt x="280" y="618"/>
                      <a:pt x="471" y="323"/>
                      <a:pt x="471" y="235"/>
                    </a:cubicBezTo>
                    <a:cubicBezTo>
                      <a:pt x="471" y="103"/>
                      <a:pt x="368" y="0"/>
                      <a:pt x="236" y="0"/>
                    </a:cubicBezTo>
                    <a:close/>
                    <a:moveTo>
                      <a:pt x="236" y="559"/>
                    </a:moveTo>
                    <a:lnTo>
                      <a:pt x="236" y="559"/>
                    </a:lnTo>
                    <a:cubicBezTo>
                      <a:pt x="207" y="559"/>
                      <a:pt x="45" y="309"/>
                      <a:pt x="45" y="235"/>
                    </a:cubicBezTo>
                    <a:cubicBezTo>
                      <a:pt x="45" y="117"/>
                      <a:pt x="133" y="29"/>
                      <a:pt x="236" y="29"/>
                    </a:cubicBezTo>
                    <a:cubicBezTo>
                      <a:pt x="339" y="29"/>
                      <a:pt x="427" y="117"/>
                      <a:pt x="427" y="235"/>
                    </a:cubicBezTo>
                    <a:cubicBezTo>
                      <a:pt x="427" y="309"/>
                      <a:pt x="266" y="559"/>
                      <a:pt x="236" y="559"/>
                    </a:cubicBezTo>
                    <a:close/>
                    <a:moveTo>
                      <a:pt x="236" y="132"/>
                    </a:moveTo>
                    <a:lnTo>
                      <a:pt x="236" y="132"/>
                    </a:lnTo>
                    <a:cubicBezTo>
                      <a:pt x="177" y="132"/>
                      <a:pt x="133" y="176"/>
                      <a:pt x="133" y="235"/>
                    </a:cubicBezTo>
                    <a:cubicBezTo>
                      <a:pt x="133" y="279"/>
                      <a:pt x="177" y="323"/>
                      <a:pt x="236" y="323"/>
                    </a:cubicBezTo>
                    <a:cubicBezTo>
                      <a:pt x="295" y="323"/>
                      <a:pt x="339" y="279"/>
                      <a:pt x="339" y="235"/>
                    </a:cubicBezTo>
                    <a:cubicBezTo>
                      <a:pt x="339" y="176"/>
                      <a:pt x="295" y="132"/>
                      <a:pt x="236" y="132"/>
                    </a:cubicBezTo>
                    <a:close/>
                    <a:moveTo>
                      <a:pt x="236" y="294"/>
                    </a:moveTo>
                    <a:lnTo>
                      <a:pt x="236" y="294"/>
                    </a:lnTo>
                    <a:cubicBezTo>
                      <a:pt x="207" y="294"/>
                      <a:pt x="177" y="264"/>
                      <a:pt x="177" y="235"/>
                    </a:cubicBezTo>
                    <a:cubicBezTo>
                      <a:pt x="177" y="191"/>
                      <a:pt x="207" y="176"/>
                      <a:pt x="236" y="176"/>
                    </a:cubicBezTo>
                    <a:cubicBezTo>
                      <a:pt x="266" y="176"/>
                      <a:pt x="295" y="191"/>
                      <a:pt x="295" y="235"/>
                    </a:cubicBezTo>
                    <a:cubicBezTo>
                      <a:pt x="295" y="264"/>
                      <a:pt x="266" y="294"/>
                      <a:pt x="236" y="294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en-US">
                  <a:solidFill>
                    <a:schemeClr val="lt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1" name="TextBox 14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9851" y="6365"/>
                <a:ext cx="3648" cy="11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长沙市</a:t>
                </a:r>
                <a:r>
                  <a:rPr lang="zh-CN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湘江新</a:t>
                </a:r>
                <a:r>
                  <a:rPr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区东方红街道</a:t>
                </a:r>
                <a:endParaRPr sz="14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lt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北斗产业园·黄金园A5栋  </a:t>
                </a:r>
                <a:endParaRPr sz="14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lt"/>
                </a:endParaRPr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2241" y="7081"/>
              <a:ext cx="5199" cy="1788"/>
              <a:chOff x="2484" y="7433"/>
              <a:chExt cx="5199" cy="1788"/>
            </a:xfrm>
          </p:grpSpPr>
          <p:sp>
            <p:nvSpPr>
              <p:cNvPr id="33" name="Rectangle 60"/>
              <p:cNvSpPr/>
              <p:nvPr>
                <p:custDataLst>
                  <p:tags r:id="rId12"/>
                </p:custDataLst>
              </p:nvPr>
            </p:nvSpPr>
            <p:spPr>
              <a:xfrm>
                <a:off x="2932" y="7433"/>
                <a:ext cx="2046" cy="769"/>
              </a:xfrm>
              <a:prstGeom prst="rect">
                <a:avLst/>
              </a:prstGeom>
            </p:spPr>
            <p:txBody>
              <a:bodyPr wrap="none" lIns="243797" tIns="121899" rIns="243797" bIns="121899">
                <a:spAutoFit/>
              </a:bodyPr>
              <a:lstStyle/>
              <a:p>
                <a:r>
                  <a:rPr lang="zh-CN" altLang="en-US" sz="1600" b="1" dirty="0">
                    <a:solidFill>
                      <a:srgbClr val="D7010F"/>
                    </a:solidFill>
                    <a:latin typeface="思源黑体" panose="020B0500000000000000" charset="-122"/>
                    <a:ea typeface="思源黑体" panose="020B0500000000000000" charset="-122"/>
                    <a:cs typeface="+mn-ea"/>
                    <a:sym typeface="+mn-lt"/>
                  </a:rPr>
                  <a:t>联系电话</a:t>
                </a:r>
                <a:endParaRPr lang="zh-CN" altLang="en-US" sz="1600" b="1" dirty="0">
                  <a:solidFill>
                    <a:srgbClr val="D7010F"/>
                  </a:solidFill>
                  <a:latin typeface="思源黑体" panose="020B0500000000000000" charset="-122"/>
                  <a:ea typeface="思源黑体" panose="020B0500000000000000" charset="-122"/>
                  <a:cs typeface="+mn-ea"/>
                  <a:sym typeface="+mn-lt"/>
                </a:endParaRPr>
              </a:p>
            </p:txBody>
          </p:sp>
          <p:sp>
            <p:nvSpPr>
              <p:cNvPr id="34" name="Freeform 178"/>
              <p:cNvSpPr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2484" y="7580"/>
                <a:ext cx="580" cy="563"/>
              </a:xfrm>
              <a:custGeom>
                <a:avLst/>
                <a:gdLst>
                  <a:gd name="T0" fmla="*/ 603 w 634"/>
                  <a:gd name="T1" fmla="*/ 74 h 619"/>
                  <a:gd name="T2" fmla="*/ 603 w 634"/>
                  <a:gd name="T3" fmla="*/ 74 h 619"/>
                  <a:gd name="T4" fmla="*/ 545 w 634"/>
                  <a:gd name="T5" fmla="*/ 15 h 619"/>
                  <a:gd name="T6" fmla="*/ 486 w 634"/>
                  <a:gd name="T7" fmla="*/ 15 h 619"/>
                  <a:gd name="T8" fmla="*/ 412 w 634"/>
                  <a:gd name="T9" fmla="*/ 133 h 619"/>
                  <a:gd name="T10" fmla="*/ 412 w 634"/>
                  <a:gd name="T11" fmla="*/ 191 h 619"/>
                  <a:gd name="T12" fmla="*/ 441 w 634"/>
                  <a:gd name="T13" fmla="*/ 221 h 619"/>
                  <a:gd name="T14" fmla="*/ 353 w 634"/>
                  <a:gd name="T15" fmla="*/ 324 h 619"/>
                  <a:gd name="T16" fmla="*/ 235 w 634"/>
                  <a:gd name="T17" fmla="*/ 427 h 619"/>
                  <a:gd name="T18" fmla="*/ 191 w 634"/>
                  <a:gd name="T19" fmla="*/ 397 h 619"/>
                  <a:gd name="T20" fmla="*/ 132 w 634"/>
                  <a:gd name="T21" fmla="*/ 397 h 619"/>
                  <a:gd name="T22" fmla="*/ 29 w 634"/>
                  <a:gd name="T23" fmla="*/ 486 h 619"/>
                  <a:gd name="T24" fmla="*/ 29 w 634"/>
                  <a:gd name="T25" fmla="*/ 530 h 619"/>
                  <a:gd name="T26" fmla="*/ 88 w 634"/>
                  <a:gd name="T27" fmla="*/ 589 h 619"/>
                  <a:gd name="T28" fmla="*/ 191 w 634"/>
                  <a:gd name="T29" fmla="*/ 589 h 619"/>
                  <a:gd name="T30" fmla="*/ 427 w 634"/>
                  <a:gd name="T31" fmla="*/ 412 h 619"/>
                  <a:gd name="T32" fmla="*/ 603 w 634"/>
                  <a:gd name="T33" fmla="*/ 191 h 619"/>
                  <a:gd name="T34" fmla="*/ 603 w 634"/>
                  <a:gd name="T35" fmla="*/ 74 h 619"/>
                  <a:gd name="T36" fmla="*/ 574 w 634"/>
                  <a:gd name="T37" fmla="*/ 162 h 619"/>
                  <a:gd name="T38" fmla="*/ 574 w 634"/>
                  <a:gd name="T39" fmla="*/ 162 h 619"/>
                  <a:gd name="T40" fmla="*/ 412 w 634"/>
                  <a:gd name="T41" fmla="*/ 383 h 619"/>
                  <a:gd name="T42" fmla="*/ 162 w 634"/>
                  <a:gd name="T43" fmla="*/ 559 h 619"/>
                  <a:gd name="T44" fmla="*/ 103 w 634"/>
                  <a:gd name="T45" fmla="*/ 559 h 619"/>
                  <a:gd name="T46" fmla="*/ 73 w 634"/>
                  <a:gd name="T47" fmla="*/ 530 h 619"/>
                  <a:gd name="T48" fmla="*/ 73 w 634"/>
                  <a:gd name="T49" fmla="*/ 486 h 619"/>
                  <a:gd name="T50" fmla="*/ 147 w 634"/>
                  <a:gd name="T51" fmla="*/ 442 h 619"/>
                  <a:gd name="T52" fmla="*/ 177 w 634"/>
                  <a:gd name="T53" fmla="*/ 442 h 619"/>
                  <a:gd name="T54" fmla="*/ 221 w 634"/>
                  <a:gd name="T55" fmla="*/ 486 h 619"/>
                  <a:gd name="T56" fmla="*/ 500 w 634"/>
                  <a:gd name="T57" fmla="*/ 221 h 619"/>
                  <a:gd name="T58" fmla="*/ 441 w 634"/>
                  <a:gd name="T59" fmla="*/ 176 h 619"/>
                  <a:gd name="T60" fmla="*/ 441 w 634"/>
                  <a:gd name="T61" fmla="*/ 133 h 619"/>
                  <a:gd name="T62" fmla="*/ 500 w 634"/>
                  <a:gd name="T63" fmla="*/ 59 h 619"/>
                  <a:gd name="T64" fmla="*/ 545 w 634"/>
                  <a:gd name="T65" fmla="*/ 59 h 619"/>
                  <a:gd name="T66" fmla="*/ 574 w 634"/>
                  <a:gd name="T67" fmla="*/ 103 h 619"/>
                  <a:gd name="T68" fmla="*/ 574 w 634"/>
                  <a:gd name="T69" fmla="*/ 162 h 6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634" h="619">
                    <a:moveTo>
                      <a:pt x="603" y="74"/>
                    </a:moveTo>
                    <a:lnTo>
                      <a:pt x="603" y="74"/>
                    </a:lnTo>
                    <a:cubicBezTo>
                      <a:pt x="545" y="15"/>
                      <a:pt x="545" y="15"/>
                      <a:pt x="545" y="15"/>
                    </a:cubicBezTo>
                    <a:cubicBezTo>
                      <a:pt x="530" y="0"/>
                      <a:pt x="500" y="0"/>
                      <a:pt x="486" y="15"/>
                    </a:cubicBezTo>
                    <a:cubicBezTo>
                      <a:pt x="412" y="133"/>
                      <a:pt x="412" y="133"/>
                      <a:pt x="412" y="133"/>
                    </a:cubicBezTo>
                    <a:cubicBezTo>
                      <a:pt x="398" y="147"/>
                      <a:pt x="398" y="176"/>
                      <a:pt x="412" y="191"/>
                    </a:cubicBezTo>
                    <a:cubicBezTo>
                      <a:pt x="441" y="221"/>
                      <a:pt x="441" y="221"/>
                      <a:pt x="441" y="221"/>
                    </a:cubicBezTo>
                    <a:cubicBezTo>
                      <a:pt x="412" y="250"/>
                      <a:pt x="382" y="294"/>
                      <a:pt x="353" y="324"/>
                    </a:cubicBezTo>
                    <a:cubicBezTo>
                      <a:pt x="309" y="368"/>
                      <a:pt x="265" y="397"/>
                      <a:pt x="235" y="427"/>
                    </a:cubicBezTo>
                    <a:cubicBezTo>
                      <a:pt x="191" y="397"/>
                      <a:pt x="191" y="397"/>
                      <a:pt x="191" y="397"/>
                    </a:cubicBezTo>
                    <a:cubicBezTo>
                      <a:pt x="177" y="383"/>
                      <a:pt x="162" y="383"/>
                      <a:pt x="132" y="397"/>
                    </a:cubicBezTo>
                    <a:cubicBezTo>
                      <a:pt x="29" y="486"/>
                      <a:pt x="29" y="486"/>
                      <a:pt x="29" y="486"/>
                    </a:cubicBezTo>
                    <a:cubicBezTo>
                      <a:pt x="0" y="500"/>
                      <a:pt x="15" y="515"/>
                      <a:pt x="29" y="530"/>
                    </a:cubicBezTo>
                    <a:cubicBezTo>
                      <a:pt x="88" y="589"/>
                      <a:pt x="88" y="589"/>
                      <a:pt x="88" y="589"/>
                    </a:cubicBezTo>
                    <a:cubicBezTo>
                      <a:pt x="118" y="618"/>
                      <a:pt x="147" y="618"/>
                      <a:pt x="191" y="589"/>
                    </a:cubicBezTo>
                    <a:cubicBezTo>
                      <a:pt x="191" y="589"/>
                      <a:pt x="324" y="530"/>
                      <a:pt x="427" y="412"/>
                    </a:cubicBezTo>
                    <a:cubicBezTo>
                      <a:pt x="530" y="324"/>
                      <a:pt x="603" y="191"/>
                      <a:pt x="603" y="191"/>
                    </a:cubicBezTo>
                    <a:cubicBezTo>
                      <a:pt x="618" y="147"/>
                      <a:pt x="633" y="103"/>
                      <a:pt x="603" y="74"/>
                    </a:cubicBezTo>
                    <a:close/>
                    <a:moveTo>
                      <a:pt x="574" y="162"/>
                    </a:moveTo>
                    <a:lnTo>
                      <a:pt x="574" y="162"/>
                    </a:lnTo>
                    <a:cubicBezTo>
                      <a:pt x="545" y="221"/>
                      <a:pt x="471" y="324"/>
                      <a:pt x="412" y="383"/>
                    </a:cubicBezTo>
                    <a:cubicBezTo>
                      <a:pt x="339" y="456"/>
                      <a:pt x="162" y="559"/>
                      <a:pt x="162" y="559"/>
                    </a:cubicBezTo>
                    <a:cubicBezTo>
                      <a:pt x="147" y="574"/>
                      <a:pt x="118" y="574"/>
                      <a:pt x="103" y="559"/>
                    </a:cubicBezTo>
                    <a:cubicBezTo>
                      <a:pt x="73" y="530"/>
                      <a:pt x="73" y="530"/>
                      <a:pt x="73" y="530"/>
                    </a:cubicBezTo>
                    <a:cubicBezTo>
                      <a:pt x="59" y="515"/>
                      <a:pt x="59" y="500"/>
                      <a:pt x="73" y="486"/>
                    </a:cubicBezTo>
                    <a:cubicBezTo>
                      <a:pt x="147" y="442"/>
                      <a:pt x="147" y="442"/>
                      <a:pt x="147" y="442"/>
                    </a:cubicBezTo>
                    <a:cubicBezTo>
                      <a:pt x="162" y="427"/>
                      <a:pt x="177" y="427"/>
                      <a:pt x="177" y="442"/>
                    </a:cubicBezTo>
                    <a:cubicBezTo>
                      <a:pt x="221" y="486"/>
                      <a:pt x="221" y="486"/>
                      <a:pt x="221" y="486"/>
                    </a:cubicBezTo>
                    <a:cubicBezTo>
                      <a:pt x="235" y="471"/>
                      <a:pt x="398" y="368"/>
                      <a:pt x="500" y="221"/>
                    </a:cubicBezTo>
                    <a:cubicBezTo>
                      <a:pt x="441" y="176"/>
                      <a:pt x="441" y="176"/>
                      <a:pt x="441" y="176"/>
                    </a:cubicBezTo>
                    <a:cubicBezTo>
                      <a:pt x="441" y="162"/>
                      <a:pt x="441" y="147"/>
                      <a:pt x="441" y="133"/>
                    </a:cubicBezTo>
                    <a:cubicBezTo>
                      <a:pt x="500" y="59"/>
                      <a:pt x="500" y="59"/>
                      <a:pt x="500" y="59"/>
                    </a:cubicBezTo>
                    <a:cubicBezTo>
                      <a:pt x="515" y="44"/>
                      <a:pt x="530" y="59"/>
                      <a:pt x="545" y="59"/>
                    </a:cubicBezTo>
                    <a:cubicBezTo>
                      <a:pt x="574" y="103"/>
                      <a:pt x="574" y="103"/>
                      <a:pt x="574" y="103"/>
                    </a:cubicBezTo>
                    <a:cubicBezTo>
                      <a:pt x="589" y="117"/>
                      <a:pt x="589" y="147"/>
                      <a:pt x="574" y="162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en-US">
                  <a:solidFill>
                    <a:schemeClr val="lt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35" name="TextBox 14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3230" y="8060"/>
                <a:ext cx="4453" cy="11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altLang="zh-CN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0731-88731027</a:t>
                </a:r>
                <a:r>
                  <a:rPr lang="zh-CN" altLang="en-US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（长沙总部）</a:t>
                </a:r>
                <a:endParaRPr lang="en-US" altLang="zh-CN" sz="14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lt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lang="en-US" altLang="zh-CN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025-66051670</a:t>
                </a:r>
                <a:r>
                  <a:rPr lang="zh-CN" altLang="en-US" sz="1400" dirty="0">
                    <a:solidFill>
                      <a:schemeClr val="tx1"/>
                    </a:solidFill>
                    <a:latin typeface="思源黑体" panose="020B0500000000000000" charset="-122"/>
                    <a:ea typeface="思源黑体" panose="020B0500000000000000" charset="-122"/>
                    <a:cs typeface="思源黑体" panose="020B0500000000000000" charset="-122"/>
                    <a:sym typeface="+mn-lt"/>
                  </a:rPr>
                  <a:t>（南京销售中心）</a:t>
                </a:r>
                <a:endParaRPr lang="zh-CN" altLang="en-US" sz="1400" dirty="0">
                  <a:solidFill>
                    <a:schemeClr val="tx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lt"/>
                </a:endParaRPr>
              </a:p>
            </p:txBody>
          </p:sp>
        </p:grpSp>
        <p:sp>
          <p:nvSpPr>
            <p:cNvPr id="37" name="文本框 36"/>
            <p:cNvSpPr txBox="1"/>
            <p:nvPr>
              <p:custDataLst>
                <p:tags r:id="rId15"/>
              </p:custDataLst>
            </p:nvPr>
          </p:nvSpPr>
          <p:spPr>
            <a:xfrm>
              <a:off x="2003" y="2009"/>
              <a:ext cx="3111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zh-CN" sz="2800" b="1">
                  <a:solidFill>
                    <a:srgbClr val="D7010F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联系我们</a:t>
              </a:r>
              <a:endParaRPr lang="zh-CN" altLang="zh-CN" sz="2800" b="1">
                <a:solidFill>
                  <a:srgbClr val="D7010F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</p:txBody>
        </p:sp>
      </p:grpSp>
      <p:sp>
        <p:nvSpPr>
          <p:cNvPr id="40" name="矩形 39"/>
          <p:cNvSpPr/>
          <p:nvPr userDrawn="1">
            <p:custDataLst>
              <p:tags r:id="rId16"/>
            </p:custDataLst>
          </p:nvPr>
        </p:nvSpPr>
        <p:spPr>
          <a:xfrm rot="16200000" flipH="1">
            <a:off x="5838825" y="301625"/>
            <a:ext cx="5235575" cy="6060440"/>
          </a:xfrm>
          <a:prstGeom prst="rect">
            <a:avLst/>
          </a:prstGeom>
          <a:noFill/>
          <a:ln w="12700" cmpd="sng">
            <a:solidFill>
              <a:schemeClr val="bg1"/>
            </a:solidFill>
            <a:prstDash val="sysDot"/>
          </a:ln>
          <a:effectLst>
            <a:outerShdw blurRad="2540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ea typeface="微软雅黑" panose="020B050302020402020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186488" y="1919288"/>
            <a:ext cx="4540885" cy="2825750"/>
            <a:chOff x="9742" y="2999"/>
            <a:chExt cx="7151" cy="4450"/>
          </a:xfrm>
        </p:grpSpPr>
        <p:sp>
          <p:nvSpPr>
            <p:cNvPr id="44" name="文本框 43"/>
            <p:cNvSpPr txBox="1"/>
            <p:nvPr userDrawn="1">
              <p:custDataLst>
                <p:tags r:id="rId17"/>
              </p:custDataLst>
            </p:nvPr>
          </p:nvSpPr>
          <p:spPr>
            <a:xfrm>
              <a:off x="9742" y="2999"/>
              <a:ext cx="7151" cy="346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en-US"/>
              </a:defPPr>
              <a:lvl1pPr algn="ctr">
                <a:defRPr sz="5400">
                  <a:solidFill>
                    <a:srgbClr val="A43975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  <a:cs typeface="+mn-ea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zh-CN" sz="36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COMPANY PROFILE</a:t>
              </a:r>
              <a:endParaRPr lang="en-US" altLang="zh-CN" sz="3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endParaRPr>
            </a:p>
            <a:p>
              <a:pPr algn="ctr">
                <a:lnSpc>
                  <a:spcPct val="100000"/>
                </a:lnSpc>
              </a:pPr>
              <a:r>
                <a:rPr lang="zh-CN" altLang="en-US" sz="7200" b="1" dirty="0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sym typeface="+mn-lt"/>
                </a:rPr>
                <a:t>感谢观看</a:t>
              </a:r>
              <a:endParaRPr lang="zh-CN" altLang="en-US" sz="7200" b="1" dirty="0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sym typeface="+mn-lt"/>
              </a:endParaRPr>
            </a:p>
          </p:txBody>
        </p:sp>
        <p:pic>
          <p:nvPicPr>
            <p:cNvPr id="3" name="图片 2" descr="官网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3442" y="6438"/>
              <a:ext cx="1011" cy="1011"/>
            </a:xfrm>
            <a:prstGeom prst="rect">
              <a:avLst/>
            </a:prstGeom>
          </p:spPr>
        </p:pic>
      </p:grpSp>
      <p:pic>
        <p:nvPicPr>
          <p:cNvPr id="5" name="图片 4" descr="20250324进芯BP （转曲）-3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83195" y="4102735"/>
            <a:ext cx="652145" cy="642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5590" y="322580"/>
            <a:ext cx="4077970" cy="414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solidFill>
                  <a:srgbClr val="D7000F"/>
                </a:solidFill>
                <a:latin typeface="+mn-ea"/>
                <a:cs typeface="+mj-lt"/>
              </a:rPr>
              <a:t>AVP32F004x - </a:t>
            </a:r>
            <a:r>
              <a:rPr lang="zh-CN" altLang="en-US" sz="2400" b="1">
                <a:solidFill>
                  <a:srgbClr val="D7000F"/>
                </a:solidFill>
                <a:latin typeface="+mn-ea"/>
                <a:cs typeface="+mj-lt"/>
              </a:rPr>
              <a:t>芯片区分</a:t>
            </a:r>
            <a:endParaRPr lang="zh-CN" altLang="en-US" sz="2400" b="1">
              <a:solidFill>
                <a:srgbClr val="D7000F"/>
              </a:solidFill>
              <a:latin typeface="+mn-ea"/>
              <a:cs typeface="+mj-lt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33375" y="1007745"/>
            <a:ext cx="8753475" cy="895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¢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¢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通过读取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Unique ID 0x703CC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地址的数据区分我司芯片和竞品芯片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      TI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每一颗不一样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        ADVCHIP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为</a:t>
            </a:r>
            <a:r>
              <a:rPr lang="zh-CN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固定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0xC53C0E65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 dirty="0">
                <a:solidFill>
                  <a:schemeClr val="accent1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   </a:t>
            </a:r>
            <a:endParaRPr lang="zh-CN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070" y="2004695"/>
            <a:ext cx="10564495" cy="40112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:random/>
      </p:transition>
    </mc:Choice>
    <mc:Fallback>
      <p:transition spd="slow" advClick="0" advTm="0">
        <p:random/>
      </p:transition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THINKCELLSHAPEDONOTDELETE" val="thinkcellActiveDocDoNotDelete"/>
</p:tagLst>
</file>

<file path=ppt/tags/tag3.xml><?xml version="1.0" encoding="utf-8"?>
<p:tagLst xmlns:p="http://schemas.openxmlformats.org/presentationml/2006/main">
  <p:tag name="THINKCELLSHAPEDONOTDELETE" val="tHKRBZtSHR3OuSJzhCtKm3g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DIAGRAM_VIRTUALLY_FRAME" val="{&quot;height&quot;:192.025,&quot;left&quot;:638.95,&quot;top&quot;:201.525,&quot;width&quot;:108.1}"/>
</p:tagLst>
</file>

<file path=ppt/tags/tag6.xml><?xml version="1.0" encoding="utf-8"?>
<p:tagLst xmlns:p="http://schemas.openxmlformats.org/presentationml/2006/main">
  <p:tag name="KSO_WM_DIAGRAM_VIRTUALLY_FRAME" val="{&quot;height&quot;:192.025,&quot;left&quot;:638.95,&quot;top&quot;:201.525,&quot;width&quot;:108.1}"/>
</p:tagLst>
</file>

<file path=ppt/tags/tag7.xml><?xml version="1.0" encoding="utf-8"?>
<p:tagLst xmlns:p="http://schemas.openxmlformats.org/presentationml/2006/main">
  <p:tag name="KSO_WM_DIAGRAM_VIRTUALLY_FRAME" val="{&quot;height&quot;:192.025,&quot;left&quot;:638.95,&quot;top&quot;:201.525,&quot;width&quot;:108.1}"/>
</p:tagLst>
</file>

<file path=ppt/tags/tag8.xml><?xml version="1.0" encoding="utf-8"?>
<p:tagLst xmlns:p="http://schemas.openxmlformats.org/presentationml/2006/main">
  <p:tag name="KSO_WM_DIAGRAM_VIRTUALLY_FRAME" val="{&quot;height&quot;:192.025,&quot;left&quot;:638.95,&quot;top&quot;:201.525,&quot;width&quot;:108.1}"/>
</p:tagLst>
</file>

<file path=ppt/tags/tag9.xml><?xml version="1.0" encoding="utf-8"?>
<p:tagLst xmlns:p="http://schemas.openxmlformats.org/presentationml/2006/main">
  <p:tag name="KSO_WM_DIAGRAM_VIRTUALLY_FRAME" val="{&quot;height&quot;:192.025,&quot;left&quot;:638.95,&quot;top&quot;:201.525,&quot;width&quot;:108.1}"/>
</p:tagLst>
</file>

<file path=ppt/tags/tag10.xml><?xml version="1.0" encoding="utf-8"?>
<p:tagLst xmlns:p="http://schemas.openxmlformats.org/presentationml/2006/main">
  <p:tag name="KSO_WM_DIAGRAM_VIRTUALLY_FRAME" val="{&quot;height&quot;:192.025,&quot;left&quot;:638.95,&quot;top&quot;:201.525,&quot;width&quot;:108.1}"/>
</p:tagLst>
</file>

<file path=ppt/tags/tag11.xml><?xml version="1.0" encoding="utf-8"?>
<p:tagLst xmlns:p="http://schemas.openxmlformats.org/presentationml/2006/main">
  <p:tag name="KSO_WM_DIAGRAM_VIRTUALLY_FRAME" val="{&quot;height&quot;:192.025,&quot;left&quot;:638.95,&quot;top&quot;:201.525,&quot;width&quot;:108.1}"/>
</p:tagLst>
</file>

<file path=ppt/tags/tag12.xml><?xml version="1.0" encoding="utf-8"?>
<p:tagLst xmlns:p="http://schemas.openxmlformats.org/presentationml/2006/main">
  <p:tag name="KSO_WM_DIAGRAM_VIRTUALLY_FRAME" val="{&quot;height&quot;:192.025,&quot;left&quot;:638.95,&quot;top&quot;:201.525,&quot;width&quot;:108.1}"/>
</p:tagLst>
</file>

<file path=ppt/tags/tag13.xml><?xml version="1.0" encoding="utf-8"?>
<p:tagLst xmlns:p="http://schemas.openxmlformats.org/presentationml/2006/main">
  <p:tag name="KSO_WM_DIAGRAM_VIRTUALLY_FRAME" val="{&quot;height&quot;:192.025,&quot;left&quot;:638.95,&quot;top&quot;:201.525,&quot;width&quot;:108.1}"/>
</p:tagLst>
</file>

<file path=ppt/tags/tag14.xml><?xml version="1.0" encoding="utf-8"?>
<p:tagLst xmlns:p="http://schemas.openxmlformats.org/presentationml/2006/main">
  <p:tag name="KSO_WM_DIAGRAM_VIRTUALLY_FRAME" val="{&quot;height&quot;:192.025,&quot;left&quot;:638.95,&quot;top&quot;:201.525,&quot;width&quot;:108.1}"/>
</p:tagLst>
</file>

<file path=ppt/tags/tag15.xml><?xml version="1.0" encoding="utf-8"?>
<p:tagLst xmlns:p="http://schemas.openxmlformats.org/presentationml/2006/main">
  <p:tag name="KSO_WM_DIAGRAM_VIRTUALLY_FRAME" val="{&quot;height&quot;:192.025,&quot;left&quot;:638.95,&quot;top&quot;:201.525,&quot;width&quot;:108.1}"/>
</p:tagLst>
</file>

<file path=ppt/tags/tag16.xml><?xml version="1.0" encoding="utf-8"?>
<p:tagLst xmlns:p="http://schemas.openxmlformats.org/presentationml/2006/main">
  <p:tag name="KSO_WM_DIAGRAM_VIRTUALLY_FRAME" val="{&quot;height&quot;:192.025,&quot;left&quot;:638.95,&quot;top&quot;:201.525,&quot;width&quot;:108.1}"/>
</p:tagLst>
</file>

<file path=ppt/tags/tag17.xml><?xml version="1.0" encoding="utf-8"?>
<p:tagLst xmlns:p="http://schemas.openxmlformats.org/presentationml/2006/main">
  <p:tag name="TABLE_ENDDRAG_ORIGIN_RECT" val="901*456"/>
  <p:tag name="TABLE_ENDDRAG_RECT" val="27*64*901*456"/>
</p:tagLst>
</file>

<file path=ppt/tags/tag18.xml><?xml version="1.0" encoding="utf-8"?>
<p:tagLst xmlns:p="http://schemas.openxmlformats.org/presentationml/2006/main">
  <p:tag name="TABLE_ENDDRAG_ORIGIN_RECT" val="901*456"/>
  <p:tag name="TABLE_ENDDRAG_RECT" val="27*64*901*456"/>
</p:tagLst>
</file>

<file path=ppt/tags/tag19.xml><?xml version="1.0" encoding="utf-8"?>
<p:tagLst xmlns:p="http://schemas.openxmlformats.org/presentationml/2006/main">
  <p:tag name="KSO_WM_UNIT_TABLE_BEAUTIFY" val="smartTable{e89d1e93-1567-4b6a-899b-5951752752cc}"/>
  <p:tag name="TABLE_ENDDRAG_ORIGIN_RECT" val="725*297"/>
  <p:tag name="TABLE_ENDDRAG_RECT" val="83*137*725*297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TABLE_ENDDRAG_ORIGIN_RECT" val="854*337"/>
  <p:tag name="TABLE_ENDDRAG_RECT" val="47*169*854*337"/>
</p:tagLst>
</file>

<file path=ppt/tags/tag32.xml><?xml version="1.0" encoding="utf-8"?>
<p:tagLst xmlns:p="http://schemas.openxmlformats.org/presentationml/2006/main">
  <p:tag name="KSO_WM_UNIT_TABLE_BEAUTIFY" val="smartTable{a7ceb0fe-580d-42c7-8686-3168fa2af279}"/>
  <p:tag name="TABLE_ENDDRAG_ORIGIN_RECT" val="799*386"/>
  <p:tag name="TABLE_ENDDRAG_RECT" val="65*95*799*386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UNIT_TABLE_BEAUTIFY" val="smartTable{b0e5607a-dacc-4093-9e06-d4f0f5a416e4}"/>
  <p:tag name="TABLE_ENDDRAG_ORIGIN_RECT" val="725*297"/>
  <p:tag name="TABLE_ENDDRAG_RECT" val="83*137*725*297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THINKCELLSHAPEDONOTDELETE" val="thinkcellActiveDocDoNotDelete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ISPRING_ULTRA_SCORM_COURSE_ID" val="76911CB8-0FF1-4403-B446-35EEB9DD7CA9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AQlGkkVDq0oZAQAAAcRAAAdAAAAdW5pdmVyc2FsL2NvbW1vbl9tZXNzYWdlcy5sbmetWG1v2zYQ/l6g/4EQUGADtrQd0KIYEge0xNhEZMmV6DjZCwRGYmwilJjpxW32ab9mP2y/ZEfKTuK+QFISwDZMyvfc8e6eu6MPjz/nCm1EWUldHDlvD944SBSpzmSxOnIW7OTnDw6qal5kXOlCHDmFdtDx6OWLQ8WLVcNXAr6/fIHQYS6qCpbVyKzu10hmR858nLjhbI6Di8QPJ2EyphNn5Or8hhe3yNcr/Uf5wy/vP3x+++79j4evt5J9gOIZ9v19KGSR3r3pARSwKPQTQCN+EpBz5ozM5zC5cMF8GhBntP0yTHoekTNnZD475RZRRAKWxD71SELjJAiZ9YVPGPGc0YVu0JpvBKo12kjxCdVrAZGsZSlQpWRmH6QaNopGdCnzwhmmQRKRmEXUZTQMnFGsy/L2JwvLm3qtS1BXoUxW/FKJzOqEnLHPb0pRgWpeQ04heNVrCb/UOZfFQafqCC9pMElYGPpxQgJvt+OMSJEhr+RGzUCUCMckAoCSV6J8hGxis8yKI6zUMIQpnUx9eDNjwlSu1gre9VA75gRiMBdFlxTkCIkgu+J4GUaecRqoQhzd8Kr6pMtsLz8eBqoLmAZuCCnosgfgzGDsgCHGEipHWYq07gKbkTjGE5KMw3NIZOBdOEQiPAW6nQ6RuCAxUITEXTIBPqMTbBLeUGyX/zt+pdyks7pFPE1BzrhvI3VTwY5xKbDAMq06GKYmJh8XEDaK/e/QuEUF79rVSm4E2FFmouxUBJXFJZ7Joo8L+ltygqlPvATSyguXCbMlz2jM+S0qdI14tuFFKtClSHkDuX4LzzKZ2Wcmzlb/X438G/F6W1VebQtS4JHzV0Pt2ath3zCrqcCmuhb5Td2l2jhsa/5jrDA5/V0T+hz9cfpjlwQ4ouHzRKaSeaPaqvvk+NxZNjRGnUY80VP9o/XclsRtbR1TKFhjqftLEOimpn9AA1T9pWhwAormbYmGGk6LqwE6g3ALEGj0WIwzcNWeCWfgwgHySzKOKYPZaCkuK1l3jh2WjW2Avh3aFOY8JWpxT8ZLcaVhwlGCb9rpA7qQjXRnQB8MN3utglHmg8kBAK7a5AFIJXOwP+uBuZiRnQfaAr93kqVuVGbJq+S1LfLg2yYXX49NV6XO7a7i1S552yZz/BQr2sNFrdL5gPZ/x7/e8XlAv8dHKSY4cqeJiwOXmEHfcFX1FAIKGFf4LE58PDbiwIWc1+kamumVboqsJ1A7q3vkBAPY9syx4GW6/u+ff3tifGFJu4u2u78OAgFimypI7sB+D3Qtqj+7QBge78vZRR+p7d1mJ9fzqsMoZOGz3CF421pyncPWQbdeSPJt0DBj2J3OgAexTXvdlDC6DUGY4egUapmdwp3RjJfXUAiZ1moQinW1ScB6mPb762VTK1mIIbJPayXmwIzOE+x59q4N5FMyvW57ZgY3inR76VZw6e4L5k5xAHX2CzyRyXogoG1NuyoERG/X9zTffN2p7laV/cvi8PWDfzD+B1BLAwQUAAIACAAEJRpJzRbB6igDAACGDAAAJwAAAHVuaXZlcnNhbC9mbGFzaF9wdWJsaXNoaW5nX3NldHRpbmdzLnhtbNVX3W7aMBS+5yksT70soR1dOxSopgIaaguosK29qkxsiFXHzmIbSq/2NHuwPcmOY6Cgdl36g7QhIeLz853/ExMe3yYCTVmmuZJ1vFeuYMRkpCiXkzr+MmzvHmGkDZGUCCVZHUuF0XGjFKZ2JLiOB8wYENUIYKSupaaOY2PSWhDMZrMy12nmuEpYA/i6HKkkSDOmmTQsC1JB5vBj5inTeIFQAAC+iZILtUaphFDokc4VtYIhTsFzyV1QRLQF0TEOvNiIRDeTTFlJT5RQGcomozp+V8k/SxkP1eQJky4nugFERzY1Qil3XhAx4HcMxYxPYnD3sIrRjFMT1/F+1aGAdPAQJcf2oROHcqIgB9Is4BNmCCWG+KO3Z9it0UuCJ9G5JAmPhsBBLv46bg6vP1/1Wxdnne7p9bDXOxt2+t6JXCfYxAmDTUMhOKRsFrGVnZAYQ6IY/AadMRGahcE6aSk2VnLDOXdGIyUg97kWtFEyYrRLErZWjcENl22Q3MNoDIGIeR1/yjgRGHFDBI9WytqOtOEmr3p7XRIBFrQnQ+cDfG/eZyeKSabZultLjnY5jxrflBUUzZVFgt8wZBSC+G0CTzFD68VB40wlORXaxyAtOFiccjZj9DjP6QLwT4auwERiQRN6NRXMeAvfLb9DIzZWGeAyMoXOBjrXHr/8LOCUaH0PSpY+7gzOOs3WdafbbF3uuAAJnRIZPRMcCs6S1GwFn8yRVGapB+mIiNUsLwrlNOcVia388jJonljhy/zWxViD3mJJtmPlOYX5qweFzcZkmg+iG64cGkaQQ0k8JjAiWBdcWlYUMCISKSnmiESw1rQb6ylXVgPFD7CH1i/30OsjLvPTBFYbWMwoywpBVvb231cPPhwefayVg18/fu4+qbRY+H1BnDm/8U+eXPmrtf9wG4aB29KPL22T2X9zZ/cvWl+L5LXbuhwWKmlrUAiuV0Sqd1pE6sK/ZPprL5hCLsBSmvghg7UkeMINo2/ZYi9ok1e9232PbadNthjza0bjvwnZn1bXxI17YRg8enF1nIRLnkAi3Epc3XYbB9UK3DQfZZVKgLb536FR+g1QSwMEFAACAAgABCUaSSVTHtKxAgAAVwoAACEAAAB1bml2ZXJzYWwvZmxhc2hfc2tpbl9zZXR0aW5ncy54bWyVVttO4zAQfecrqu47Ya+wkqkEpUhI7IIA8e4k08SqY0e2U7Z/v57EwXbbkNARUj1zzng8t0L0honFyWxGMsmlegZjmCg0anrdjOWX87QxRorTTAoDwpwKqSrK54svNxcoJGmRYyy5BWU5t+1nhLOmGfhrvt+iTKG4O36eowwRMlnVVOzuZSFPU5ptCiUbkY+GVu5qUJyJjUWe/T5frgYv4EybOwNVFNPqAmUapVagNWBIv1YooyxOU+D9TWftZyLHX/Xx6/doW6aZaWlXX1GGaDUtIE7yx9HZwljvnyYY+GewUb6hDEI53YH6lHNZN/VneqRWssCExpyPi/jO4ZLmdvxwrs5QRgn4ILxotAouPT9uUAKQ+xrOPcFxVZI/Yl73FgIWPeWwMKoBkvSnzqZL+fbQGDsfsFhTri0gVHnQow36kTY6gnmlBz7BGxN5iHIaD3mVvKlg2UXswjrUe/xyed0ui9Dpuy4IUcHWKb3PQOmRf21iD5CB0iOfOcvhQfDdYQT7po7UV/maunoGBXDkqALWDILaY+5C6U+9Fa+6x+HVQaxO0WMqmcNCYzwvrAKsHElaXRdTchAUEXTLCmqYFH8Ql+7a12iS7Blctx3vLWKY4XCs5doY7aIO89WeT0YTQrofBv+47jwzdo9fzqkxNCsr+8Ok5zPHu5y3fubJcQquSosHdSfWciqpomoD6kVKPvkeIQ1MBstuwIbgJAmyQJLjeSbOybECiKZKQa1s3Rj0jRPrOlzJipLbP/PK4A3ymDBg7JimtO4EZe99GShcEwBVWdl3bXfoLFXDDeOwhX76A0X74KGXEW27dKjhrsw9rE3Yck4zqSfdsvCtEi26yHCE8GrjkvHaCQ0T2t7QVLcviya/X8Tec7Sa+32GrReusvbsOilybO2HGbRK/IfyP1BLAwQUAAIACAAEJRpJLE+2i/0CAACXCwAAJgAAAHVuaXZlcnNhbC9odG1sX3B1Ymxpc2hpbmdfc2V0dGluZ3MueG1szZbdUhoxFIDveYpMOl7KqrXVMrs4HcHRqRVGaKtXTtgENmM22eYHxKs+TR+sT9KTDSCMlq6OdMoMAznJ+c5fcpL46C4XaMy04UomeLe+gxGTqaJcjhL8pX+yfYiRsURSIpRkCZYKo6NmLS7cQHCT9Zi1sNQgwEjTKGyCM2uLRhRNJpM6N4X2s0o4C3xTT1UeFZoZJi3TUSHIFH7stGAGzwgVAPDNlZypNWs1hOJA+qyoEwxxCp5L7oMi4tTmAkdh1YCktyOtnKTHSiiN9GiQ4Dc75We+JpBaPGfSp8Q0QejFtkEo5d4JInr8nqGM8VEG3h7sYzTh1GYJ3tv3FFgdPaaU7BA58ZRjBSmQdobPmSWUWBKGwZ5ld9bMBUFEp5LkPO3DDPLhJ7jVvzm97rYvz88uPt30O53z/lk3OFHqRKucOFo1FINDyumULezExFqSZuA36AyJMCyOlkXzZUMlV5zzYzRQAlJfamE0BE/FNMEfNScCI26J4Oli1hI9YvaEC4jB6+7Wh9LiB2CIN82INmzZ0HzG+CymzW/KCYqmyiHBbxmyCkFELod/GUPL6UZDrfJSKoixyAhOGRpzNmH0qMzSDPgnQ9dgInegCZuvEMwGC98dv0cDNlQauIyMYauCnJvArz8LXBBjHqBk7uNW7/ys1b45u2i1r7Z8gISOiUyfCYcSsrywG+GTKZLKzvUgHSlxhpVFoZyWc1Viq7+8DIbnToQyv3YxltAbLMlmrDynMH/1oLLZjIzLg+gPV4mGI8ihJIEJEykcdy4dqwpMiURKiikiKTQq44/1mCtnQBIOcECbl3sY9BGX5WgENwdY1JTpSsid3b23++/eHxx+aNSjXz9+bq9VmrXwriDeXOjhx2ub+KKRP+6GceR759Nt2Gr3r7pw97L9tUqmLtpX/UpFavcq4TpVVnU+VVl1Ga6N7tKVUckFaDOjcGyg0Qiec8voa26aFxR+/f0btsUrFX6DUazdvv9vEGG0eG6tvK/i6MkHYA3kq4/pZu03UEsDBBQAAgAIAAQlGknHREcDgQEAAAMGAAAfAAAAdW5pdmVyc2FsL2h0bWxfc2tpbl9zZXR0aW5ncy5qc42UTW/CMAyG7/yKqrtOiH2y7TYNkCZxmLTdph3SYkpFmkRJ2tEh/vvqUqBJ3Y34Ql49vI6dOttBUK0wDoOnYFv/rvdv7r7WADWrc7h0dd6jZ6iHhqcL+Egz4KmA0EMKRJaMGzjquxNCOYeido3Kd/Q1LcNQHs1aoqJETfgaCiwI8JvQNtSff9zimsL2RbVaHeXWSjGMpbAg7FBInbGaCS8mDxjtGj1YFqD36KxeBLpkMTimNzOMPvLkeDfGaHOxzBQT5VwmchixeJ1omYtFX/5VqUBXl77eA6PH8cvUseOpsa8WMj/x9AGjn1QajIEm7/0Ug4Q5i4C3fEf1+gN1jLsFeXSRmtQe6OcrjDatWAKdLnWPUDW08jqXs7CxzS1eYzgEZyXoc6ykytUZF6i0TLAjHbTb8yPKJVukImk+3xEGyeFh0bave6dCbycYoTNC0huhFTGSWd/bQc29p9mD5mQ1XtY5NfScEqm8ktBU7xvUfUas/4zg/jP4+u8svt1g9wtQSwMEFAACAAgABCUaST08L9HBAAAA5QEAABoAAAB1bml2ZXJzYWwvaTE4bl9wcmVzZXRzLnhtbJ2RsQrCMBCG9z5FuN3EbqUkdRPcHHSWmqYaaS8ll1of35SKdJGAQyD/8X0/JCd3r75jT+PJOlSQ8y0wg9o1Fm8Kzqf9pgBGocam7hwaBeiA7apM2rzAozdkArFYgaTgHsJQCjFNE7c0+NhArhtDLCauXS/i6R2K2RTDosLilvYv+zODKssYk9fRduGAVbzHtCCMvFYwOxeN3GLrQPwCGpMATKrBUAJofQJ4DAnAjytAiu+b56RHCvGjYpBitZ4qewNQSwMEFAACAAgABCUaSZQTsyJpAAAAbgAAABwAAAB1bml2ZXJzYWwvbG9jYWxfc2V0dGluZ3MueG1sDcwxDoMwDEDRnVNY3int1oHAxlaW0gNYxEWRHBuRgOD2ZPvD02/7MwocvKVg6vD1eCKwzuaDLg5/01C/EVIm9SSm7FANoe+qVmwm+XLOBSZYhS7eJo4lMo8Uixx2EajhU17/wB6brroBUEsDBBQAAgAIAESUV0cjtE77+wIAALAIAAAUAAAAdW5pdmVyc2FsL3BsYXllci54bWytVd9P2zAQfi7S/ofI79gtHQOqBMSQ0B7GhNSx7a0yiZt4TeLMdgjlr9/Zzu+lbEh7aJWc7/vufPfdxb96zlLviUnFRR6gBZ4jj+WhiHgeB+jh6+3xObq6fHfkFyndM+nxKEBlzg2ApsiLmAolLzSA76lOAtQzYGBGXiG5kFzvgfsUuNtIJ0v07mgGLrkKUKJ1sSKkqirMFSDyWIm0NCQKhyIjhWSK5ZpJ4tJAXoNd6b+j4ZeJnOh9wVQPWei3B65JWo5nxQck1RILGZOT+XxBftx9XocJy+gxz5WmeciQB5Wc2VI+0nB3J6IyZcrYZr5Lcs20NklY28zXK744zz0lwwA5h03GlKIxUzjNY0QclkyA/W1KVVLzqAGt4VU7XvNav4153zRutnOkcy7Kx5SrBI76kM46CfTJMKqf2etaBT00Cro1TMiT7FfJJYvs67dWjPMFcgFbxdk8sapCOICnWxpqIfc3AAMV1R3EbdOwaxq2oJYDt9HXHQVqbrtlVJeSNaWa+U88YuILlZIaWVxqWTKfjIw1lgzBPnFXrpvUNcRPdJae/kNvjN+oNT/Va52xgP/RmE9A1NaE5xF7vuXgo1kGNdUMim1sWBcpNjG7nFT5mPV0PTC5HOumwEU8TWXMYAwjqinp7OQQlEmqwCUs5QjbOzgITnicpPDTkwzj04M0GZW7SYbewUFwKsLdBLQ1t2Uk4zqOxNQqyCcT68QPS6VFxl+sPAd7Rq+sDl8buebouuDtwdn8j1EcxGgGc4smVpd56u2r5vDezKlWnc+mcJaBWmEemC4L59XMQlmMfCK2pWWqb/o5NfuwBx3lPDUd01zfQe+iWvMX5lU8Ml+6xdLUJGFGMwH6cL7sMUA/YbsMwlvToYhbkTd1wJjYN/dvK9ps+bp1ruuHOuxDDZ84qxzGzdRHUEcsRZlHox7iovuIqBR22rVk1EvZFm60OAGRiiJA7+GhvvPF6UV35bPFRYO1ed27wC6XN6z0OuFOQaTWdXsRv94N8PgbUEsDBBQAAgAIAAQlGkk129mtaAEAAPMCAAApAAAAdW5pdmVyc2FsL3NraW5fY3VzdG9taXphdGlvbl9zZXR0aW5ncy54bWyNUttqGzEQfc9XiPyAJY1uC1uDrsWQh0IT8rz1qmGJoy0rhYSij682rXHcurSap5lz5gwzOn1+nJJ9zmV+mr4PZZrT51jKlB7y9gqhfj8f5uXTEnMseXOq3E9pnF926eu81lo1lyGNwzLaFc1bjMLbQ0pq5VTLmGEUSeapV8h5bhvWgevANsxRYvvNbxI/dZe4j6lcVu03Z+ifDbuU41J2aYyvWzhnv4fON/i4DOPUeHkr2Br1OLU6tgZihEvuK9UAIJDljjhcpeykJshjxjFUoyhQQIRz0olKJOXQstCJpsJ8JxCTjFFXqaetG2ltHLVVQkeIbtO86mwNwUiMESEEmKtcQDAYNTY0DQ1qPSA4MCCqNpooQMEGE1j1zgvLkaJeYFyZMYDx6bin7d6f61T973WO5/yH4MUvuIiu3tpcMFe/f16WRr6NT98OQ4noy5DjbvxwHe5ubq5/efLNv0fGatS28V99/QNQSwMEFAACAAgABSUaSQj37reyCAAAYh0AABcAAAB1bml2ZXJzYWwvdW5pdmVyc2FsLnBuZ+2Z+VdTZxrHg1Jr3cCxgxs1rUTsnClwrI0QIWGQzZwWqVuRSBKtSzpGlhAiBLK41FoLEoVx2MlQj4JQEx2qARIIPVNZqt6MBbliIGEJXCAnhHBJQva5CfW3+RNyz7k3ue/nPe/z3O/7LD+81788kLh21ZZVKBRqLXF/3CEUypeIQi3PXLkCGflI8u0U8uPDPJS4DyUCAqeRF19aTFIMCvVIsNp+8h3k/b2s/alMFGrdf9y3T3dmw2kUKtBMjIs5kkfRDdc170gZFZ1s3O65/IP813/vvo59FrD+6o6AxLqXxx5GrLoRv6FwPLmiAOxPn+2oV+FpwRWjzn/LoSN41lmVql2aothFTzITotls2Dicq263T1ZlUngOIyi2a3ZG+yBO5G0CK7tTXRHaDyVUVyrGYlJmMmnI+MVE1kCsSJxSiOE7YSF8FRlCCWZ/KpSRMBaz3FUT5h44ZjjH1URdObzVvdJXMhKabRiLz/D1EP5AYn4Q8q+zvMg9lf7pMuT5U+9K5Pkw2AMqvcALvMALvMALvMALvMALvMALvMALvMALvMALvMAL/g+Y8ycsjlwpC6PI8iwWSCi3W7Vi/s+ABR1tG1RQbtzvIgF0BQF0GlXRAZBdIZ9QFrlCzviiUBfR7QKCdWqijMqr2DCLbhZ3WGdevT73XALQAboWz3sOyKerilwFPYskSVOWfuyaTtbNP4lF7F/8CM1bHI0NvZnGc8JCqCWzBuzvEIzYlbX88S1mv5sGEXOZnvnnGZm5YBMGcTEW4HfyDU834vQcDNZ0/LEiCOfq0i+eLSzK5ZoGaeyv9b/jEj7YisxU/co+VDdZJbjXxWsysT+D1G1dTvwZmVZu+KTvjym1TELTj5OVgoYuvnsKbe3oBzwCsUs6863q2t49yAQZwF4YuxV9TXO/bYXknDAxZ5v0voHvt1nfWMpGz7x2S7ZXYI+5e1f0y4M30MEaKjMNHAk5I2s6oOE2nFqO6IoX8qx/B8LQqeRrbmdtmtLk+b2yq0W5r4hRkB9/MdbEd2ipgwKPuX+YHVXHXPWNdAbizmn9SPjkWWSpsVqqfWxjmMskkQ+T1zzaj+xdp3Quljestwgc9Ty4Sm2n2cL4lmcumlLPd9nK5E6jmOqcSZHnm7jFaqdJ4mILYEjJLYYpNKXFmaNkzpCGGrm1TGCiyPCEDOV1MZw85KYAJqYDEGaKxxkq80IzJUuqOKyGSGm8Eaj0NOLIv6p9HLDQxXnsP5+zS2OVxv8J8ZnXAKe+jxVzDoMy43163cjzTLrNUCa3TwyaceF+1Tow0PKJf5otEHFMTTXSfcbS+40tR21R0F698uoPzVkMpWjr9t8GeQE3AaGiXGyofae0T6RlIKahPAirBv0WOSWIWr+EYR8+6wOHeWGs84jVFqOhGw1Vz6dXt05jGdHAWE+6NICYsXOWFjOOdi12N/FCMqK4wnrnQn10e/4LHXkLTd0H7OvV0dVHyKXITjABSyCNkyKV7M9ODwMJtCFanYaEyW/blENWg2Spftx+vh/LTkBiobNsd0OBSGds73/kg0KNDEgX0/fQMqw5l3nDwwxnWiGm220wxUGKaDC3sobJDOmH2SE9/aciMn8U9SJRgYM4oWC5XLG9l0Hu1hqTxaOGjgAioEggl9IQVddxcFfaoDcU9eeekMx4xZlPr2mdrngu7LUyQnjVkWjApCTaKzToZCqzPbmVvKllltBKUGhIcXnWlUBVIz0bCRYAJ9w9wMygcSBAUFCIScaTp1oCvitWRh7OaBfHl9wR9e7+VHX03fa05WGgyUrxhG5W02RpprZSQmBxp6aw1+UBEcXNeVkEgcb08laTsNf5QCmNEz29DTvy+yejirPT+cdZSRmvCAoclAPYtpg3Q+3xJUrGNlqaRM+ylb8Y5El1X9/S9JoPda9A8vo4lWc5A/xF3VVRpVIRs0N800REOyux5/GJuZyYkZ+hYKsE/U0+/hy8EN4pu9EWjKQXNFQ8bg28DZthR9seUJ1p/ivt0oRslnSizRH1z2csrtq4vdcy2ECfL0IC4lIY7UtzFHdY99ZetGM6mXnAsgcYWmBtWKhH9sVY/rxPnQEHb3AoIw/N4i/P35up9MR9JCJMTLEkFYPL/W+aniWNyMGfy2FTCzEQ7a1SoeBvbyYuKI3mesdXS7XCaocVTIrl3tL6JEzrtts40dUrMJQ/NDldQM29GZisT2AfZ+GXNGIVAKB4Fl8bWjJUbMgOiAGMOHCsZRuxrYsbUC4yE1TdyMdUNGgNK9zm5NCaBRKjUWe2HvR8Tb2nEFO5xqNAiPrXimp5xqOxL6wKeq1zReXu6WgHKQrH74AuyJu/yUJyatTWqGV4okBcD45HXWBaWRt7Bnk3Ru/DlcwkQCgkUJjtCl1QAmh01K1OKIObs3jBM/myS4iO78mAViy05smTVIw7vMmLi+MCZoZlylMitg3vFHJKwLG17pI28rakIf2hxzIR1KTNcpcpIdeUSrkmQSr13uvmuuK1iFZi+OlGqiYQPvgK6071Rlh5ntd5ak8ZYu66zM+TwHk1ftH2uXe5hF5BEvkKkpB3rFN3BPNbZHeLch3hvNfArqXyWg1XvI8FOXFYp7t8Whf6kpl2dWyXFIDxrH363yPzvnM3kZOuG61al6+nIdxhd9NXbtbnqyWhNWZC95LPVZ7dU1k+BmhZ/X80mTH7VrCFf7FIzKqF2ejo8xBe/XJ3HGK0qGBBsZNdGvnxNktxpTmnND4BGVx8Gela7/p+9Y7Mtr/NNayOp32hnw4uXOqaKrDP3yWX6Q5v0o7zP9/sPrcbOO05sCtdjzxPJLkXuBiC6DbllgcVRHkg4MAvwls99GmT8Za+wxYa7mnKeY8J8/N8Ptemk1iWeY4McwfiAbApvgQ2StWOUKq7ac81APk9RqPQPQgi5X4CpPJrIt12o35odjIGYpx68FmZa3Whfd2ZSJXELTiKGH8gTrTvxOX/AVBLAwQUAAIACAAFJRpJKwvAbUoAAABrAAAAGwAAAHVuaXZlcnNhbC91bml2ZXJzYWwucG5nLnhtbLOxr8jNUShLLSrOzM+zVTLUM1Cyt+PlsikoSi3LTC1XqACKGekZQICSQiUqtzwzpSQDKGRgbowQzEjNTM8osVWyMDCFC+oDzQQAUEsBAgAAFAACAAgABCUaSRUOrShkBAAABxEAAB0AAAAAAAAAAQAAAAAAAAAAAHVuaXZlcnNhbC9jb21tb25fbWVzc2FnZXMubG5nUEsBAgAAFAACAAgABCUaSc0WweooAwAAhgwAACcAAAAAAAAAAQAAAAAAnwQAAHVuaXZlcnNhbC9mbGFzaF9wdWJsaXNoaW5nX3NldHRpbmdzLnhtbFBLAQIAABQAAgAIAAQlGkklUx7SsQIAAFcKAAAhAAAAAAAAAAEAAAAAAAwIAAB1bml2ZXJzYWwvZmxhc2hfc2tpbl9zZXR0aW5ncy54bWxQSwECAAAUAAIACAAEJRpJLE+2i/0CAACXCwAAJgAAAAAAAAABAAAAAAD8CgAAdW5pdmVyc2FsL2h0bWxfcHVibGlzaGluZ19zZXR0aW5ncy54bWxQSwECAAAUAAIACAAEJRpJx0RHA4EBAAADBgAAHwAAAAAAAAABAAAAAAA9DgAAdW5pdmVyc2FsL2h0bWxfc2tpbl9zZXR0aW5ncy5qc1BLAQIAABQAAgAIAAQlGkk9PC/RwQAAAOUBAAAaAAAAAAAAAAEAAAAAAPsPAAB1bml2ZXJzYWwvaTE4bl9wcmVzZXRzLnhtbFBLAQIAABQAAgAIAAQlGkmUE7MiaQAAAG4AAAAcAAAAAAAAAAEAAAAAAPQQAAB1bml2ZXJzYWwvbG9jYWxfc2V0dGluZ3MueG1sUEsBAgAAFAACAAgARJRXRyO0Tvv7AgAAsAgAABQAAAAAAAAAAQAAAAAAlxEAAHVuaXZlcnNhbC9wbGF5ZXIueG1sUEsBAgAAFAACAAgABCUaSTXb2a1oAQAA8wIAACkAAAAAAAAAAQAAAAAAxBQAAHVuaXZlcnNhbC9za2luX2N1c3RvbWl6YXRpb25fc2V0dGluZ3MueG1sUEsBAgAAFAACAAgABSUaSQj37reyCAAAYh0AABcAAAAAAAAAAAAAAAAAcxYAAHVuaXZlcnNhbC91bml2ZXJzYWwucG5nUEsBAgAAFAACAAgABSUaSSsLwG1KAAAAawAAABsAAAAAAAAAAQAAAAAAWh8AAHVuaXZlcnNhbC91bml2ZXJzYWwucG5nLnhtbFBLBQYAAAAACwALAEkDAADdHwAAAAA="/>
  <p:tag name="ISPRING_PRESENTATION_TITLE" val="新建 Microsoft PowerPoint 演示文稿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COMMONDATA" val="eyJoZGlkIjoiNDg0MWRiZTJiMDQ4NGE4ZDhkYTg1MmZiMjFjMjJhMjQifQ=="/>
  <p:tag name="KSO_WPP_MARK_KEY" val="6912d944-50db-4c91-99d5-b11f4c3572dc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75F77"/>
      </a:accent1>
      <a:accent2>
        <a:srgbClr val="D74B4B"/>
      </a:accent2>
      <a:accent3>
        <a:srgbClr val="A7AA9D"/>
      </a:accent3>
      <a:accent4>
        <a:srgbClr val="2192BC"/>
      </a:accent4>
      <a:accent5>
        <a:srgbClr val="354B5E"/>
      </a:accent5>
      <a:accent6>
        <a:srgbClr val="BFBFBF"/>
      </a:accent6>
      <a:hlink>
        <a:srgbClr val="D74B4B"/>
      </a:hlink>
      <a:folHlink>
        <a:srgbClr val="869FB7"/>
      </a:folHlink>
    </a:clrScheme>
    <a:fontScheme name="Constantia 标宋">
      <a:majorFont>
        <a:latin typeface="Constantia"/>
        <a:ea typeface="微软简标宋"/>
        <a:cs typeface=""/>
      </a:majorFont>
      <a:minorFont>
        <a:latin typeface="Constantia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75F77"/>
    </a:accent1>
    <a:accent2>
      <a:srgbClr val="D74B4B"/>
    </a:accent2>
    <a:accent3>
      <a:srgbClr val="A7AA9D"/>
    </a:accent3>
    <a:accent4>
      <a:srgbClr val="2192BC"/>
    </a:accent4>
    <a:accent5>
      <a:srgbClr val="354B5E"/>
    </a:accent5>
    <a:accent6>
      <a:srgbClr val="BFBFBF"/>
    </a:accent6>
    <a:hlink>
      <a:srgbClr val="D74B4B"/>
    </a:hlink>
    <a:folHlink>
      <a:srgbClr val="869FB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7283</Words>
  <Application>WPS 演示</Application>
  <PresentationFormat>宽屏</PresentationFormat>
  <Paragraphs>1049</Paragraphs>
  <Slides>27</Slides>
  <Notes>15</Notes>
  <HiddenSlides>0</HiddenSlides>
  <MMClips>0</MMClips>
  <ScaleCrop>false</ScaleCrop>
  <HeadingPairs>
    <vt:vector size="8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52" baseType="lpstr">
      <vt:lpstr>Arial</vt:lpstr>
      <vt:lpstr>宋体</vt:lpstr>
      <vt:lpstr>Wingdings</vt:lpstr>
      <vt:lpstr>Calibri</vt:lpstr>
      <vt:lpstr>思源黑体</vt:lpstr>
      <vt:lpstr>黑体</vt:lpstr>
      <vt:lpstr>思源黑体 CN Medium</vt:lpstr>
      <vt:lpstr>思源黑体 CN Bold</vt:lpstr>
      <vt:lpstr>华文楷体</vt:lpstr>
      <vt:lpstr>Times New Roman</vt:lpstr>
      <vt:lpstr>Arial Narrow</vt:lpstr>
      <vt:lpstr>微软雅黑</vt:lpstr>
      <vt:lpstr>Wingdings</vt:lpstr>
      <vt:lpstr>KSOF4CFA6896</vt:lpstr>
      <vt:lpstr>Segoe Print</vt:lpstr>
      <vt:lpstr>KSOF4CF9F437</vt:lpstr>
      <vt:lpstr>Arial Unicode MS</vt:lpstr>
      <vt:lpstr>微软简标宋</vt:lpstr>
      <vt:lpstr>Constantia</vt:lpstr>
      <vt:lpstr>方正正黑简体</vt:lpstr>
      <vt:lpstr>Calibri</vt:lpstr>
      <vt:lpstr>KSOFD723FC5D</vt:lpstr>
      <vt:lpstr>第一PPT，www.1ppt.com</vt:lpstr>
      <vt:lpstr>TCLayout.ActiveDocument.1</vt:lpstr>
      <vt:lpstr>TCLayout.ActiveDocument.1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进芯电子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进芯电子企业介绍</dc:title>
  <dc:creator>ADVANCECHIP</dc:creator>
  <cp:keywords>企业介绍</cp:keywords>
  <dc:description>企业介绍</dc:description>
  <cp:lastModifiedBy>Skate</cp:lastModifiedBy>
  <cp:revision>863</cp:revision>
  <dcterms:created xsi:type="dcterms:W3CDTF">2016-09-05T14:08:00Z</dcterms:created>
  <dcterms:modified xsi:type="dcterms:W3CDTF">2026-08-11T06:46:06Z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52398C69BF96404C82C6B6FB7C79A558_13</vt:lpwstr>
  </property>
  <property fmtid="{D5CDD505-2E9C-101B-9397-08002B2CF9AE}" pid="3" name="KSOProductBuildVer">
    <vt:lpwstr>2052-12.1.0.28043</vt:lpwstr>
  </property>
</Properties>
</file>